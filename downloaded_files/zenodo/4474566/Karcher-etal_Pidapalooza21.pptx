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73152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 showGuides="1">
      <p:cViewPr varScale="1">
        <p:scale>
          <a:sx n="151" d="100"/>
          <a:sy n="151" d="100"/>
        </p:scale>
        <p:origin x="2992" y="100"/>
      </p:cViewPr>
      <p:guideLst>
        <p:guide orient="horz" pos="2304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97187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6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2"/>
            <a:ext cx="6309360" cy="3042919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29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/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13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8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0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672080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9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6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9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7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25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6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7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7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6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947333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4BB2D-BA68-4D42-B097-F4503D094217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20021-847A-4F57-8E0E-B787E0D5F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85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idapalooza2021.sched.com/event/gD2J/hey-we-didnt-publish-that-unresolving-pids-in-the-wild-and-how-to-catch-them?iframe=yes&amp;w=&amp;sidebar=yes&amp;bg=no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BCFDAF-D501-4EB9-B13D-AE5B83D761D6}"/>
              </a:ext>
            </a:extLst>
          </p:cNvPr>
          <p:cNvSpPr txBox="1"/>
          <p:nvPr/>
        </p:nvSpPr>
        <p:spPr>
          <a:xfrm>
            <a:off x="1379471" y="318090"/>
            <a:ext cx="47197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  <a:latin typeface="SpotlightRomat" panose="00000400000000000000" pitchFamily="2" charset="0"/>
              </a:rPr>
              <a:t>BAD</a:t>
            </a:r>
            <a:br>
              <a:rPr lang="en-US" sz="5400" b="1" dirty="0">
                <a:solidFill>
                  <a:srgbClr val="FF0000"/>
                </a:solidFill>
                <a:latin typeface="SpotlightRomat" panose="00000400000000000000" pitchFamily="2" charset="0"/>
              </a:rPr>
            </a:br>
            <a:r>
              <a:rPr lang="en-US" sz="5400" b="1" dirty="0">
                <a:solidFill>
                  <a:srgbClr val="FF0000"/>
                </a:solidFill>
                <a:latin typeface="SpotlightRomat" panose="00000400000000000000" pitchFamily="2" charset="0"/>
              </a:rPr>
              <a:t>RESOLUTION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566F40-71D1-4E6B-AB4D-B84A4C86614F}"/>
              </a:ext>
            </a:extLst>
          </p:cNvPr>
          <p:cNvSpPr/>
          <p:nvPr/>
        </p:nvSpPr>
        <p:spPr>
          <a:xfrm>
            <a:off x="2130595" y="2238210"/>
            <a:ext cx="3054011" cy="2919347"/>
          </a:xfrm>
          <a:prstGeom prst="ellipse">
            <a:avLst/>
          </a:prstGeom>
          <a:solidFill>
            <a:schemeClr val="tx1"/>
          </a:solidFill>
          <a:ln w="3810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7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272BB2-1AF7-4EE6-9776-C986E6F09993}"/>
              </a:ext>
            </a:extLst>
          </p:cNvPr>
          <p:cNvSpPr txBox="1"/>
          <p:nvPr/>
        </p:nvSpPr>
        <p:spPr>
          <a:xfrm>
            <a:off x="2385497" y="3233419"/>
            <a:ext cx="2707730" cy="120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20" dirty="0" err="1">
                <a:solidFill>
                  <a:schemeClr val="bg1"/>
                </a:solidFill>
                <a:latin typeface="SpotlightRomat" panose="00000400000000000000" pitchFamily="2" charset="0"/>
              </a:rPr>
              <a:t>doi</a:t>
            </a:r>
            <a:r>
              <a:rPr lang="en-US" sz="7220" dirty="0">
                <a:solidFill>
                  <a:schemeClr val="bg1"/>
                </a:solidFill>
                <a:latin typeface="SpotlightRomat" panose="00000400000000000000" pitchFamily="2" charset="0"/>
              </a:rPr>
              <a:t>: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7465E1-6F3C-4BAE-8612-F162F66B04C0}"/>
              </a:ext>
            </a:extLst>
          </p:cNvPr>
          <p:cNvCxnSpPr>
            <a:cxnSpLocks/>
            <a:stCxn id="7" idx="1"/>
          </p:cNvCxnSpPr>
          <p:nvPr/>
        </p:nvCxnSpPr>
        <p:spPr>
          <a:xfrm>
            <a:off x="2577845" y="2665738"/>
            <a:ext cx="2012628" cy="1989396"/>
          </a:xfrm>
          <a:prstGeom prst="line">
            <a:avLst/>
          </a:prstGeom>
          <a:ln w="381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91D5E31-51CD-4B78-87F9-7398DA47DF5B}"/>
              </a:ext>
            </a:extLst>
          </p:cNvPr>
          <p:cNvSpPr txBox="1"/>
          <p:nvPr/>
        </p:nvSpPr>
        <p:spPr>
          <a:xfrm>
            <a:off x="484590" y="5954135"/>
            <a:ext cx="64302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SpotlightRomat" panose="000004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Unresolving PIDs in the wild and how to catch them </a:t>
            </a:r>
            <a:br>
              <a:rPr lang="en-US" sz="1600">
                <a:solidFill>
                  <a:srgbClr val="FF0000"/>
                </a:solidFill>
                <a:latin typeface="SpotlightRomat" panose="000004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600">
                <a:latin typeface="SpotlightRomat" panose="000004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Nic </a:t>
            </a:r>
            <a:r>
              <a:rPr lang="en-US" sz="1600" dirty="0">
                <a:latin typeface="SpotlightRomat" panose="000004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Weber • Sebastian Karcher • Jim Myers</a:t>
            </a:r>
            <a:br>
              <a:rPr lang="en-US" sz="1600" dirty="0">
                <a:latin typeface="SpotlightRomat" panose="00000400000000000000" pitchFamily="2" charset="0"/>
              </a:rPr>
            </a:br>
            <a:r>
              <a:rPr lang="en-US" sz="1600" dirty="0">
                <a:latin typeface="SpotlightRomat" panose="00000400000000000000" pitchFamily="2" charset="0"/>
              </a:rPr>
              <a:t>Qualitative Data Repository</a:t>
            </a:r>
          </a:p>
        </p:txBody>
      </p:sp>
    </p:spTree>
    <p:extLst>
      <p:ext uri="{BB962C8B-B14F-4D97-AF65-F5344CB8AC3E}">
        <p14:creationId xmlns:p14="http://schemas.microsoft.com/office/powerpoint/2010/main" val="4289578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DB7CD2-69B0-47A7-9B36-209D8C88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SpotlightRomat" panose="00000400000000000000" pitchFamily="2" charset="0"/>
              </a:rPr>
              <a:t>WHEN DOIs FAIL…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4802D79-9F1F-40A8-A718-1DFCECD69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603" y="1649780"/>
            <a:ext cx="6308725" cy="3365489"/>
          </a:xfrm>
        </p:spPr>
      </p:pic>
      <p:pic>
        <p:nvPicPr>
          <p:cNvPr id="11" name="Picture 10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600F401-8D90-44D0-A82F-FCC39CCF4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3337"/>
            <a:ext cx="4127153" cy="851868"/>
          </a:xfrm>
          <a:prstGeom prst="rect">
            <a:avLst/>
          </a:prstGeom>
        </p:spPr>
      </p:pic>
      <p:pic>
        <p:nvPicPr>
          <p:cNvPr id="13" name="Picture 12" descr="A picture containing application&#10;&#10;Description automatically generated">
            <a:extLst>
              <a:ext uri="{FF2B5EF4-FFF2-40B4-BE49-F238E27FC236}">
                <a16:creationId xmlns:a16="http://schemas.microsoft.com/office/drawing/2014/main" id="{D4BDC379-E81E-4DAB-8F62-0C911BD072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1459" y="5123337"/>
            <a:ext cx="2850821" cy="201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30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57DC9-E026-41E2-967C-C83008B1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DAMAGE IS PERMANENT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70D9A-FE0C-440D-91E0-B575FDE43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4CA5B-7044-4265-9FB4-77D1EB343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7333"/>
            <a:ext cx="5802757" cy="381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10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DD51C4-CFB7-439D-AEE4-53A8C284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ARE YOUR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PID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HORROR STORIES?</a:t>
            </a:r>
          </a:p>
        </p:txBody>
      </p:sp>
    </p:spTree>
    <p:extLst>
      <p:ext uri="{BB962C8B-B14F-4D97-AF65-F5344CB8AC3E}">
        <p14:creationId xmlns:p14="http://schemas.microsoft.com/office/powerpoint/2010/main" val="874985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629433-9506-41FD-B7F2-95D1C28CF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COULD HAPPEN TO YOU</a:t>
            </a:r>
            <a:br>
              <a:rPr lang="en-US" dirty="0"/>
            </a:br>
            <a:r>
              <a:rPr lang="en-US" dirty="0"/>
              <a:t>(it certainly did to us)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A57103B-DFFD-42DA-8086-B2609C630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555" y="2733623"/>
            <a:ext cx="6308725" cy="83541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49133A-2F17-4A0B-BE33-F7D636DCC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26943"/>
            <a:ext cx="6308725" cy="6900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A41D84-298A-4567-A675-1A2DD80E3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471990"/>
            <a:ext cx="6004700" cy="6106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C86B59-2B5F-43D9-98BB-602DA41EE0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79820"/>
            <a:ext cx="3821939" cy="672876"/>
          </a:xfrm>
          <a:prstGeom prst="rect">
            <a:avLst/>
          </a:prstGeom>
        </p:spPr>
      </p:pic>
      <p:pic>
        <p:nvPicPr>
          <p:cNvPr id="15" name="Picture 14" descr="Logo, company name&#10;&#10;Description automatically generated">
            <a:extLst>
              <a:ext uri="{FF2B5EF4-FFF2-40B4-BE49-F238E27FC236}">
                <a16:creationId xmlns:a16="http://schemas.microsoft.com/office/drawing/2014/main" id="{49075E7D-2E39-4A60-9EC6-9362E26810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4600918"/>
            <a:ext cx="1021037" cy="87107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2C78B671-9F6B-44DB-AAA6-CD550E9EDBAB}"/>
              </a:ext>
            </a:extLst>
          </p:cNvPr>
          <p:cNvSpPr/>
          <p:nvPr/>
        </p:nvSpPr>
        <p:spPr>
          <a:xfrm>
            <a:off x="2023340" y="5819292"/>
            <a:ext cx="1440426" cy="2998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AE69C-8E23-42A5-8576-3109518B8A96}"/>
              </a:ext>
            </a:extLst>
          </p:cNvPr>
          <p:cNvCxnSpPr/>
          <p:nvPr/>
        </p:nvCxnSpPr>
        <p:spPr>
          <a:xfrm>
            <a:off x="4833257" y="3151330"/>
            <a:ext cx="185408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4DD7AA-F5E2-4159-88B0-F8CCC28E6F1E}"/>
              </a:ext>
            </a:extLst>
          </p:cNvPr>
          <p:cNvCxnSpPr>
            <a:cxnSpLocks/>
          </p:cNvCxnSpPr>
          <p:nvPr/>
        </p:nvCxnSpPr>
        <p:spPr>
          <a:xfrm>
            <a:off x="700197" y="3362724"/>
            <a:ext cx="31324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619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3C8D8-8B9C-4EF7-A11A-936D116AF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CATCH A 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FDDC6-F649-4AAB-8011-7B699B80A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CHECK YOUR LOGS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FCEA61-8436-44DA-8AD5-BD3AEF9A0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2441"/>
            <a:ext cx="7315200" cy="199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F84C-789B-4425-9BE0-1BC18436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CATCH A PID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F5D3-9B0A-48A6-9672-215EF117D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2: CHECK YOUR PREFIX</a:t>
            </a:r>
            <a:br>
              <a:rPr lang="en-US" dirty="0"/>
            </a:br>
            <a:r>
              <a:rPr lang="en-US" dirty="0"/>
              <a:t>https://stats.datacite.org/resolutions.html#tab-resolution-report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750C4-0C7E-4EBA-B9EE-5CF00BDA3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05317"/>
            <a:ext cx="7315200" cy="323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04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3FF8-76E5-4FD9-8C3F-3495FCBC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CAUSES &amp; CAUTIONS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1FD0-55BE-407A-BDF5-2C2F6575F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Reserved and unpublished PIDs</a:t>
            </a:r>
          </a:p>
          <a:p>
            <a:r>
              <a:rPr lang="en-US" dirty="0"/>
              <a:t>URLs instead of PIDs</a:t>
            </a:r>
          </a:p>
          <a:p>
            <a:r>
              <a:rPr lang="en-US" dirty="0"/>
              <a:t>Using PIDs internally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641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A668-E0C7-4BBC-8394-8E2D229B0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TOWARDS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E3CF-4626-4940-95EB-168EF23FE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REPOSITORIES</a:t>
            </a:r>
          </a:p>
          <a:p>
            <a:r>
              <a:rPr lang="en-US" dirty="0"/>
              <a:t>Active monitoring</a:t>
            </a:r>
          </a:p>
          <a:p>
            <a:r>
              <a:rPr lang="en-US" dirty="0"/>
              <a:t>Warn that DOIs are unpublished</a:t>
            </a:r>
          </a:p>
          <a:p>
            <a:r>
              <a:rPr lang="en-US" dirty="0"/>
              <a:t>Don’t use DOIs that aren’t DOIs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EVERYONE</a:t>
            </a:r>
          </a:p>
          <a:p>
            <a:r>
              <a:rPr lang="en-US" dirty="0"/>
              <a:t>Report broken PIDs. It works</a:t>
            </a:r>
          </a:p>
        </p:txBody>
      </p:sp>
    </p:spTree>
    <p:extLst>
      <p:ext uri="{BB962C8B-B14F-4D97-AF65-F5344CB8AC3E}">
        <p14:creationId xmlns:p14="http://schemas.microsoft.com/office/powerpoint/2010/main" val="145191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Custom 3">
      <a:majorFont>
        <a:latin typeface="SpotlightRomat"/>
        <a:ea typeface=""/>
        <a:cs typeface=""/>
      </a:majorFont>
      <a:minorFont>
        <a:latin typeface="SpotlightRoma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</TotalTime>
  <Words>134</Words>
  <Application>Microsoft Office PowerPoint</Application>
  <PresentationFormat>Custom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SpotlightRomat</vt:lpstr>
      <vt:lpstr>Office Theme</vt:lpstr>
      <vt:lpstr>PowerPoint Presentation</vt:lpstr>
      <vt:lpstr>WHEN DOIs FAIL…</vt:lpstr>
      <vt:lpstr>THE DAMAGE IS PERMANENT</vt:lpstr>
      <vt:lpstr>WHAT ARE YOUR PID HORROR STORIES?</vt:lpstr>
      <vt:lpstr>IT COULD HAPPEN TO YOU (it certainly did to us)</vt:lpstr>
      <vt:lpstr>HOW TO CATCH A PID</vt:lpstr>
      <vt:lpstr>HOW TO CATCH A PID</vt:lpstr>
      <vt:lpstr>CAUSES &amp; CAUTIONS</vt:lpstr>
      <vt:lpstr>TOWARDS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Karcher</dc:creator>
  <cp:lastModifiedBy>Sebastian Karcher</cp:lastModifiedBy>
  <cp:revision>7</cp:revision>
  <dcterms:created xsi:type="dcterms:W3CDTF">2021-01-27T21:24:22Z</dcterms:created>
  <dcterms:modified xsi:type="dcterms:W3CDTF">2021-01-27T22:23:08Z</dcterms:modified>
</cp:coreProperties>
</file>