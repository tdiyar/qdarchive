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3"/>
  </p:notesMasterIdLst>
  <p:sldIdLst>
    <p:sldId id="256" r:id="rId2"/>
    <p:sldId id="369" r:id="rId3"/>
    <p:sldId id="364" r:id="rId4"/>
    <p:sldId id="371" r:id="rId5"/>
    <p:sldId id="366" r:id="rId6"/>
    <p:sldId id="367" r:id="rId7"/>
    <p:sldId id="373" r:id="rId8"/>
    <p:sldId id="375" r:id="rId9"/>
    <p:sldId id="370" r:id="rId10"/>
    <p:sldId id="376" r:id="rId11"/>
    <p:sldId id="372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T Sans" panose="020B0503020203020204" pitchFamily="34" charset="0"/>
      <p:regular r:id="rId18"/>
      <p:bold r:id="rId19"/>
      <p:italic r:id="rId20"/>
      <p:boldItalic r:id="rId21"/>
    </p:embeddedFont>
    <p:embeddedFont>
      <p:font typeface="PT Sans Caption" panose="020B0603020203020204" pitchFamily="34" charset="0"/>
      <p:regular r:id="rId22"/>
      <p:bold r:id="rId23"/>
    </p:embeddedFont>
    <p:embeddedFont>
      <p:font typeface="Trebuchet MS" panose="020B0603020202020204" pitchFamily="34" charset="0"/>
      <p:regular r:id="rId24"/>
      <p:bold r:id="rId25"/>
      <p:italic r:id="rId26"/>
      <p:boldItalic r:id="rId27"/>
    </p:embeddedFont>
    <p:embeddedFont>
      <p:font typeface="Wingdings 3" panose="05040102010807070707" pitchFamily="18" charset="2"/>
      <p:regular r:id="rId2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E0"/>
    <a:srgbClr val="FFC7CE"/>
    <a:srgbClr val="006100"/>
    <a:srgbClr val="9C0006"/>
    <a:srgbClr val="C6EFCE"/>
    <a:srgbClr val="328374"/>
    <a:srgbClr val="D68100"/>
    <a:srgbClr val="F29200"/>
    <a:srgbClr val="005892"/>
    <a:srgbClr val="E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5182" autoAdjust="0"/>
  </p:normalViewPr>
  <p:slideViewPr>
    <p:cSldViewPr snapToGrid="0">
      <p:cViewPr varScale="1">
        <p:scale>
          <a:sx n="85" d="100"/>
          <a:sy n="85" d="100"/>
        </p:scale>
        <p:origin x="696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D7A7C-ED80-4A81-AF45-5F3E32358868}" type="datetimeFigureOut">
              <a:rPr lang="fi-FI" smtClean="0"/>
              <a:t>1.12.2022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F2C8E-3B0F-40AF-815B-01BE04906C7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802541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35797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2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104321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3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44330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211285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54089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644435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7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28023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8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23920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9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37622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10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758326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EF2C8E-3B0F-40AF-815B-01BE04906C74}" type="slidenum">
              <a:rPr lang="fi-FI" smtClean="0"/>
              <a:t>11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315128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creativecommons.org/licenses/by/4.0/deed.fi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997" y="-30997"/>
            <a:ext cx="12228163" cy="68967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rgbClr val="006292"/>
                </a:solidFill>
                <a:latin typeface="PT Sans Caption" panose="020B06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rgbClr val="75757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62857" y="6059486"/>
            <a:ext cx="6297612" cy="365125"/>
          </a:xfrm>
        </p:spPr>
        <p:txBody>
          <a:bodyPr/>
          <a:lstStyle/>
          <a:p>
            <a:pPr algn="r"/>
            <a:r>
              <a:rPr lang="fi-FI" sz="1200" dirty="0"/>
              <a:t>www.fsd.tuni.fi</a:t>
            </a:r>
          </a:p>
        </p:txBody>
      </p:sp>
    </p:spTree>
    <p:extLst>
      <p:ext uri="{BB962C8B-B14F-4D97-AF65-F5344CB8AC3E}">
        <p14:creationId xmlns:p14="http://schemas.microsoft.com/office/powerpoint/2010/main" val="26056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997" y="-30997"/>
            <a:ext cx="12228163" cy="689674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68836"/>
            <a:ext cx="10115852" cy="729340"/>
          </a:xfrm>
        </p:spPr>
        <p:txBody>
          <a:bodyPr>
            <a:normAutofit/>
          </a:bodyPr>
          <a:lstStyle>
            <a:lvl1pPr>
              <a:defRPr sz="3600">
                <a:solidFill>
                  <a:srgbClr val="006292"/>
                </a:solidFill>
                <a:latin typeface="PT Sans Caption" panose="020B06030202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000" y="1836000"/>
            <a:ext cx="9825520" cy="4174538"/>
          </a:xfrm>
        </p:spPr>
        <p:txBody>
          <a:bodyPr/>
          <a:lstStyle>
            <a:lvl1pPr>
              <a:buClr>
                <a:srgbClr val="009EE0"/>
              </a:buClr>
              <a:defRPr sz="2400"/>
            </a:lvl1pPr>
            <a:lvl2pPr>
              <a:buClr>
                <a:srgbClr val="009EE0"/>
              </a:buClr>
              <a:defRPr sz="2000"/>
            </a:lvl2pPr>
            <a:lvl3pPr>
              <a:buClr>
                <a:srgbClr val="E95B10"/>
              </a:buClr>
              <a:defRPr sz="1600"/>
            </a:lvl3pPr>
            <a:lvl4pPr>
              <a:buClr>
                <a:srgbClr val="E95B10"/>
              </a:buClr>
              <a:defRPr sz="1400"/>
            </a:lvl4pPr>
            <a:lvl5pPr>
              <a:buClr>
                <a:srgbClr val="E95B10"/>
              </a:buCl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7358-54FC-48B6-ACE5-ACC334962506}" type="datetimeFigureOut">
              <a:rPr lang="fi-FI" smtClean="0"/>
              <a:t>1.12.2022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5662857" y="6072186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i-FI" sz="1200" dirty="0"/>
              <a:t>www.fsd.tuni.fi</a:t>
            </a:r>
          </a:p>
        </p:txBody>
      </p:sp>
    </p:spTree>
    <p:extLst>
      <p:ext uri="{BB962C8B-B14F-4D97-AF65-F5344CB8AC3E}">
        <p14:creationId xmlns:p14="http://schemas.microsoft.com/office/powerpoint/2010/main" val="995619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13A6-6388-41CB-8634-61C5B34C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349000"/>
            <a:ext cx="7200000" cy="2160000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492440A-4286-46BA-AB59-449C9AE4B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62857" y="6059486"/>
            <a:ext cx="6297612" cy="365125"/>
          </a:xfrm>
        </p:spPr>
        <p:txBody>
          <a:bodyPr/>
          <a:lstStyle/>
          <a:p>
            <a:pPr algn="r"/>
            <a:r>
              <a:rPr lang="fi-FI" sz="1200" dirty="0"/>
              <a:t>www.fsd.tuni.fi</a:t>
            </a:r>
          </a:p>
        </p:txBody>
      </p:sp>
    </p:spTree>
    <p:extLst>
      <p:ext uri="{BB962C8B-B14F-4D97-AF65-F5344CB8AC3E}">
        <p14:creationId xmlns:p14="http://schemas.microsoft.com/office/powerpoint/2010/main" val="2228516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ADE19-FD00-4EB1-A196-C72410D40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06491-8B99-4643-9C7B-36710BD2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A7358-54FC-48B6-ACE5-ACC334962506}" type="datetimeFigureOut">
              <a:rPr lang="fi-FI" smtClean="0"/>
              <a:t>1.12.2022</a:t>
            </a:fld>
            <a:endParaRPr lang="fi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BEE92-99E8-4675-834F-8A813ED64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C1CE7-A9FF-4578-8D40-F1ED3A901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A359F-6372-4C30-8A97-370326189A77}" type="slidenum">
              <a:rPr lang="fi-FI" smtClean="0"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134660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CCA5E-6072-472D-A281-85FCAFE6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B09C2-1822-4819-ADD7-F8E52BD96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4000" y="1836001"/>
            <a:ext cx="5181600" cy="4205362"/>
          </a:xfrm>
        </p:spPr>
        <p:txBody>
          <a:bodyPr/>
          <a:lstStyle>
            <a:lvl1pPr>
              <a:buClr>
                <a:srgbClr val="009EE0"/>
              </a:buClr>
              <a:defRPr/>
            </a:lvl1pPr>
            <a:lvl2pPr>
              <a:buClr>
                <a:srgbClr val="009EE0"/>
              </a:buClr>
              <a:defRPr/>
            </a:lvl2pPr>
            <a:lvl3pPr>
              <a:buClr>
                <a:srgbClr val="E95B10"/>
              </a:buCl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03C59-CC9F-46CA-A273-343678D2F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2000" y="1836000"/>
            <a:ext cx="5181600" cy="4205361"/>
          </a:xfrm>
        </p:spPr>
        <p:txBody>
          <a:bodyPr/>
          <a:lstStyle>
            <a:lvl1pPr>
              <a:buClr>
                <a:srgbClr val="009EE0"/>
              </a:buClr>
              <a:defRPr/>
            </a:lvl1pPr>
            <a:lvl2pPr>
              <a:buClr>
                <a:srgbClr val="009EE0"/>
              </a:buClr>
              <a:defRPr/>
            </a:lvl2pPr>
            <a:lvl3pPr>
              <a:buClr>
                <a:srgbClr val="E95B10"/>
              </a:buCl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76F3B-D18C-44D0-914A-94BB4A06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E4C28-B5C1-4D90-BE43-686C35351DB3}" type="datetimeFigureOut">
              <a:rPr lang="fi-FI" smtClean="0"/>
              <a:t>1.12.2022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3D838-B4A4-4F0F-9721-57B9ACA9B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99BC3-CBDB-4B77-99F9-25E51B67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9D8-DA3C-45F6-804A-2B6C4B10AD7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1372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F30E-DB76-49C9-9EEB-47DB8708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fi-FI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EE4258-B19A-46EE-A521-7B47DB04E7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50539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5C3A8-EB0F-46AB-A3D1-4038A21DC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37710"/>
            <a:ext cx="3932237" cy="380365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21F90-8406-499D-94F4-A01C0265F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E4C28-B5C1-4D90-BE43-686C35351DB3}" type="datetimeFigureOut">
              <a:rPr lang="fi-FI" smtClean="0"/>
              <a:t>1.12.2022</a:t>
            </a:fld>
            <a:endParaRPr lang="fi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BF5D7-E9FA-40BF-9042-82655032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BA621-47B0-46FF-83BF-61E74593D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029D8-DA3C-45F6-804A-2B6C4B10AD74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79702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petus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CC8BFDE4-C52D-4666-8A83-C00012150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968836"/>
            <a:ext cx="10115852" cy="729340"/>
          </a:xfrm>
        </p:spPr>
        <p:txBody>
          <a:bodyPr>
            <a:normAutofit/>
          </a:bodyPr>
          <a:lstStyle/>
          <a:p>
            <a:r>
              <a:rPr lang="en-GB" dirty="0" err="1"/>
              <a:t>Muista</a:t>
            </a:r>
            <a:r>
              <a:rPr lang="en-GB" dirty="0"/>
              <a:t> </a:t>
            </a:r>
            <a:r>
              <a:rPr lang="en-GB" dirty="0" err="1"/>
              <a:t>lopetusdia</a:t>
            </a:r>
            <a:r>
              <a:rPr lang="en-GB" dirty="0"/>
              <a:t>! (</a:t>
            </a:r>
            <a:r>
              <a:rPr lang="en-GB" dirty="0" err="1"/>
              <a:t>esimerkki</a:t>
            </a:r>
            <a:r>
              <a:rPr lang="en-GB" dirty="0"/>
              <a:t>)</a:t>
            </a:r>
            <a:r>
              <a:rPr lang="en-GB" noProof="0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C23CAB-FCB2-428A-9EA7-7EE49CA7BC54}"/>
              </a:ext>
            </a:extLst>
          </p:cNvPr>
          <p:cNvSpPr txBox="1">
            <a:spLocks/>
          </p:cNvSpPr>
          <p:nvPr userDrawn="1"/>
        </p:nvSpPr>
        <p:spPr>
          <a:xfrm>
            <a:off x="0" y="1881811"/>
            <a:ext cx="9172304" cy="7293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292"/>
                </a:solidFill>
                <a:latin typeface="PT Sans Caption" panose="020B0603020203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fi-FI" sz="2400" dirty="0"/>
              <a:t>https://www.fsd.tuni.fi/</a:t>
            </a:r>
          </a:p>
        </p:txBody>
      </p:sp>
      <p:pic>
        <p:nvPicPr>
          <p:cNvPr id="14" name="Content Placeholder 3" descr="Kuvituskuva: Tietoarkiston logohemmo piirtää.">
            <a:extLst>
              <a:ext uri="{FF2B5EF4-FFF2-40B4-BE49-F238E27FC236}">
                <a16:creationId xmlns:a16="http://schemas.microsoft.com/office/drawing/2014/main" id="{EECCC206-4620-4997-8345-D86707765F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47408" y="2365889"/>
            <a:ext cx="3429000" cy="2952750"/>
          </a:xfrm>
          <a:prstGeom prst="rect">
            <a:avLst/>
          </a:prstGeom>
        </p:spPr>
      </p:pic>
      <p:pic>
        <p:nvPicPr>
          <p:cNvPr id="15" name="Picture 14" descr="Kuvituskuva: Tietoarkiston logohemmo opettaa.">
            <a:extLst>
              <a:ext uri="{FF2B5EF4-FFF2-40B4-BE49-F238E27FC236}">
                <a16:creationId xmlns:a16="http://schemas.microsoft.com/office/drawing/2014/main" id="{AE771027-91D3-4306-BB09-FC208F37D7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08268" y="2365889"/>
            <a:ext cx="3429000" cy="29527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C91AD7B-BA79-4D12-8007-4A3A0DDDACA2}"/>
              </a:ext>
            </a:extLst>
          </p:cNvPr>
          <p:cNvSpPr txBox="1"/>
          <p:nvPr userDrawn="1"/>
        </p:nvSpPr>
        <p:spPr>
          <a:xfrm>
            <a:off x="1231155" y="5764937"/>
            <a:ext cx="3743967" cy="73866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1400" dirty="0" err="1">
                <a:latin typeface="PT Sans" panose="020B0503020203020204" pitchFamily="34" charset="0"/>
              </a:rPr>
              <a:t>Jollei</a:t>
            </a:r>
            <a:r>
              <a:rPr lang="en-US" sz="1400" dirty="0">
                <a:latin typeface="PT Sans" panose="020B0503020203020204" pitchFamily="34" charset="0"/>
              </a:rPr>
              <a:t> </a:t>
            </a:r>
            <a:r>
              <a:rPr lang="en-US" sz="1400" dirty="0" err="1">
                <a:latin typeface="PT Sans" panose="020B0503020203020204" pitchFamily="34" charset="0"/>
              </a:rPr>
              <a:t>erikseen</a:t>
            </a:r>
            <a:r>
              <a:rPr lang="en-US" sz="1400" dirty="0">
                <a:latin typeface="PT Sans" panose="020B0503020203020204" pitchFamily="34" charset="0"/>
              </a:rPr>
              <a:t> </a:t>
            </a:r>
            <a:r>
              <a:rPr lang="en-US" sz="1400" dirty="0" err="1">
                <a:latin typeface="PT Sans" panose="020B0503020203020204" pitchFamily="34" charset="0"/>
              </a:rPr>
              <a:t>toisin</a:t>
            </a:r>
            <a:r>
              <a:rPr lang="en-US" sz="1400" dirty="0">
                <a:latin typeface="PT Sans" panose="020B0503020203020204" pitchFamily="34" charset="0"/>
              </a:rPr>
              <a:t> </a:t>
            </a:r>
            <a:r>
              <a:rPr lang="en-US" sz="1400" dirty="0" err="1">
                <a:latin typeface="PT Sans" panose="020B0503020203020204" pitchFamily="34" charset="0"/>
              </a:rPr>
              <a:t>mainita</a:t>
            </a:r>
            <a:r>
              <a:rPr lang="en-US" sz="1400" dirty="0">
                <a:latin typeface="PT Sans" panose="020B0503020203020204" pitchFamily="34" charset="0"/>
              </a:rPr>
              <a:t>, </a:t>
            </a:r>
            <a:r>
              <a:rPr lang="en-US" sz="1400" dirty="0" err="1">
                <a:latin typeface="PT Sans" panose="020B0503020203020204" pitchFamily="34" charset="0"/>
              </a:rPr>
              <a:t>tämä</a:t>
            </a:r>
            <a:r>
              <a:rPr lang="en-US" sz="1400" dirty="0">
                <a:latin typeface="PT Sans" panose="020B0503020203020204" pitchFamily="34" charset="0"/>
              </a:rPr>
              <a:t> </a:t>
            </a:r>
            <a:r>
              <a:rPr lang="en-US" sz="1400" dirty="0" err="1">
                <a:latin typeface="PT Sans" panose="020B0503020203020204" pitchFamily="34" charset="0"/>
              </a:rPr>
              <a:t>esitys</a:t>
            </a:r>
            <a:r>
              <a:rPr lang="en-US" sz="1400" dirty="0">
                <a:latin typeface="PT Sans" panose="020B0503020203020204" pitchFamily="34" charset="0"/>
              </a:rPr>
              <a:t> on </a:t>
            </a:r>
            <a:r>
              <a:rPr lang="en-US" sz="1400" dirty="0" err="1">
                <a:latin typeface="PT Sans" panose="020B0503020203020204" pitchFamily="34" charset="0"/>
              </a:rPr>
              <a:t>lisensoitu</a:t>
            </a:r>
            <a:r>
              <a:rPr lang="en-US" sz="1400" dirty="0">
                <a:latin typeface="PT Sans" panose="020B0503020203020204" pitchFamily="34" charset="0"/>
              </a:rPr>
              <a:t> </a:t>
            </a:r>
            <a:r>
              <a:rPr lang="en-US" sz="1400" dirty="0">
                <a:latin typeface="PT Sans" panose="020B0503020203020204" pitchFamily="34" charset="0"/>
                <a:hlinkClick r:id="rId4"/>
              </a:rPr>
              <a:t>Creative Commons </a:t>
            </a:r>
            <a:r>
              <a:rPr lang="en-US" sz="1400" dirty="0" err="1">
                <a:latin typeface="PT Sans" panose="020B0503020203020204" pitchFamily="34" charset="0"/>
                <a:hlinkClick r:id="rId4"/>
              </a:rPr>
              <a:t>Nimeä</a:t>
            </a:r>
            <a:r>
              <a:rPr lang="en-US" sz="1400" dirty="0">
                <a:latin typeface="PT Sans" panose="020B0503020203020204" pitchFamily="34" charset="0"/>
                <a:hlinkClick r:id="rId4"/>
              </a:rPr>
              <a:t> 4.0 </a:t>
            </a:r>
            <a:r>
              <a:rPr lang="en-US" sz="1400" dirty="0" err="1">
                <a:latin typeface="PT Sans" panose="020B0503020203020204" pitchFamily="34" charset="0"/>
                <a:hlinkClick r:id="rId4"/>
              </a:rPr>
              <a:t>Kansainvälinen</a:t>
            </a:r>
            <a:r>
              <a:rPr lang="en-US" sz="1400" dirty="0">
                <a:latin typeface="PT Sans" panose="020B0503020203020204" pitchFamily="34" charset="0"/>
                <a:hlinkClick r:id="rId4"/>
              </a:rPr>
              <a:t> -</a:t>
            </a:r>
            <a:r>
              <a:rPr lang="en-US" sz="1400" dirty="0" err="1">
                <a:latin typeface="PT Sans" panose="020B0503020203020204" pitchFamily="34" charset="0"/>
                <a:hlinkClick r:id="rId4"/>
              </a:rPr>
              <a:t>lisenssillä</a:t>
            </a:r>
            <a:r>
              <a:rPr lang="en-US" sz="1400" dirty="0">
                <a:latin typeface="PT Sans" panose="020B0503020203020204" pitchFamily="34" charset="0"/>
              </a:rPr>
              <a:t>.</a:t>
            </a:r>
            <a:endParaRPr lang="fi-FI" sz="1400" dirty="0">
              <a:latin typeface="PT Sans" panose="020B0503020203020204" pitchFamily="34" charset="0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EEF993E-41EB-41FA-8357-0C5CDC0DA04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096000" y="5764936"/>
            <a:ext cx="4697186" cy="738664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buNone/>
              <a:defRPr lang="en-US" sz="1400" kern="1200" dirty="0" smtClean="0">
                <a:solidFill>
                  <a:schemeClr val="tx1"/>
                </a:solidFill>
                <a:latin typeface="PT Sans" panose="020B0503020203020204" pitchFamily="34" charset="0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 err="1"/>
              <a:t>Nimi</a:t>
            </a:r>
            <a:r>
              <a:rPr lang="en-US" dirty="0"/>
              <a:t>, </a:t>
            </a:r>
            <a:r>
              <a:rPr lang="en-US" dirty="0" err="1"/>
              <a:t>sähköposti</a:t>
            </a:r>
            <a:r>
              <a:rPr lang="en-US" dirty="0"/>
              <a:t> ja ORCID </a:t>
            </a:r>
            <a:r>
              <a:rPr lang="en-US" dirty="0" err="1"/>
              <a:t>tms</a:t>
            </a:r>
            <a:r>
              <a:rPr lang="en-US" dirty="0"/>
              <a:t>, </a:t>
            </a:r>
            <a:r>
              <a:rPr lang="en-US" dirty="0" err="1"/>
              <a:t>kukin</a:t>
            </a:r>
            <a:r>
              <a:rPr lang="en-US" dirty="0"/>
              <a:t> </a:t>
            </a:r>
            <a:r>
              <a:rPr lang="en-US" dirty="0" err="1"/>
              <a:t>omalle</a:t>
            </a:r>
            <a:r>
              <a:rPr lang="en-US" dirty="0"/>
              <a:t> </a:t>
            </a:r>
            <a:r>
              <a:rPr lang="en-US" dirty="0" err="1"/>
              <a:t>rivilleen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06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968400"/>
            <a:ext cx="10116000" cy="73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1936800"/>
            <a:ext cx="10116000" cy="410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0A7358-54FC-48B6-ACE5-ACC334962506}" type="datetimeFigureOut">
              <a:rPr lang="fi-FI" smtClean="0"/>
              <a:t>1.12.2022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09995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20A359F-6372-4C30-8A97-370326189A77}" type="slidenum">
              <a:rPr lang="fi-FI" smtClean="0"/>
              <a:t>‹#›</a:t>
            </a:fld>
            <a:endParaRPr lang="fi-FI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7B7A28E-30F4-4875-B4CD-921B843170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997" y="-30997"/>
            <a:ext cx="12228163" cy="689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08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7" r:id="rId4"/>
    <p:sldLayoutId id="2147483681" r:id="rId5"/>
    <p:sldLayoutId id="2147483682" r:id="rId6"/>
    <p:sldLayoutId id="2147483668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006292"/>
          </a:solidFill>
          <a:latin typeface="PT Sans Caption" panose="020B0603020203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400" kern="1200">
          <a:solidFill>
            <a:schemeClr val="tx1">
              <a:lumMod val="75000"/>
              <a:lumOff val="25000"/>
            </a:schemeClr>
          </a:solidFill>
          <a:latin typeface="PT Sans Caption" panose="020B0603020203020204" pitchFamily="34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kern="1200">
          <a:solidFill>
            <a:schemeClr val="tx1">
              <a:lumMod val="75000"/>
              <a:lumOff val="25000"/>
            </a:schemeClr>
          </a:solidFill>
          <a:latin typeface="PT Sans Caption" panose="020B0603020203020204" pitchFamily="34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PT Sans Caption" panose="020B0603020203020204" pitchFamily="34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PT Sans Caption" panose="020B0603020203020204" pitchFamily="34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PT Sans Caption" panose="020B0603020203020204" pitchFamily="34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e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nnif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/4.0/" TargetMode="External"/><Relationship Id="rId5" Type="http://schemas.openxmlformats.org/officeDocument/2006/relationships/hyperlink" Target="mailto:anne.maunu@tuni.fi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Semi-automated keyword assignment to variables in datasets</a:t>
            </a:r>
            <a:endParaRPr lang="en-GB" sz="4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EEACD23-81B9-479B-BEE6-1005B8285D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757575"/>
                </a:solidFill>
              </a:rPr>
              <a:t>EDDI22</a:t>
            </a:r>
          </a:p>
          <a:p>
            <a:r>
              <a:rPr lang="en-US" dirty="0">
                <a:solidFill>
                  <a:srgbClr val="757575"/>
                </a:solidFill>
              </a:rPr>
              <a:t>Anne Maunu</a:t>
            </a:r>
            <a:endParaRPr lang="fi-FI" dirty="0">
              <a:solidFill>
                <a:srgbClr val="757575"/>
              </a:solidFill>
            </a:endParaRPr>
          </a:p>
        </p:txBody>
      </p:sp>
      <p:sp>
        <p:nvSpPr>
          <p:cNvPr id="4" name="Title 1" descr="Esityksen pääotsikko ja mahdollinen alaotsikko. "/>
          <p:cNvSpPr txBox="1">
            <a:spLocks/>
          </p:cNvSpPr>
          <p:nvPr/>
        </p:nvSpPr>
        <p:spPr>
          <a:xfrm>
            <a:off x="1066796" y="3317579"/>
            <a:ext cx="8196317" cy="111713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rgbClr val="006292"/>
                </a:solidFill>
                <a:latin typeface="PT Sans Caption" panose="020B0603020203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GB" sz="3200" dirty="0"/>
          </a:p>
        </p:txBody>
      </p:sp>
      <p:pic>
        <p:nvPicPr>
          <p:cNvPr id="1026" name="Picture 2" descr="Creative Commons -lisenssi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0799" y="6257394"/>
            <a:ext cx="8382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22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Contents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Motivation 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sz="2400" dirty="0"/>
              <a:t>The tool and algorithms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Results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How the DDI structure could be utilized even more</a:t>
            </a:r>
            <a:endParaRPr lang="en-GB" altLang="fi-FI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042025"/>
            <a:ext cx="6297613" cy="365125"/>
          </a:xfrm>
        </p:spPr>
        <p:txBody>
          <a:bodyPr/>
          <a:lstStyle/>
          <a:p>
            <a:fld id="{A3C0D143-D74A-4AA3-9E23-53C205338C0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833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err="1"/>
              <a:t>Motivation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500" y="1814081"/>
            <a:ext cx="9825520" cy="3870453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sz="2400" dirty="0"/>
              <a:t>Why assign keywords to variables/questions?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Improves discoverability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Could be useful in question banks</a:t>
            </a:r>
          </a:p>
          <a:p>
            <a:pPr>
              <a:lnSpc>
                <a:spcPct val="90000"/>
              </a:lnSpc>
            </a:pPr>
            <a:r>
              <a:rPr lang="en-GB" altLang="fi-FI" dirty="0"/>
              <a:t>Why automate the process?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We document datasets using DDI Codebook and keywords are assigned manually to studies. However, doing the same to the over 260 000 variables in our data catalogue is infeasible.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042025"/>
            <a:ext cx="6297613" cy="365125"/>
          </a:xfrm>
        </p:spPr>
        <p:txBody>
          <a:bodyPr/>
          <a:lstStyle/>
          <a:p>
            <a:fld id="{A3C0D143-D74A-4AA3-9E23-53C205338C09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505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Annif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A subject indexing tool developed at the National Library of Finland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Features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Provides several algorithms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Multilingual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Supports any subject vocabulary in TSV or SKOS format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Command line interface, web user interface and REST API</a:t>
            </a:r>
          </a:p>
          <a:p>
            <a:pPr>
              <a:lnSpc>
                <a:spcPct val="90000"/>
              </a:lnSpc>
            </a:pPr>
            <a:r>
              <a:rPr lang="en-GB" altLang="fi-FI" dirty="0">
                <a:hlinkClick r:id="rId3"/>
              </a:rPr>
              <a:t>https://annif.org/</a:t>
            </a:r>
            <a:r>
              <a:rPr lang="en-GB" altLang="fi-FI" dirty="0"/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042025"/>
            <a:ext cx="6297613" cy="365125"/>
          </a:xfrm>
        </p:spPr>
        <p:txBody>
          <a:bodyPr/>
          <a:lstStyle/>
          <a:p>
            <a:fld id="{A3C0D143-D74A-4AA3-9E23-53C205338C09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8235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Approaches</a:t>
            </a:r>
            <a:r>
              <a:rPr lang="fi-FI" dirty="0"/>
              <a:t> and </a:t>
            </a:r>
            <a:r>
              <a:rPr lang="fi-FI" dirty="0" err="1"/>
              <a:t>algorithms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fi-FI" sz="2400" dirty="0"/>
              <a:t>Lexical methods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Keywords are chosen from words or phrases explicitly appearing in the document text.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E.g. MLLM, (Maui)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Associative methods</a:t>
            </a:r>
            <a:endParaRPr lang="en-GB" altLang="fi-FI" sz="2400" dirty="0"/>
          </a:p>
          <a:p>
            <a:pPr lvl="1">
              <a:lnSpc>
                <a:spcPct val="90000"/>
              </a:lnSpc>
            </a:pPr>
            <a:r>
              <a:rPr lang="en-GB" altLang="fi-FI" dirty="0"/>
              <a:t>Find associations between document text and vocabulary terms based on indexed training data.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E.g. TF-IDF, </a:t>
            </a:r>
            <a:r>
              <a:rPr lang="en-GB" altLang="fi-FI" dirty="0" err="1"/>
              <a:t>fastText</a:t>
            </a:r>
            <a:r>
              <a:rPr lang="en-GB" altLang="fi-FI" dirty="0"/>
              <a:t>, Omikuji: Bonsai, </a:t>
            </a:r>
            <a:r>
              <a:rPr lang="en-GB" altLang="fi-FI" dirty="0" err="1"/>
              <a:t>Parabel</a:t>
            </a:r>
            <a:r>
              <a:rPr lang="en-GB" altLang="fi-FI" dirty="0"/>
              <a:t> and </a:t>
            </a:r>
            <a:r>
              <a:rPr lang="en-GB" altLang="fi-FI" dirty="0" err="1"/>
              <a:t>AttentionXML</a:t>
            </a:r>
            <a:endParaRPr lang="en-GB" altLang="fi-FI" dirty="0"/>
          </a:p>
          <a:p>
            <a:pPr>
              <a:lnSpc>
                <a:spcPct val="90000"/>
              </a:lnSpc>
            </a:pPr>
            <a:r>
              <a:rPr lang="en-GB" altLang="fi-FI" dirty="0"/>
              <a:t>Fusion/ensemble methods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E.g. ensemble, PAV, </a:t>
            </a:r>
            <a:r>
              <a:rPr lang="en-GB" altLang="fi-FI" dirty="0" err="1"/>
              <a:t>nn_ensemble</a:t>
            </a:r>
            <a:endParaRPr lang="en-GB" alt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042025"/>
            <a:ext cx="6297613" cy="365125"/>
          </a:xfrm>
        </p:spPr>
        <p:txBody>
          <a:bodyPr/>
          <a:lstStyle/>
          <a:p>
            <a:fld id="{A3C0D143-D74A-4AA3-9E23-53C205338C09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107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Results</a:t>
            </a:r>
            <a:r>
              <a:rPr lang="fi-FI" dirty="0"/>
              <a:t>: </a:t>
            </a:r>
            <a:r>
              <a:rPr lang="fi-FI" dirty="0" err="1"/>
              <a:t>study</a:t>
            </a:r>
            <a:r>
              <a:rPr lang="fi-FI" dirty="0"/>
              <a:t> </a:t>
            </a:r>
            <a:r>
              <a:rPr lang="fi-FI" dirty="0" err="1"/>
              <a:t>abstracts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5" y="2050049"/>
            <a:ext cx="3838222" cy="4174538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Algorithms were first tested with study abstracts to produce comparable results.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042025"/>
            <a:ext cx="6297613" cy="365125"/>
          </a:xfrm>
        </p:spPr>
        <p:txBody>
          <a:bodyPr/>
          <a:lstStyle/>
          <a:p>
            <a:fld id="{A3C0D143-D74A-4AA3-9E23-53C205338C09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8" name="Picture 7" descr="A clustered column chart of different metrics describing the results of automated keyword assignment to study abstracts. Omikuji algorithms seem to have the best results.">
            <a:extLst>
              <a:ext uri="{FF2B5EF4-FFF2-40B4-BE49-F238E27FC236}">
                <a16:creationId xmlns:a16="http://schemas.microsoft.com/office/drawing/2014/main" id="{BA40BD01-8E5F-4B80-AD15-206034DA27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3035" y="1517087"/>
            <a:ext cx="7137931" cy="452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3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978564"/>
            <a:ext cx="10115852" cy="729340"/>
          </a:xfrm>
        </p:spPr>
        <p:txBody>
          <a:bodyPr/>
          <a:lstStyle/>
          <a:p>
            <a:r>
              <a:rPr lang="fi-FI" dirty="0" err="1"/>
              <a:t>Results</a:t>
            </a:r>
            <a:r>
              <a:rPr lang="fi-FI" dirty="0"/>
              <a:t>: </a:t>
            </a:r>
            <a:r>
              <a:rPr lang="fi-FI" dirty="0" err="1"/>
              <a:t>study</a:t>
            </a:r>
            <a:r>
              <a:rPr lang="fi-FI" dirty="0"/>
              <a:t> </a:t>
            </a:r>
            <a:r>
              <a:rPr lang="fi-FI" dirty="0" err="1"/>
              <a:t>abstracts</a:t>
            </a:r>
            <a:r>
              <a:rPr lang="fi-FI" dirty="0"/>
              <a:t> and </a:t>
            </a:r>
            <a:r>
              <a:rPr lang="fi-FI" dirty="0" err="1"/>
              <a:t>ensembles</a:t>
            </a:r>
            <a:endParaRPr lang="fi-FI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C43A98B-101A-427E-88BF-FEF6E34265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4000" y="1836001"/>
            <a:ext cx="2443743" cy="4205362"/>
          </a:xfrm>
        </p:spPr>
        <p:txBody>
          <a:bodyPr/>
          <a:lstStyle/>
          <a:p>
            <a:r>
              <a:rPr lang="fi-FI" dirty="0">
                <a:solidFill>
                  <a:srgbClr val="006100"/>
                </a:solidFill>
              </a:rPr>
              <a:t>Green</a:t>
            </a:r>
            <a:r>
              <a:rPr lang="fi-FI" dirty="0"/>
              <a:t> = </a:t>
            </a:r>
            <a:r>
              <a:rPr lang="fi-FI" dirty="0" err="1"/>
              <a:t>better</a:t>
            </a:r>
            <a:r>
              <a:rPr lang="fi-FI" dirty="0"/>
              <a:t> </a:t>
            </a:r>
            <a:r>
              <a:rPr lang="fi-FI" dirty="0" err="1"/>
              <a:t>than</a:t>
            </a:r>
            <a:r>
              <a:rPr lang="fi-FI" dirty="0"/>
              <a:t> </a:t>
            </a:r>
            <a:r>
              <a:rPr lang="fi-FI" dirty="0" err="1"/>
              <a:t>Bonsai</a:t>
            </a:r>
            <a:endParaRPr lang="fi-FI" dirty="0"/>
          </a:p>
          <a:p>
            <a:r>
              <a:rPr lang="fi-FI" dirty="0"/>
              <a:t>Black = </a:t>
            </a:r>
            <a:r>
              <a:rPr lang="fi-FI" dirty="0" err="1"/>
              <a:t>equal</a:t>
            </a:r>
            <a:r>
              <a:rPr lang="fi-FI" dirty="0"/>
              <a:t> to </a:t>
            </a:r>
            <a:r>
              <a:rPr lang="fi-FI" dirty="0" err="1"/>
              <a:t>Bonsai</a:t>
            </a:r>
            <a:endParaRPr lang="fi-FI" dirty="0"/>
          </a:p>
          <a:p>
            <a:r>
              <a:rPr lang="fi-FI" dirty="0">
                <a:solidFill>
                  <a:srgbClr val="9C0006"/>
                </a:solidFill>
              </a:rPr>
              <a:t>Red</a:t>
            </a:r>
            <a:r>
              <a:rPr lang="fi-FI" dirty="0"/>
              <a:t> = </a:t>
            </a:r>
            <a:r>
              <a:rPr lang="fi-FI" dirty="0" err="1"/>
              <a:t>worse</a:t>
            </a:r>
            <a:r>
              <a:rPr lang="fi-FI" dirty="0"/>
              <a:t> </a:t>
            </a:r>
            <a:r>
              <a:rPr lang="fi-FI" dirty="0" err="1"/>
              <a:t>than</a:t>
            </a:r>
            <a:r>
              <a:rPr lang="fi-FI" dirty="0"/>
              <a:t> </a:t>
            </a:r>
            <a:r>
              <a:rPr lang="fi-FI" dirty="0" err="1"/>
              <a:t>Bonsai</a:t>
            </a:r>
            <a:endParaRPr lang="fi-FI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960DC6D-805D-4BCB-8671-0DB4D03C8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969394"/>
              </p:ext>
            </p:extLst>
          </p:nvPr>
        </p:nvGraphicFramePr>
        <p:xfrm>
          <a:off x="3514477" y="1873055"/>
          <a:ext cx="8062626" cy="4131254"/>
        </p:xfrm>
        <a:graphic>
          <a:graphicData uri="http://schemas.openxmlformats.org/drawingml/2006/table">
            <a:tbl>
              <a:tblPr firstRow="1" firstCol="1" bandRow="1"/>
              <a:tblGrid>
                <a:gridCol w="1057523">
                  <a:extLst>
                    <a:ext uri="{9D8B030D-6E8A-4147-A177-3AD203B41FA5}">
                      <a16:colId xmlns:a16="http://schemas.microsoft.com/office/drawing/2014/main" val="522372265"/>
                    </a:ext>
                  </a:extLst>
                </a:gridCol>
                <a:gridCol w="912838">
                  <a:extLst>
                    <a:ext uri="{9D8B030D-6E8A-4147-A177-3AD203B41FA5}">
                      <a16:colId xmlns:a16="http://schemas.microsoft.com/office/drawing/2014/main" val="765770202"/>
                    </a:ext>
                  </a:extLst>
                </a:gridCol>
                <a:gridCol w="973857">
                  <a:extLst>
                    <a:ext uri="{9D8B030D-6E8A-4147-A177-3AD203B41FA5}">
                      <a16:colId xmlns:a16="http://schemas.microsoft.com/office/drawing/2014/main" val="2758223189"/>
                    </a:ext>
                  </a:extLst>
                </a:gridCol>
                <a:gridCol w="853068">
                  <a:extLst>
                    <a:ext uri="{9D8B030D-6E8A-4147-A177-3AD203B41FA5}">
                      <a16:colId xmlns:a16="http://schemas.microsoft.com/office/drawing/2014/main" val="888538829"/>
                    </a:ext>
                  </a:extLst>
                </a:gridCol>
                <a:gridCol w="853068">
                  <a:extLst>
                    <a:ext uri="{9D8B030D-6E8A-4147-A177-3AD203B41FA5}">
                      <a16:colId xmlns:a16="http://schemas.microsoft.com/office/drawing/2014/main" val="1784485267"/>
                    </a:ext>
                  </a:extLst>
                </a:gridCol>
                <a:gridCol w="853068">
                  <a:extLst>
                    <a:ext uri="{9D8B030D-6E8A-4147-A177-3AD203B41FA5}">
                      <a16:colId xmlns:a16="http://schemas.microsoft.com/office/drawing/2014/main" val="3237511019"/>
                    </a:ext>
                  </a:extLst>
                </a:gridCol>
                <a:gridCol w="853068">
                  <a:extLst>
                    <a:ext uri="{9D8B030D-6E8A-4147-A177-3AD203B41FA5}">
                      <a16:colId xmlns:a16="http://schemas.microsoft.com/office/drawing/2014/main" val="2615527024"/>
                    </a:ext>
                  </a:extLst>
                </a:gridCol>
                <a:gridCol w="853068">
                  <a:extLst>
                    <a:ext uri="{9D8B030D-6E8A-4147-A177-3AD203B41FA5}">
                      <a16:colId xmlns:a16="http://schemas.microsoft.com/office/drawing/2014/main" val="1739040344"/>
                    </a:ext>
                  </a:extLst>
                </a:gridCol>
                <a:gridCol w="853068">
                  <a:extLst>
                    <a:ext uri="{9D8B030D-6E8A-4147-A177-3AD203B41FA5}">
                      <a16:colId xmlns:a16="http://schemas.microsoft.com/office/drawing/2014/main" val="4063191700"/>
                    </a:ext>
                  </a:extLst>
                </a:gridCol>
              </a:tblGrid>
              <a:tr h="10265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Ensemble </a:t>
                      </a:r>
                      <a:r>
                        <a:rPr lang="fi-FI" sz="12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algorithms</a:t>
                      </a:r>
                      <a:endParaRPr lang="fi-FI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Metrics</a:t>
                      </a:r>
                      <a:endParaRPr lang="fi-FI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Bonsai</a:t>
                      </a:r>
                      <a:b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Parabel</a:t>
                      </a:r>
                      <a:b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TF-IDF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Bonsai</a:t>
                      </a:r>
                      <a:b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Parabel</a:t>
                      </a:r>
                      <a:b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MLLM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Bonsai</a:t>
                      </a:r>
                      <a:b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Parabel</a:t>
                      </a:r>
                      <a:b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fastText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r-FR" sz="12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Bonsai</a:t>
                      </a:r>
                      <a:br>
                        <a:rPr lang="fr-FR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r-FR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Parabel</a:t>
                      </a:r>
                      <a:br>
                        <a:rPr lang="fr-FR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r-FR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TF-IDF</a:t>
                      </a:r>
                      <a:br>
                        <a:rPr lang="fr-FR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r-FR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MLLM</a:t>
                      </a:r>
                      <a:endParaRPr lang="fi-FI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Bonsai</a:t>
                      </a:r>
                      <a:b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Parabel</a:t>
                      </a:r>
                      <a:b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TF-IDF</a:t>
                      </a:r>
                      <a:b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fastText</a:t>
                      </a:r>
                      <a:endParaRPr lang="fi-FI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Bonsai</a:t>
                      </a:r>
                      <a:b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Parabel</a:t>
                      </a:r>
                      <a:b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MLLM</a:t>
                      </a:r>
                      <a:b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fastText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Bonsai</a:t>
                      </a:r>
                      <a:b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Parabel</a:t>
                      </a:r>
                      <a:b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TF-IDF</a:t>
                      </a:r>
                      <a:b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MLLM</a:t>
                      </a:r>
                      <a:b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fastText</a:t>
                      </a:r>
                      <a:endParaRPr lang="fi-FI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84251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Ensemble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F1@5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0,48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0,50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0,50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0,50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724931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Ensemble</a:t>
                      </a:r>
                      <a:endParaRPr lang="fi-FI" sz="1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NDCG@5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694639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Ensemble</a:t>
                      </a:r>
                      <a:endParaRPr lang="fi-FI" sz="1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Precision@1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0,83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0,88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0,83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0,88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0,83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0,88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891859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Ensemble</a:t>
                      </a:r>
                      <a:endParaRPr lang="fi-FI" sz="12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Precision@5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0,73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0,74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0,73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601346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PAV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F1@5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0,44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1501770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PAV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NDCG@5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0,73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0,71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0,72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95896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PAV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Precision@1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0,78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0,83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0,84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678308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PAV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Precision@5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0,71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0,69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0,72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0,73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280268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nn_ensemble</a:t>
                      </a:r>
                      <a:endParaRPr lang="fi-FI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F1@5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0,50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0,50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0,49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726040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nn_ensemble</a:t>
                      </a:r>
                      <a:endParaRPr lang="fi-FI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NDCG@5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0,81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0,80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0,79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221941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nn_ensemble</a:t>
                      </a:r>
                      <a:endParaRPr lang="fi-FI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Precision@1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0,82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0,88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0,82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0,82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0,86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444099"/>
                  </a:ext>
                </a:extLst>
              </a:tr>
              <a:tr h="25872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i-FI" sz="12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nn_ensemble</a:t>
                      </a:r>
                      <a:endParaRPr lang="fi-FI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Precision@5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0,72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0,78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0,73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9C0006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0,72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0,77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tabLst>
                          <a:tab pos="4476750" algn="l"/>
                        </a:tabLst>
                      </a:pPr>
                      <a:r>
                        <a:rPr lang="fi-FI" sz="1200" dirty="0">
                          <a:solidFill>
                            <a:srgbClr val="006100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0,76</a:t>
                      </a:r>
                    </a:p>
                  </a:txBody>
                  <a:tcPr marL="51146" marR="5114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730886"/>
                  </a:ext>
                </a:extLst>
              </a:tr>
            </a:tbl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042025"/>
            <a:ext cx="6297613" cy="365125"/>
          </a:xfrm>
        </p:spPr>
        <p:txBody>
          <a:bodyPr/>
          <a:lstStyle/>
          <a:p>
            <a:fld id="{A3C0D143-D74A-4AA3-9E23-53C205338C09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139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i-FI" dirty="0" err="1"/>
              <a:t>Results</a:t>
            </a:r>
            <a:r>
              <a:rPr lang="fi-FI" dirty="0"/>
              <a:t>: </a:t>
            </a:r>
            <a:r>
              <a:rPr lang="fi-FI" dirty="0" err="1"/>
              <a:t>study</a:t>
            </a:r>
            <a:r>
              <a:rPr lang="fi-FI" dirty="0"/>
              <a:t> </a:t>
            </a:r>
            <a:r>
              <a:rPr lang="fi-FI" dirty="0" err="1"/>
              <a:t>abstract</a:t>
            </a:r>
            <a:r>
              <a:rPr lang="fi-FI" dirty="0"/>
              <a:t> </a:t>
            </a:r>
            <a:r>
              <a:rPr lang="fi-FI" dirty="0" err="1"/>
              <a:t>suggested</a:t>
            </a:r>
            <a:r>
              <a:rPr lang="fi-FI" dirty="0"/>
              <a:t> </a:t>
            </a:r>
            <a:r>
              <a:rPr lang="fi-FI" dirty="0" err="1"/>
              <a:t>keywords</a:t>
            </a:r>
            <a:r>
              <a:rPr lang="fi-FI" dirty="0"/>
              <a:t> </a:t>
            </a:r>
            <a:r>
              <a:rPr lang="fi-FI" dirty="0" err="1"/>
              <a:t>example</a:t>
            </a:r>
            <a:endParaRPr lang="fi-FI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042025"/>
            <a:ext cx="6297613" cy="365125"/>
          </a:xfrm>
        </p:spPr>
        <p:txBody>
          <a:bodyPr/>
          <a:lstStyle/>
          <a:p>
            <a:fld id="{A3C0D143-D74A-4AA3-9E23-53C205338C09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1F9B1B-C7D8-4956-B2F9-B83BDB137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1085078"/>
              </p:ext>
            </p:extLst>
          </p:nvPr>
        </p:nvGraphicFramePr>
        <p:xfrm>
          <a:off x="836740" y="2004426"/>
          <a:ext cx="10376448" cy="4106947"/>
        </p:xfrm>
        <a:graphic>
          <a:graphicData uri="http://schemas.openxmlformats.org/drawingml/2006/table">
            <a:tbl>
              <a:tblPr firstRow="1"/>
              <a:tblGrid>
                <a:gridCol w="1614114">
                  <a:extLst>
                    <a:ext uri="{9D8B030D-6E8A-4147-A177-3AD203B41FA5}">
                      <a16:colId xmlns:a16="http://schemas.microsoft.com/office/drawing/2014/main" val="1583964827"/>
                    </a:ext>
                  </a:extLst>
                </a:gridCol>
                <a:gridCol w="1460389">
                  <a:extLst>
                    <a:ext uri="{9D8B030D-6E8A-4147-A177-3AD203B41FA5}">
                      <a16:colId xmlns:a16="http://schemas.microsoft.com/office/drawing/2014/main" val="3123310012"/>
                    </a:ext>
                  </a:extLst>
                </a:gridCol>
                <a:gridCol w="1460389">
                  <a:extLst>
                    <a:ext uri="{9D8B030D-6E8A-4147-A177-3AD203B41FA5}">
                      <a16:colId xmlns:a16="http://schemas.microsoft.com/office/drawing/2014/main" val="1410679913"/>
                    </a:ext>
                  </a:extLst>
                </a:gridCol>
                <a:gridCol w="1460389">
                  <a:extLst>
                    <a:ext uri="{9D8B030D-6E8A-4147-A177-3AD203B41FA5}">
                      <a16:colId xmlns:a16="http://schemas.microsoft.com/office/drawing/2014/main" val="2284761631"/>
                    </a:ext>
                  </a:extLst>
                </a:gridCol>
                <a:gridCol w="1460389">
                  <a:extLst>
                    <a:ext uri="{9D8B030D-6E8A-4147-A177-3AD203B41FA5}">
                      <a16:colId xmlns:a16="http://schemas.microsoft.com/office/drawing/2014/main" val="2107598039"/>
                    </a:ext>
                  </a:extLst>
                </a:gridCol>
                <a:gridCol w="1460389">
                  <a:extLst>
                    <a:ext uri="{9D8B030D-6E8A-4147-A177-3AD203B41FA5}">
                      <a16:colId xmlns:a16="http://schemas.microsoft.com/office/drawing/2014/main" val="3219040757"/>
                    </a:ext>
                  </a:extLst>
                </a:gridCol>
                <a:gridCol w="1460389">
                  <a:extLst>
                    <a:ext uri="{9D8B030D-6E8A-4147-A177-3AD203B41FA5}">
                      <a16:colId xmlns:a16="http://schemas.microsoft.com/office/drawing/2014/main" val="565198645"/>
                    </a:ext>
                  </a:extLst>
                </a:gridCol>
              </a:tblGrid>
              <a:tr h="245257"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 err="1">
                          <a:effectLst/>
                          <a:latin typeface="+mn-lt"/>
                        </a:rPr>
                        <a:t>Description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/</a:t>
                      </a:r>
                      <a:r>
                        <a:rPr lang="fi-FI" sz="1000" b="0" i="0" dirty="0" err="1">
                          <a:effectLst/>
                          <a:latin typeface="+mn-lt"/>
                        </a:rPr>
                        <a:t>metric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TF-IDF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MLLM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 err="1">
                          <a:effectLst/>
                          <a:latin typeface="+mn-lt"/>
                        </a:rPr>
                        <a:t>fastText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 err="1">
                          <a:effectLst/>
                          <a:latin typeface="+mn-lt"/>
                        </a:rPr>
                        <a:t>Parabel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 err="1">
                          <a:effectLst/>
                          <a:latin typeface="+mn-lt"/>
                        </a:rPr>
                        <a:t>Bonsai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 err="1">
                          <a:effectLst/>
                          <a:latin typeface="+mn-lt"/>
                        </a:rPr>
                        <a:t>AttentionXML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941671"/>
                  </a:ext>
                </a:extLst>
              </a:tr>
              <a:tr h="2839396"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 err="1">
                          <a:effectLst/>
                          <a:latin typeface="+mn-lt"/>
                        </a:rPr>
                        <a:t>Suggested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1000" b="0" i="0" dirty="0" err="1">
                          <a:effectLst/>
                          <a:latin typeface="+mn-lt"/>
                        </a:rPr>
                        <a:t>keywords</a:t>
                      </a:r>
                      <a:endParaRPr lang="fi-FI" sz="1000" b="0" i="0" dirty="0">
                        <a:effectLst/>
                        <a:latin typeface="+mn-lt"/>
                      </a:endParaRPr>
                    </a:p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(in </a:t>
                      </a:r>
                      <a:r>
                        <a:rPr lang="fi-FI" sz="1000" b="0" i="0" dirty="0" err="1">
                          <a:effectLst/>
                          <a:latin typeface="+mn-lt"/>
                        </a:rPr>
                        <a:t>Finnish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politiikka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(0,55)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poliittinen osallistuminen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(0,547)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suomalaisuus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(0,544)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asenteet (0,535)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yhteiskunta (0,529)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identiteetti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(0,512)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mielipiteet (0,512)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joukkoviestimet (0,511)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ulkomaalaiset (0,511)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maahanmuutto (0,51)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vaikuttaminen (0,51)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äänestäminen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(0,509)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poliittiset asenteet (0,508)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kieli ja kielet (0,506)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järjestötoiminta (0,505)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kansainvälisyys (0,5)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puolueet (0,5)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integraatio (0,497)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kansallinen identiteetti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(0,495)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demokratia (0,494)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identiteetti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(0,693) </a:t>
                      </a:r>
                    </a:p>
                    <a:p>
                      <a:pPr algn="l" rtl="0" fontAlgn="base"/>
                      <a:r>
                        <a:rPr lang="fi-FI" sz="800" b="1" i="0" u="sng" strike="noStrike" dirty="0">
                          <a:effectLst/>
                          <a:latin typeface="+mn-lt"/>
                        </a:rPr>
                        <a:t>kansallinen identiteetti</a:t>
                      </a:r>
                      <a:r>
                        <a:rPr lang="fi-FI" sz="800" b="0" i="0" u="sng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(0,632)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poliittinen osallistuminen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(0,629)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ulkosuomalaiset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(0,538)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vaalit (0,495)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kansalaisuus (0,464)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suomalaisuus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(0,356)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perusoikeudet (0,352)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politiikka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(0,249)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kulttuuri-identiteetti (0,178)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kulttuuri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(0,178)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etniset ryhmät (0,148)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äänestäminen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(0,137)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ulkomaat (0,136)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asuminen (0,135)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asuminen ulkomailla (0,106)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kansallistaminen (0,097)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suomalaiset (0,082)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asenteet (0,071)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puolueet (0,068)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politiikka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(0,086)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kieli ja kielet (0,064)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kansallinen identiteetti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(0,044)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asenteet (0,037)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vaalit (0,037)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lehdistö (0,027)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alueellinen identiteetti (0,026)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koulutus (0,022)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vaikuttaminen (0,021)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puolueet (0,02)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identiteetti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(0,018)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äänestäminen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(0,017)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yhteiskunta (0,016)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poliittiset asenteet (0,015)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ympäristöongelmat (0,015)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kansalaisuus (0,013)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aktivismi (0,013)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maahanmuuttajat (0,012)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tiedotus (0,011)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valtarakenteet (0,011)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asenteet (0,232)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politiikka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(0,196)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vaikuttaminen (0,175)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poliittinen osallistuminen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(0,172)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äänestäminen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(0,162)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suomalaisuus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(0,132)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maahanmuutto (0,092)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identiteetti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(0,081)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joukkoviestimet (0,078)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yhteiskunta (0,075)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mielipiteet (0,074)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osallistuminen (0,073)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syrjintä (0,066)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luottamus (0,063)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kansallinen identiteetti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(0,057)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kuntavaalit (0,057)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järjestötoiminta (0,056)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kieli ja kielet (0,055)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demokratia (0,05)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ulkomaalaiset (0,05)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äänestäminen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(0,2)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politiikka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(0,19)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poliittinen osallistuminen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(0,173)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asenteet (0,169)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vaikuttaminen (0,156)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suomalaisuus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(0,099)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maahanmuutto (0,08)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kuntavaalit (0,062)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puolueet (0,062)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puolueiden kannatus (0,051)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ulkomaalaiset (0,049)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kansallinen identiteetti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(0,047)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mielipiteet (0,047)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demokratia (0,047)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yhteiskunta (0,046)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identiteetti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(0,046)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poliittiset asenteet (0,046)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joukkoviestimet (0,043)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kansainvälisyys (0,04)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luottamus (0,039)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äänestäminen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(0,209)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poliittinen osallistuminen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(0,185)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politiikka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(0,18)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asenteet (0,176)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suomalaisuus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(0,11)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vaikuttaminen (0,093)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identiteetti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 (0,09)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mielipiteet (0,088)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joukkoviestimet (0,081)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yhteiskunta (0,071)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kuntavaalit (0,071)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maahanmuutto (0,06)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puolueiden kannatus (0,06)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puolueet (0,059)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kansainvälisyys (0,054)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poliittiset asenteet (0,052)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järjestötoiminta (0,051)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osallistuminen (0,048) </a:t>
                      </a:r>
                    </a:p>
                    <a:p>
                      <a:pPr algn="l" rtl="0" fontAlgn="base"/>
                      <a:r>
                        <a:rPr lang="fi-FI" sz="800" b="0" i="0" dirty="0">
                          <a:effectLst/>
                          <a:latin typeface="+mn-lt"/>
                        </a:rPr>
                        <a:t>kieli ja kielet (0,047) </a:t>
                      </a:r>
                    </a:p>
                    <a:p>
                      <a:pPr algn="l" rtl="0" fontAlgn="base"/>
                      <a:r>
                        <a:rPr lang="fi-FI" sz="800" b="1" i="0" u="sng" dirty="0">
                          <a:effectLst/>
                          <a:latin typeface="+mn-lt"/>
                        </a:rPr>
                        <a:t>kansallinen identiteetti</a:t>
                      </a:r>
                      <a:r>
                        <a:rPr lang="fi-FI" sz="800" b="0" i="0" u="sng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800" b="0" i="0" dirty="0">
                          <a:effectLst/>
                          <a:latin typeface="+mn-lt"/>
                        </a:rPr>
                        <a:t>(0,046)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812070"/>
                  </a:ext>
                </a:extLst>
              </a:tr>
              <a:tr h="206241"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 err="1">
                          <a:effectLst/>
                          <a:latin typeface="+mn-lt"/>
                        </a:rPr>
                        <a:t>Found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 </a:t>
                      </a:r>
                      <a:r>
                        <a:rPr lang="fi-FI" sz="1000" b="0" i="0" dirty="0" err="1">
                          <a:effectLst/>
                          <a:latin typeface="+mn-lt"/>
                        </a:rPr>
                        <a:t>keywords</a:t>
                      </a:r>
                      <a:r>
                        <a:rPr lang="fi-FI" sz="1000" b="0" i="0" dirty="0">
                          <a:effectLst/>
                          <a:latin typeface="+mn-lt"/>
                        </a:rPr>
                        <a:t> (out of 9)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6 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8 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4 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6 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6 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6 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694694"/>
                  </a:ext>
                </a:extLst>
              </a:tr>
              <a:tr h="206241"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Recall@10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0,44 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0,67 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0,22 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0,56 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0,44 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0,56 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3839279"/>
                  </a:ext>
                </a:extLst>
              </a:tr>
              <a:tr h="206241"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Recall@20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0,67 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0,89 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0,44 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0,67 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0,67 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0,67 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9577781"/>
                  </a:ext>
                </a:extLst>
              </a:tr>
              <a:tr h="206241"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Precision@10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0,4 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0,6 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0,2 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0,5 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0,4 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0,5 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1417243"/>
                  </a:ext>
                </a:extLst>
              </a:tr>
              <a:tr h="193793"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Precision@20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0,3 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0,4 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0,2 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0,3 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0,3 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fi-FI" sz="1000" b="0" i="0" dirty="0">
                          <a:effectLst/>
                          <a:latin typeface="+mn-lt"/>
                        </a:rPr>
                        <a:t>0,3 </a:t>
                      </a:r>
                    </a:p>
                  </a:txBody>
                  <a:tcPr marL="44931" marR="44931" marT="22465" marB="2246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674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23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Results</a:t>
            </a:r>
            <a:r>
              <a:rPr lang="fi-FI" dirty="0"/>
              <a:t>: </a:t>
            </a:r>
            <a:r>
              <a:rPr lang="fi-FI" dirty="0" err="1"/>
              <a:t>question</a:t>
            </a:r>
            <a:r>
              <a:rPr lang="fi-FI" dirty="0"/>
              <a:t> </a:t>
            </a:r>
            <a:r>
              <a:rPr lang="fi-FI" dirty="0" err="1"/>
              <a:t>text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Keyword suggestions mostly belonged to the right theme e.g. a question about voting in parliamentary elections got suggestions related to politics and elections.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The lexical MLLM only gives a few suggestions since question texts tend to be quite short.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Omikuji (Bonsai and </a:t>
            </a:r>
            <a:r>
              <a:rPr lang="en-GB" altLang="fi-FI" dirty="0" err="1"/>
              <a:t>Parabel</a:t>
            </a:r>
            <a:r>
              <a:rPr lang="en-GB" altLang="fi-FI" dirty="0"/>
              <a:t>) and TF-IDF seemed to work quite well.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 err="1"/>
              <a:t>fastText</a:t>
            </a:r>
            <a:r>
              <a:rPr lang="en-GB" altLang="fi-FI" dirty="0"/>
              <a:t> performed relatively poorly but possibly due to suboptimal configuration.</a:t>
            </a:r>
          </a:p>
          <a:p>
            <a:pPr>
              <a:lnSpc>
                <a:spcPct val="90000"/>
              </a:lnSpc>
            </a:pPr>
            <a:r>
              <a:rPr lang="en-GB" altLang="fi-FI" dirty="0"/>
              <a:t>Conclusion: Technology is not good enough to automate the process completely but the keyword suggestions can be useful for a human making the final decision on keywords.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042025"/>
            <a:ext cx="6297613" cy="365125"/>
          </a:xfrm>
        </p:spPr>
        <p:txBody>
          <a:bodyPr/>
          <a:lstStyle/>
          <a:p>
            <a:fld id="{A3C0D143-D74A-4AA3-9E23-53C205338C09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24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 err="1"/>
              <a:t>Utilizing</a:t>
            </a:r>
            <a:r>
              <a:rPr lang="fi-FI" dirty="0"/>
              <a:t> </a:t>
            </a:r>
            <a:r>
              <a:rPr lang="fi-FI" dirty="0" err="1"/>
              <a:t>more</a:t>
            </a:r>
            <a:r>
              <a:rPr lang="fi-FI" dirty="0"/>
              <a:t> </a:t>
            </a:r>
            <a:r>
              <a:rPr lang="fi-FI" dirty="0" err="1"/>
              <a:t>information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DDI </a:t>
            </a:r>
            <a:r>
              <a:rPr lang="fi-FI" dirty="0" err="1"/>
              <a:t>files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Variables exist in a context.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A question is a part of a variable that can have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Pre-question text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Post-question text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Category labels</a:t>
            </a:r>
          </a:p>
          <a:p>
            <a:pPr lvl="1">
              <a:lnSpc>
                <a:spcPct val="90000"/>
              </a:lnSpc>
            </a:pPr>
            <a:r>
              <a:rPr lang="en-GB" altLang="fi-FI" dirty="0"/>
              <a:t>Etc.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A variable can belong to a variable group.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A variable belongs to a study along with other variables.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A study has keywords.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A study can belong to a series or have other related studies.</a:t>
            </a:r>
          </a:p>
          <a:p>
            <a:pPr>
              <a:lnSpc>
                <a:spcPct val="90000"/>
              </a:lnSpc>
              <a:buClr>
                <a:srgbClr val="009EE0"/>
              </a:buClr>
            </a:pPr>
            <a:r>
              <a:rPr lang="en-GB" altLang="fi-FI" dirty="0"/>
              <a:t>We could add more weight to the suggestions from this context.</a:t>
            </a:r>
          </a:p>
          <a:p>
            <a:pPr marL="0" indent="0">
              <a:lnSpc>
                <a:spcPct val="90000"/>
              </a:lnSpc>
              <a:buClr>
                <a:srgbClr val="009EE0"/>
              </a:buClr>
              <a:buNone/>
            </a:pPr>
            <a:endParaRPr lang="en-GB" altLang="fi-FI" sz="2400" dirty="0"/>
          </a:p>
          <a:p>
            <a:pPr marL="0" indent="0">
              <a:lnSpc>
                <a:spcPct val="90000"/>
              </a:lnSpc>
              <a:buClr>
                <a:srgbClr val="009EE0"/>
              </a:buClr>
              <a:buNone/>
            </a:pPr>
            <a:endParaRPr lang="en-GB" altLang="fi-FI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0" y="6042025"/>
            <a:ext cx="6297613" cy="365125"/>
          </a:xfrm>
        </p:spPr>
        <p:txBody>
          <a:bodyPr/>
          <a:lstStyle/>
          <a:p>
            <a:fld id="{A3C0D143-D74A-4AA3-9E23-53C205338C09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48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Thank you!</a:t>
            </a:r>
            <a:endParaRPr lang="en-GB" noProof="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-943548" y="1881811"/>
            <a:ext cx="10115852" cy="7293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rgbClr val="006292"/>
                </a:solidFill>
                <a:latin typeface="PT Sans Caption" panose="020B0603020203020204" pitchFamily="34" charset="0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fi-FI" sz="2400" dirty="0"/>
              <a:t>https://www.fsd.tuni.fi/en/</a:t>
            </a:r>
          </a:p>
        </p:txBody>
      </p:sp>
      <p:pic>
        <p:nvPicPr>
          <p:cNvPr id="4" name="Content Placeholder 3" descr="Kuvituskuva: Tietoarkiston logohemmo piirtää.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7408" y="2365889"/>
            <a:ext cx="3429000" cy="2952750"/>
          </a:xfrm>
          <a:prstGeom prst="rect">
            <a:avLst/>
          </a:prstGeom>
        </p:spPr>
      </p:pic>
      <p:pic>
        <p:nvPicPr>
          <p:cNvPr id="5" name="Picture 4" descr="Kuvituskuva: Tietoarkiston logohemmo opettaa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268" y="2365889"/>
            <a:ext cx="3429000" cy="2952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85980" y="5980381"/>
            <a:ext cx="2635490" cy="52322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fi-FI" sz="1400" dirty="0">
                <a:latin typeface="PT Sans" panose="020B0503020203020204" pitchFamily="34" charset="0"/>
              </a:rPr>
              <a:t>Anne Maunu</a:t>
            </a:r>
          </a:p>
          <a:p>
            <a:pPr algn="r"/>
            <a:r>
              <a:rPr lang="fi-FI" sz="1400" dirty="0">
                <a:latin typeface="PT Sans" panose="020B0503020203020204" pitchFamily="34" charset="0"/>
                <a:hlinkClick r:id="rId5"/>
              </a:rPr>
              <a:t>anne.maunu@tuni.fi</a:t>
            </a:r>
            <a:endParaRPr lang="fi-FI" sz="1400" dirty="0">
              <a:latin typeface="PT Sans" panose="020B0503020203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31155" y="5764937"/>
            <a:ext cx="3743967" cy="73866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r"/>
            <a:r>
              <a:rPr lang="en-US" sz="1400" dirty="0">
                <a:latin typeface="PT Sans" panose="020B0503020203020204" pitchFamily="34" charset="0"/>
              </a:rPr>
              <a:t>Except the logo dudes above, content in this presentation is licensed under a </a:t>
            </a:r>
            <a:r>
              <a:rPr lang="en-US" sz="1400" dirty="0">
                <a:latin typeface="PT Sans" panose="020B0503020203020204" pitchFamily="34" charset="0"/>
                <a:hlinkClick r:id="rId6"/>
              </a:rPr>
              <a:t>Creative Commons Attribution 4.0 International license</a:t>
            </a:r>
            <a:r>
              <a:rPr lang="en-US" sz="1400" dirty="0">
                <a:latin typeface="PT Sans" panose="020B0503020203020204" pitchFamily="34" charset="0"/>
              </a:rPr>
              <a:t>.</a:t>
            </a:r>
            <a:endParaRPr lang="fi-FI" sz="1400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121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acet">
  <a:themeElements>
    <a:clrScheme name="Custom 1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6292"/>
      </a:hlink>
      <a:folHlink>
        <a:srgbClr val="F2920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ietoarkisto_PPTpohja_Villivisio-modified-16-9.potx" id="{30F65702-EF33-4929-BF69-3FC82890DE36}" vid="{2CCBCB2A-D06E-47CF-A98F-1200AFD84F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Tietoarkisto_PPTpohja_Villivisio-modified-16-9</Template>
  <TotalTime>0</TotalTime>
  <Words>1242</Words>
  <Application>Microsoft Office PowerPoint</Application>
  <PresentationFormat>Widescreen</PresentationFormat>
  <Paragraphs>362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PT Sans Caption</vt:lpstr>
      <vt:lpstr>Trebuchet MS</vt:lpstr>
      <vt:lpstr>PT Sans</vt:lpstr>
      <vt:lpstr>Wingdings 3</vt:lpstr>
      <vt:lpstr>Calibri</vt:lpstr>
      <vt:lpstr>Facet</vt:lpstr>
      <vt:lpstr>Semi-automated keyword assignment to variables in datasets</vt:lpstr>
      <vt:lpstr>Contents</vt:lpstr>
      <vt:lpstr>Motivation</vt:lpstr>
      <vt:lpstr>Annif</vt:lpstr>
      <vt:lpstr>Approaches and algorithms</vt:lpstr>
      <vt:lpstr>Results: study abstracts</vt:lpstr>
      <vt:lpstr>Results: study abstracts and ensembles</vt:lpstr>
      <vt:lpstr>Results: study abstract suggested keywords example</vt:lpstr>
      <vt:lpstr>Results: question text</vt:lpstr>
      <vt:lpstr>Utilizing more information from DDI files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Semi-automated keyword assignment to variables in datasets</dc:title>
  <dc:creator>Tietoarkisto</dc:creator>
  <cp:lastModifiedBy>Anne Maunu (TAU)</cp:lastModifiedBy>
  <cp:revision>131</cp:revision>
  <dcterms:created xsi:type="dcterms:W3CDTF">2020-10-27T14:47:01Z</dcterms:created>
  <dcterms:modified xsi:type="dcterms:W3CDTF">2022-12-01T10:40:51Z</dcterms:modified>
  <cp:contentStatus/>
</cp:coreProperties>
</file>