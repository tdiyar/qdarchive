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76" r:id="rId9"/>
    <p:sldId id="277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81" r:id="rId23"/>
    <p:sldId id="274" r:id="rId24"/>
  </p:sldIdLst>
  <p:sldSz cx="12192000" cy="6858000"/>
  <p:notesSz cx="6858000" cy="9144000"/>
  <p:custDataLst>
    <p:tags r:id="rId2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A89106-FDE5-E177-43C5-7B2B12FD2AAB}" name="Abdulla Gozalov" initials="AG" userId="S::gozalov@un.org::a2de045a-68a6-4d03-ba6d-31275eda17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DB26B6-03AD-4E9F-91D7-01BA7C790712}">
  <a:tblStyle styleId="{F0DB26B6-03AD-4E9F-91D7-01BA7C7907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46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of the areas of concern for the working group is the representation of demographic concepts and measures in existing online vocabularies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can illustrate the problem with the concepts of “fertility” and “fecundity”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English language meanings of “fertility” and “fecundity” were established in the 1930s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Fertility refers to measurable reproductive performance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Fecundity refers to the potential reproduction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However, the bio-medical community uses the same terms in the opposite way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 consulted 19 online vocabularies, and most of them used the bio-medical definitions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hyperlink" Target="https://iussp.org/en/iussp-codata-fair-vocabularies-working-grou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148363" y="1203228"/>
            <a:ext cx="640021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6000" b="1" dirty="0"/>
              <a:t>IUSSP-CODATA </a:t>
            </a:r>
            <a:br>
              <a:rPr lang="en-US" sz="6000" b="1" dirty="0"/>
            </a:br>
            <a:r>
              <a:rPr lang="en-US" sz="6000" b="1" dirty="0"/>
              <a:t>FAIR Vocabularies Working Group</a:t>
            </a:r>
            <a:endParaRPr dirty="0"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653309" y="3989095"/>
            <a:ext cx="3657600" cy="10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George Alter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University of Michigan</a:t>
            </a:r>
            <a:endParaRPr dirty="0"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6737" y="4305450"/>
            <a:ext cx="3492989" cy="1857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23F675-E6AC-683D-4832-C4F72C339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058" y="0"/>
            <a:ext cx="48522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/>
              <a:t>IUSSP-CODATA FAIR Vocabularies Working Group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4000" dirty="0"/>
              <a:t>Goal: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ct val="100000"/>
              <a:buChar char="•"/>
            </a:pPr>
            <a:r>
              <a:rPr lang="en-US" sz="4000" dirty="0">
                <a:solidFill>
                  <a:srgbClr val="0070C0"/>
                </a:solidFill>
              </a:rPr>
              <a:t>Make demographic data more interoperable by publishing controlled vocabularies that can be found and acted upon by software. 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 dirty="0"/>
              <a:t>Jointly sponsored by</a:t>
            </a:r>
            <a:endParaRPr sz="34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 dirty="0"/>
              <a:t>IUSSP – International Union for the Scientific Study of Population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 dirty="0"/>
              <a:t>CODATA – Committee on Data of the International Science Council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 dirty="0"/>
              <a:t>Co-chairs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 dirty="0"/>
              <a:t>George Alter (University of Michigan)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 dirty="0" err="1"/>
              <a:t>Arofan</a:t>
            </a:r>
            <a:r>
              <a:rPr lang="en-US" sz="3400" dirty="0"/>
              <a:t> Gregory (DDI Alliance / CODATA)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 dirty="0"/>
              <a:t>Steven McEachern (Australian National University)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 b="1" dirty="0"/>
              <a:t>With more than 20 demographers, statisticians, and data specialists around the world</a:t>
            </a:r>
            <a:endParaRPr b="1" dirty="0"/>
          </a:p>
          <a:p>
            <a:pPr marL="228600" lvl="0" indent="-8636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 dirty="0"/>
          </a:p>
          <a:p>
            <a:pPr marL="228600" lvl="0" indent="-8636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6DEFA-6BA3-B1E5-4DF5-CFD4E9C1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Introducing FAIR Data and Demography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047D4-489B-1E4D-D4ED-E4605C800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Sponsors: IUSSP and CODATA</a:t>
            </a:r>
          </a:p>
          <a:p>
            <a:r>
              <a:rPr lang="en-US" dirty="0"/>
              <a:t>Two Scientific Communities: Demography and Data Science</a:t>
            </a:r>
          </a:p>
          <a:p>
            <a:r>
              <a:rPr lang="en-US" dirty="0"/>
              <a:t>Two narratives:</a:t>
            </a:r>
          </a:p>
          <a:p>
            <a:pPr lvl="1"/>
            <a:r>
              <a:rPr lang="en-US" dirty="0"/>
              <a:t>Explain FAIR data to demographers</a:t>
            </a:r>
          </a:p>
          <a:p>
            <a:pPr lvl="1"/>
            <a:r>
              <a:rPr lang="en-US" dirty="0"/>
              <a:t>Explain infrastructure of demographic data to data scientists</a:t>
            </a:r>
          </a:p>
          <a:p>
            <a:r>
              <a:rPr lang="en-US" dirty="0"/>
              <a:t>Recommendations for IUSSP, CODATA and other stakeholders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064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FAIR ?</a:t>
            </a: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u="sng"/>
              <a:t>F</a:t>
            </a:r>
            <a:r>
              <a:rPr lang="en-US" b="1"/>
              <a:t>indable</a:t>
            </a:r>
            <a:br>
              <a:rPr lang="en-US"/>
            </a:br>
            <a:r>
              <a:rPr lang="en-US"/>
              <a:t>The first step in (re)using data is to find them. Metadata and data should be easy to find for both humans and computers. Machine-readable metadata are essential for automatic discovery of datasets and services, so this is an essential component of the FAIRification process.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u="sng"/>
              <a:t>A</a:t>
            </a:r>
            <a:r>
              <a:rPr lang="en-US" b="1"/>
              <a:t>ccessible</a:t>
            </a:r>
            <a:br>
              <a:rPr lang="en-US"/>
            </a:br>
            <a:r>
              <a:rPr lang="en-US"/>
              <a:t>Once the user finds the required data, she/he/they need to know how can they be accessed, possibly including authentication and authorization.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u="sng"/>
              <a:t>I</a:t>
            </a:r>
            <a:r>
              <a:rPr lang="en-US" b="1"/>
              <a:t>nteroperable</a:t>
            </a:r>
            <a:br>
              <a:rPr lang="en-US"/>
            </a:br>
            <a:r>
              <a:rPr lang="en-US"/>
              <a:t>The data usually need to be integrated with other data. In addition, the data need to interoperate with applications or workflows for analysis, storage, and processing.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u="sng"/>
              <a:t>R</a:t>
            </a:r>
            <a:r>
              <a:rPr lang="en-US" b="1"/>
              <a:t>eusable</a:t>
            </a:r>
            <a:br>
              <a:rPr lang="en-US"/>
            </a:br>
            <a:r>
              <a:rPr lang="en-US"/>
              <a:t>The ultimate goal of FAIR is to optimize the reuse of data. To achieve this, metadata and data should be well-described so that they can be replicated and/or combined in different settings.</a:t>
            </a:r>
            <a:endParaRPr/>
          </a:p>
          <a:p>
            <a:pPr marL="228600" lvl="0" indent="-9080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5848" y="99396"/>
            <a:ext cx="5077143" cy="172622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FAIR is about making data machine-friendly</a:t>
            </a: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FAIR aims to automate the process of combining data from multiple sources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“Data wrangling” is the most labor intensive part of empirical research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FAIR is about metadata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Metadata (e.g., a codebook) describes the content and meaning of data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FAIR data and metadata are available online with “globally unique and persistent identifiers”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Persistent identifiers tell machines where to look and what they will find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Persistent identifiers point to “landing pages” that are human- and machine-readable</a:t>
            </a: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focus on FAIR vocabularies?</a:t>
            </a: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1"/>
          </p:nvPr>
        </p:nvSpPr>
        <p:spPr>
          <a:xfrm>
            <a:off x="838200" y="1444487"/>
            <a:ext cx="10515600" cy="4732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“Controlled vocabularies” create standards for terms and measurements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Controlled vocabularies are pervasive, e.g. industrial classifications, ICDs, geocodes (NUTS, FIPS, UN/LOCODE,…)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FAIR vocabularies allow machines to answer basic questions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do we know when two data sets are measuring the same thing?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two variables have the same persistent identifier, a machine knows they are the same 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does a machine know the difference between the Crude Birth Rate, the General Fertility Rate, the Total Fertility Rate, …?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Machines cannot read the PDF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Machines can use standards (e.g., RDF, SKOS) to navigate relationships</a:t>
            </a:r>
            <a:endParaRPr/>
          </a:p>
          <a:p>
            <a:pPr marL="1143000" lvl="2" indent="-1111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 Cases for FAIR Vocabularies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discovery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Improve navigation of data catalogs with concept hierarchies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Link concepts to data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integration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Identify which variables and value schemas are the same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harmonization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crosswalks to convert different value schemas to a common standard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production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variable registries to build new questionnaires and other instruments</a:t>
            </a: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8893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Use cases for Controlled Vocabularies in Population Science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516632"/>
            <a:ext cx="10515600" cy="38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discovery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Example:  Find data showing the level of infant mortality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merging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Example: Compare infant mortality across countries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harmonization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Combine data sets that are coded in different ways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Data set A: Infant mortality (ages 0 to one year)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Data set B: Neo-natal (0 to 28 days) and Post-neonatal (28 to 365 days) infant mortality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38200" y="5826935"/>
            <a:ext cx="1084720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merging and data harmonization are very time consuming.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FAIR data can lead to automation. </a:t>
            </a: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Levels of Controlled Vocabularies in Population Science</a:t>
            </a:r>
            <a:endParaRPr/>
          </a:p>
        </p:txBody>
      </p:sp>
      <p:graphicFrame>
        <p:nvGraphicFramePr>
          <p:cNvPr id="115" name="Google Shape;115;p4"/>
          <p:cNvGraphicFramePr/>
          <p:nvPr/>
        </p:nvGraphicFramePr>
        <p:xfrm>
          <a:off x="788505" y="2014872"/>
          <a:ext cx="10307950" cy="4023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</a:rPr>
                        <a:t>Concept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>
                          <a:solidFill>
                            <a:schemeClr val="dk1"/>
                          </a:solidFill>
                        </a:rPr>
                        <a:t>Age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</a:rPr>
                        <a:t>Measure / Variable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Age at last birthday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Age group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</a:rPr>
                        <a:t>Code list / Value domain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(0, 1, 2, … 100)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(0-4, 5-9, 10-14, … 90 or older)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chemeClr val="dk1"/>
                          </a:solidFill>
                        </a:rPr>
                        <a:t>Code mapping / Crosswalk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(0-4, 5-9, 10-14, … 65+)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(0-14, 15-64, 65-85, 85+)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      (0-14, 15-64, 65+)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6" name="Google Shape;116;p4"/>
          <p:cNvSpPr/>
          <p:nvPr/>
        </p:nvSpPr>
        <p:spPr>
          <a:xfrm>
            <a:off x="7297310" y="4353304"/>
            <a:ext cx="334926" cy="749596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harmonization is becoming </a:t>
            </a:r>
            <a:br>
              <a:rPr lang="en-US"/>
            </a:br>
            <a:r>
              <a:rPr lang="en-US"/>
              <a:t>more necessary and more difficult</a:t>
            </a:r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1"/>
          </p:nvPr>
        </p:nvSpPr>
        <p:spPr>
          <a:xfrm>
            <a:off x="838200" y="2292439"/>
            <a:ext cx="10515600" cy="388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Response schemas are becoming more diverse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 Marital status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There used to be 4 categories: Single, Married, Divorced, Widowed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Eurostat now has 27 categories, including “Registered partnership” and “Consensual union”</a:t>
            </a: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FAIR Vocabularies make automation possible</a:t>
            </a:r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that you want to know the population aged 18 to 24 in as many countries as possible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will use a computer program to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Find persistent identifiers for “Population” and “Age” 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Search metadata files for data with dimensions “Population” and “Age” 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Filter results for data sets that can be aggregated to ages 18 to 24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Codelists (e.g., [“0”, “1”, “2”,…] or [“0-4”, “5-9”,…]) will have persistent identifiers in the metadata file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other words, FAIR vocabularies will automate “data wrangling”</a:t>
            </a: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9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Ecosystem of Demographic Data</a:t>
            </a: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body" idx="1"/>
          </p:nvPr>
        </p:nvSpPr>
        <p:spPr>
          <a:xfrm>
            <a:off x="838200" y="1534078"/>
            <a:ext cx="10515600" cy="495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Demographic data is produced by two communities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Each has its own metadata standard: SDMX and DDI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National and international statistical agencies (SDMX)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Standardized on Statistical Data and Metadata </a:t>
            </a:r>
            <a:r>
              <a:rPr lang="en-US" dirty="0" err="1"/>
              <a:t>eXchange</a:t>
            </a:r>
            <a:r>
              <a:rPr lang="en-US" dirty="0"/>
              <a:t> (SDMX)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SDMX is supported by the UN, OECD, ILO, </a:t>
            </a:r>
            <a:r>
              <a:rPr lang="en-US" dirty="0">
                <a:solidFill>
                  <a:schemeClr val="tx1"/>
                </a:solidFill>
              </a:rPr>
              <a:t>IMF, World Bank, Eurostat, European Central Bank, Bank for International Settlements, </a:t>
            </a:r>
            <a:r>
              <a:rPr lang="en-US" dirty="0"/>
              <a:t>and national statistical offices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International agreements on standards and content are expressed in SDMX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Surveys and other microdata (DDI)</a:t>
            </a:r>
          </a:p>
          <a:p>
            <a:pPr marL="685800" lvl="1" indent="-228600">
              <a:spcBef>
                <a:spcPts val="1000"/>
              </a:spcBef>
              <a:buSzPts val="2800"/>
            </a:pPr>
            <a:r>
              <a:rPr lang="en-US" dirty="0"/>
              <a:t>Data Documentation Initiative (DDI)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Data production is highly decentralized and uncoordinated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Use of DDI in data production is limited but growing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Data repositories are coordinated and standardized on DDI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/>
              <a:t>CESSDA, </a:t>
            </a:r>
            <a:r>
              <a:rPr lang="en-US" dirty="0" err="1"/>
              <a:t>DataPASS</a:t>
            </a:r>
            <a:r>
              <a:rPr lang="en-US" dirty="0"/>
              <a:t>, </a:t>
            </a:r>
            <a:r>
              <a:rPr lang="en-US" dirty="0" err="1"/>
              <a:t>Dataverse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838200" y="231914"/>
            <a:ext cx="10515600" cy="615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FAIR Vocabularies in the SDMX community</a:t>
            </a:r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body" idx="1"/>
          </p:nvPr>
        </p:nvSpPr>
        <p:spPr>
          <a:xfrm>
            <a:off x="838200" y="980662"/>
            <a:ext cx="10515600" cy="564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SDMX was created to standardize the exchange of data</a:t>
            </a:r>
            <a:endParaRPr dirty="0">
              <a:solidFill>
                <a:schemeClr val="tx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SDMX is endorsed by international authorities, like the UN Statistical Commission, and is an ISO standard</a:t>
            </a:r>
            <a:endParaRPr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SDMX registries share data and metadata</a:t>
            </a:r>
            <a:endParaRPr dirty="0">
              <a:solidFill>
                <a:schemeClr val="tx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Registries are at international organizations (UN, OECD, ILO, World Bank…)</a:t>
            </a:r>
            <a:endParaRPr dirty="0">
              <a:solidFill>
                <a:schemeClr val="tx1"/>
              </a:solidFill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Distribute SDMX concepts, </a:t>
            </a:r>
            <a:r>
              <a:rPr lang="en-US" dirty="0" err="1">
                <a:solidFill>
                  <a:schemeClr val="tx1"/>
                </a:solidFill>
              </a:rPr>
              <a:t>codelists</a:t>
            </a:r>
            <a:r>
              <a:rPr lang="en-US" dirty="0">
                <a:solidFill>
                  <a:schemeClr val="tx1"/>
                </a:solidFill>
              </a:rPr>
              <a:t>, and data structure definitions</a:t>
            </a:r>
            <a:endParaRPr dirty="0">
              <a:solidFill>
                <a:schemeClr val="tx1"/>
              </a:solidFill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Aggregate data from national statistical offices, national banks, etc.</a:t>
            </a:r>
            <a:endParaRPr dirty="0">
              <a:solidFill>
                <a:schemeClr val="tx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SDMX Global Registry shares global and “cross domain” artifacts</a:t>
            </a:r>
            <a:endParaRPr dirty="0">
              <a:solidFill>
                <a:schemeClr val="tx1"/>
              </a:solidFill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E.g., UN Sustainable Development Goals (SDGs) as well as code lists for the Degree of </a:t>
            </a:r>
            <a:r>
              <a:rPr lang="en-US" dirty="0" err="1">
                <a:solidFill>
                  <a:schemeClr val="tx1"/>
                </a:solidFill>
              </a:rPr>
              <a:t>Urbanisation</a:t>
            </a:r>
            <a:r>
              <a:rPr lang="en-US" dirty="0">
                <a:solidFill>
                  <a:schemeClr val="tx1"/>
                </a:solidFill>
              </a:rPr>
              <a:t>, Civil Status, etc.</a:t>
            </a:r>
            <a:endParaRPr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SDMX is close to FAIR</a:t>
            </a:r>
            <a:endParaRPr dirty="0">
              <a:solidFill>
                <a:schemeClr val="tx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Open source software for SDMX registries deploys common APIs</a:t>
            </a:r>
            <a:endParaRPr dirty="0">
              <a:solidFill>
                <a:schemeClr val="tx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Most SDMX registries assign URNs but could move to resolvable URIs</a:t>
            </a:r>
            <a:endParaRPr dirty="0">
              <a:solidFill>
                <a:schemeClr val="tx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Community is moving toward federated registries</a:t>
            </a:r>
            <a:endParaRPr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SDMX is still more rooted in data exchange than data sharing</a:t>
            </a:r>
            <a:endParaRPr dirty="0">
              <a:solidFill>
                <a:schemeClr val="tx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Codelists</a:t>
            </a:r>
            <a:r>
              <a:rPr lang="en-US" dirty="0">
                <a:solidFill>
                  <a:schemeClr val="tx1"/>
                </a:solidFill>
              </a:rPr>
              <a:t> are not always coordinated across data aggregators</a:t>
            </a:r>
            <a:endParaRPr dirty="0">
              <a:solidFill>
                <a:schemeClr val="tx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Extracting metadata from SDMX APIs requires detailed knowledge of SDMX conventions and practices</a:t>
            </a:r>
            <a:endParaRPr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FAIR Vocabularies in the DDI Community (1)</a:t>
            </a:r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10515600" cy="5239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DDI Metadata is mostly created (re-created) at data repositories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Controlled vocabularies for concepts, variables, and coding are difficult to apply retroactively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Comparability of international surveys varies widely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Some are designed for comparability (e.g., Demographic and Health Surveys)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Harmonization of similar but uncoordinated surveys requires considerable effort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Vocabularies and tools are developing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DDI-Lifecycle uses schemas for metadata-driven survey design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CESSDA is developing vocabularies and a question bank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European Language Social Science Thesaurus (ELSST) is a FAIR multilingual thesaurus of social science concepts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FAIR Vocabularies in the DDI Community (2)</a:t>
            </a:r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IPUMS occupies a unique position in the social science data world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IPUMS harmonizes census microdata from 100+ countries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Has developed hundreds of crosswalks between different coding schemas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Census microdata at IPUMS is also distributed as aggregate data in SDMX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IPUMS crosswalks could be used to harmonize SDMX dataflows</a:t>
            </a: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title"/>
          </p:nvPr>
        </p:nvSpPr>
        <p:spPr>
          <a:xfrm>
            <a:off x="159026" y="145758"/>
            <a:ext cx="11873948" cy="644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200" b="1" dirty="0"/>
              <a:t>If we don’t define demographic terms, someone else will</a:t>
            </a:r>
            <a:endParaRPr sz="3200" dirty="0"/>
          </a:p>
        </p:txBody>
      </p:sp>
      <p:graphicFrame>
        <p:nvGraphicFramePr>
          <p:cNvPr id="173" name="Google Shape;173;p25"/>
          <p:cNvGraphicFramePr/>
          <p:nvPr/>
        </p:nvGraphicFramePr>
        <p:xfrm>
          <a:off x="265044" y="2034677"/>
          <a:ext cx="11661925" cy="4677615"/>
        </p:xfrm>
        <a:graphic>
          <a:graphicData uri="http://schemas.openxmlformats.org/drawingml/2006/table">
            <a:tbl>
              <a:tblPr firstRow="1" bandRow="1">
                <a:noFill/>
                <a:tableStyleId>{F0DB26B6-03AD-4E9F-91D7-01BA7C790712}</a:tableStyleId>
              </a:tblPr>
              <a:tblGrid>
                <a:gridCol w="621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Fertility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Fecundity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Demopaedia </a:t>
                      </a:r>
                      <a:r>
                        <a:rPr lang="en-US" sz="1800" b="0"/>
                        <a:t>(IUSSP’s online thesaurus)</a:t>
                      </a:r>
                      <a:endParaRPr sz="1800" b="1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Fertility and infertility  refer to reproductive</a:t>
                      </a:r>
                      <a:r>
                        <a:rPr lang="en-US" sz="1800" b="0" i="0" u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performance</a:t>
                      </a: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rather than capacity, and are used according to whether there was actual childbearing or not during the period under review. 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</a:t>
                      </a:r>
                      <a:r>
                        <a:rPr lang="en-US" sz="1800" b="0" i="0" u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capacity</a:t>
                      </a: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of a man, a woman or a couple to produce a live child is called fecundity</a:t>
                      </a:r>
                      <a:r>
                        <a:rPr lang="en-US" sz="1800" b="1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Wikidata</a:t>
                      </a:r>
                      <a:endParaRPr sz="1800" b="1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natural </a:t>
                      </a:r>
                      <a:r>
                        <a:rPr lang="en-US" sz="1800" b="0" i="0" u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capability</a:t>
                      </a: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 produce offspring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</a:t>
                      </a: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reproductive rate of an organism or population, </a:t>
                      </a:r>
                      <a:r>
                        <a:rPr lang="en-US" sz="1800" b="0" i="0" u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measured</a:t>
                      </a: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by the number of gametes (eggs), seed set, or asexual propagules.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Gender, Sex, and Sexual Orientation Ontology (GSSO)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</a:t>
                      </a:r>
                      <a:r>
                        <a:rPr lang="en-US" sz="1800" b="0" i="0" u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ability</a:t>
                      </a: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of an individual to produce offspring.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reproductive quality inhering in an organism or population by virtue of the bearer's potential reproductive capacity and </a:t>
                      </a:r>
                      <a:r>
                        <a:rPr lang="en-US" sz="1800" b="0" i="0" u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measured</a:t>
                      </a: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by the number of gametes.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Medical Subject Headings (MESH)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</a:t>
                      </a:r>
                      <a:r>
                        <a:rPr lang="en-US" sz="1800" b="0" i="0" u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capacity</a:t>
                      </a:r>
                      <a:r>
                        <a:rPr lang="en-US" sz="18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 conceive or to induce conception. It may refer to either the male or female.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4" name="Google Shape;174;p25"/>
          <p:cNvSpPr txBox="1"/>
          <p:nvPr/>
        </p:nvSpPr>
        <p:spPr>
          <a:xfrm>
            <a:off x="437322" y="789924"/>
            <a:ext cx="1106556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searched for definitions “fertility” and “fecundity” in 19 online vocabularies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vocabularies followed the conventions in demography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vocabularies reversed the meanings of the terms</a:t>
            </a: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title"/>
          </p:nvPr>
        </p:nvSpPr>
        <p:spPr>
          <a:xfrm>
            <a:off x="838200" y="340072"/>
            <a:ext cx="10515600" cy="31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Recommendations for IUSSP</a:t>
            </a:r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body" idx="1"/>
          </p:nvPr>
        </p:nvSpPr>
        <p:spPr>
          <a:xfrm>
            <a:off x="838200" y="1003989"/>
            <a:ext cx="8315036" cy="519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dirty="0"/>
              <a:t>IUSSP should create a “FAIR Vocabulary of Demography”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 FAIR Vocabulary of Demography will be an authoritative resource that other services can rely 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IUSSP has a long history of producing multilingual dictionaries of demography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Partnership between IUSSP and UN Population Division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 FAIR vocabulary can be built on existing online resources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Demopaedia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DemoVoc</a:t>
            </a:r>
            <a:endParaRPr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dirty="0"/>
              <a:t>Outreach to SDMX and DDI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 The FAIR Vocabulary of Demography  should export content in SDMX and DDI formats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The aim is to lower the cost of adoption of IUSSP definitions by other communities</a:t>
            </a:r>
            <a:endParaRPr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dirty="0"/>
              <a:t>Promote data harmonization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Facilitate and publicize standards for concepts, measures, and classifications in demography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dirty="0"/>
              <a:t>Appendix on Governance of a FAIR vocabulary</a:t>
            </a:r>
            <a:endParaRPr dirty="0"/>
          </a:p>
          <a:p>
            <a:pPr marL="685800" lvl="1" indent="-9905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774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143C0A-5CC0-723A-30D9-86904764A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423" y="864827"/>
            <a:ext cx="2693939" cy="404090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Recommendations for SDMX</a:t>
            </a:r>
            <a:endParaRPr/>
          </a:p>
        </p:txBody>
      </p:sp>
      <p:sp>
        <p:nvSpPr>
          <p:cNvPr id="186" name="Google Shape;186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SDMX registries should become fully FAIR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Adopt resolvable identifiers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Adopt semantic web standards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RDF, SKOS, XKOS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dirty="0"/>
              <a:t>Promote best practices to simplify data dissemination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SDMX was developed for data exchange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Differences in implementation will hinder use of SDMX APIs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Recommendations for the DDI Alliance</a:t>
            </a:r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Develop guidelines and practices for DDI-based registries of vocabularies, variables, and value domains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Encourage the use of persistent identifiers from the beginning of the data lifecycle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Facilitate data harmonization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Encourage use of tools like SKOS/XKOS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Contribute to research and development of linking persistent identifiers</a:t>
            </a:r>
            <a:endParaRPr/>
          </a:p>
          <a:p>
            <a:pPr marL="971550" lvl="1" indent="-3619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Recommendations for IPUMS</a:t>
            </a:r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Make IPUMS metadata FAIR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Assign persistent identifiers to variables, codelists, and codelist mappings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Provide APIs for access to IPUMS metadata</a:t>
            </a:r>
            <a:endParaRPr/>
          </a:p>
          <a:p>
            <a:pPr marL="971550" lvl="1" indent="-3619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Link IPUMS persistent identifiers to other registries, such as SDMX and ELSST</a:t>
            </a: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Harmonizing Vocabularies to Harmonize Data</a:t>
            </a:r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Expect a proliferation of persistent identifiers</a:t>
            </a:r>
            <a:endParaRPr b="1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 centralized registry for the social sciences is very unlikely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Both SDMX and DDI are moving toward federated registries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Identical concepts, variables, and </a:t>
            </a:r>
            <a:r>
              <a:rPr lang="en-US" dirty="0" err="1"/>
              <a:t>codelists</a:t>
            </a:r>
            <a:r>
              <a:rPr lang="en-US" dirty="0"/>
              <a:t> will have different persistent identifiers in different places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FAIR will not work if there is no way to link objects in different places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IUSSP and CODATA should encourage research and development on automated tools for linking items across vocabularies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 large body of research on this problem already exists, especially in bioinformatics</a:t>
            </a: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9E92B-5DBA-667B-1FD0-A2CB0584D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8206"/>
          </a:xfrm>
        </p:spPr>
        <p:txBody>
          <a:bodyPr/>
          <a:lstStyle/>
          <a:p>
            <a:pPr algn="ctr"/>
            <a:r>
              <a:rPr lang="en-US" dirty="0"/>
              <a:t>Thanks to: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72049-CD7A-E40B-43BF-5DAC9DD1A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005681"/>
            <a:ext cx="10515600" cy="4351338"/>
          </a:xfrm>
        </p:spPr>
        <p:txBody>
          <a:bodyPr/>
          <a:lstStyle/>
          <a:p>
            <a:r>
              <a:rPr lang="en-US" dirty="0"/>
              <a:t>Leadership of IUSSP and CODATA</a:t>
            </a:r>
          </a:p>
          <a:p>
            <a:r>
              <a:rPr lang="en-US" dirty="0"/>
              <a:t>Co-chairs </a:t>
            </a:r>
          </a:p>
          <a:p>
            <a:r>
              <a:rPr lang="en-US" dirty="0"/>
              <a:t>Consultants </a:t>
            </a:r>
          </a:p>
          <a:p>
            <a:r>
              <a:rPr lang="en-US" dirty="0"/>
              <a:t>Members of the WG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FEFB15-985D-29F6-703F-F780E361A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077888"/>
              </p:ext>
            </p:extLst>
          </p:nvPr>
        </p:nvGraphicFramePr>
        <p:xfrm>
          <a:off x="768350" y="3181350"/>
          <a:ext cx="11283950" cy="3631946"/>
        </p:xfrm>
        <a:graphic>
          <a:graphicData uri="http://schemas.openxmlformats.org/drawingml/2006/table">
            <a:tbl>
              <a:tblPr firstRow="1" firstCol="1" bandRow="1">
                <a:tableStyleId>{F0DB26B6-03AD-4E9F-91D7-01BA7C790712}</a:tableStyleId>
              </a:tblPr>
              <a:tblGrid>
                <a:gridCol w="5641975">
                  <a:extLst>
                    <a:ext uri="{9D8B030D-6E8A-4147-A177-3AD203B41FA5}">
                      <a16:colId xmlns:a16="http://schemas.microsoft.com/office/drawing/2014/main" val="2444523500"/>
                    </a:ext>
                  </a:extLst>
                </a:gridCol>
                <a:gridCol w="5641975">
                  <a:extLst>
                    <a:ext uri="{9D8B030D-6E8A-4147-A177-3AD203B41FA5}">
                      <a16:colId xmlns:a16="http://schemas.microsoft.com/office/drawing/2014/main" val="484246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George Alter, Co-chair (University of Michigan, IUSSP)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Arofan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Gregory, Co-chair (DDI Alliance, CODATA)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Steven McEachern, Co-chair (Australian National University, DDI Alliance, CODATA)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Darren S Bell (UK Data Archive)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Derek Burk (University of Minnesota, Institute for Social Research and Data Innovation (ISRDI), IPUMS)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Robert Chen (Center for International Earth Science Information Network (CIESIN), Columbia University)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Alessio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Cardacino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(Italian National Statistical Institute)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Nada Chaya (Arab Council for the Social Sciences 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David Barraclough (OECD and SDMX)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Rowan Brownlee (Australia Research Data Commons)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Tom Emery (Erasmus University Rotterdam)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Patrick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Gerland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(United Nations)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Cristina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Giudici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(Sapienza University of Rome)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Abdulla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Gozalov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(Statistics Division, United Nations)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Edgardo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Greising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(International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Labour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Organization)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Sanda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Ionescu (ICPSR)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Taina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Jääskeläinen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(Finnish Social Science Data Archive and CESSDA Vocabulary Service)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Chifundo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Kanjala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(ALPHA Network)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Vladimira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Kantorova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(United Nations)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Joseph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Larmarange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(CEPED and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Demopaedia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Pablo Lattes (United Nations)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Jared Lyle (ICPSR)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Diana Magnuson (University of Minnesota, Institute for Social Research and Data Innovation (ISRDI), IPUMS)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Melissa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Meinhart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(Equality Insights)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Santosh Kumar Mishra (S.N.D.T. Women’s University)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Romesh Silva (United Nations, UNFPA)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Thomas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Spoorenberg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(United Nations)</a:t>
                      </a:r>
                    </a:p>
                    <a:p>
                      <a:pPr marL="228600" marR="0" indent="-2286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Philipp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</a:rPr>
                        <a:t>Ueffing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(United Nations)</a:t>
                      </a:r>
                    </a:p>
                    <a:p>
                      <a:pPr marL="228600" marR="0" indent="-2286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Jay Winkler (ICPSR)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25886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4410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 dirty="0"/>
              <a:t>Thank you!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endParaRPr sz="14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dirty="0"/>
              <a:t>George Alter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altergc@umich.edu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dirty="0"/>
              <a:t>IUSSP-CODATA FAIR Vocabularies Working Group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 dirty="0">
                <a:solidFill>
                  <a:schemeClr val="hlink"/>
                </a:solidFill>
                <a:hlinkClick r:id="rId4"/>
              </a:rPr>
              <a:t>https://iussp.org/en/iussp-codata-fair-vocabularies-working-group</a:t>
            </a:r>
            <a:endParaRPr dirty="0"/>
          </a:p>
        </p:txBody>
      </p:sp>
      <p:pic>
        <p:nvPicPr>
          <p:cNvPr id="210" name="Google Shape;210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3271" y="4634902"/>
            <a:ext cx="3031429" cy="1857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5137" y="4730450"/>
            <a:ext cx="3492989" cy="185797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2297</Words>
  <Application>Microsoft Office PowerPoint</Application>
  <PresentationFormat>Widescreen</PresentationFormat>
  <Paragraphs>262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Georgia</vt:lpstr>
      <vt:lpstr>Office Theme</vt:lpstr>
      <vt:lpstr>IUSSP-CODATA  FAIR Vocabularies Working Group</vt:lpstr>
      <vt:lpstr>IUSSP-CODATA FAIR Vocabularies Working Group</vt:lpstr>
      <vt:lpstr>Introducing FAIR Data and Demography</vt:lpstr>
      <vt:lpstr>What is FAIR ?</vt:lpstr>
      <vt:lpstr>FAIR is about making data machine-friendly</vt:lpstr>
      <vt:lpstr>Why focus on FAIR vocabularies?</vt:lpstr>
      <vt:lpstr>Use Cases for FAIR Vocabularies</vt:lpstr>
      <vt:lpstr>Use cases for Controlled Vocabularies in Population Science</vt:lpstr>
      <vt:lpstr>Levels of Controlled Vocabularies in Population Science</vt:lpstr>
      <vt:lpstr>Data harmonization is becoming  more necessary and more difficult</vt:lpstr>
      <vt:lpstr>FAIR Vocabularies make automation possible</vt:lpstr>
      <vt:lpstr>The Ecosystem of Demographic Data</vt:lpstr>
      <vt:lpstr>FAIR Vocabularies in the SDMX community</vt:lpstr>
      <vt:lpstr>FAIR Vocabularies in the DDI Community (1)</vt:lpstr>
      <vt:lpstr>FAIR Vocabularies in the DDI Community (2)</vt:lpstr>
      <vt:lpstr>If we don’t define demographic terms, someone else will</vt:lpstr>
      <vt:lpstr>Recommendations for IUSSP</vt:lpstr>
      <vt:lpstr>Recommendations for SDMX</vt:lpstr>
      <vt:lpstr>Recommendations for the DDI Alliance</vt:lpstr>
      <vt:lpstr>Recommendations for IPUMS</vt:lpstr>
      <vt:lpstr>Harmonizing Vocabularies to Harmonize Data</vt:lpstr>
      <vt:lpstr>Thanks to: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IUSSP-CODATA FAIR Vocabularies Working Group</dc:title>
  <dc:creator>Alter, George</dc:creator>
  <cp:lastModifiedBy>Alter, George</cp:lastModifiedBy>
  <cp:revision>16</cp:revision>
  <dcterms:modified xsi:type="dcterms:W3CDTF">2023-06-11T15:52:56Z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1E331E29-56C8-4F7F-A386-0A4503E4FA34</vt:lpwstr>
  </property>
  <property fmtid="{D5CDD505-2E9C-101B-9397-08002B2CF9AE}" pid="3" name="ArticulatePath">
    <vt:lpwstr>https://unitednations-my.sharepoint.com/personal/gozalov_un_org/Documents/DICB/FAIR WG/2023-05-12/FAIR Vocab WG-- Launch</vt:lpwstr>
  </property>
</Properties>
</file>