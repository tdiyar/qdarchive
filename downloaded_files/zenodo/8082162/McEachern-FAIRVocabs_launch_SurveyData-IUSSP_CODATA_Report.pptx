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260" r:id="rId5"/>
    <p:sldId id="262" r:id="rId6"/>
    <p:sldId id="261" r:id="rId7"/>
    <p:sldId id="265" r:id="rId8"/>
    <p:sldId id="266" r:id="rId9"/>
    <p:sldId id="268" r:id="rId10"/>
    <p:sldId id="271" r:id="rId11"/>
    <p:sldId id="273" r:id="rId12"/>
    <p:sldId id="264" r:id="rId13"/>
    <p:sldId id="263" r:id="rId14"/>
    <p:sldId id="267" r:id="rId15"/>
    <p:sldId id="274" r:id="rId16"/>
    <p:sldId id="272" r:id="rId17"/>
    <p:sldId id="277" r:id="rId18"/>
    <p:sldId id="276" r:id="rId19"/>
    <p:sldId id="278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7"/>
    <p:restoredTop sz="94663"/>
  </p:normalViewPr>
  <p:slideViewPr>
    <p:cSldViewPr snapToGrid="0" snapToObjects="1">
      <p:cViewPr varScale="1">
        <p:scale>
          <a:sx n="96" d="100"/>
          <a:sy n="96" d="100"/>
        </p:scale>
        <p:origin x="200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500533-C103-5E4D-9C76-4C9A41DC5554}" type="datetimeFigureOut">
              <a:rPr lang="en-US" smtClean="0"/>
              <a:t>6/12/23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D84BF-73EB-654E-BDD4-07290B057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406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DBAE1-D831-2341-A43B-06A1D393C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1FD02-7AC2-A24E-AC25-C5D19A826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42C39-A819-1342-8411-8B4748B1A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F033-2A97-BE48-85C5-63CD36319377}" type="datetimeFigureOut">
              <a:rPr lang="en-US" smtClean="0"/>
              <a:t>6/12/23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877FB-AFAC-F547-9515-D0CFD7C1F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6E1D9-3824-3F4D-9CE4-D7E9180ED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40D7A-13CD-EE4E-A48B-345681619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97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88955-799C-2A4B-9C2D-897A78E4B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626B5-6CE3-EA48-BA7D-2D38AEC40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10177-2E79-B14D-ACE1-F85AFCCF3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F033-2A97-BE48-85C5-63CD36319377}" type="datetimeFigureOut">
              <a:rPr lang="en-US" smtClean="0"/>
              <a:t>6/12/23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955AD-B909-A24A-B3E0-1889EED8E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F2F9F-E5CB-DB4A-90EC-92A5499C4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40D7A-13CD-EE4E-A48B-345681619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4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04240-CDBC-4643-9CF6-A00EB3076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82DB9-5964-7C43-90CC-2F0C39C93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BDBA5-BB83-D14A-92A7-140BAAD49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F033-2A97-BE48-85C5-63CD36319377}" type="datetimeFigureOut">
              <a:rPr lang="en-US" smtClean="0"/>
              <a:t>6/12/23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AFB5E-EBA3-9541-A49A-61081AFA4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2A154-0881-0F4B-95EC-27FDDD3F9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40D7A-13CD-EE4E-A48B-345681619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20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03A02-C6C2-1248-9FF9-20ED4BFC8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57612-6810-E441-BE26-3B3E86E4F7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7D7C40-631F-E24B-A908-CE54136CE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42AF1-E941-E54C-81A1-02355D6B9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F033-2A97-BE48-85C5-63CD36319377}" type="datetimeFigureOut">
              <a:rPr lang="en-US" smtClean="0"/>
              <a:t>6/12/23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BC9CD-F1AD-A84B-9F03-A257DA66D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B5C08-57BD-C747-8891-B953596F9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40D7A-13CD-EE4E-A48B-345681619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60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56990-6EFF-9A49-B8F5-54A46E424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A37FD-207F-3B42-9E2B-7F321D892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7D3DB-166E-DA44-99A8-80B833A0F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96A98-80E3-8A47-8FC5-832C42A53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2891AF-D703-F74B-8425-0E3DD1E0C5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01F00A-5A93-534C-841E-80F3A8EA0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F033-2A97-BE48-85C5-63CD36319377}" type="datetimeFigureOut">
              <a:rPr lang="en-US" smtClean="0"/>
              <a:t>6/12/23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08EC64-C0CD-B74E-A454-21F793D9A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ACC8DF-5691-4044-8D9D-54A86C9B0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40D7A-13CD-EE4E-A48B-345681619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32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063B1-8344-2F49-9A13-7A54EF4C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99C53B-9FD7-244A-8819-0AFAFDACF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F033-2A97-BE48-85C5-63CD36319377}" type="datetimeFigureOut">
              <a:rPr lang="en-US" smtClean="0"/>
              <a:t>6/12/23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B3CB96-6A10-0D48-B482-125CFC423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DC6245-AEEF-8941-84CF-25F8EA6A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40D7A-13CD-EE4E-A48B-345681619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59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80860F-EFA0-1643-B969-C81132354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F033-2A97-BE48-85C5-63CD36319377}" type="datetimeFigureOut">
              <a:rPr lang="en-US" smtClean="0"/>
              <a:t>6/12/23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AF1006-528A-904C-A4C7-F44E52BF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92ACC-3E8D-064F-B0D3-0DF6A413A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40D7A-13CD-EE4E-A48B-345681619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7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E271E-8F8E-6E48-ACDB-0725D7DE4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49000-1E90-DA40-AEC1-0DFE14F05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CEEBD-033A-D845-838C-9F2F8F72C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74AF8-B073-F043-AF5B-295B8E23A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F033-2A97-BE48-85C5-63CD36319377}" type="datetimeFigureOut">
              <a:rPr lang="en-US" smtClean="0"/>
              <a:t>6/12/23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E6EFA-8E77-9940-AE5D-EE135B63F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25A17-776A-8C4D-8CC7-C9E7AAB5B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40D7A-13CD-EE4E-A48B-345681619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38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DF2AE-1217-9349-AF2F-1BDA95DA5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8E3927-B3C7-A545-B42B-60FF9A03D3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B479C-75EA-7344-AAFC-EE56B1F3E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CDFCA-56F9-304E-B0C0-F0295E4C7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F033-2A97-BE48-85C5-63CD36319377}" type="datetimeFigureOut">
              <a:rPr lang="en-US" smtClean="0"/>
              <a:t>6/12/23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4E6B8-8EA6-714A-8E59-E3421DA11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F5D80-A7A7-8446-9A3B-5FE6DA954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40D7A-13CD-EE4E-A48B-345681619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31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B590-2473-9048-98CC-26EDC9F68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5E8ECD-F8B7-334F-BB01-2D964675BE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619AA-8A8A-E047-9CF5-8DB6508E7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F033-2A97-BE48-85C5-63CD36319377}" type="datetimeFigureOut">
              <a:rPr lang="en-US" smtClean="0"/>
              <a:t>6/12/23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759D7-49AE-214E-AD02-1BEFD8975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E8369-A285-C24A-9E73-10EFA64C0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40D7A-13CD-EE4E-A48B-345681619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54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893878-454E-AD4E-9B8A-C5C5966ED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0CBA54-58E2-6C43-B778-A4F51D7D9A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FC906-B0DB-B741-8B08-C941805E6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F033-2A97-BE48-85C5-63CD36319377}" type="datetimeFigureOut">
              <a:rPr lang="en-US" smtClean="0"/>
              <a:t>6/12/23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CE3B5-9444-2B4D-AB78-1CA1D06F6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3BEDC-0E61-4442-9DBC-69CBF3E45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40D7A-13CD-EE4E-A48B-345681619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19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F2EECA-3BCA-A34A-B790-3FF6743F5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704B7-4FF3-5F48-9E20-499040F0D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9134B-94F2-D14F-B4B7-94F8C5C2AA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9F033-2A97-BE48-85C5-63CD36319377}" type="datetimeFigureOut">
              <a:rPr lang="en-US" smtClean="0"/>
              <a:t>6/12/23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7BDEC-EF93-8443-ACD1-3EC20005E9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ED3F4-245C-5A4B-8FA9-DEE33BD167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40D7A-13CD-EE4E-A48B-345681619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850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da.edu.au/" TargetMode="External"/><Relationship Id="rId2" Type="http://schemas.openxmlformats.org/officeDocument/2006/relationships/hyperlink" Target="http://www.issp.org/menu-top/home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ssp.org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usiriss.org.au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emo.vocabs.ardc.edu.au/repository/api/lda/ands-nc/a-subset-of-the-2021-abs-census-data-dictionary/3/resource?uri=http%3A%2F%2Fexample.com%2Fcensus%2FAGE5P%2F01" TargetMode="External"/><Relationship Id="rId2" Type="http://schemas.openxmlformats.org/officeDocument/2006/relationships/hyperlink" Target="https://demo.vocabs.ardc.edu.au/viewById/955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AE79A-B445-794A-B686-E8FA098109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FAIR Vocabularies in Data Collection and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EA94E9-5BC9-F942-8354-0B49438F82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Assoc. Prof. Steve McEachern</a:t>
            </a:r>
          </a:p>
          <a:p>
            <a:r>
              <a:rPr lang="en-US" dirty="0"/>
              <a:t>Director, Australian Data Archive</a:t>
            </a:r>
          </a:p>
          <a:p>
            <a:r>
              <a:rPr lang="en-US" dirty="0"/>
              <a:t>Australian National University</a:t>
            </a:r>
          </a:p>
          <a:p>
            <a:r>
              <a:rPr lang="en-US" dirty="0"/>
              <a:t>https://</a:t>
            </a:r>
            <a:r>
              <a:rPr lang="en-US" dirty="0" err="1"/>
              <a:t>ada.edu.au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353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CED77-D531-8442-A9DC-FF5A2E0DF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DEE2E-3E6B-9F46-9DF0-A9D1585A3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I’m a national co-investigator on a cross-national data collection – the International Social Survey </a:t>
            </a:r>
            <a:r>
              <a:rPr lang="en-US" dirty="0" err="1"/>
              <a:t>Programme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http://www.issp.org/menu-top/home/</a:t>
            </a:r>
            <a:r>
              <a:rPr lang="en-US" dirty="0"/>
              <a:t> )</a:t>
            </a:r>
          </a:p>
          <a:p>
            <a:pPr lvl="1"/>
            <a:r>
              <a:rPr lang="en-US" dirty="0"/>
              <a:t>This includes responsibility for data collection, as well as data </a:t>
            </a:r>
            <a:r>
              <a:rPr lang="en-US" dirty="0" err="1"/>
              <a:t>harmonisation</a:t>
            </a:r>
            <a:endParaRPr lang="en-US" dirty="0"/>
          </a:p>
          <a:p>
            <a:r>
              <a:rPr lang="en-US" dirty="0"/>
              <a:t>I direct the Australian Data Archive (</a:t>
            </a:r>
            <a:r>
              <a:rPr lang="en-US" dirty="0">
                <a:hlinkClick r:id="rId3"/>
              </a:rPr>
              <a:t>https://ada.edu.au</a:t>
            </a:r>
            <a:r>
              <a:rPr lang="en-US" dirty="0"/>
              <a:t>), where we manage and disseminate survey and aggregate data collections</a:t>
            </a:r>
          </a:p>
          <a:p>
            <a:r>
              <a:rPr lang="en-US" dirty="0"/>
              <a:t>I teach survey data collection methods at the Australian National University</a:t>
            </a:r>
          </a:p>
          <a:p>
            <a:r>
              <a:rPr lang="en-US" dirty="0"/>
              <a:t>(Acknowledgement: in my spare time I’m a member of the DDI Alliance and CODATA executive committees)</a:t>
            </a:r>
          </a:p>
        </p:txBody>
      </p:sp>
    </p:spTree>
    <p:extLst>
      <p:ext uri="{BB962C8B-B14F-4D97-AF65-F5344CB8AC3E}">
        <p14:creationId xmlns:p14="http://schemas.microsoft.com/office/powerpoint/2010/main" val="1576330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1A3D1-2BFC-0440-B360-87EFE0162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model of survey data collection (GSBPM)</a:t>
            </a:r>
          </a:p>
        </p:txBody>
      </p:sp>
      <p:pic>
        <p:nvPicPr>
          <p:cNvPr id="5" name="Content Placeholder 4" descr="Chart, table&#10;&#10;Description automatically generated">
            <a:extLst>
              <a:ext uri="{FF2B5EF4-FFF2-40B4-BE49-F238E27FC236}">
                <a16:creationId xmlns:a16="http://schemas.microsoft.com/office/drawing/2014/main" id="{F6E7A370-68F8-8842-B186-F097AFFF0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1503" y="1384190"/>
            <a:ext cx="8717103" cy="5412581"/>
          </a:xfrm>
        </p:spPr>
      </p:pic>
    </p:spTree>
    <p:extLst>
      <p:ext uri="{BB962C8B-B14F-4D97-AF65-F5344CB8AC3E}">
        <p14:creationId xmlns:p14="http://schemas.microsoft.com/office/powerpoint/2010/main" val="2362770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66375-AF25-BD4B-84C4-135F45D6E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we use vocabularies?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19A7E-AE22-E648-90D8-9A5481A40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407"/>
            <a:ext cx="10515600" cy="474755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Research design</a:t>
            </a:r>
          </a:p>
          <a:p>
            <a:pPr lvl="1"/>
            <a:r>
              <a:rPr lang="en-US" dirty="0"/>
              <a:t>Research questions: concepts and hypotheses</a:t>
            </a:r>
          </a:p>
          <a:p>
            <a:r>
              <a:rPr lang="en-US" dirty="0"/>
              <a:t>Design/collection:</a:t>
            </a:r>
          </a:p>
          <a:p>
            <a:pPr lvl="1"/>
            <a:r>
              <a:rPr lang="en-US" dirty="0"/>
              <a:t>Design of instruments: </a:t>
            </a:r>
          </a:p>
          <a:p>
            <a:pPr lvl="2"/>
            <a:r>
              <a:rPr lang="en-US" dirty="0"/>
              <a:t>Response domains</a:t>
            </a:r>
          </a:p>
          <a:p>
            <a:pPr lvl="2"/>
            <a:r>
              <a:rPr lang="en-US" dirty="0"/>
              <a:t>Variable and question banks</a:t>
            </a:r>
          </a:p>
          <a:p>
            <a:pPr lvl="1"/>
            <a:r>
              <a:rPr lang="en-US" dirty="0"/>
              <a:t>Sampling:</a:t>
            </a:r>
          </a:p>
          <a:p>
            <a:pPr lvl="2"/>
            <a:r>
              <a:rPr lang="en-US" dirty="0"/>
              <a:t>Stratification for sample design</a:t>
            </a:r>
          </a:p>
          <a:p>
            <a:pPr lvl="2"/>
            <a:r>
              <a:rPr lang="en-US" dirty="0"/>
              <a:t>Sample frame creation/extraction</a:t>
            </a:r>
          </a:p>
          <a:p>
            <a:r>
              <a:rPr lang="en-US" dirty="0"/>
              <a:t>Processing</a:t>
            </a:r>
          </a:p>
          <a:p>
            <a:pPr lvl="1"/>
            <a:r>
              <a:rPr lang="en-US" dirty="0"/>
              <a:t>Data coding – aligned to statistical classifications</a:t>
            </a:r>
          </a:p>
          <a:p>
            <a:r>
              <a:rPr lang="en-US" dirty="0"/>
              <a:t>Analysis</a:t>
            </a:r>
          </a:p>
          <a:p>
            <a:pPr lvl="1"/>
            <a:r>
              <a:rPr lang="en-US" dirty="0"/>
              <a:t>In creation of aggregates</a:t>
            </a:r>
          </a:p>
          <a:p>
            <a:pPr lvl="1"/>
            <a:r>
              <a:rPr lang="en-US" dirty="0" err="1"/>
              <a:t>Subsetting</a:t>
            </a:r>
            <a:endParaRPr lang="en-US" dirty="0"/>
          </a:p>
          <a:p>
            <a:pPr lvl="1"/>
            <a:r>
              <a:rPr lang="en-US" dirty="0"/>
              <a:t>Modelling – covariates, control variables, etc.</a:t>
            </a:r>
          </a:p>
        </p:txBody>
      </p:sp>
    </p:spTree>
    <p:extLst>
      <p:ext uri="{BB962C8B-B14F-4D97-AF65-F5344CB8AC3E}">
        <p14:creationId xmlns:p14="http://schemas.microsoft.com/office/powerpoint/2010/main" val="3253048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F1BD9-1DFA-B444-A29D-6E79C255F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Questionnaire specification – International Social Survey </a:t>
            </a:r>
            <a:r>
              <a:rPr lang="en-US" dirty="0" err="1"/>
              <a:t>Programme</a:t>
            </a:r>
            <a:endParaRPr lang="en-US" dirty="0"/>
          </a:p>
        </p:txBody>
      </p:sp>
      <p:pic>
        <p:nvPicPr>
          <p:cNvPr id="9" name="Picture 8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5C5A4AC1-C911-8D48-A3D2-A13A88861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2317750"/>
            <a:ext cx="5626100" cy="2222500"/>
          </a:xfrm>
          <a:prstGeom prst="rect">
            <a:avLst/>
          </a:prstGeom>
        </p:spPr>
      </p:pic>
      <p:pic>
        <p:nvPicPr>
          <p:cNvPr id="11" name="Picture 10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88A2E0AE-6223-3645-988C-3A840C7DA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948" y="2264979"/>
            <a:ext cx="5816600" cy="2895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436FCF-23BC-EC92-026E-8D61C9C4227A}"/>
              </a:ext>
            </a:extLst>
          </p:cNvPr>
          <p:cNvSpPr txBox="1"/>
          <p:nvPr/>
        </p:nvSpPr>
        <p:spPr>
          <a:xfrm>
            <a:off x="8325678" y="1512755"/>
            <a:ext cx="31374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4"/>
              </a:rPr>
              <a:t>https://issp.org/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1404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F1BD9-1DFA-B444-A29D-6E79C255F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Questionnaire specification - ISSP</a:t>
            </a:r>
          </a:p>
        </p:txBody>
      </p:sp>
      <p:pic>
        <p:nvPicPr>
          <p:cNvPr id="9" name="Picture 8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5C5A4AC1-C911-8D48-A3D2-A13A88861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2317750"/>
            <a:ext cx="5626100" cy="2222500"/>
          </a:xfrm>
          <a:prstGeom prst="rect">
            <a:avLst/>
          </a:prstGeom>
        </p:spPr>
      </p:pic>
      <p:pic>
        <p:nvPicPr>
          <p:cNvPr id="11" name="Picture 10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88A2E0AE-6223-3645-988C-3A840C7DA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948" y="2264979"/>
            <a:ext cx="5816600" cy="28956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1CF4C2A-9E4A-EB4F-A63D-1087A22D4D82}"/>
              </a:ext>
            </a:extLst>
          </p:cNvPr>
          <p:cNvSpPr txBox="1"/>
          <p:nvPr/>
        </p:nvSpPr>
        <p:spPr>
          <a:xfrm>
            <a:off x="580806" y="5184307"/>
            <a:ext cx="3184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Plus?</a:t>
            </a:r>
          </a:p>
          <a:p>
            <a:r>
              <a:rPr lang="en-US" dirty="0"/>
              <a:t>  </a:t>
            </a:r>
            <a:r>
              <a:rPr lang="en-US" b="1" u="sng" dirty="0"/>
              <a:t>Concept: </a:t>
            </a:r>
            <a:r>
              <a:rPr lang="en-US" dirty="0"/>
              <a:t>Employment status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13DA6F0-1987-A443-89FA-64E9CE967DC0}"/>
              </a:ext>
            </a:extLst>
          </p:cNvPr>
          <p:cNvGrpSpPr/>
          <p:nvPr/>
        </p:nvGrpSpPr>
        <p:grpSpPr>
          <a:xfrm>
            <a:off x="458952" y="1847849"/>
            <a:ext cx="4064985" cy="1237596"/>
            <a:chOff x="458952" y="1847849"/>
            <a:chExt cx="4064985" cy="123759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3B9F680-78FA-3D4F-A1A9-EEA1C66D2D9B}"/>
                </a:ext>
              </a:extLst>
            </p:cNvPr>
            <p:cNvSpPr/>
            <p:nvPr/>
          </p:nvSpPr>
          <p:spPr>
            <a:xfrm>
              <a:off x="458952" y="2675212"/>
              <a:ext cx="3640082" cy="4102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6660776-9AB2-1048-86EA-01869E760AEE}"/>
                </a:ext>
              </a:extLst>
            </p:cNvPr>
            <p:cNvSpPr txBox="1"/>
            <p:nvPr/>
          </p:nvSpPr>
          <p:spPr>
            <a:xfrm>
              <a:off x="3135039" y="1847849"/>
              <a:ext cx="13888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Question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A5D4078-EB55-FF4B-BA6B-B1037F27F687}"/>
                </a:ext>
              </a:extLst>
            </p:cNvPr>
            <p:cNvCxnSpPr>
              <a:stCxn id="19" idx="2"/>
            </p:cNvCxnSpPr>
            <p:nvPr/>
          </p:nvCxnSpPr>
          <p:spPr>
            <a:xfrm flipH="1">
              <a:off x="3135039" y="2217181"/>
              <a:ext cx="694449" cy="4580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26C306C-DC7B-D74E-BAB7-FA603332D957}"/>
              </a:ext>
            </a:extLst>
          </p:cNvPr>
          <p:cNvGrpSpPr/>
          <p:nvPr/>
        </p:nvGrpSpPr>
        <p:grpSpPr>
          <a:xfrm>
            <a:off x="458952" y="1673693"/>
            <a:ext cx="1611586" cy="1001519"/>
            <a:chOff x="458952" y="1673693"/>
            <a:chExt cx="1611586" cy="10015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91B4C2D-A63F-AF49-A3B6-71EB7A9343AD}"/>
                </a:ext>
              </a:extLst>
            </p:cNvPr>
            <p:cNvSpPr/>
            <p:nvPr/>
          </p:nvSpPr>
          <p:spPr>
            <a:xfrm>
              <a:off x="458952" y="2264979"/>
              <a:ext cx="1611586" cy="4102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3DB26F3-E088-334C-82C5-345DAB800FDB}"/>
                </a:ext>
              </a:extLst>
            </p:cNvPr>
            <p:cNvSpPr txBox="1"/>
            <p:nvPr/>
          </p:nvSpPr>
          <p:spPr>
            <a:xfrm>
              <a:off x="580806" y="1673693"/>
              <a:ext cx="13888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Variable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305C768-9288-B147-B0A6-74A38152FA01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>
              <a:off x="1275255" y="2043025"/>
              <a:ext cx="0" cy="2324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02D0541-AFFC-E94F-A8AD-0DFA5FDDA93F}"/>
              </a:ext>
            </a:extLst>
          </p:cNvPr>
          <p:cNvGrpSpPr/>
          <p:nvPr/>
        </p:nvGrpSpPr>
        <p:grpSpPr>
          <a:xfrm>
            <a:off x="6096000" y="1211096"/>
            <a:ext cx="5927834" cy="3949483"/>
            <a:chOff x="6096000" y="1211096"/>
            <a:chExt cx="5927834" cy="394948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47D8F3A-6E8B-D94D-A298-26DCB79A1BB7}"/>
                </a:ext>
              </a:extLst>
            </p:cNvPr>
            <p:cNvSpPr/>
            <p:nvPr/>
          </p:nvSpPr>
          <p:spPr>
            <a:xfrm>
              <a:off x="6096000" y="2181225"/>
              <a:ext cx="5927834" cy="29793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C8B40D0-C4B2-6E44-A2DF-A5553212164D}"/>
                </a:ext>
              </a:extLst>
            </p:cNvPr>
            <p:cNvCxnSpPr/>
            <p:nvPr/>
          </p:nvCxnSpPr>
          <p:spPr>
            <a:xfrm>
              <a:off x="8755117" y="1769079"/>
              <a:ext cx="0" cy="4205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845F172-D798-8243-89EF-632BA6CD79CE}"/>
                </a:ext>
              </a:extLst>
            </p:cNvPr>
            <p:cNvSpPr txBox="1"/>
            <p:nvPr/>
          </p:nvSpPr>
          <p:spPr>
            <a:xfrm>
              <a:off x="7796377" y="1211096"/>
              <a:ext cx="27589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Response domain</a:t>
              </a:r>
            </a:p>
            <a:p>
              <a:r>
                <a:rPr lang="en-US" dirty="0"/>
                <a:t>(Categories and codes)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979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4396F-F1B9-0B5E-CCF2-3F8A8B710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Concepts, concepts everywhere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ADC75E-0084-259E-B19C-1C8337709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146091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Research question / measurement concept</a:t>
            </a:r>
          </a:p>
          <a:p>
            <a:r>
              <a:rPr lang="en-US" dirty="0"/>
              <a:t>Employment status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AA0EC70-3439-384E-7B48-920FE2C2568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Response domain (code lists and categories)</a:t>
            </a:r>
          </a:p>
          <a:p>
            <a:r>
              <a:rPr lang="en-US" dirty="0"/>
              <a:t>Paid work</a:t>
            </a:r>
          </a:p>
          <a:p>
            <a:r>
              <a:rPr lang="en-US" dirty="0"/>
              <a:t>Unemployed</a:t>
            </a:r>
          </a:p>
          <a:p>
            <a:r>
              <a:rPr lang="en-US" dirty="0"/>
              <a:t>In education</a:t>
            </a:r>
          </a:p>
          <a:p>
            <a:r>
              <a:rPr lang="en-US" dirty="0"/>
              <a:t>Apprenticeship/traineeship</a:t>
            </a:r>
          </a:p>
          <a:p>
            <a:r>
              <a:rPr lang="en-US" dirty="0"/>
              <a:t>Permanently sick or disabled</a:t>
            </a:r>
          </a:p>
          <a:p>
            <a:r>
              <a:rPr lang="en-US" dirty="0"/>
              <a:t>Retired</a:t>
            </a:r>
          </a:p>
          <a:p>
            <a:r>
              <a:rPr lang="en-US" dirty="0"/>
              <a:t>Doing housework, looking after the home</a:t>
            </a:r>
          </a:p>
          <a:p>
            <a:r>
              <a:rPr lang="en-US" dirty="0"/>
              <a:t>Military service</a:t>
            </a:r>
          </a:p>
          <a:p>
            <a:r>
              <a:rPr lang="en-US" dirty="0"/>
              <a:t>Community service</a:t>
            </a:r>
          </a:p>
          <a:p>
            <a:r>
              <a:rPr lang="en-US" dirty="0"/>
              <a:t>….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837ADD-7141-F98B-E404-DFDC940DF23E}"/>
              </a:ext>
            </a:extLst>
          </p:cNvPr>
          <p:cNvSpPr txBox="1"/>
          <p:nvPr/>
        </p:nvSpPr>
        <p:spPr>
          <a:xfrm>
            <a:off x="838200" y="3286539"/>
            <a:ext cx="44229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But how to connect the dots?</a:t>
            </a:r>
          </a:p>
          <a:p>
            <a:br>
              <a:rPr lang="en-US" sz="3200" dirty="0">
                <a:solidFill>
                  <a:srgbClr val="FF0000"/>
                </a:solidFill>
              </a:rPr>
            </a:br>
            <a:r>
              <a:rPr lang="en-US" sz="3200" dirty="0">
                <a:solidFill>
                  <a:srgbClr val="FF0000"/>
                </a:solidFill>
              </a:rPr>
              <a:t>We can use DDI – but it needs more</a:t>
            </a:r>
          </a:p>
        </p:txBody>
      </p:sp>
    </p:spTree>
    <p:extLst>
      <p:ext uri="{BB962C8B-B14F-4D97-AF65-F5344CB8AC3E}">
        <p14:creationId xmlns:p14="http://schemas.microsoft.com/office/powerpoint/2010/main" val="2358954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05AF9-B14F-EA7A-74B9-B42D2D554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to connect humans to machines, and machines to each other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F6EE1F9-C337-F8F0-7BB9-DD42FC48D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751" y="1690688"/>
            <a:ext cx="10515600" cy="4351338"/>
          </a:xfrm>
        </p:spPr>
        <p:txBody>
          <a:bodyPr/>
          <a:lstStyle/>
          <a:p>
            <a:r>
              <a:rPr lang="en-US" dirty="0"/>
              <a:t>Humans make errors in process</a:t>
            </a:r>
          </a:p>
          <a:p>
            <a:r>
              <a:rPr lang="en-US" dirty="0"/>
              <a:t>Machines can identify differences</a:t>
            </a:r>
          </a:p>
          <a:p>
            <a:r>
              <a:rPr lang="en-US" dirty="0"/>
              <a:t>But they cannot interpret differences (at least not yet)</a:t>
            </a:r>
          </a:p>
        </p:txBody>
      </p:sp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DC357B00-785B-23CA-584A-E10D80021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48" y="2221874"/>
            <a:ext cx="11087652" cy="4517685"/>
          </a:xfrm>
          <a:prstGeom prst="rect">
            <a:avLst/>
          </a:prstGeom>
        </p:spPr>
      </p:pic>
      <p:pic>
        <p:nvPicPr>
          <p:cNvPr id="8" name="Picture 7" descr="A picture containing text, font, screenshot, white&#10;&#10;Description automatically generated">
            <a:extLst>
              <a:ext uri="{FF2B5EF4-FFF2-40B4-BE49-F238E27FC236}">
                <a16:creationId xmlns:a16="http://schemas.microsoft.com/office/drawing/2014/main" id="{4C9DFDFC-C3A9-9692-8ECB-F133B2207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427" y="3072801"/>
            <a:ext cx="8794475" cy="342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80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6A863-1F40-8D4A-BCAC-F702A9BE8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is not accessible in machine-processable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80155-6762-E7B7-8AFB-A5BDFEF86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PDF data dictionaries: easy to read, printable</a:t>
            </a:r>
          </a:p>
          <a:p>
            <a:pPr lvl="1"/>
            <a:r>
              <a:rPr lang="en-US" dirty="0"/>
              <a:t>Great for humans</a:t>
            </a:r>
          </a:p>
          <a:p>
            <a:pPr lvl="1"/>
            <a:r>
              <a:rPr lang="en-US" dirty="0"/>
              <a:t>Useless for machines</a:t>
            </a:r>
          </a:p>
          <a:p>
            <a:r>
              <a:rPr lang="en-US" dirty="0"/>
              <a:t>ABS Census Data Dictionary: HTML</a:t>
            </a:r>
          </a:p>
          <a:p>
            <a:pPr lvl="1"/>
            <a:r>
              <a:rPr lang="en-US" dirty="0"/>
              <a:t>nicely formatted for humans, easily readable, content-rich</a:t>
            </a:r>
          </a:p>
          <a:p>
            <a:pPr lvl="1"/>
            <a:r>
              <a:rPr lang="en-US" dirty="0"/>
              <a:t>HTML is not consistent - for machines – NOT REUSEABLE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989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Recommendations for the DDI Alliance</a:t>
            </a:r>
            <a:endParaRPr/>
          </a:p>
        </p:txBody>
      </p:sp>
      <p:sp>
        <p:nvSpPr>
          <p:cNvPr id="192" name="Google Shape;192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dirty="0"/>
              <a:t>Develop guidelines and practices for DDI-based registries of vocabularies, variables, and value domains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dirty="0"/>
              <a:t>Encourage the use of persistent identifiers from the beginning of the data lifecycle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dirty="0"/>
              <a:t>Facilitate data harmonization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Encourage use of tools like SKOS/XKOS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Contribute to research and development of linking persistent identifiers</a:t>
            </a:r>
            <a:endParaRPr dirty="0"/>
          </a:p>
          <a:p>
            <a:pPr marL="971550" lvl="1" indent="-3619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dirty="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1E1DAE-0DDA-388B-9DE4-E14E01594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3657600"/>
          </a:xfrm>
        </p:spPr>
        <p:txBody>
          <a:bodyPr>
            <a:normAutofit/>
          </a:bodyPr>
          <a:lstStyle/>
          <a:p>
            <a:r>
              <a:rPr lang="en-US" dirty="0"/>
              <a:t>1. Develop guidelines and practices for DDI-based registries of vocabularies, variables, and value domains</a:t>
            </a:r>
          </a:p>
        </p:txBody>
      </p:sp>
    </p:spTree>
    <p:extLst>
      <p:ext uri="{BB962C8B-B14F-4D97-AF65-F5344CB8AC3E}">
        <p14:creationId xmlns:p14="http://schemas.microsoft.com/office/powerpoint/2010/main" val="1880716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72EAB-687E-3C43-B7C5-9BD6AC458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model of data and metadata exchange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8BB49FDE-67B3-2646-ADF1-62CD396529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1157" y="1283555"/>
            <a:ext cx="7375484" cy="520932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144143-3A96-9564-C897-C786C78B9D8A}"/>
              </a:ext>
            </a:extLst>
          </p:cNvPr>
          <p:cNvSpPr txBox="1"/>
          <p:nvPr/>
        </p:nvSpPr>
        <p:spPr>
          <a:xfrm>
            <a:off x="7860372" y="4257261"/>
            <a:ext cx="3518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https://ausiriss.org.au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691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04553-4C20-D74E-A6D4-157D60941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registries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219F2-5B83-9847-8FBC-846CF9094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CESSDA</a:t>
            </a:r>
          </a:p>
          <a:p>
            <a:r>
              <a:rPr lang="en-US" dirty="0"/>
              <a:t>ELSST</a:t>
            </a:r>
          </a:p>
          <a:p>
            <a:r>
              <a:rPr lang="en-US" dirty="0"/>
              <a:t>Research Vocabularies Australia</a:t>
            </a:r>
          </a:p>
          <a:p>
            <a:pPr lvl="1"/>
            <a:r>
              <a:rPr lang="en-US" dirty="0"/>
              <a:t>Australian Politics Vocabulary: </a:t>
            </a:r>
          </a:p>
          <a:p>
            <a:pPr lvl="1"/>
            <a:r>
              <a:rPr lang="en-US" dirty="0"/>
              <a:t>Australian Bureau of Statistics Census Dictionary: </a:t>
            </a:r>
            <a:r>
              <a:rPr lang="en-US" dirty="0">
                <a:hlinkClick r:id="rId2"/>
              </a:rPr>
              <a:t>https://demo.vocabs.ardc.edu.au/viewById/955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Human readable: </a:t>
            </a:r>
          </a:p>
          <a:p>
            <a:pPr lvl="2"/>
            <a:r>
              <a:rPr lang="en-US" dirty="0"/>
              <a:t>Plus SKOS, JSON, Turtle, …</a:t>
            </a:r>
          </a:p>
          <a:p>
            <a:pPr lvl="2"/>
            <a:r>
              <a:rPr lang="en-US" dirty="0"/>
              <a:t>Including codes and categories:</a:t>
            </a:r>
          </a:p>
          <a:p>
            <a:pPr lvl="3"/>
            <a:r>
              <a:rPr lang="en-US" dirty="0"/>
              <a:t>Australian Census Dictionary, Age in 5 year age groups, Category Age 0-4 </a:t>
            </a:r>
            <a:r>
              <a:rPr lang="en-US" dirty="0">
                <a:hlinkClick r:id="rId3"/>
              </a:rPr>
              <a:t>https://demo.vocabs.ardc.edu.au/repository/api/lda/ands-nc/a-subset-of-the-2021-abs-census-data-dictionary/3/resource?uri=http%3A%2F%2Fexample.com%2Fcensus%2FAGE5P%2F01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8166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A3CC9-615D-6537-C443-CBFA0C1B0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and value domain registries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2DD1B-EA3F-78E3-0C3C-42416CE0C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DDI Lifecycle: </a:t>
            </a:r>
            <a:r>
              <a:rPr lang="en-US" dirty="0" err="1"/>
              <a:t>Colectica</a:t>
            </a:r>
            <a:r>
              <a:rPr lang="en-US" dirty="0"/>
              <a:t>-based services</a:t>
            </a:r>
          </a:p>
          <a:p>
            <a:pPr lvl="1"/>
            <a:r>
              <a:rPr lang="en-US" dirty="0"/>
              <a:t>For data harmonization across series or variable collections</a:t>
            </a:r>
          </a:p>
          <a:p>
            <a:r>
              <a:rPr lang="en-US" dirty="0"/>
              <a:t>DDI Cross-Domain Integration – extends to other data formats (e.g. long, wide, …)</a:t>
            </a:r>
          </a:p>
          <a:p>
            <a:r>
              <a:rPr lang="en-US" dirty="0"/>
              <a:t>All use the DDI Variable Cascade model</a:t>
            </a:r>
          </a:p>
          <a:p>
            <a:r>
              <a:rPr lang="en-US" dirty="0"/>
              <a:t>Need to look carefully at how we persist identifiers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Speaking of which….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322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1E1DAE-0DDA-388B-9DE4-E14E01594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3695"/>
            <a:ext cx="9144000" cy="3710609"/>
          </a:xfrm>
        </p:spPr>
        <p:txBody>
          <a:bodyPr>
            <a:normAutofit/>
          </a:bodyPr>
          <a:lstStyle/>
          <a:p>
            <a:pPr lvl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dirty="0"/>
              <a:t>2. Encourage the use of persistent identifiers from the beginning of the data lifecycle</a:t>
            </a:r>
          </a:p>
        </p:txBody>
      </p:sp>
    </p:spTree>
    <p:extLst>
      <p:ext uri="{BB962C8B-B14F-4D97-AF65-F5344CB8AC3E}">
        <p14:creationId xmlns:p14="http://schemas.microsoft.com/office/powerpoint/2010/main" val="3726104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84F89-7C30-8A10-1287-761FB5345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can we do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BCBBA-E54C-6AA9-A449-B4ABEC48D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 identifiers</a:t>
            </a:r>
          </a:p>
          <a:p>
            <a:r>
              <a:rPr lang="en-US" dirty="0"/>
              <a:t>Designing survey questions</a:t>
            </a:r>
          </a:p>
          <a:p>
            <a:r>
              <a:rPr lang="en-US" dirty="0"/>
              <a:t>Data cleaning – applying external classifications</a:t>
            </a:r>
          </a:p>
        </p:txBody>
      </p:sp>
    </p:spTree>
    <p:extLst>
      <p:ext uri="{BB962C8B-B14F-4D97-AF65-F5344CB8AC3E}">
        <p14:creationId xmlns:p14="http://schemas.microsoft.com/office/powerpoint/2010/main" val="2931378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79B59-6772-ADFF-D5AD-D52158538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8"/>
            <a:ext cx="10515600" cy="1325563"/>
          </a:xfrm>
        </p:spPr>
        <p:txBody>
          <a:bodyPr/>
          <a:lstStyle/>
          <a:p>
            <a:r>
              <a:rPr lang="en-US" dirty="0"/>
              <a:t>A simple example – </a:t>
            </a:r>
            <a:br>
              <a:rPr lang="en-US" dirty="0"/>
            </a:br>
            <a:r>
              <a:rPr lang="en-US" dirty="0"/>
              <a:t>Australian Survey of Social Attitudes (AU ISSP)</a:t>
            </a: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177B8516-342D-F36D-9D5E-C071E45D2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33" y="1386747"/>
            <a:ext cx="7772400" cy="5161464"/>
          </a:xfrm>
          <a:prstGeom prst="rect">
            <a:avLst/>
          </a:prstGeom>
        </p:spPr>
      </p:pic>
      <p:sp>
        <p:nvSpPr>
          <p:cNvPr id="11" name="Right Arrow 10">
            <a:extLst>
              <a:ext uri="{FF2B5EF4-FFF2-40B4-BE49-F238E27FC236}">
                <a16:creationId xmlns:a16="http://schemas.microsoft.com/office/drawing/2014/main" id="{09F5914C-D4EF-92DC-5A97-613594AA627E}"/>
              </a:ext>
            </a:extLst>
          </p:cNvPr>
          <p:cNvSpPr/>
          <p:nvPr/>
        </p:nvSpPr>
        <p:spPr>
          <a:xfrm rot="10800000">
            <a:off x="5870713" y="1898570"/>
            <a:ext cx="1722783" cy="5698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A24D0646-172C-2F09-A243-80CF8BA9D6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56411" y="1725452"/>
            <a:ext cx="7910270" cy="4939700"/>
          </a:xfr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6DF03B37-D3CF-D477-456B-D99866D57F70}"/>
              </a:ext>
            </a:extLst>
          </p:cNvPr>
          <p:cNvSpPr/>
          <p:nvPr/>
        </p:nvSpPr>
        <p:spPr>
          <a:xfrm>
            <a:off x="4938490" y="3850231"/>
            <a:ext cx="3008243" cy="7818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web browser&#10;&#10;Description automatically generated with low confidence">
            <a:extLst>
              <a:ext uri="{FF2B5EF4-FFF2-40B4-BE49-F238E27FC236}">
                <a16:creationId xmlns:a16="http://schemas.microsoft.com/office/drawing/2014/main" id="{4188F718-9412-1A0C-8B84-9BA8E78EE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6601" y="3313389"/>
            <a:ext cx="4552417" cy="2504315"/>
          </a:xfrm>
          <a:prstGeom prst="rect">
            <a:avLst/>
          </a:prstGeom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217B0C98-3267-B712-D905-9E31E12361C5}"/>
              </a:ext>
            </a:extLst>
          </p:cNvPr>
          <p:cNvSpPr/>
          <p:nvPr/>
        </p:nvSpPr>
        <p:spPr>
          <a:xfrm>
            <a:off x="1473047" y="5883273"/>
            <a:ext cx="3008243" cy="7818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8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1E1DAE-0DDA-388B-9DE4-E14E01594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3695"/>
            <a:ext cx="9144000" cy="3710609"/>
          </a:xfrm>
        </p:spPr>
        <p:txBody>
          <a:bodyPr>
            <a:normAutofit fontScale="90000"/>
          </a:bodyPr>
          <a:lstStyle/>
          <a:p>
            <a:pPr lvl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dirty="0"/>
              <a:t>3. Facilitate data harmonization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a) </a:t>
            </a:r>
            <a:r>
              <a:rPr lang="en-US" sz="4900" dirty="0"/>
              <a:t>Encourage use of tools like SKOS/XKOS</a:t>
            </a:r>
            <a:br>
              <a:rPr lang="en-US" sz="4900" dirty="0"/>
            </a:br>
            <a:r>
              <a:rPr lang="en-US" sz="4900" dirty="0"/>
              <a:t>b) Contribute to research and development of linking persistent identifiers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970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E9602-8366-E49E-C530-40708B13F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EBDC0-4860-E715-643E-0B90BE1B3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Concept (</a:t>
            </a:r>
            <a:r>
              <a:rPr lang="en-US" dirty="0" err="1"/>
              <a:t>SKOS:Concept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To</a:t>
            </a:r>
          </a:p>
          <a:p>
            <a:r>
              <a:rPr lang="en-US" sz="2600" dirty="0"/>
              <a:t>Question (</a:t>
            </a:r>
            <a:r>
              <a:rPr lang="en-US" sz="2600" dirty="0" err="1"/>
              <a:t>DDI:QuestionItem</a:t>
            </a:r>
            <a:r>
              <a:rPr lang="en-US" sz="2600" dirty="0"/>
              <a:t>)</a:t>
            </a:r>
          </a:p>
          <a:p>
            <a:pPr lvl="1"/>
            <a:r>
              <a:rPr lang="en-US" dirty="0"/>
              <a:t>To</a:t>
            </a:r>
          </a:p>
          <a:p>
            <a:r>
              <a:rPr lang="en-US" dirty="0"/>
              <a:t>Categories (DDI/SKOS/SDMX) (each a </a:t>
            </a:r>
            <a:r>
              <a:rPr lang="en-US" dirty="0" err="1"/>
              <a:t>SKOS:Concept</a:t>
            </a:r>
            <a:r>
              <a:rPr lang="en-US" dirty="0"/>
              <a:t> )</a:t>
            </a:r>
          </a:p>
          <a:p>
            <a:pPr lvl="1"/>
            <a:r>
              <a:rPr lang="en-US" dirty="0"/>
              <a:t>To</a:t>
            </a:r>
          </a:p>
          <a:p>
            <a:r>
              <a:rPr lang="en-US" dirty="0"/>
              <a:t>Code List (DDI/SDMX)</a:t>
            </a:r>
          </a:p>
          <a:p>
            <a:pPr lvl="1"/>
            <a:r>
              <a:rPr lang="en-US" dirty="0"/>
              <a:t>To</a:t>
            </a:r>
          </a:p>
          <a:p>
            <a:r>
              <a:rPr lang="en-US" dirty="0"/>
              <a:t>Variable (DDI)</a:t>
            </a:r>
          </a:p>
          <a:p>
            <a:pPr lvl="1"/>
            <a:r>
              <a:rPr lang="en-US" dirty="0"/>
              <a:t>To</a:t>
            </a:r>
          </a:p>
          <a:p>
            <a:r>
              <a:rPr lang="en-US" dirty="0" err="1"/>
              <a:t>Harmonisation</a:t>
            </a:r>
            <a:r>
              <a:rPr lang="en-US" dirty="0"/>
              <a:t> (DDI - Represented/Conceptual Variable)</a:t>
            </a:r>
          </a:p>
          <a:p>
            <a:pPr lvl="1"/>
            <a:r>
              <a:rPr lang="en-US" dirty="0"/>
              <a:t>To</a:t>
            </a:r>
          </a:p>
          <a:p>
            <a:r>
              <a:rPr lang="en-US" dirty="0"/>
              <a:t>Concept (</a:t>
            </a:r>
            <a:r>
              <a:rPr lang="en-US" dirty="0" err="1"/>
              <a:t>SKOS:Concept</a:t>
            </a:r>
            <a:r>
              <a:rPr lang="en-US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5F434D-A126-BD1B-0FAE-CB1E24BCCBA9}"/>
              </a:ext>
            </a:extLst>
          </p:cNvPr>
          <p:cNvSpPr txBox="1"/>
          <p:nvPr/>
        </p:nvSpPr>
        <p:spPr>
          <a:xfrm>
            <a:off x="8150087" y="1825625"/>
            <a:ext cx="361784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We have the standards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We now need the implementations in the software we use (in data collection and analysis)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And to reuse what others have already done (reuse of persisted information available in services)</a:t>
            </a:r>
          </a:p>
        </p:txBody>
      </p:sp>
    </p:spTree>
    <p:extLst>
      <p:ext uri="{BB962C8B-B14F-4D97-AF65-F5344CB8AC3E}">
        <p14:creationId xmlns:p14="http://schemas.microsoft.com/office/powerpoint/2010/main" val="3630518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1D6B9-C8C9-FEEB-28A5-80998B576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534D8-CE20-D1BD-D6E7-68A2B6512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738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790</Words>
  <Application>Microsoft Macintosh PowerPoint</Application>
  <PresentationFormat>Widescreen</PresentationFormat>
  <Paragraphs>117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FAIR Vocabularies in Data Collection and Management</vt:lpstr>
      <vt:lpstr>Context</vt:lpstr>
      <vt:lpstr>A model of survey data collection (GSBPM)</vt:lpstr>
      <vt:lpstr>Where do we use vocabularies?</vt:lpstr>
      <vt:lpstr>Questionnaire specification – International Social Survey Programme</vt:lpstr>
      <vt:lpstr>Questionnaire specification - ISSP</vt:lpstr>
      <vt:lpstr>Concepts, concepts everywhere</vt:lpstr>
      <vt:lpstr>Need to connect humans to machines, and machines to each other</vt:lpstr>
      <vt:lpstr>Content is not accessible in machine-processable form</vt:lpstr>
      <vt:lpstr>Recommendations for the DDI Alliance</vt:lpstr>
      <vt:lpstr>1. Develop guidelines and practices for DDI-based registries of vocabularies, variables, and value domains</vt:lpstr>
      <vt:lpstr>A model of data and metadata exchange</vt:lpstr>
      <vt:lpstr>Vocabulary registries</vt:lpstr>
      <vt:lpstr>Variable and value domain registries</vt:lpstr>
      <vt:lpstr>2. Encourage the use of persistent identifiers from the beginning of the data lifecycle</vt:lpstr>
      <vt:lpstr>Where can we do this?</vt:lpstr>
      <vt:lpstr>A simple example –  Australian Survey of Social Attitudes (AU ISSP)</vt:lpstr>
      <vt:lpstr>3. Facilitate data harmonization  a) Encourage use of tools like SKOS/XKOS b) Contribute to research and development of linking persistent identifiers</vt:lpstr>
      <vt:lpstr>Linking data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 Vocabularies in Data Collection</dc:title>
  <dc:creator>Steven McEachern</dc:creator>
  <cp:lastModifiedBy>Steven McEachern</cp:lastModifiedBy>
  <cp:revision>8</cp:revision>
  <dcterms:created xsi:type="dcterms:W3CDTF">2021-09-01T10:31:25Z</dcterms:created>
  <dcterms:modified xsi:type="dcterms:W3CDTF">2023-06-12T11:27:17Z</dcterms:modified>
</cp:coreProperties>
</file>