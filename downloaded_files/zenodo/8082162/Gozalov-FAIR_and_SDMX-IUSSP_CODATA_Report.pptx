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15"/>
  </p:notesMasterIdLst>
  <p:sldIdLst>
    <p:sldId id="256" r:id="rId2"/>
    <p:sldId id="257" r:id="rId3"/>
    <p:sldId id="266" r:id="rId4"/>
    <p:sldId id="258" r:id="rId5"/>
    <p:sldId id="260" r:id="rId6"/>
    <p:sldId id="259" r:id="rId7"/>
    <p:sldId id="268" r:id="rId8"/>
    <p:sldId id="261" r:id="rId9"/>
    <p:sldId id="262" r:id="rId10"/>
    <p:sldId id="264" r:id="rId11"/>
    <p:sldId id="263" r:id="rId12"/>
    <p:sldId id="267" r:id="rId13"/>
    <p:sldId id="265" r:id="rId14"/>
  </p:sldIdLst>
  <p:sldSz cx="12192000" cy="6858000"/>
  <p:notesSz cx="6858000" cy="9144000"/>
  <p:custDataLst>
    <p:tags r:id="rId16"/>
  </p:custDataLst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FF31A6C-6141-4859-B0F0-246F6EAC7948}" v="12" dt="2023-06-12T12:06:39.28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72" y="1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tags" Target="tags/tag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AA72E6-B47E-4E45-AE99-5BBC8942F39C}" type="datetimeFigureOut">
              <a:rPr lang="en-US" smtClean="0"/>
              <a:t>12/06/2023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BD765B-3F89-438C-87B5-50397E2C96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098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solidFill>
            <a:srgbClr val="0070C0"/>
          </a:solidFill>
        </p:spPr>
        <p:txBody>
          <a:bodyPr anchor="ctr"/>
          <a:lstStyle>
            <a:lvl1pPr algn="ctr">
              <a:defRPr sz="6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008062"/>
          </a:xfr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en-GB" noProof="0" dirty="0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06D3BA-ED2D-4DD9-8C2C-357E32983591}" type="datetime1">
              <a:rPr lang="en-US" smtClean="0"/>
              <a:t>12/06/2023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DB240-7855-4EAF-B644-3C9578F3330C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8002" y="5256213"/>
            <a:ext cx="1875995" cy="692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43328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989320" y="365125"/>
            <a:ext cx="9708693" cy="1325563"/>
          </a:xfrm>
          <a:solidFill>
            <a:srgbClr val="0070C0"/>
          </a:solidFill>
        </p:spPr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Marcador de contenido 2"/>
          <p:cNvSpPr>
            <a:spLocks noGrp="1"/>
          </p:cNvSpPr>
          <p:nvPr>
            <p:ph idx="1" hasCustomPrompt="1"/>
          </p:nvPr>
        </p:nvSpPr>
        <p:spPr>
          <a:xfrm>
            <a:off x="177773" y="1825625"/>
            <a:ext cx="11520240" cy="4351338"/>
          </a:xfrm>
        </p:spPr>
        <p:txBody>
          <a:bodyPr/>
          <a:lstStyle/>
          <a:p>
            <a:pPr lvl="0"/>
            <a:r>
              <a:rPr lang="en-GB" noProof="0"/>
              <a:t>Editar el estilo de texto del patrón</a:t>
            </a:r>
          </a:p>
          <a:p>
            <a:pPr lvl="1"/>
            <a:r>
              <a:rPr lang="en-GB" noProof="0"/>
              <a:t>Segundo nivel</a:t>
            </a:r>
          </a:p>
          <a:p>
            <a:pPr lvl="2"/>
            <a:r>
              <a:rPr lang="en-GB" noProof="0"/>
              <a:t>Tercer nivel</a:t>
            </a:r>
          </a:p>
          <a:p>
            <a:pPr lvl="3"/>
            <a:r>
              <a:rPr lang="en-GB" noProof="0"/>
              <a:t>Cuarto nivel</a:t>
            </a:r>
          </a:p>
          <a:p>
            <a:pPr lvl="4"/>
            <a:r>
              <a:rPr lang="en-GB" noProof="0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B02C5-E25B-48BB-92C0-EE4609F1B3FD}" type="datetime1">
              <a:rPr lang="en-US" smtClean="0"/>
              <a:t>12/06/2023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DB240-7855-4EAF-B644-3C9578F3330C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upo 6"/>
          <p:cNvGrpSpPr/>
          <p:nvPr/>
        </p:nvGrpSpPr>
        <p:grpSpPr>
          <a:xfrm>
            <a:off x="325154" y="596452"/>
            <a:ext cx="1372935" cy="743838"/>
            <a:chOff x="516056" y="672049"/>
            <a:chExt cx="1372935" cy="74383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8" name="Grupo 7"/>
            <p:cNvGrpSpPr/>
            <p:nvPr userDrawn="1"/>
          </p:nvGrpSpPr>
          <p:grpSpPr>
            <a:xfrm rot="18957735">
              <a:off x="516056" y="672049"/>
              <a:ext cx="723123" cy="716477"/>
              <a:chOff x="317938" y="3126070"/>
              <a:chExt cx="723123" cy="716477"/>
            </a:xfrm>
          </p:grpSpPr>
          <p:sp>
            <p:nvSpPr>
              <p:cNvPr id="12" name="Rectángulo 11"/>
              <p:cNvSpPr/>
              <p:nvPr userDrawn="1"/>
            </p:nvSpPr>
            <p:spPr>
              <a:xfrm>
                <a:off x="317938" y="3126070"/>
                <a:ext cx="723123" cy="712166"/>
              </a:xfrm>
              <a:prstGeom prst="rect">
                <a:avLst/>
              </a:prstGeom>
              <a:solidFill>
                <a:srgbClr val="00AAE6"/>
              </a:solidFill>
              <a:ln>
                <a:solidFill>
                  <a:srgbClr val="00B0F0"/>
                </a:solidFill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noProof="0" dirty="0"/>
              </a:p>
            </p:txBody>
          </p:sp>
          <p:sp>
            <p:nvSpPr>
              <p:cNvPr id="13" name="Flecha derecha 12"/>
              <p:cNvSpPr/>
              <p:nvPr userDrawn="1"/>
            </p:nvSpPr>
            <p:spPr>
              <a:xfrm rot="16200000">
                <a:off x="470292" y="3474638"/>
                <a:ext cx="422828" cy="312989"/>
              </a:xfrm>
              <a:prstGeom prst="rightArrow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noProof="0" dirty="0"/>
              </a:p>
            </p:txBody>
          </p:sp>
        </p:grpSp>
        <p:grpSp>
          <p:nvGrpSpPr>
            <p:cNvPr id="9" name="Grupo 8"/>
            <p:cNvGrpSpPr/>
            <p:nvPr userDrawn="1"/>
          </p:nvGrpSpPr>
          <p:grpSpPr>
            <a:xfrm rot="8183442">
              <a:off x="1165868" y="699410"/>
              <a:ext cx="723123" cy="716477"/>
              <a:chOff x="317938" y="3126070"/>
              <a:chExt cx="723123" cy="716477"/>
            </a:xfrm>
          </p:grpSpPr>
          <p:sp>
            <p:nvSpPr>
              <p:cNvPr id="10" name="Rectángulo 9"/>
              <p:cNvSpPr/>
              <p:nvPr userDrawn="1"/>
            </p:nvSpPr>
            <p:spPr>
              <a:xfrm>
                <a:off x="317938" y="3126070"/>
                <a:ext cx="723123" cy="712166"/>
              </a:xfrm>
              <a:prstGeom prst="rect">
                <a:avLst/>
              </a:prstGeom>
              <a:solidFill>
                <a:srgbClr val="00AAE6"/>
              </a:solidFill>
              <a:ln>
                <a:solidFill>
                  <a:srgbClr val="00B0F0"/>
                </a:solidFill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noProof="0" dirty="0"/>
              </a:p>
            </p:txBody>
          </p:sp>
          <p:sp>
            <p:nvSpPr>
              <p:cNvPr id="11" name="Flecha derecha 10"/>
              <p:cNvSpPr/>
              <p:nvPr userDrawn="1"/>
            </p:nvSpPr>
            <p:spPr>
              <a:xfrm rot="16200000">
                <a:off x="470292" y="3474638"/>
                <a:ext cx="422828" cy="312989"/>
              </a:xfrm>
              <a:prstGeom prst="rightArrow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noProof="0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1999290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1679848"/>
          </a:xfrm>
          <a:solidFill>
            <a:srgbClr val="0070C0"/>
          </a:solidFill>
        </p:spPr>
        <p:txBody>
          <a:bodyPr anchor="b"/>
          <a:lstStyle>
            <a:lvl1pPr>
              <a:defRPr sz="6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Marcador de texto 2"/>
          <p:cNvSpPr>
            <a:spLocks noGrp="1"/>
          </p:cNvSpPr>
          <p:nvPr>
            <p:ph type="body" idx="1" hasCustomPrompt="1"/>
          </p:nvPr>
        </p:nvSpPr>
        <p:spPr>
          <a:xfrm>
            <a:off x="831850" y="3657222"/>
            <a:ext cx="10515600" cy="993229"/>
          </a:xfr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bg2">
                    <a:lumMod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noProof="0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7925E-D93D-4D9D-89E8-8B578576EE7B}" type="datetime1">
              <a:rPr lang="en-US" smtClean="0"/>
              <a:t>12/06/2023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DB240-7855-4EAF-B644-3C9578F3330C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upo 6"/>
          <p:cNvGrpSpPr/>
          <p:nvPr/>
        </p:nvGrpSpPr>
        <p:grpSpPr>
          <a:xfrm>
            <a:off x="5403182" y="5328746"/>
            <a:ext cx="1372935" cy="743838"/>
            <a:chOff x="516056" y="672049"/>
            <a:chExt cx="1372935" cy="74383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8" name="Grupo 7"/>
            <p:cNvGrpSpPr/>
            <p:nvPr userDrawn="1"/>
          </p:nvGrpSpPr>
          <p:grpSpPr>
            <a:xfrm rot="18957735">
              <a:off x="516056" y="672049"/>
              <a:ext cx="723123" cy="716477"/>
              <a:chOff x="317938" y="3126070"/>
              <a:chExt cx="723123" cy="716477"/>
            </a:xfrm>
          </p:grpSpPr>
          <p:sp>
            <p:nvSpPr>
              <p:cNvPr id="12" name="Rectángulo 11"/>
              <p:cNvSpPr/>
              <p:nvPr userDrawn="1"/>
            </p:nvSpPr>
            <p:spPr>
              <a:xfrm>
                <a:off x="317938" y="3126070"/>
                <a:ext cx="723123" cy="712166"/>
              </a:xfrm>
              <a:prstGeom prst="rect">
                <a:avLst/>
              </a:prstGeom>
              <a:solidFill>
                <a:srgbClr val="00AAE6"/>
              </a:solidFill>
              <a:ln>
                <a:solidFill>
                  <a:srgbClr val="00B0F0"/>
                </a:solidFill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noProof="0" dirty="0"/>
              </a:p>
            </p:txBody>
          </p:sp>
          <p:sp>
            <p:nvSpPr>
              <p:cNvPr id="13" name="Flecha derecha 12"/>
              <p:cNvSpPr/>
              <p:nvPr userDrawn="1"/>
            </p:nvSpPr>
            <p:spPr>
              <a:xfrm rot="16200000">
                <a:off x="470292" y="3474638"/>
                <a:ext cx="422828" cy="312989"/>
              </a:xfrm>
              <a:prstGeom prst="rightArrow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noProof="0" dirty="0"/>
              </a:p>
            </p:txBody>
          </p:sp>
        </p:grpSp>
        <p:grpSp>
          <p:nvGrpSpPr>
            <p:cNvPr id="9" name="Grupo 8"/>
            <p:cNvGrpSpPr/>
            <p:nvPr userDrawn="1"/>
          </p:nvGrpSpPr>
          <p:grpSpPr>
            <a:xfrm rot="8183442">
              <a:off x="1165868" y="699410"/>
              <a:ext cx="723123" cy="716477"/>
              <a:chOff x="317938" y="3126070"/>
              <a:chExt cx="723123" cy="716477"/>
            </a:xfrm>
          </p:grpSpPr>
          <p:sp>
            <p:nvSpPr>
              <p:cNvPr id="10" name="Rectángulo 9"/>
              <p:cNvSpPr/>
              <p:nvPr userDrawn="1"/>
            </p:nvSpPr>
            <p:spPr>
              <a:xfrm>
                <a:off x="317938" y="3126070"/>
                <a:ext cx="723123" cy="712166"/>
              </a:xfrm>
              <a:prstGeom prst="rect">
                <a:avLst/>
              </a:prstGeom>
              <a:solidFill>
                <a:srgbClr val="00AAE6"/>
              </a:solidFill>
              <a:ln>
                <a:solidFill>
                  <a:srgbClr val="00B0F0"/>
                </a:solidFill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noProof="0" dirty="0"/>
              </a:p>
            </p:txBody>
          </p:sp>
          <p:sp>
            <p:nvSpPr>
              <p:cNvPr id="11" name="Flecha derecha 10"/>
              <p:cNvSpPr/>
              <p:nvPr userDrawn="1"/>
            </p:nvSpPr>
            <p:spPr>
              <a:xfrm rot="16200000">
                <a:off x="470292" y="3474638"/>
                <a:ext cx="422828" cy="312989"/>
              </a:xfrm>
              <a:prstGeom prst="rightArrow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noProof="0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6618670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815899" y="365126"/>
            <a:ext cx="9537901" cy="1193868"/>
          </a:xfrm>
          <a:solidFill>
            <a:srgbClr val="0070C0"/>
          </a:solidFill>
        </p:spPr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 noProof="0"/>
              <a:t>Editar el estilo de texto del patrón</a:t>
            </a:r>
          </a:p>
          <a:p>
            <a:pPr lvl="1"/>
            <a:r>
              <a:rPr lang="en-GB" noProof="0"/>
              <a:t>Segundo nivel</a:t>
            </a:r>
          </a:p>
          <a:p>
            <a:pPr lvl="2"/>
            <a:r>
              <a:rPr lang="en-GB" noProof="0"/>
              <a:t>Tercer nivel</a:t>
            </a:r>
          </a:p>
          <a:p>
            <a:pPr lvl="3"/>
            <a:r>
              <a:rPr lang="en-GB" noProof="0"/>
              <a:t>Cuarto nivel</a:t>
            </a:r>
          </a:p>
          <a:p>
            <a:pPr lvl="4"/>
            <a:r>
              <a:rPr lang="en-GB" noProof="0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 noProof="0"/>
              <a:t>Editar el estilo de texto del patrón</a:t>
            </a:r>
          </a:p>
          <a:p>
            <a:pPr lvl="1"/>
            <a:r>
              <a:rPr lang="en-GB" noProof="0"/>
              <a:t>Segundo nivel</a:t>
            </a:r>
          </a:p>
          <a:p>
            <a:pPr lvl="2"/>
            <a:r>
              <a:rPr lang="en-GB" noProof="0"/>
              <a:t>Tercer nivel</a:t>
            </a:r>
          </a:p>
          <a:p>
            <a:pPr lvl="3"/>
            <a:r>
              <a:rPr lang="en-GB" noProof="0"/>
              <a:t>Cuarto nivel</a:t>
            </a:r>
          </a:p>
          <a:p>
            <a:pPr lvl="4"/>
            <a:r>
              <a:rPr lang="en-GB" noProof="0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01067-5079-40EF-A4A0-5588E5EEC94C}" type="datetime1">
              <a:rPr lang="en-US" smtClean="0"/>
              <a:t>12/06/2023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DB240-7855-4EAF-B644-3C9578F3330C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upo 7"/>
          <p:cNvGrpSpPr/>
          <p:nvPr/>
        </p:nvGrpSpPr>
        <p:grpSpPr>
          <a:xfrm>
            <a:off x="151732" y="590141"/>
            <a:ext cx="1372935" cy="743838"/>
            <a:chOff x="516056" y="672049"/>
            <a:chExt cx="1372935" cy="74383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9" name="Grupo 8"/>
            <p:cNvGrpSpPr/>
            <p:nvPr userDrawn="1"/>
          </p:nvGrpSpPr>
          <p:grpSpPr>
            <a:xfrm rot="18957735">
              <a:off x="516056" y="672049"/>
              <a:ext cx="723123" cy="716477"/>
              <a:chOff x="317938" y="3126070"/>
              <a:chExt cx="723123" cy="716477"/>
            </a:xfrm>
          </p:grpSpPr>
          <p:sp>
            <p:nvSpPr>
              <p:cNvPr id="13" name="Rectángulo 12"/>
              <p:cNvSpPr/>
              <p:nvPr userDrawn="1"/>
            </p:nvSpPr>
            <p:spPr>
              <a:xfrm>
                <a:off x="317938" y="3126070"/>
                <a:ext cx="723123" cy="712166"/>
              </a:xfrm>
              <a:prstGeom prst="rect">
                <a:avLst/>
              </a:prstGeom>
              <a:solidFill>
                <a:srgbClr val="00AAE6"/>
              </a:solidFill>
              <a:ln>
                <a:solidFill>
                  <a:srgbClr val="00B0F0"/>
                </a:solidFill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noProof="0" dirty="0"/>
              </a:p>
            </p:txBody>
          </p:sp>
          <p:sp>
            <p:nvSpPr>
              <p:cNvPr id="14" name="Flecha derecha 13"/>
              <p:cNvSpPr/>
              <p:nvPr userDrawn="1"/>
            </p:nvSpPr>
            <p:spPr>
              <a:xfrm rot="16200000">
                <a:off x="470292" y="3474638"/>
                <a:ext cx="422828" cy="312989"/>
              </a:xfrm>
              <a:prstGeom prst="rightArrow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noProof="0" dirty="0"/>
              </a:p>
            </p:txBody>
          </p:sp>
        </p:grpSp>
        <p:grpSp>
          <p:nvGrpSpPr>
            <p:cNvPr id="10" name="Grupo 9"/>
            <p:cNvGrpSpPr/>
            <p:nvPr userDrawn="1"/>
          </p:nvGrpSpPr>
          <p:grpSpPr>
            <a:xfrm rot="8183442">
              <a:off x="1165868" y="699410"/>
              <a:ext cx="723123" cy="716477"/>
              <a:chOff x="317938" y="3126070"/>
              <a:chExt cx="723123" cy="716477"/>
            </a:xfrm>
          </p:grpSpPr>
          <p:sp>
            <p:nvSpPr>
              <p:cNvPr id="11" name="Rectángulo 10"/>
              <p:cNvSpPr/>
              <p:nvPr userDrawn="1"/>
            </p:nvSpPr>
            <p:spPr>
              <a:xfrm>
                <a:off x="317938" y="3126070"/>
                <a:ext cx="723123" cy="712166"/>
              </a:xfrm>
              <a:prstGeom prst="rect">
                <a:avLst/>
              </a:prstGeom>
              <a:solidFill>
                <a:srgbClr val="00AAE6"/>
              </a:solidFill>
              <a:ln>
                <a:solidFill>
                  <a:srgbClr val="00B0F0"/>
                </a:solidFill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noProof="0" dirty="0"/>
              </a:p>
            </p:txBody>
          </p:sp>
          <p:sp>
            <p:nvSpPr>
              <p:cNvPr id="12" name="Flecha derecha 11"/>
              <p:cNvSpPr/>
              <p:nvPr userDrawn="1"/>
            </p:nvSpPr>
            <p:spPr>
              <a:xfrm rot="16200000">
                <a:off x="470292" y="3474638"/>
                <a:ext cx="422828" cy="312989"/>
              </a:xfrm>
              <a:prstGeom prst="rightArrow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noProof="0" dirty="0"/>
              </a:p>
            </p:txBody>
          </p:sp>
        </p:grpSp>
      </p:grpSp>
      <p:sp>
        <p:nvSpPr>
          <p:cNvPr id="15" name="Rectángulo 14"/>
          <p:cNvSpPr/>
          <p:nvPr/>
        </p:nvSpPr>
        <p:spPr>
          <a:xfrm>
            <a:off x="0" y="6721475"/>
            <a:ext cx="12192000" cy="136525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42899567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989320" y="188913"/>
            <a:ext cx="9383683" cy="1325563"/>
          </a:xfrm>
          <a:solidFill>
            <a:srgbClr val="0070C0"/>
          </a:solidFill>
        </p:spPr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Marcador de texto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noProof="0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 noProof="0"/>
              <a:t>Editar el estilo de texto del patrón</a:t>
            </a:r>
          </a:p>
          <a:p>
            <a:pPr lvl="1"/>
            <a:r>
              <a:rPr lang="en-GB" noProof="0"/>
              <a:t>Segundo nivel</a:t>
            </a:r>
          </a:p>
          <a:p>
            <a:pPr lvl="2"/>
            <a:r>
              <a:rPr lang="en-GB" noProof="0"/>
              <a:t>Tercer nivel</a:t>
            </a:r>
          </a:p>
          <a:p>
            <a:pPr lvl="3"/>
            <a:r>
              <a:rPr lang="en-GB" noProof="0"/>
              <a:t>Cuarto nivel</a:t>
            </a:r>
          </a:p>
          <a:p>
            <a:pPr lvl="4"/>
            <a:r>
              <a:rPr lang="en-GB" noProof="0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noProof="0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 noProof="0"/>
              <a:t>Editar el estilo de texto del patrón</a:t>
            </a:r>
          </a:p>
          <a:p>
            <a:pPr lvl="1"/>
            <a:r>
              <a:rPr lang="en-GB" noProof="0"/>
              <a:t>Segundo nivel</a:t>
            </a:r>
          </a:p>
          <a:p>
            <a:pPr lvl="2"/>
            <a:r>
              <a:rPr lang="en-GB" noProof="0"/>
              <a:t>Tercer nivel</a:t>
            </a:r>
          </a:p>
          <a:p>
            <a:pPr lvl="3"/>
            <a:r>
              <a:rPr lang="en-GB" noProof="0"/>
              <a:t>Cuarto nivel</a:t>
            </a:r>
          </a:p>
          <a:p>
            <a:pPr lvl="4"/>
            <a:r>
              <a:rPr lang="en-GB" noProof="0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EAD8C-1D45-4A39-AE8B-FF620F55BF58}" type="datetime1">
              <a:rPr lang="en-US" smtClean="0"/>
              <a:t>12/06/2023</a:t>
            </a:fld>
            <a:endParaRPr lang="en-U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DB240-7855-4EAF-B644-3C9578F3330C}" type="slidenum">
              <a:rPr lang="en-US" smtClean="0"/>
              <a:t>‹#›</a:t>
            </a:fld>
            <a:endParaRPr lang="en-US"/>
          </a:p>
        </p:txBody>
      </p:sp>
      <p:grpSp>
        <p:nvGrpSpPr>
          <p:cNvPr id="10" name="Grupo 9"/>
          <p:cNvGrpSpPr/>
          <p:nvPr/>
        </p:nvGrpSpPr>
        <p:grpSpPr>
          <a:xfrm>
            <a:off x="325153" y="479775"/>
            <a:ext cx="1372935" cy="743838"/>
            <a:chOff x="516056" y="672049"/>
            <a:chExt cx="1372935" cy="74383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11" name="Grupo 10"/>
            <p:cNvGrpSpPr/>
            <p:nvPr userDrawn="1"/>
          </p:nvGrpSpPr>
          <p:grpSpPr>
            <a:xfrm rot="18957735">
              <a:off x="516056" y="672049"/>
              <a:ext cx="723123" cy="716477"/>
              <a:chOff x="317938" y="3126070"/>
              <a:chExt cx="723123" cy="716477"/>
            </a:xfrm>
          </p:grpSpPr>
          <p:sp>
            <p:nvSpPr>
              <p:cNvPr id="15" name="Rectángulo 14"/>
              <p:cNvSpPr/>
              <p:nvPr userDrawn="1"/>
            </p:nvSpPr>
            <p:spPr>
              <a:xfrm>
                <a:off x="317938" y="3126070"/>
                <a:ext cx="723123" cy="712166"/>
              </a:xfrm>
              <a:prstGeom prst="rect">
                <a:avLst/>
              </a:prstGeom>
              <a:solidFill>
                <a:srgbClr val="00AAE6"/>
              </a:solidFill>
              <a:ln>
                <a:solidFill>
                  <a:srgbClr val="00B0F0"/>
                </a:solidFill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noProof="0" dirty="0"/>
              </a:p>
            </p:txBody>
          </p:sp>
          <p:sp>
            <p:nvSpPr>
              <p:cNvPr id="16" name="Flecha derecha 15"/>
              <p:cNvSpPr/>
              <p:nvPr userDrawn="1"/>
            </p:nvSpPr>
            <p:spPr>
              <a:xfrm rot="16200000">
                <a:off x="470292" y="3474638"/>
                <a:ext cx="422828" cy="312989"/>
              </a:xfrm>
              <a:prstGeom prst="rightArrow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noProof="0" dirty="0"/>
              </a:p>
            </p:txBody>
          </p:sp>
        </p:grpSp>
        <p:grpSp>
          <p:nvGrpSpPr>
            <p:cNvPr id="12" name="Grupo 11"/>
            <p:cNvGrpSpPr/>
            <p:nvPr userDrawn="1"/>
          </p:nvGrpSpPr>
          <p:grpSpPr>
            <a:xfrm rot="8183442">
              <a:off x="1165868" y="699410"/>
              <a:ext cx="723123" cy="716477"/>
              <a:chOff x="317938" y="3126070"/>
              <a:chExt cx="723123" cy="716477"/>
            </a:xfrm>
          </p:grpSpPr>
          <p:sp>
            <p:nvSpPr>
              <p:cNvPr id="13" name="Rectángulo 12"/>
              <p:cNvSpPr/>
              <p:nvPr userDrawn="1"/>
            </p:nvSpPr>
            <p:spPr>
              <a:xfrm>
                <a:off x="317938" y="3126070"/>
                <a:ext cx="723123" cy="712166"/>
              </a:xfrm>
              <a:prstGeom prst="rect">
                <a:avLst/>
              </a:prstGeom>
              <a:solidFill>
                <a:srgbClr val="00AAE6"/>
              </a:solidFill>
              <a:ln>
                <a:solidFill>
                  <a:srgbClr val="00B0F0"/>
                </a:solidFill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noProof="0" dirty="0"/>
              </a:p>
            </p:txBody>
          </p:sp>
          <p:sp>
            <p:nvSpPr>
              <p:cNvPr id="14" name="Flecha derecha 13"/>
              <p:cNvSpPr/>
              <p:nvPr userDrawn="1"/>
            </p:nvSpPr>
            <p:spPr>
              <a:xfrm rot="16200000">
                <a:off x="470292" y="3474638"/>
                <a:ext cx="422828" cy="312989"/>
              </a:xfrm>
              <a:prstGeom prst="rightArrow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noProof="0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7890338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solidFill>
            <a:srgbClr val="0070C0"/>
          </a:solidFill>
        </p:spPr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39FD8-1BA9-47F6-8172-B63060D5F7FE}" type="datetime1">
              <a:rPr lang="en-US" smtClean="0"/>
              <a:t>12/06/2023</a:t>
            </a:fld>
            <a:endParaRPr lang="en-U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DB240-7855-4EAF-B644-3C9578F3330C}" type="slidenum">
              <a:rPr lang="en-US" smtClean="0"/>
              <a:t>‹#›</a:t>
            </a:fld>
            <a:endParaRPr lang="en-US"/>
          </a:p>
        </p:txBody>
      </p:sp>
      <p:pic>
        <p:nvPicPr>
          <p:cNvPr id="13" name="Imagen 1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3188" y="6280369"/>
            <a:ext cx="1302854" cy="478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68206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DBA5C-F3BA-4484-BE1D-068890014476}" type="datetime1">
              <a:rPr lang="en-US" smtClean="0"/>
              <a:t>12/06/2023</a:t>
            </a:fld>
            <a:endParaRPr lang="en-U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DB240-7855-4EAF-B644-3C9578F333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9542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141890"/>
            <a:ext cx="3932237" cy="1915510"/>
          </a:xfrm>
          <a:solidFill>
            <a:srgbClr val="0070C0"/>
          </a:solidFill>
        </p:spPr>
        <p:txBody>
          <a:bodyPr anchor="b"/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Marcador de contenido 2"/>
          <p:cNvSpPr>
            <a:spLocks noGrp="1"/>
          </p:cNvSpPr>
          <p:nvPr>
            <p:ph idx="1" hasCustomPrompt="1"/>
          </p:nvPr>
        </p:nvSpPr>
        <p:spPr>
          <a:xfrm>
            <a:off x="4918841" y="141891"/>
            <a:ext cx="6436547" cy="5719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 noProof="0"/>
              <a:t>Editar el estilo de texto del patrón</a:t>
            </a:r>
          </a:p>
          <a:p>
            <a:pPr lvl="1"/>
            <a:r>
              <a:rPr lang="en-GB" noProof="0"/>
              <a:t>Segundo nivel</a:t>
            </a:r>
          </a:p>
          <a:p>
            <a:pPr lvl="2"/>
            <a:r>
              <a:rPr lang="en-GB" noProof="0"/>
              <a:t>Tercer nivel</a:t>
            </a:r>
          </a:p>
          <a:p>
            <a:pPr lvl="3"/>
            <a:r>
              <a:rPr lang="en-GB" noProof="0"/>
              <a:t>Cuarto nivel</a:t>
            </a:r>
          </a:p>
          <a:p>
            <a:pPr lvl="4"/>
            <a:r>
              <a:rPr lang="en-GB" noProof="0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207172"/>
            <a:ext cx="3932237" cy="3661816"/>
          </a:xfrm>
          <a:solidFill>
            <a:schemeClr val="tx2">
              <a:lumMod val="75000"/>
            </a:schemeClr>
          </a:solidFill>
        </p:spPr>
        <p:txBody>
          <a:bodyPr anchor="ctr"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 noProof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CFBDC-67A8-4A51-B7CA-240AB07ED982}" type="datetime1">
              <a:rPr lang="en-US" smtClean="0"/>
              <a:t>12/06/2023</a:t>
            </a:fld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DB240-7855-4EAF-B644-3C9578F3330C}" type="slidenum">
              <a:rPr lang="en-US" smtClean="0"/>
              <a:t>‹#›</a:t>
            </a:fld>
            <a:endParaRPr lang="en-US"/>
          </a:p>
        </p:txBody>
      </p:sp>
      <p:pic>
        <p:nvPicPr>
          <p:cNvPr id="15" name="Imagen 1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3188" y="6280369"/>
            <a:ext cx="1302854" cy="478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97304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110359"/>
            <a:ext cx="3932237" cy="1947041"/>
          </a:xfrm>
          <a:solidFill>
            <a:srgbClr val="0070C0"/>
          </a:solidFill>
        </p:spPr>
        <p:txBody>
          <a:bodyPr anchor="b"/>
          <a:lstStyle>
            <a:lvl1pPr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4934607" y="110359"/>
            <a:ext cx="7078717" cy="575862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207172"/>
            <a:ext cx="3932237" cy="3661816"/>
          </a:xfrm>
          <a:solidFill>
            <a:schemeClr val="tx2">
              <a:lumMod val="75000"/>
            </a:schemeClr>
          </a:solidFill>
        </p:spPr>
        <p:txBody>
          <a:bodyPr anchor="ctr"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 noProof="0" dirty="0" err="1"/>
              <a:t>Editar</a:t>
            </a:r>
            <a:r>
              <a:rPr lang="en-GB" noProof="0" dirty="0"/>
              <a:t> el </a:t>
            </a:r>
            <a:r>
              <a:rPr lang="en-GB" noProof="0" dirty="0" err="1"/>
              <a:t>estilo</a:t>
            </a:r>
            <a:r>
              <a:rPr lang="en-GB" noProof="0" dirty="0"/>
              <a:t> de </a:t>
            </a:r>
            <a:r>
              <a:rPr lang="en-GB" noProof="0" dirty="0" err="1"/>
              <a:t>texto</a:t>
            </a:r>
            <a:r>
              <a:rPr lang="en-GB" noProof="0" dirty="0"/>
              <a:t> del </a:t>
            </a:r>
            <a:r>
              <a:rPr lang="en-GB" noProof="0" dirty="0" err="1"/>
              <a:t>patrón</a:t>
            </a:r>
            <a:endParaRPr lang="en-GB" noProof="0" dirty="0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8AE95-969A-4BA3-BE1B-444B38DCF96B}" type="datetime1">
              <a:rPr lang="en-US" smtClean="0"/>
              <a:t>12/06/2023</a:t>
            </a:fld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DB240-7855-4EAF-B644-3C9578F3330C}" type="slidenum">
              <a:rPr lang="en-US" smtClean="0"/>
              <a:t>‹#›</a:t>
            </a:fld>
            <a:endParaRPr lang="en-US"/>
          </a:p>
        </p:txBody>
      </p:sp>
      <p:pic>
        <p:nvPicPr>
          <p:cNvPr id="16" name="Imagen 1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3188" y="6280369"/>
            <a:ext cx="1302854" cy="478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00744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solidFill>
            <a:srgbClr val="0070C0"/>
          </a:solidFill>
        </p:spPr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en-GB" noProof="0"/>
              <a:t>Editar el estilo de texto del patrón</a:t>
            </a:r>
          </a:p>
          <a:p>
            <a:pPr lvl="1"/>
            <a:r>
              <a:rPr lang="en-GB" noProof="0"/>
              <a:t>Segundo nivel</a:t>
            </a:r>
          </a:p>
          <a:p>
            <a:pPr lvl="2"/>
            <a:r>
              <a:rPr lang="en-GB" noProof="0"/>
              <a:t>Tercer nivel</a:t>
            </a:r>
          </a:p>
          <a:p>
            <a:pPr lvl="3"/>
            <a:r>
              <a:rPr lang="en-GB" noProof="0"/>
              <a:t>Cuarto nivel</a:t>
            </a:r>
          </a:p>
          <a:p>
            <a:pPr lvl="4"/>
            <a:r>
              <a:rPr lang="en-GB" noProof="0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6CE0F-3173-470E-A7B4-26520D653560}" type="datetime1">
              <a:rPr lang="en-US" smtClean="0"/>
              <a:t>12/06/2023</a:t>
            </a:fld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DB240-7855-4EAF-B644-3C9578F3330C}" type="slidenum">
              <a:rPr lang="en-US" smtClean="0"/>
              <a:t>‹#›</a:t>
            </a:fld>
            <a:endParaRPr lang="en-US"/>
          </a:p>
        </p:txBody>
      </p:sp>
      <p:pic>
        <p:nvPicPr>
          <p:cNvPr id="15" name="Imagen 1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3188" y="6280369"/>
            <a:ext cx="1302854" cy="478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91229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solidFill>
            <a:srgbClr val="0070C0"/>
          </a:solidFill>
        </p:spPr>
        <p:txBody>
          <a:bodyPr vert="eaVert"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 noProof="0" dirty="0" err="1"/>
              <a:t>Editar</a:t>
            </a:r>
            <a:r>
              <a:rPr lang="en-GB" noProof="0" dirty="0"/>
              <a:t> el </a:t>
            </a:r>
            <a:r>
              <a:rPr lang="en-GB" noProof="0" dirty="0" err="1"/>
              <a:t>estilo</a:t>
            </a:r>
            <a:r>
              <a:rPr lang="en-GB" noProof="0" dirty="0"/>
              <a:t> de </a:t>
            </a:r>
            <a:r>
              <a:rPr lang="en-GB" noProof="0" dirty="0" err="1"/>
              <a:t>texto</a:t>
            </a:r>
            <a:r>
              <a:rPr lang="en-GB" noProof="0" dirty="0"/>
              <a:t> del </a:t>
            </a:r>
            <a:r>
              <a:rPr lang="en-GB" noProof="0" dirty="0" err="1"/>
              <a:t>patrón</a:t>
            </a:r>
            <a:endParaRPr lang="en-GB" noProof="0" dirty="0"/>
          </a:p>
          <a:p>
            <a:pPr lvl="1"/>
            <a:r>
              <a:rPr lang="en-GB" noProof="0" dirty="0"/>
              <a:t>Segundo </a:t>
            </a:r>
            <a:r>
              <a:rPr lang="en-GB" noProof="0" dirty="0" err="1"/>
              <a:t>nivel</a:t>
            </a:r>
            <a:endParaRPr lang="en-GB" noProof="0" dirty="0"/>
          </a:p>
          <a:p>
            <a:pPr lvl="2"/>
            <a:r>
              <a:rPr lang="en-GB" noProof="0" dirty="0"/>
              <a:t>Tercer </a:t>
            </a:r>
            <a:r>
              <a:rPr lang="en-GB" noProof="0" dirty="0" err="1"/>
              <a:t>nivel</a:t>
            </a:r>
            <a:endParaRPr lang="en-GB" noProof="0" dirty="0"/>
          </a:p>
          <a:p>
            <a:pPr lvl="3"/>
            <a:r>
              <a:rPr lang="en-GB" noProof="0" dirty="0"/>
              <a:t>Cuarto </a:t>
            </a:r>
            <a:r>
              <a:rPr lang="en-GB" noProof="0" dirty="0" err="1"/>
              <a:t>nivel</a:t>
            </a:r>
            <a:endParaRPr lang="en-GB" noProof="0" dirty="0"/>
          </a:p>
          <a:p>
            <a:pPr lvl="4"/>
            <a:r>
              <a:rPr lang="en-GB" noProof="0" dirty="0"/>
              <a:t>Quinto </a:t>
            </a:r>
            <a:r>
              <a:rPr lang="en-GB" noProof="0" dirty="0" err="1"/>
              <a:t>nivel</a:t>
            </a:r>
            <a:endParaRPr lang="en-GB" noProof="0" dirty="0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2C6F3-AAE4-4B0C-B7CF-A716181AF3C9}" type="datetime1">
              <a:rPr lang="en-US" smtClean="0"/>
              <a:t>12/06/2023</a:t>
            </a:fld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DB240-7855-4EAF-B644-3C9578F3330C}" type="slidenum">
              <a:rPr lang="en-US" smtClean="0"/>
              <a:t>‹#›</a:t>
            </a:fld>
            <a:endParaRPr lang="en-US"/>
          </a:p>
        </p:txBody>
      </p:sp>
      <p:pic>
        <p:nvPicPr>
          <p:cNvPr id="15" name="Imagen 1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3188" y="6280369"/>
            <a:ext cx="1302854" cy="478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90374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noProof="0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noProof="0"/>
              <a:t>Editar el estilo de texto del patrón</a:t>
            </a:r>
          </a:p>
          <a:p>
            <a:pPr lvl="1"/>
            <a:r>
              <a:rPr lang="en-GB" noProof="0"/>
              <a:t>Segundo nivel</a:t>
            </a:r>
          </a:p>
          <a:p>
            <a:pPr lvl="2"/>
            <a:r>
              <a:rPr lang="en-GB" noProof="0"/>
              <a:t>Tercer nivel</a:t>
            </a:r>
          </a:p>
          <a:p>
            <a:pPr lvl="3"/>
            <a:r>
              <a:rPr lang="en-GB" noProof="0"/>
              <a:t>Cuarto nivel</a:t>
            </a:r>
          </a:p>
          <a:p>
            <a:pPr lvl="4"/>
            <a:r>
              <a:rPr lang="en-GB" noProof="0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5549BB-C182-4F87-ADB6-EF026FCD5792}" type="datetime1">
              <a:rPr lang="en-US" smtClean="0"/>
              <a:t>12/06/2023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FDB240-7855-4EAF-B644-3C9578F333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4985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5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erpetua" panose="02020502060401020303" pitchFamily="18" charset="0"/>
          <a:ea typeface="Yu Gothic Light" panose="020B0300000000000000" pitchFamily="34" charset="-128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002060"/>
          </a:solidFill>
          <a:latin typeface="Perpetua" panose="02020502060401020303" pitchFamily="18" charset="0"/>
          <a:ea typeface="Yu Gothic Light" panose="020B0300000000000000" pitchFamily="34" charset="-128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2">
              <a:lumMod val="75000"/>
            </a:schemeClr>
          </a:solidFill>
          <a:latin typeface="Perpetua" panose="02020502060401020303" pitchFamily="18" charset="0"/>
          <a:ea typeface="Yu Gothic Light" panose="020B0300000000000000" pitchFamily="34" charset="-128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erpetua" panose="02020502060401020303" pitchFamily="18" charset="0"/>
          <a:ea typeface="Yu Gothic Light" panose="020B0300000000000000" pitchFamily="34" charset="-128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erpetua" panose="02020502060401020303" pitchFamily="18" charset="0"/>
          <a:ea typeface="Yu Gothic Light" panose="020B0300000000000000" pitchFamily="34" charset="-128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4.png"/><Relationship Id="rId7" Type="http://schemas.openxmlformats.org/officeDocument/2006/relationships/hyperlink" Target="https://stathub.nso.go.th/" TargetMode="Externa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6" Type="http://schemas.openxmlformats.org/officeDocument/2006/relationships/hyperlink" Target="https://sistanhub.istat.it/" TargetMode="External"/><Relationship Id="rId5" Type="http://schemas.openxmlformats.org/officeDocument/2006/relationships/image" Target="../media/image5.png"/><Relationship Id="rId4" Type="http://schemas.openxmlformats.org/officeDocument/2006/relationships/hyperlink" Target="https://camstat.nis.gov.kh/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sdmx2023.org/" TargetMode="Externa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9DF3E-1E9F-E647-6FB6-ECE2BA1314D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Statistical Data and Metadata </a:t>
            </a:r>
            <a:r>
              <a:rPr lang="en-US" dirty="0" err="1"/>
              <a:t>eXchange</a:t>
            </a:r>
            <a:r>
              <a:rPr lang="en-US" dirty="0"/>
              <a:t> (SDMX)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11B552-793D-5D4C-E1BE-0F3A3E66ED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356461"/>
          </a:xfrm>
        </p:spPr>
        <p:txBody>
          <a:bodyPr>
            <a:noAutofit/>
          </a:bodyPr>
          <a:lstStyle/>
          <a:p>
            <a:r>
              <a:rPr lang="en-US" sz="1800" dirty="0"/>
              <a:t>IUSSP-CODATA FAIR Vocabularies Working Group</a:t>
            </a:r>
            <a:br>
              <a:rPr lang="en-US" sz="1800" dirty="0"/>
            </a:br>
            <a:endParaRPr lang="en-US" sz="1800" dirty="0"/>
          </a:p>
          <a:p>
            <a:r>
              <a:rPr lang="en-US" sz="1800" dirty="0"/>
              <a:t>Abdulla Gozalov</a:t>
            </a:r>
          </a:p>
          <a:p>
            <a:r>
              <a:rPr lang="en-US" sz="1800" dirty="0"/>
              <a:t>United Nations Statistics Division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871492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4DC1D-144A-BFEE-6A8B-3C392EC15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SDMX?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1F3771-6692-FC00-899B-9251BAFA0D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773" y="1825625"/>
            <a:ext cx="11520240" cy="3905872"/>
          </a:xfrm>
        </p:spPr>
        <p:txBody>
          <a:bodyPr>
            <a:normAutofit lnSpcReduction="10000"/>
          </a:bodyPr>
          <a:lstStyle/>
          <a:p>
            <a:r>
              <a:rPr lang="en-US" dirty="0"/>
              <a:t>Statistical Data and Metadata </a:t>
            </a:r>
            <a:r>
              <a:rPr lang="en-US" dirty="0" err="1"/>
              <a:t>eXchange</a:t>
            </a:r>
            <a:r>
              <a:rPr lang="en-US" dirty="0"/>
              <a:t> is a </a:t>
            </a:r>
            <a:r>
              <a:rPr lang="en-US" b="1" dirty="0"/>
              <a:t>standard</a:t>
            </a:r>
          </a:p>
          <a:p>
            <a:r>
              <a:rPr lang="en-US" dirty="0"/>
              <a:t>Initiated and maintained by seven international agencies</a:t>
            </a:r>
          </a:p>
          <a:p>
            <a:pPr lvl="1"/>
            <a:r>
              <a:rPr lang="en-US" dirty="0"/>
              <a:t>Bank for International Settlements, European Central Bank, Eurostat, Organization for Economic Cooperation and Development, International Monetary Fund, United Nations, and World Bank</a:t>
            </a:r>
          </a:p>
          <a:p>
            <a:r>
              <a:rPr lang="en-US" dirty="0"/>
              <a:t>Endorsed by the United Nations Statistical Commission as a preferred standard for data and metadata exchange</a:t>
            </a:r>
          </a:p>
          <a:p>
            <a:r>
              <a:rPr lang="en-US" dirty="0"/>
              <a:t>ISO Standard 17369</a:t>
            </a:r>
          </a:p>
          <a:p>
            <a:r>
              <a:rPr lang="en-US" dirty="0"/>
              <a:t>First version of the standard released in 2004, current version 3.0 in 2021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4A95F6-FCCA-E354-B849-68ADA29C0128}"/>
              </a:ext>
            </a:extLst>
          </p:cNvPr>
          <p:cNvSpPr txBox="1"/>
          <p:nvPr/>
        </p:nvSpPr>
        <p:spPr>
          <a:xfrm>
            <a:off x="3965237" y="5731497"/>
            <a:ext cx="394531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chemeClr val="accent1">
                    <a:lumMod val="50000"/>
                  </a:schemeClr>
                </a:solidFill>
              </a:rPr>
              <a:t>https://sdmx.org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EA5B97-5526-8DFD-6B40-6D60158741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DB240-7855-4EAF-B644-3C9578F3330C}" type="slidenum">
              <a:rPr lang="en-US" smtClean="0"/>
              <a:t>2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11811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1F589-B4BB-F99E-9D13-1BEA4E5DF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is SDMX used?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B56D6A-7095-87D0-7A7C-9D4359ACEA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Global data exchange and dissemination of statistical data using standardized structures in various subject-matter domains including National Accounts, Balance of Payments, Foreign Direct Investment, SEEA, Sustainable Development Goals, and others.</a:t>
            </a:r>
          </a:p>
          <a:p>
            <a:r>
              <a:rPr lang="en-US" dirty="0"/>
              <a:t>Joint Eurostat-UNSD demographic data collection for the Europe/former USSR region</a:t>
            </a:r>
          </a:p>
          <a:p>
            <a:r>
              <a:rPr lang="en-US" dirty="0"/>
              <a:t>Dissemination by international and national statistical agencies</a:t>
            </a:r>
          </a:p>
          <a:p>
            <a:pPr lvl="1"/>
            <a:r>
              <a:rPr lang="en-US" dirty="0"/>
              <a:t>The publication of standardized concepts and code lists at the Global Registry promotes their use in dissemination and other contexts</a:t>
            </a:r>
          </a:p>
          <a:p>
            <a:r>
              <a:rPr lang="en-US" dirty="0"/>
              <a:t>Dissemination platforms based on SDMX gaining more and more widespread use at national and international level</a:t>
            </a:r>
          </a:p>
          <a:p>
            <a:pPr lvl="1"/>
            <a:r>
              <a:rPr lang="en-US" dirty="0"/>
              <a:t>Thanks to their power, efficiency, and support for multi-</a:t>
            </a:r>
            <a:r>
              <a:rPr lang="en-US" dirty="0" err="1"/>
              <a:t>lingualism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B35A45-BEF4-E286-7802-5738743908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DB240-7855-4EAF-B644-3C9578F3330C}" type="slidenum">
              <a:rPr lang="en-US" smtClean="0"/>
              <a:t>3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517238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85872-E009-E63F-FE3E-B514275AB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does SDMX offer?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89DAB5-0E24-D71F-95EF-EF1DACA6B3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Technical standards</a:t>
            </a:r>
          </a:p>
          <a:p>
            <a:pPr lvl="1"/>
            <a:r>
              <a:rPr lang="en-US" dirty="0"/>
              <a:t>Specifications of protocols, data and metadata formats, registry APIs, </a:t>
            </a:r>
            <a:r>
              <a:rPr lang="en-US" dirty="0" err="1"/>
              <a:t>etc</a:t>
            </a:r>
            <a:endParaRPr lang="en-US" dirty="0"/>
          </a:p>
          <a:p>
            <a:r>
              <a:rPr lang="en-US" dirty="0"/>
              <a:t>Statistical guidelines</a:t>
            </a:r>
          </a:p>
          <a:p>
            <a:pPr lvl="1"/>
            <a:r>
              <a:rPr lang="en-US" dirty="0"/>
              <a:t>Standardized terminology, code lists and subject-matter domains (content-oriented guidelines)</a:t>
            </a:r>
          </a:p>
          <a:p>
            <a:pPr lvl="1"/>
            <a:r>
              <a:rPr lang="en-US" dirty="0"/>
              <a:t>Guidelines for structure design and maintenance</a:t>
            </a:r>
          </a:p>
          <a:p>
            <a:r>
              <a:rPr lang="en-US" dirty="0"/>
              <a:t>Tools</a:t>
            </a:r>
          </a:p>
          <a:p>
            <a:pPr lvl="1"/>
            <a:r>
              <a:rPr lang="en-US" dirty="0"/>
              <a:t>Developed by various organizations in the community</a:t>
            </a:r>
          </a:p>
          <a:p>
            <a:pPr lvl="1"/>
            <a:r>
              <a:rPr lang="en-US" dirty="0"/>
              <a:t>Most are free to use</a:t>
            </a:r>
          </a:p>
          <a:p>
            <a:pPr lvl="1"/>
            <a:r>
              <a:rPr lang="en-US" dirty="0"/>
              <a:t>Structure design and maintenance, data mapping and conversion, APIs, dissemination platforms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D1D23E-476B-4982-F602-1A3C3136D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DB240-7855-4EAF-B644-3C9578F3330C}" type="slidenum">
              <a:rPr lang="en-US" smtClean="0"/>
              <a:t>4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258973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251DF-AA0D-C625-345E-8FEF64AC18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Global and Cross-Domain Artefacts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0C20EF-B531-333A-5CDB-70ED324CC7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773" y="1825625"/>
            <a:ext cx="11520240" cy="466725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Content-oriented guidelines facilitate mutual understanding of the content of the SDMX data and metadata files through the use of common statistical concepts in the underlying metadata.</a:t>
            </a:r>
          </a:p>
          <a:p>
            <a:pPr lvl="1"/>
            <a:r>
              <a:rPr lang="en-US" dirty="0"/>
              <a:t>Not part of the ISO Standard </a:t>
            </a:r>
          </a:p>
          <a:p>
            <a:pPr lvl="1"/>
            <a:r>
              <a:rPr lang="en-US" dirty="0"/>
              <a:t>Guidelines not requirements</a:t>
            </a:r>
          </a:p>
          <a:p>
            <a:r>
              <a:rPr lang="en-US" dirty="0"/>
              <a:t>Cross-domain artefacts – concepts and code lists – are recommended for use in a large number of statistical subject-matter domains</a:t>
            </a:r>
          </a:p>
          <a:p>
            <a:pPr lvl="1"/>
            <a:r>
              <a:rPr lang="en-US" dirty="0"/>
              <a:t>Sex, Age, Reference Area, Observations Status, …</a:t>
            </a:r>
          </a:p>
          <a:p>
            <a:pPr lvl="1"/>
            <a:r>
              <a:rPr lang="en-US" dirty="0"/>
              <a:t>As much as possible, are based on international classifications</a:t>
            </a:r>
          </a:p>
          <a:p>
            <a:r>
              <a:rPr lang="en-US" dirty="0"/>
              <a:t>Global structures are developed for the exchange of statistical data and metadata for specific subject-matter domains</a:t>
            </a:r>
          </a:p>
          <a:p>
            <a:pPr lvl="1"/>
            <a:r>
              <a:rPr lang="en-US" dirty="0"/>
              <a:t>May include both cross-domain and domain-specific concepts and code lists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61EEDC-C4A0-CAFC-B08A-EBB2FAC7C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DB240-7855-4EAF-B644-3C9578F3330C}" type="slidenum">
              <a:rPr lang="en-US" smtClean="0"/>
              <a:t>5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008362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27D073-3785-799A-B5B9-42E1C4DE65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SDMX Global Registry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8F561B-0F7E-2BFF-F088-BAB644543F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773" y="1825625"/>
            <a:ext cx="5563151" cy="4351338"/>
          </a:xfrm>
        </p:spPr>
        <p:txBody>
          <a:bodyPr/>
          <a:lstStyle/>
          <a:p>
            <a:r>
              <a:rPr lang="en-US" dirty="0"/>
              <a:t>A repository of global and cross-domain artefacts</a:t>
            </a:r>
          </a:p>
          <a:p>
            <a:pPr lvl="1"/>
            <a:r>
              <a:rPr lang="en-US" dirty="0"/>
              <a:t>Concepts</a:t>
            </a:r>
          </a:p>
          <a:p>
            <a:pPr lvl="1"/>
            <a:r>
              <a:rPr lang="en-US" dirty="0"/>
              <a:t>Code lists</a:t>
            </a:r>
          </a:p>
          <a:p>
            <a:pPr lvl="1"/>
            <a:r>
              <a:rPr lang="en-US" dirty="0"/>
              <a:t>Data Structures</a:t>
            </a:r>
          </a:p>
          <a:p>
            <a:pPr lvl="1"/>
            <a:r>
              <a:rPr lang="en-US" dirty="0"/>
              <a:t>Dataflows, constraints, …..</a:t>
            </a:r>
          </a:p>
          <a:p>
            <a:pPr lvl="1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AB5467-336B-7AEA-91E1-62F7F283E107}"/>
              </a:ext>
            </a:extLst>
          </p:cNvPr>
          <p:cNvSpPr txBox="1"/>
          <p:nvPr/>
        </p:nvSpPr>
        <p:spPr>
          <a:xfrm>
            <a:off x="3333641" y="5639528"/>
            <a:ext cx="577087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chemeClr val="accent1">
                    <a:lumMod val="50000"/>
                  </a:schemeClr>
                </a:solidFill>
              </a:rPr>
              <a:t>https://registry.sdmx.org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830FBD8-BF62-3693-259A-8AF3D370B7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1078" y="1928161"/>
            <a:ext cx="5216165" cy="3576430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31DB81-3C63-65D0-C4A8-0829B6B47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DB240-7855-4EAF-B644-3C9578F3330C}" type="slidenum">
              <a:rPr lang="en-US" smtClean="0"/>
              <a:t>6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019112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9E4AF-8D6A-5487-7272-27B0B8397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SDMX-based Data Dissemination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ABF9512-BED4-260B-9D01-BADDDF0036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195" y="2470624"/>
            <a:ext cx="5136157" cy="288787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DBD6D30-233A-10F1-BB40-F4DF5CB09501}"/>
              </a:ext>
            </a:extLst>
          </p:cNvPr>
          <p:cNvSpPr txBox="1"/>
          <p:nvPr/>
        </p:nvSpPr>
        <p:spPr>
          <a:xfrm>
            <a:off x="271178" y="2101292"/>
            <a:ext cx="28926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4"/>
              </a:rPr>
              <a:t>https://camstat.nis.gov.kh/</a:t>
            </a:r>
            <a:r>
              <a:rPr lang="en-US" dirty="0"/>
              <a:t> 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0B6BC44-C692-96E8-4009-A72D7990E6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46783" y="2960838"/>
            <a:ext cx="4952886" cy="2980737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81C375C7-BE01-6007-0DC4-CA833E29BFE7}"/>
              </a:ext>
            </a:extLst>
          </p:cNvPr>
          <p:cNvSpPr txBox="1"/>
          <p:nvPr/>
        </p:nvSpPr>
        <p:spPr>
          <a:xfrm>
            <a:off x="3246783" y="2591506"/>
            <a:ext cx="289262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hlinkClick r:id="rId6"/>
              </a:rPr>
              <a:t>https://sistanhub.istat.it/</a:t>
            </a:r>
            <a:r>
              <a:rPr lang="en-US" dirty="0"/>
              <a:t>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1EF5797-1EC5-A67C-CF95-64C155E15D19}"/>
              </a:ext>
            </a:extLst>
          </p:cNvPr>
          <p:cNvSpPr txBox="1"/>
          <p:nvPr/>
        </p:nvSpPr>
        <p:spPr>
          <a:xfrm>
            <a:off x="706321" y="3371442"/>
            <a:ext cx="289262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hlinkClick r:id="rId7"/>
              </a:rPr>
              <a:t>https://stathub.nso.go.th/</a:t>
            </a:r>
            <a:r>
              <a:rPr lang="en-US" dirty="0"/>
              <a:t> </a:t>
            </a:r>
          </a:p>
        </p:txBody>
      </p:sp>
      <p:sp>
        <p:nvSpPr>
          <p:cNvPr id="30" name="Content Placeholder 29">
            <a:extLst>
              <a:ext uri="{FF2B5EF4-FFF2-40B4-BE49-F238E27FC236}">
                <a16:creationId xmlns:a16="http://schemas.microsoft.com/office/drawing/2014/main" id="{29737499-164F-870E-E306-12E521697B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68511" y="2141537"/>
            <a:ext cx="3429502" cy="4351338"/>
          </a:xfrm>
        </p:spPr>
        <p:txBody>
          <a:bodyPr/>
          <a:lstStyle/>
          <a:p>
            <a:r>
              <a:rPr lang="en-US" dirty="0"/>
              <a:t>Based on open-source .Stat Suite (Cambodia, Thailand) and IStat SDMX Toolkit (Italy)</a:t>
            </a:r>
          </a:p>
          <a:p>
            <a:r>
              <a:rPr lang="en-US" dirty="0"/>
              <a:t>Fully multi-lingual</a:t>
            </a:r>
          </a:p>
          <a:p>
            <a:r>
              <a:rPr lang="en-US" dirty="0"/>
              <a:t>Variety of </a:t>
            </a:r>
            <a:r>
              <a:rPr lang="en-US" dirty="0" err="1"/>
              <a:t>visualiations</a:t>
            </a:r>
            <a:endParaRPr lang="en-US" dirty="0"/>
          </a:p>
          <a:p>
            <a:r>
              <a:rPr lang="en-US" dirty="0"/>
              <a:t>All data available at SDMX API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1968FAB-F3AF-C0F5-F119-80B3B3F8891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6321" y="3740774"/>
            <a:ext cx="5363852" cy="2987629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3713CA9-86C0-AA8C-CE58-BCA142FA2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DB240-7855-4EAF-B644-3C9578F3330C}" type="slidenum">
              <a:rPr lang="en-US" smtClean="0"/>
              <a:t>7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841924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8" grpId="0" animBg="1"/>
      <p:bldP spid="24" grpId="0" animBg="1"/>
      <p:bldP spid="30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B0CA7C-D6F5-E7A9-43F6-474534AD67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 SDMX Metadata FAIR?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FF4139-034B-3953-71B1-39BBB071BE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7009" y="1825625"/>
            <a:ext cx="10991003" cy="4351338"/>
          </a:xfrm>
        </p:spPr>
        <p:txBody>
          <a:bodyPr/>
          <a:lstStyle/>
          <a:p>
            <a:pPr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en-US" dirty="0"/>
              <a:t>Findable</a:t>
            </a:r>
          </a:p>
          <a:p>
            <a:pPr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en-US" dirty="0"/>
              <a:t>Accessible</a:t>
            </a:r>
          </a:p>
          <a:p>
            <a:pPr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en-US" dirty="0"/>
              <a:t>Interoperable</a:t>
            </a:r>
          </a:p>
          <a:p>
            <a:pPr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en-US" dirty="0"/>
              <a:t>Reusable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But… the devil is in the details</a:t>
            </a:r>
            <a:r>
              <a:rPr lang="en-US" dirty="0">
                <a:sym typeface="Wingdings" panose="05000000000000000000" pitchFamily="2" charset="2"/>
              </a:rPr>
              <a:t> 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597B25-7D8F-29BD-AFD8-CD3E40B8E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DB240-7855-4EAF-B644-3C9578F3330C}" type="slidenum">
              <a:rPr lang="en-US" smtClean="0"/>
              <a:t>8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05608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3AA87-ADE7-5D0E-9C5C-9403D9D80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Identifiers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FBC67-C842-9D4A-2760-D55CC64E2A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SDMX artefact identifiers are generally not resolvable</a:t>
            </a:r>
          </a:p>
          <a:p>
            <a:r>
              <a:rPr lang="en-US" dirty="0"/>
              <a:t>URNs applicable to both artefacts and individual items, such as code lists and codes, follow a specific format but are not Web addresses</a:t>
            </a:r>
          </a:p>
          <a:p>
            <a:r>
              <a:rPr lang="en-US" dirty="0"/>
              <a:t>Global and cross-domain artefacts, such as code lists stored at the Global Registry can be said to have resolvable globally unique identifiers</a:t>
            </a:r>
          </a:p>
          <a:p>
            <a:pPr lvl="1"/>
            <a:r>
              <a:rPr lang="en-US" dirty="0"/>
              <a:t>A by-product of the RESTful registry API</a:t>
            </a:r>
          </a:p>
          <a:p>
            <a:pPr lvl="1"/>
            <a:r>
              <a:rPr lang="en-US" dirty="0"/>
              <a:t>But this does not apply to individual items such as codes</a:t>
            </a:r>
          </a:p>
          <a:p>
            <a:pPr lvl="1"/>
            <a:endParaRPr lang="en-US" dirty="0"/>
          </a:p>
          <a:p>
            <a:r>
              <a:rPr lang="en-US" dirty="0"/>
              <a:t>Implementation of unique resolvable identifiers in the standard is the most important step to making the SDMX artefacts FAIR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836062-A5D5-E960-014B-694E993589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DB240-7855-4EAF-B644-3C9578F3330C}" type="slidenum">
              <a:rPr lang="en-US" smtClean="0"/>
              <a:t>9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59503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F2F41-9FD8-5E38-4151-163869A46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Semantic Web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4B3BCC-8FAA-C753-AF25-C33B5E36A5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SDMX community would greatly benefit from better integration of data and metadata with the Semantic Web</a:t>
            </a:r>
          </a:p>
          <a:p>
            <a:pPr lvl="1"/>
            <a:r>
              <a:rPr lang="en-US" dirty="0"/>
              <a:t>SKOS/XKOS</a:t>
            </a:r>
          </a:p>
          <a:p>
            <a:pPr lvl="1"/>
            <a:r>
              <a:rPr lang="en-US" dirty="0"/>
              <a:t>RDF Data Cube</a:t>
            </a:r>
          </a:p>
          <a:p>
            <a:r>
              <a:rPr lang="en-US" dirty="0"/>
              <a:t>Promising collaboration between the UN Statistics Division and Google on exposing UN datasets at Data Commons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A757F8-8737-31C0-3AB0-C2501524B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DB240-7855-4EAF-B644-3C9578F3330C}" type="slidenum">
              <a:rPr lang="en-US" smtClean="0"/>
              <a:t>10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347408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4E0F5-8FC8-8B9B-D9E9-B18EAD400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Benefits of making SDMX FAIR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5B528D-BB59-DAF8-C7BF-639CA7F1E9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Improved interoperability</a:t>
            </a:r>
          </a:p>
          <a:p>
            <a:r>
              <a:rPr lang="en-US" dirty="0"/>
              <a:t>Improved discovery</a:t>
            </a:r>
          </a:p>
          <a:p>
            <a:r>
              <a:rPr lang="en-US" dirty="0"/>
              <a:t>More efficient design of structures for data exchange and dissemination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1CAB1D-2222-3501-8EA6-B4B902844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DB240-7855-4EAF-B644-3C9578F3330C}" type="slidenum">
              <a:rPr lang="en-US" smtClean="0"/>
              <a:t>11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073067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6606FA-6E50-4529-B1B7-99C1FF817A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2023 </a:t>
            </a:r>
            <a:r>
              <a:rPr lang="en-US" dirty="0"/>
              <a:t>SDMX Global Conference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01665B-7228-8A47-2BFF-2E25384679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To take place in from 29 Oct – 2 Nov 2023 in Bahrain</a:t>
            </a:r>
          </a:p>
          <a:p>
            <a:r>
              <a:rPr lang="en-US" dirty="0"/>
              <a:t>2023 Conference theme: </a:t>
            </a:r>
            <a:r>
              <a:rPr lang="en-US" b="1" dirty="0"/>
              <a:t>Empowering Data Communities</a:t>
            </a:r>
          </a:p>
          <a:p>
            <a:r>
              <a:rPr lang="en-US" dirty="0"/>
              <a:t>Brings together National Statistical Offices, Central Banks, international agencies, academia, private sector</a:t>
            </a:r>
          </a:p>
          <a:p>
            <a:r>
              <a:rPr lang="en-US" dirty="0"/>
              <a:t>Focus on</a:t>
            </a:r>
          </a:p>
          <a:p>
            <a:pPr lvl="1"/>
            <a:r>
              <a:rPr lang="en-US" dirty="0"/>
              <a:t>Implementation of SDMX 3.0</a:t>
            </a:r>
          </a:p>
          <a:p>
            <a:pPr lvl="1"/>
            <a:r>
              <a:rPr lang="en-US" dirty="0"/>
              <a:t>Open-source software tools</a:t>
            </a:r>
          </a:p>
          <a:p>
            <a:pPr lvl="1"/>
            <a:r>
              <a:rPr lang="en-US" dirty="0"/>
              <a:t>Validation and Transformation Language (VTL)</a:t>
            </a:r>
          </a:p>
          <a:p>
            <a:pPr lvl="1"/>
            <a:r>
              <a:rPr lang="en-US" dirty="0"/>
              <a:t>Data and metadata governance</a:t>
            </a:r>
          </a:p>
          <a:p>
            <a:pPr lvl="1"/>
            <a:r>
              <a:rPr lang="en-US" dirty="0"/>
              <a:t>SDMX and other standards</a:t>
            </a:r>
          </a:p>
          <a:p>
            <a:pPr lvl="1"/>
            <a:endParaRPr lang="en-US" dirty="0"/>
          </a:p>
          <a:p>
            <a:pPr marL="0" indent="0">
              <a:buNone/>
            </a:pPr>
            <a:endParaRPr lang="en-US" dirty="0">
              <a:highlight>
                <a:srgbClr val="FFFF00"/>
              </a:highlight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6DA07D-D162-255F-2F87-805B4AEB9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DB240-7855-4EAF-B644-3C9578F3330C}" type="slidenum">
              <a:rPr lang="en-US" smtClean="0"/>
              <a:t>12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E81FB1-A837-D88E-774A-B51A88269CAF}"/>
              </a:ext>
            </a:extLst>
          </p:cNvPr>
          <p:cNvSpPr txBox="1"/>
          <p:nvPr/>
        </p:nvSpPr>
        <p:spPr>
          <a:xfrm>
            <a:off x="3503324" y="5768819"/>
            <a:ext cx="509947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chemeClr val="accent1">
                    <a:lumMod val="50000"/>
                  </a:schemeClr>
                </a:solidFill>
                <a:hlinkClick r:id="rId3"/>
              </a:rPr>
              <a:t>https://sdmx2023.org</a:t>
            </a:r>
            <a:r>
              <a:rPr lang="en-US" sz="4000" dirty="0">
                <a:solidFill>
                  <a:schemeClr val="accent1">
                    <a:lumMod val="50000"/>
                  </a:schemeClr>
                </a:solidFill>
              </a:rPr>
              <a:t>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911399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F8E77-70A3-56AA-E8BD-CFCDBC07AD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you!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F71188A-D936-1025-7142-02C68AD18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DB240-7855-4EAF-B644-3C9578F3330C}" type="slidenum">
              <a:rPr lang="en-US" smtClean="0"/>
              <a:t>13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1452263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DESIGN_ID_TEMA DE OFFICE" val="PQURl9At"/>
  <p:tag name="ARTICULATE_SLIDE_COUNT" val="13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iglo gótico-Palatino Linotype">
      <a:majorFont>
        <a:latin typeface="Century Gothic" panose="020B0502020202020204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 panose="02040502050505030304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DMX Template 2019.potx" id="{49B90348-40B1-4046-A8DC-364911CFFC98}" vid="{A6164DD1-8AC9-4A67-9745-DD50C11B2D4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SDMX Template 2019</Template>
  <TotalTime>1417</TotalTime>
  <Words>726</Words>
  <Application>Microsoft Office PowerPoint</Application>
  <PresentationFormat>Widescreen</PresentationFormat>
  <Paragraphs>101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Calibri</vt:lpstr>
      <vt:lpstr>Century Gothic</vt:lpstr>
      <vt:lpstr>Palatino Linotype</vt:lpstr>
      <vt:lpstr>Perpetua</vt:lpstr>
      <vt:lpstr>Wingdings</vt:lpstr>
      <vt:lpstr>Tema de Office</vt:lpstr>
      <vt:lpstr>Statistical Data and Metadata eXchange (SDMX)</vt:lpstr>
      <vt:lpstr>What is SDMX?</vt:lpstr>
      <vt:lpstr>How is SDMX used?</vt:lpstr>
      <vt:lpstr>What does SDMX offer?</vt:lpstr>
      <vt:lpstr>Global and Cross-Domain Artefacts</vt:lpstr>
      <vt:lpstr>SDMX Global Registry</vt:lpstr>
      <vt:lpstr>SDMX-based Data Dissemination</vt:lpstr>
      <vt:lpstr>Is SDMX Metadata FAIR?</vt:lpstr>
      <vt:lpstr>Identifiers</vt:lpstr>
      <vt:lpstr>Semantic Web</vt:lpstr>
      <vt:lpstr>Benefits of making SDMX FAIR</vt:lpstr>
      <vt:lpstr>2023 SDMX Global Conference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Statistical Data and Metadata eXchange (SDMX)</dc:title>
  <dc:creator>Abdulla Gozalov</dc:creator>
  <cp:lastModifiedBy>Abdulla Gozalov</cp:lastModifiedBy>
  <cp:revision>4</cp:revision>
  <dcterms:created xsi:type="dcterms:W3CDTF">2023-06-02T16:13:31Z</dcterms:created>
  <dcterms:modified xsi:type="dcterms:W3CDTF">2023-06-12T13:12:44Z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216D13B0-4C44-4AA4-89E7-2273BA352CDB</vt:lpwstr>
  </property>
  <property fmtid="{D5CDD505-2E9C-101B-9397-08002B2CF9AE}" pid="3" name="ArticulatePath">
    <vt:lpwstr>https://unitednations-my.sharepoint.com/personal/gozalov_un_org/Documents/DICB/FAIR WG/Launch/FAIR WG - SDMX</vt:lpwstr>
  </property>
</Properties>
</file>