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embeddedFontLst>
    <p:embeddedFont>
      <p:font typeface="Quicksand" panose="020B0604020202020204" charset="0"/>
      <p:regular r:id="rId10"/>
      <p:bold r:id="rId11"/>
    </p:embeddedFont>
    <p:embeddedFont>
      <p:font typeface="Roboto" panose="02000000000000000000" pitchFamily="2" charset="0"/>
      <p:regular r:id="rId12"/>
      <p:bold r:id="rId13"/>
      <p:italic r:id="rId14"/>
      <p:boldItalic r:id="rId15"/>
    </p:embeddedFont>
    <p:embeddedFont>
      <p:font typeface="Roboto Light" panose="020000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hUeAk5Koa7EMF0MevzVLfFtKfkI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C526D9-2E23-4E03-A844-45821C07E3EB}" v="5" dt="2024-09-10T13:11:52.8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microsoft.com/office/2016/11/relationships/changesInfo" Target="changesInfos/changesInfo1.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viewProps" Target="viewProp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xanne Wyns" userId="d8f83bf8-fea1-40da-8efe-3539fb7b3eac" providerId="ADAL" clId="{E4C526D9-2E23-4E03-A844-45821C07E3EB}"/>
    <pc:docChg chg="undo custSel addSld modSld">
      <pc:chgData name="Roxanne Wyns" userId="d8f83bf8-fea1-40da-8efe-3539fb7b3eac" providerId="ADAL" clId="{E4C526D9-2E23-4E03-A844-45821C07E3EB}" dt="2024-09-10T13:12:15.284" v="94" actId="20577"/>
      <pc:docMkLst>
        <pc:docMk/>
      </pc:docMkLst>
      <pc:sldChg chg="modSp mod">
        <pc:chgData name="Roxanne Wyns" userId="d8f83bf8-fea1-40da-8efe-3539fb7b3eac" providerId="ADAL" clId="{E4C526D9-2E23-4E03-A844-45821C07E3EB}" dt="2024-09-10T13:04:52.171" v="7" actId="20577"/>
        <pc:sldMkLst>
          <pc:docMk/>
          <pc:sldMk cId="0" sldId="256"/>
        </pc:sldMkLst>
        <pc:spChg chg="mod">
          <ac:chgData name="Roxanne Wyns" userId="d8f83bf8-fea1-40da-8efe-3539fb7b3eac" providerId="ADAL" clId="{E4C526D9-2E23-4E03-A844-45821C07E3EB}" dt="2024-09-10T13:04:52.171" v="7" actId="20577"/>
          <ac:spMkLst>
            <pc:docMk/>
            <pc:sldMk cId="0" sldId="256"/>
            <ac:spMk id="62" creationId="{00000000-0000-0000-0000-000000000000}"/>
          </ac:spMkLst>
        </pc:spChg>
      </pc:sldChg>
      <pc:sldChg chg="modSp mod">
        <pc:chgData name="Roxanne Wyns" userId="d8f83bf8-fea1-40da-8efe-3539fb7b3eac" providerId="ADAL" clId="{E4C526D9-2E23-4E03-A844-45821C07E3EB}" dt="2024-09-10T13:10:06.567" v="89" actId="20577"/>
        <pc:sldMkLst>
          <pc:docMk/>
          <pc:sldMk cId="0" sldId="261"/>
        </pc:sldMkLst>
        <pc:spChg chg="mod">
          <ac:chgData name="Roxanne Wyns" userId="d8f83bf8-fea1-40da-8efe-3539fb7b3eac" providerId="ADAL" clId="{E4C526D9-2E23-4E03-A844-45821C07E3EB}" dt="2024-09-10T13:10:06.567" v="89" actId="20577"/>
          <ac:spMkLst>
            <pc:docMk/>
            <pc:sldMk cId="0" sldId="261"/>
            <ac:spMk id="135" creationId="{00000000-0000-0000-0000-000000000000}"/>
          </ac:spMkLst>
        </pc:spChg>
      </pc:sldChg>
      <pc:sldChg chg="addSp delSp modSp new mod modTransition modClrScheme chgLayout">
        <pc:chgData name="Roxanne Wyns" userId="d8f83bf8-fea1-40da-8efe-3539fb7b3eac" providerId="ADAL" clId="{E4C526D9-2E23-4E03-A844-45821C07E3EB}" dt="2024-09-10T13:12:15.284" v="94" actId="20577"/>
        <pc:sldMkLst>
          <pc:docMk/>
          <pc:sldMk cId="3957337145" sldId="262"/>
        </pc:sldMkLst>
        <pc:spChg chg="del">
          <ac:chgData name="Roxanne Wyns" userId="d8f83bf8-fea1-40da-8efe-3539fb7b3eac" providerId="ADAL" clId="{E4C526D9-2E23-4E03-A844-45821C07E3EB}" dt="2024-09-10T13:05:13.298" v="9" actId="700"/>
          <ac:spMkLst>
            <pc:docMk/>
            <pc:sldMk cId="3957337145" sldId="262"/>
            <ac:spMk id="2" creationId="{08329387-0A1A-7A8D-3A30-20B37F148CA4}"/>
          </ac:spMkLst>
        </pc:spChg>
        <pc:spChg chg="del mod ord">
          <ac:chgData name="Roxanne Wyns" userId="d8f83bf8-fea1-40da-8efe-3539fb7b3eac" providerId="ADAL" clId="{E4C526D9-2E23-4E03-A844-45821C07E3EB}" dt="2024-09-10T13:05:13.298" v="9" actId="700"/>
          <ac:spMkLst>
            <pc:docMk/>
            <pc:sldMk cId="3957337145" sldId="262"/>
            <ac:spMk id="3" creationId="{2B135768-7992-3637-4EE1-17EB6BFE1005}"/>
          </ac:spMkLst>
        </pc:spChg>
        <pc:spChg chg="add mod ord">
          <ac:chgData name="Roxanne Wyns" userId="d8f83bf8-fea1-40da-8efe-3539fb7b3eac" providerId="ADAL" clId="{E4C526D9-2E23-4E03-A844-45821C07E3EB}" dt="2024-09-10T13:12:15.284" v="94" actId="20577"/>
          <ac:spMkLst>
            <pc:docMk/>
            <pc:sldMk cId="3957337145" sldId="262"/>
            <ac:spMk id="4" creationId="{FB70AFE9-EAD8-B8CF-53FB-70AC840448CB}"/>
          </ac:spMkLst>
        </pc:spChg>
        <pc:spChg chg="add mod ord">
          <ac:chgData name="Roxanne Wyns" userId="d8f83bf8-fea1-40da-8efe-3539fb7b3eac" providerId="ADAL" clId="{E4C526D9-2E23-4E03-A844-45821C07E3EB}" dt="2024-09-10T13:06:47.817" v="86" actId="20577"/>
          <ac:spMkLst>
            <pc:docMk/>
            <pc:sldMk cId="3957337145" sldId="262"/>
            <ac:spMk id="5" creationId="{C5BBC6BF-4A22-8F2D-C05F-331A43CD6B3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nl-NL"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 name="Google Shape;5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 name="Google Shape;6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514350" marR="0" lvl="0" indent="-285750" algn="l" rtl="0">
              <a:lnSpc>
                <a:spcPct val="100000"/>
              </a:lnSpc>
              <a:spcBef>
                <a:spcPts val="0"/>
              </a:spcBef>
              <a:spcAft>
                <a:spcPts val="0"/>
              </a:spcAft>
              <a:buClr>
                <a:srgbClr val="000000"/>
              </a:buClr>
              <a:buSzPts val="1400"/>
              <a:buFont typeface="Arial"/>
              <a:buChar char="•"/>
            </a:pPr>
            <a:r>
              <a:rPr lang="nl-NL" sz="1200" b="0" i="0" u="none" strike="noStrike" cap="none">
                <a:solidFill>
                  <a:srgbClr val="000000"/>
                </a:solidFill>
                <a:latin typeface="Roboto"/>
                <a:ea typeface="Roboto"/>
                <a:cs typeface="Roboto"/>
                <a:sym typeface="Roboto"/>
              </a:rPr>
              <a:t>Assumptions and interpretations of what constitute ‘preservation’ vary</a:t>
            </a:r>
            <a:endParaRPr/>
          </a:p>
          <a:p>
            <a:pPr marL="514350" marR="0" lvl="0" indent="-285750" algn="l" rtl="0">
              <a:lnSpc>
                <a:spcPct val="100000"/>
              </a:lnSpc>
              <a:spcBef>
                <a:spcPts val="0"/>
              </a:spcBef>
              <a:spcAft>
                <a:spcPts val="0"/>
              </a:spcAft>
              <a:buClr>
                <a:srgbClr val="000000"/>
              </a:buClr>
              <a:buSzPts val="1400"/>
              <a:buFont typeface="Arial"/>
              <a:buChar char="•"/>
            </a:pPr>
            <a:r>
              <a:rPr lang="nl-NL" sz="1200" b="0" i="0" u="none" strike="noStrike" cap="none">
                <a:solidFill>
                  <a:srgbClr val="000000"/>
                </a:solidFill>
                <a:latin typeface="Roboto"/>
                <a:ea typeface="Roboto"/>
                <a:cs typeface="Roboto"/>
                <a:sym typeface="Roboto"/>
              </a:rPr>
              <a:t>Not all data services self-identify as ‘repositories’ and not all repositories offer active preservation</a:t>
            </a:r>
            <a:endParaRPr sz="1200" b="0" i="0" u="none" strike="noStrike" cap="none">
              <a:solidFill>
                <a:srgbClr val="000000"/>
              </a:solidFill>
              <a:latin typeface="Roboto"/>
              <a:ea typeface="Roboto"/>
              <a:cs typeface="Roboto"/>
              <a:sym typeface="Roboto"/>
            </a:endParaRPr>
          </a:p>
          <a:p>
            <a:pPr marL="514350" marR="0" lvl="0" indent="-285750" algn="l" rtl="0">
              <a:lnSpc>
                <a:spcPct val="100000"/>
              </a:lnSpc>
              <a:spcBef>
                <a:spcPts val="0"/>
              </a:spcBef>
              <a:spcAft>
                <a:spcPts val="0"/>
              </a:spcAft>
              <a:buClr>
                <a:srgbClr val="000000"/>
              </a:buClr>
              <a:buSzPts val="1400"/>
              <a:buFont typeface="Arial"/>
              <a:buChar char="•"/>
            </a:pPr>
            <a:r>
              <a:rPr lang="nl-NL" sz="1200" b="0" i="0" u="none" strike="noStrike" cap="none">
                <a:solidFill>
                  <a:srgbClr val="000000"/>
                </a:solidFill>
                <a:latin typeface="Roboto"/>
                <a:ea typeface="Roboto"/>
                <a:cs typeface="Roboto"/>
                <a:sym typeface="Roboto"/>
              </a:rPr>
              <a:t>Different service tiers offering different (meta)data services is necessary to deliver EOSC</a:t>
            </a:r>
            <a:endParaRPr/>
          </a:p>
          <a:p>
            <a:pPr marL="514350" marR="0" lvl="0" indent="-285750" algn="l" rtl="0">
              <a:lnSpc>
                <a:spcPct val="100000"/>
              </a:lnSpc>
              <a:spcBef>
                <a:spcPts val="0"/>
              </a:spcBef>
              <a:spcAft>
                <a:spcPts val="0"/>
              </a:spcAft>
              <a:buClr>
                <a:srgbClr val="000000"/>
              </a:buClr>
              <a:buSzPts val="1400"/>
              <a:buFont typeface="Arial"/>
              <a:buChar char="•"/>
            </a:pPr>
            <a:r>
              <a:rPr lang="nl-NL" sz="1200" b="0" i="0" u="none" strike="noStrike" cap="none">
                <a:solidFill>
                  <a:srgbClr val="000000"/>
                </a:solidFill>
                <a:latin typeface="Roboto"/>
                <a:ea typeface="Roboto"/>
                <a:cs typeface="Roboto"/>
                <a:sym typeface="Roboto"/>
              </a:rPr>
              <a:t>These tiers range from simply providing access to retained digital objects, to full active preservation for the long term</a:t>
            </a:r>
            <a:endParaRPr sz="1200" b="0" i="0" u="none" strike="noStrike" cap="none">
              <a:solidFill>
                <a:srgbClr val="000000"/>
              </a:solidFill>
              <a:latin typeface="Roboto"/>
              <a:ea typeface="Roboto"/>
              <a:cs typeface="Roboto"/>
              <a:sym typeface="Roboto"/>
            </a:endParaRPr>
          </a:p>
          <a:p>
            <a:pPr marL="457200" marR="0" lvl="0" indent="-228600" algn="l" rtl="0">
              <a:lnSpc>
                <a:spcPct val="100000"/>
              </a:lnSpc>
              <a:spcBef>
                <a:spcPts val="0"/>
              </a:spcBef>
              <a:spcAft>
                <a:spcPts val="0"/>
              </a:spcAft>
              <a:buClr>
                <a:srgbClr val="000000"/>
              </a:buClr>
              <a:buSzPts val="1400"/>
              <a:buFont typeface="Arial"/>
              <a:buNone/>
            </a:pPr>
            <a:endParaRPr/>
          </a:p>
        </p:txBody>
      </p:sp>
      <p:sp>
        <p:nvSpPr>
          <p:cNvPr id="67" name="Google Shape;6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nl-NL" sz="1200" b="0" i="0" u="none" strike="noStrike" cap="none">
                <a:solidFill>
                  <a:schemeClr val="dk1"/>
                </a:solidFill>
                <a:latin typeface="Calibri"/>
                <a:ea typeface="Calibri"/>
                <a:cs typeface="Calibri"/>
                <a:sym typeface="Calibri"/>
              </a:rPr>
              <a:t>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514350" marR="0" lvl="0" indent="-285750" algn="l" rtl="0">
              <a:lnSpc>
                <a:spcPct val="100000"/>
              </a:lnSpc>
              <a:spcBef>
                <a:spcPts val="0"/>
              </a:spcBef>
              <a:spcAft>
                <a:spcPts val="0"/>
              </a:spcAft>
              <a:buClr>
                <a:srgbClr val="000000"/>
              </a:buClr>
              <a:buSzPts val="1400"/>
              <a:buFont typeface="Arial"/>
              <a:buChar char="•"/>
            </a:pPr>
            <a:r>
              <a:rPr lang="nl-NL" sz="1200" b="0" i="0" u="none" strike="noStrike" cap="none">
                <a:solidFill>
                  <a:srgbClr val="000000"/>
                </a:solidFill>
                <a:latin typeface="Roboto"/>
                <a:ea typeface="Roboto"/>
                <a:cs typeface="Roboto"/>
                <a:sym typeface="Roboto"/>
              </a:rPr>
              <a:t>Deciding which digital object should, and which should not, be preserved must be done via transparent appraisal processes, any change to levels of care must also be transparent and justified. </a:t>
            </a:r>
            <a:endParaRPr/>
          </a:p>
          <a:p>
            <a:pPr marL="514350" marR="0" lvl="0" indent="-285750" algn="l" rtl="0">
              <a:lnSpc>
                <a:spcPct val="100000"/>
              </a:lnSpc>
              <a:spcBef>
                <a:spcPts val="0"/>
              </a:spcBef>
              <a:spcAft>
                <a:spcPts val="0"/>
              </a:spcAft>
              <a:buClr>
                <a:srgbClr val="000000"/>
              </a:buClr>
              <a:buSzPts val="1400"/>
              <a:buFont typeface="Arial"/>
              <a:buChar char="•"/>
            </a:pPr>
            <a:r>
              <a:rPr lang="nl-NL" sz="1200" b="0" i="0" u="none" strike="noStrike" cap="none">
                <a:solidFill>
                  <a:srgbClr val="000000"/>
                </a:solidFill>
                <a:latin typeface="Roboto"/>
                <a:ea typeface="Roboto"/>
                <a:cs typeface="Roboto"/>
                <a:sym typeface="Roboto"/>
              </a:rPr>
              <a:t>This includes criteria set at the point of deposit in a repository, initial curation actions, and measures to ensure long term preservation. </a:t>
            </a:r>
            <a:endParaRPr/>
          </a:p>
          <a:p>
            <a:pPr marL="514350" marR="0" lvl="0" indent="-285750" algn="l" rtl="0">
              <a:lnSpc>
                <a:spcPct val="100000"/>
              </a:lnSpc>
              <a:spcBef>
                <a:spcPts val="0"/>
              </a:spcBef>
              <a:spcAft>
                <a:spcPts val="0"/>
              </a:spcAft>
              <a:buClr>
                <a:srgbClr val="000000"/>
              </a:buClr>
              <a:buSzPts val="1400"/>
              <a:buFont typeface="Arial"/>
              <a:buChar char="•"/>
            </a:pPr>
            <a:r>
              <a:rPr lang="nl-NL" sz="1200" b="0" i="0" u="none" strike="noStrike" cap="none">
                <a:solidFill>
                  <a:srgbClr val="000000"/>
                </a:solidFill>
                <a:latin typeface="Roboto"/>
                <a:ea typeface="Roboto"/>
                <a:cs typeface="Roboto"/>
                <a:sym typeface="Roboto"/>
              </a:rPr>
              <a:t>Transparency goes beyond specific actions taken on specific objects and includes measures to monitor changes to the technical landscape and the needs of digital objects’ reusers. </a:t>
            </a:r>
            <a:endParaRPr/>
          </a:p>
          <a:p>
            <a:pPr marL="514350" marR="0" lvl="0" indent="-285750" algn="l" rtl="0">
              <a:lnSpc>
                <a:spcPct val="100000"/>
              </a:lnSpc>
              <a:spcBef>
                <a:spcPts val="0"/>
              </a:spcBef>
              <a:spcAft>
                <a:spcPts val="0"/>
              </a:spcAft>
              <a:buClr>
                <a:srgbClr val="000000"/>
              </a:buClr>
              <a:buSzPts val="1400"/>
              <a:buFont typeface="Arial"/>
              <a:buChar char="•"/>
            </a:pPr>
            <a:r>
              <a:rPr lang="nl-NL" sz="1200" b="0" i="0" u="none" strike="noStrike" cap="none">
                <a:solidFill>
                  <a:srgbClr val="000000"/>
                </a:solidFill>
                <a:latin typeface="Roboto"/>
                <a:ea typeface="Roboto"/>
                <a:cs typeface="Roboto"/>
                <a:sym typeface="Roboto"/>
              </a:rPr>
              <a:t>Classified and aligned standards, practices, policies and training materials are all candidates for inclusion in future registries of reference information for repositories. </a:t>
            </a:r>
            <a:endParaRPr/>
          </a:p>
          <a:p>
            <a:pPr marL="514350" marR="0" lvl="0" indent="-285750" algn="l" rtl="0">
              <a:lnSpc>
                <a:spcPct val="100000"/>
              </a:lnSpc>
              <a:spcBef>
                <a:spcPts val="0"/>
              </a:spcBef>
              <a:spcAft>
                <a:spcPts val="0"/>
              </a:spcAft>
              <a:buClr>
                <a:srgbClr val="000000"/>
              </a:buClr>
              <a:buSzPts val="1400"/>
              <a:buFont typeface="Arial"/>
              <a:buChar char="•"/>
            </a:pPr>
            <a:r>
              <a:rPr lang="nl-NL" sz="1200" b="0" i="0" u="none" strike="noStrike" cap="none">
                <a:solidFill>
                  <a:srgbClr val="000000"/>
                </a:solidFill>
                <a:latin typeface="Roboto"/>
                <a:ea typeface="Roboto"/>
                <a:cs typeface="Roboto"/>
                <a:sym typeface="Roboto"/>
              </a:rPr>
              <a:t>Creating and curating digital objects with a view to their long term usability through preservation actions should be embedded in education and professional development training.</a:t>
            </a:r>
            <a:endParaRPr/>
          </a:p>
          <a:p>
            <a:pPr marL="514350" marR="0" lvl="0" indent="-285750" algn="l" rtl="0">
              <a:lnSpc>
                <a:spcPct val="100000"/>
              </a:lnSpc>
              <a:spcBef>
                <a:spcPts val="0"/>
              </a:spcBef>
              <a:spcAft>
                <a:spcPts val="0"/>
              </a:spcAft>
              <a:buClr>
                <a:srgbClr val="000000"/>
              </a:buClr>
              <a:buSzPts val="1400"/>
              <a:buFont typeface="Arial"/>
              <a:buChar char="•"/>
            </a:pPr>
            <a:r>
              <a:rPr lang="nl-NL" sz="1200" b="0" i="0" u="none" strike="noStrike" cap="none">
                <a:solidFill>
                  <a:srgbClr val="000000"/>
                </a:solidFill>
                <a:latin typeface="Roboto"/>
                <a:ea typeface="Roboto"/>
                <a:cs typeface="Roboto"/>
                <a:sym typeface="Roboto"/>
              </a:rPr>
              <a:t>Important work related to preservation has been done, is ongoing, and will be undertaken through projects funded by current calls. Maintaining a focus on preservation within EOSC provides assurances that the long term value of digital objects as research assets will be maintained. </a:t>
            </a:r>
            <a:endParaRPr/>
          </a:p>
          <a:p>
            <a:pPr marL="514350" marR="0" lvl="0" indent="-285750" algn="l" rtl="0">
              <a:lnSpc>
                <a:spcPct val="100000"/>
              </a:lnSpc>
              <a:spcBef>
                <a:spcPts val="0"/>
              </a:spcBef>
              <a:spcAft>
                <a:spcPts val="0"/>
              </a:spcAft>
              <a:buClr>
                <a:srgbClr val="000000"/>
              </a:buClr>
              <a:buSzPts val="1400"/>
              <a:buFont typeface="Arial"/>
              <a:buChar char="•"/>
            </a:pPr>
            <a:r>
              <a:rPr lang="nl-NL" sz="1200" b="0" i="0" u="none" strike="noStrike" cap="none">
                <a:solidFill>
                  <a:srgbClr val="000000"/>
                </a:solidFill>
                <a:latin typeface="Roboto"/>
                <a:ea typeface="Roboto"/>
                <a:cs typeface="Roboto"/>
                <a:sym typeface="Roboto"/>
              </a:rPr>
              <a:t>Any future focus on preservation in the context of EOSC should include connection points to digital objects’ curation, criteria to ensure organisational viability, and to the specification, procurement and financing of infrastructure.</a:t>
            </a:r>
            <a:endParaRPr/>
          </a:p>
        </p:txBody>
      </p:sp>
      <p:sp>
        <p:nvSpPr>
          <p:cNvPr id="77" name="Google Shape;7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nl-NL" sz="1200" b="0" i="0" u="none" strike="noStrike" cap="none">
                <a:solidFill>
                  <a:schemeClr val="dk1"/>
                </a:solidFill>
                <a:latin typeface="Calibri"/>
                <a:ea typeface="Calibri"/>
                <a:cs typeface="Calibri"/>
                <a:sym typeface="Calibri"/>
              </a:rPr>
              <a:t>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0"/>
              </a:spcBef>
              <a:spcAft>
                <a:spcPts val="0"/>
              </a:spcAft>
              <a:buSzPts val="1400"/>
              <a:buFont typeface="Arial"/>
              <a:buChar char="•"/>
            </a:pPr>
            <a:r>
              <a:rPr lang="nl-NL" sz="1200" b="0" i="0" u="none" strike="noStrike">
                <a:solidFill>
                  <a:srgbClr val="000000"/>
                </a:solidFill>
                <a:latin typeface="Roboto"/>
                <a:ea typeface="Roboto"/>
                <a:cs typeface="Roboto"/>
                <a:sym typeface="Roboto"/>
              </a:rPr>
              <a:t>The LTDP-TF assertions and recommendations included the need for additional work on retention, appraisal, and re-appraisal of digital objects as a continuous process to evaluate a digital object with a view to retaining it, assigning or changing a level of care, or deleting it. </a:t>
            </a:r>
            <a:endParaRPr/>
          </a:p>
          <a:p>
            <a:pPr marL="514350" marR="0" lvl="0" indent="-285750" algn="l" rtl="0">
              <a:lnSpc>
                <a:spcPct val="100000"/>
              </a:lnSpc>
              <a:spcBef>
                <a:spcPts val="0"/>
              </a:spcBef>
              <a:spcAft>
                <a:spcPts val="0"/>
              </a:spcAft>
              <a:buClr>
                <a:srgbClr val="000000"/>
              </a:buClr>
              <a:buSzPts val="1400"/>
              <a:buFont typeface="Arial"/>
              <a:buChar char="•"/>
            </a:pPr>
            <a:r>
              <a:rPr lang="nl-NL" sz="1200" b="0" i="0" u="none" strike="noStrike">
                <a:solidFill>
                  <a:srgbClr val="000000"/>
                </a:solidFill>
                <a:latin typeface="Roboto"/>
                <a:ea typeface="Roboto"/>
                <a:cs typeface="Roboto"/>
                <a:sym typeface="Roboto"/>
              </a:rPr>
              <a:t>The TF will due a literature review and provide feedback and recommendations on retention, curation, and preservation to the EOSC-A Board and to ongoing and starting projects such as INFRA-2024-EOSC-01-03/-04.</a:t>
            </a:r>
            <a:endParaRPr/>
          </a:p>
          <a:p>
            <a:pPr marL="514350" lvl="0" indent="-196850" algn="l" rtl="0">
              <a:lnSpc>
                <a:spcPct val="100000"/>
              </a:lnSpc>
              <a:spcBef>
                <a:spcPts val="0"/>
              </a:spcBef>
              <a:spcAft>
                <a:spcPts val="0"/>
              </a:spcAft>
              <a:buSzPts val="1400"/>
              <a:buFont typeface="Arial"/>
              <a:buNone/>
            </a:pPr>
            <a:endParaRPr/>
          </a:p>
        </p:txBody>
      </p:sp>
      <p:sp>
        <p:nvSpPr>
          <p:cNvPr id="108" name="Google Shape;108;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nl-NL" sz="1200" b="0" i="0" u="none" strike="noStrike" cap="none">
                <a:solidFill>
                  <a:schemeClr val="dk1"/>
                </a:solidFill>
                <a:latin typeface="Calibri"/>
                <a:ea typeface="Calibri"/>
                <a:cs typeface="Calibri"/>
                <a:sym typeface="Calibri"/>
              </a:rPr>
              <a:t>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514350" marR="0" lvl="0" indent="-285750" algn="l" rtl="0">
              <a:lnSpc>
                <a:spcPct val="100000"/>
              </a:lnSpc>
              <a:spcBef>
                <a:spcPts val="0"/>
              </a:spcBef>
              <a:spcAft>
                <a:spcPts val="0"/>
              </a:spcAft>
              <a:buClr>
                <a:srgbClr val="000000"/>
              </a:buClr>
              <a:buSzPts val="1400"/>
              <a:buFont typeface="Arial"/>
              <a:buChar char="•"/>
            </a:pPr>
            <a:r>
              <a:rPr lang="nl-NL" sz="1200" b="0" i="0" u="none" strike="noStrike" cap="none" dirty="0">
                <a:solidFill>
                  <a:srgbClr val="000000"/>
                </a:solidFill>
                <a:latin typeface="Roboto"/>
                <a:ea typeface="Roboto"/>
                <a:cs typeface="Roboto"/>
                <a:sym typeface="Roboto"/>
              </a:rPr>
              <a:t>The TF </a:t>
            </a:r>
            <a:r>
              <a:rPr lang="nl-NL" sz="1200" b="0" i="0" u="none" strike="noStrike" cap="none" dirty="0" err="1">
                <a:solidFill>
                  <a:srgbClr val="000000"/>
                </a:solidFill>
                <a:latin typeface="Roboto"/>
                <a:ea typeface="Roboto"/>
                <a:cs typeface="Roboto"/>
                <a:sym typeface="Roboto"/>
              </a:rPr>
              <a:t>currently</a:t>
            </a:r>
            <a:r>
              <a:rPr lang="nl-NL" sz="1200" b="0" i="0" u="none" strike="noStrike" cap="none" dirty="0">
                <a:solidFill>
                  <a:srgbClr val="000000"/>
                </a:solidFill>
                <a:latin typeface="Roboto"/>
                <a:ea typeface="Roboto"/>
                <a:cs typeface="Roboto"/>
                <a:sym typeface="Roboto"/>
              </a:rPr>
              <a:t> has 38 members </a:t>
            </a:r>
            <a:r>
              <a:rPr lang="nl-NL" sz="1200" b="0" i="0" u="none" strike="noStrike" cap="none" dirty="0" err="1">
                <a:solidFill>
                  <a:srgbClr val="000000"/>
                </a:solidFill>
                <a:latin typeface="Roboto"/>
                <a:ea typeface="Roboto"/>
                <a:cs typeface="Roboto"/>
                <a:sym typeface="Roboto"/>
              </a:rPr>
              <a:t>from</a:t>
            </a:r>
            <a:r>
              <a:rPr lang="nl-NL" sz="1200" b="0" i="0" u="none" strike="noStrike" cap="none" dirty="0">
                <a:solidFill>
                  <a:srgbClr val="000000"/>
                </a:solidFill>
                <a:latin typeface="Roboto"/>
                <a:ea typeface="Roboto"/>
                <a:cs typeface="Roboto"/>
                <a:sym typeface="Roboto"/>
              </a:rPr>
              <a:t> different </a:t>
            </a:r>
            <a:r>
              <a:rPr lang="nl-NL" sz="1200" b="0" i="0" u="none" strike="noStrike" cap="none" dirty="0" err="1">
                <a:solidFill>
                  <a:srgbClr val="000000"/>
                </a:solidFill>
                <a:latin typeface="Roboto"/>
                <a:ea typeface="Roboto"/>
                <a:cs typeface="Roboto"/>
                <a:sym typeface="Roboto"/>
              </a:rPr>
              <a:t>affiliations</a:t>
            </a:r>
            <a:r>
              <a:rPr lang="nl-NL" sz="1200" b="0" i="0" u="none" strike="noStrike" cap="none" dirty="0">
                <a:solidFill>
                  <a:srgbClr val="000000"/>
                </a:solidFill>
                <a:latin typeface="Roboto"/>
                <a:ea typeface="Roboto"/>
                <a:cs typeface="Roboto"/>
                <a:sym typeface="Roboto"/>
              </a:rPr>
              <a:t> </a:t>
            </a:r>
            <a:r>
              <a:rPr lang="nl-NL" sz="1200" b="0" i="0" u="none" strike="noStrike" cap="none" dirty="0" err="1">
                <a:solidFill>
                  <a:srgbClr val="000000"/>
                </a:solidFill>
                <a:latin typeface="Roboto"/>
                <a:ea typeface="Roboto"/>
                <a:cs typeface="Roboto"/>
                <a:sym typeface="Roboto"/>
              </a:rPr>
              <a:t>with</a:t>
            </a:r>
            <a:r>
              <a:rPr lang="nl-NL" sz="1200" b="0" i="0" u="none" strike="noStrike" cap="none" dirty="0">
                <a:solidFill>
                  <a:srgbClr val="000000"/>
                </a:solidFill>
                <a:latin typeface="Roboto"/>
                <a:ea typeface="Roboto"/>
                <a:cs typeface="Roboto"/>
                <a:sym typeface="Roboto"/>
              </a:rPr>
              <a:t> </a:t>
            </a:r>
            <a:r>
              <a:rPr lang="nl-NL" sz="1200" b="0" i="0" u="none" strike="noStrike" cap="none" dirty="0" err="1">
                <a:solidFill>
                  <a:srgbClr val="000000"/>
                </a:solidFill>
                <a:latin typeface="Roboto"/>
                <a:ea typeface="Roboto"/>
                <a:cs typeface="Roboto"/>
                <a:sym typeface="Roboto"/>
              </a:rPr>
              <a:t>an</a:t>
            </a:r>
            <a:r>
              <a:rPr lang="nl-NL" sz="1200" b="0" i="0" u="none" strike="noStrike" cap="none" dirty="0">
                <a:solidFill>
                  <a:srgbClr val="000000"/>
                </a:solidFill>
                <a:latin typeface="Roboto"/>
                <a:ea typeface="Roboto"/>
                <a:cs typeface="Roboto"/>
                <a:sym typeface="Roboto"/>
              </a:rPr>
              <a:t> interest in </a:t>
            </a:r>
            <a:r>
              <a:rPr lang="nl-NL" sz="1200" b="0" i="0" u="none" strike="noStrike" cap="none" dirty="0" err="1">
                <a:solidFill>
                  <a:srgbClr val="000000"/>
                </a:solidFill>
                <a:latin typeface="Roboto"/>
                <a:ea typeface="Roboto"/>
                <a:cs typeface="Roboto"/>
                <a:sym typeface="Roboto"/>
              </a:rPr>
              <a:t>retention</a:t>
            </a:r>
            <a:r>
              <a:rPr lang="nl-NL" sz="1200" b="0" i="0" u="none" strike="noStrike" cap="none" dirty="0">
                <a:solidFill>
                  <a:srgbClr val="000000"/>
                </a:solidFill>
                <a:latin typeface="Roboto"/>
                <a:ea typeface="Roboto"/>
                <a:cs typeface="Roboto"/>
                <a:sym typeface="Roboto"/>
              </a:rPr>
              <a:t> </a:t>
            </a:r>
            <a:r>
              <a:rPr lang="nl-NL" sz="1200" b="0" i="0" u="none" strike="noStrike" cap="none" dirty="0" err="1">
                <a:solidFill>
                  <a:srgbClr val="000000"/>
                </a:solidFill>
                <a:latin typeface="Roboto"/>
                <a:ea typeface="Roboto"/>
                <a:cs typeface="Roboto"/>
                <a:sym typeface="Roboto"/>
              </a:rPr>
              <a:t>and</a:t>
            </a:r>
            <a:r>
              <a:rPr lang="nl-NL" sz="1200" b="0" i="0" u="none" strike="noStrike" cap="none" dirty="0">
                <a:solidFill>
                  <a:srgbClr val="000000"/>
                </a:solidFill>
                <a:latin typeface="Roboto"/>
                <a:ea typeface="Roboto"/>
                <a:cs typeface="Roboto"/>
                <a:sym typeface="Roboto"/>
              </a:rPr>
              <a:t> </a:t>
            </a:r>
            <a:r>
              <a:rPr lang="nl-NL" sz="1200" b="0" i="0" u="none" strike="noStrike" cap="none" dirty="0" err="1">
                <a:solidFill>
                  <a:srgbClr val="000000"/>
                </a:solidFill>
                <a:latin typeface="Roboto"/>
                <a:ea typeface="Roboto"/>
                <a:cs typeface="Roboto"/>
                <a:sym typeface="Roboto"/>
              </a:rPr>
              <a:t>preservation</a:t>
            </a:r>
            <a:r>
              <a:rPr lang="nl-NL" sz="1200" b="0" i="0" u="none" strike="noStrike" cap="none" dirty="0">
                <a:solidFill>
                  <a:srgbClr val="000000"/>
                </a:solidFill>
                <a:latin typeface="Roboto"/>
                <a:ea typeface="Roboto"/>
                <a:cs typeface="Roboto"/>
                <a:sym typeface="Roboto"/>
              </a:rPr>
              <a:t>. People </a:t>
            </a:r>
            <a:r>
              <a:rPr lang="nl-NL" sz="1200" b="0" i="0" u="none" strike="noStrike" cap="none" dirty="0" err="1">
                <a:solidFill>
                  <a:srgbClr val="000000"/>
                </a:solidFill>
                <a:latin typeface="Roboto"/>
                <a:ea typeface="Roboto"/>
                <a:cs typeface="Roboto"/>
                <a:sym typeface="Roboto"/>
              </a:rPr>
              <a:t>interested</a:t>
            </a:r>
            <a:r>
              <a:rPr lang="nl-NL" sz="1200" b="0" i="0" u="none" strike="noStrike" cap="none" dirty="0">
                <a:solidFill>
                  <a:srgbClr val="000000"/>
                </a:solidFill>
                <a:latin typeface="Roboto"/>
                <a:ea typeface="Roboto"/>
                <a:cs typeface="Roboto"/>
                <a:sym typeface="Roboto"/>
              </a:rPr>
              <a:t> in </a:t>
            </a:r>
            <a:r>
              <a:rPr lang="nl-NL" sz="1200" b="0" i="0" u="none" strike="noStrike" cap="none" dirty="0" err="1">
                <a:solidFill>
                  <a:srgbClr val="000000"/>
                </a:solidFill>
                <a:latin typeface="Roboto"/>
                <a:ea typeface="Roboto"/>
                <a:cs typeface="Roboto"/>
                <a:sym typeface="Roboto"/>
              </a:rPr>
              <a:t>the</a:t>
            </a:r>
            <a:r>
              <a:rPr lang="nl-NL" sz="1200" b="0" i="0" u="none" strike="noStrike" cap="none" dirty="0">
                <a:solidFill>
                  <a:srgbClr val="000000"/>
                </a:solidFill>
                <a:latin typeface="Roboto"/>
                <a:ea typeface="Roboto"/>
                <a:cs typeface="Roboto"/>
                <a:sym typeface="Roboto"/>
              </a:rPr>
              <a:t> TF </a:t>
            </a:r>
            <a:r>
              <a:rPr lang="nl-NL" sz="1200" b="0" i="0" u="none" strike="noStrike" cap="none" dirty="0" err="1">
                <a:solidFill>
                  <a:srgbClr val="000000"/>
                </a:solidFill>
                <a:latin typeface="Roboto"/>
                <a:ea typeface="Roboto"/>
                <a:cs typeface="Roboto"/>
                <a:sym typeface="Roboto"/>
              </a:rPr>
              <a:t>can</a:t>
            </a:r>
            <a:r>
              <a:rPr lang="nl-NL" sz="1200" b="0" i="0" u="none" strike="noStrike" cap="none" dirty="0">
                <a:solidFill>
                  <a:srgbClr val="000000"/>
                </a:solidFill>
                <a:latin typeface="Roboto"/>
                <a:ea typeface="Roboto"/>
                <a:cs typeface="Roboto"/>
                <a:sym typeface="Roboto"/>
              </a:rPr>
              <a:t> follow up on </a:t>
            </a:r>
            <a:r>
              <a:rPr lang="nl-NL" sz="1200" b="0" i="0" u="none" strike="noStrike" cap="none" dirty="0" err="1">
                <a:solidFill>
                  <a:srgbClr val="000000"/>
                </a:solidFill>
                <a:latin typeface="Roboto"/>
                <a:ea typeface="Roboto"/>
                <a:cs typeface="Roboto"/>
                <a:sym typeface="Roboto"/>
              </a:rPr>
              <a:t>the</a:t>
            </a:r>
            <a:r>
              <a:rPr lang="nl-NL" sz="1200" b="0" i="0" u="none" strike="noStrike" cap="none" dirty="0">
                <a:solidFill>
                  <a:srgbClr val="000000"/>
                </a:solidFill>
                <a:latin typeface="Roboto"/>
                <a:ea typeface="Roboto"/>
                <a:cs typeface="Roboto"/>
                <a:sym typeface="Roboto"/>
              </a:rPr>
              <a:t> </a:t>
            </a:r>
            <a:r>
              <a:rPr lang="nl-NL" sz="1200" b="0" i="0" u="none" strike="noStrike" cap="none" dirty="0" err="1">
                <a:solidFill>
                  <a:srgbClr val="000000"/>
                </a:solidFill>
                <a:latin typeface="Roboto"/>
                <a:ea typeface="Roboto"/>
                <a:cs typeface="Roboto"/>
                <a:sym typeface="Roboto"/>
              </a:rPr>
              <a:t>outputs</a:t>
            </a:r>
            <a:r>
              <a:rPr lang="nl-NL" sz="1200" b="0" i="0" u="none" strike="noStrike" cap="none" dirty="0">
                <a:solidFill>
                  <a:srgbClr val="000000"/>
                </a:solidFill>
                <a:latin typeface="Roboto"/>
                <a:ea typeface="Roboto"/>
                <a:cs typeface="Roboto"/>
                <a:sym typeface="Roboto"/>
              </a:rPr>
              <a:t> via </a:t>
            </a:r>
            <a:r>
              <a:rPr lang="nl-NL" sz="1200" b="0" i="0" u="none" strike="noStrike" cap="none" dirty="0" err="1">
                <a:solidFill>
                  <a:srgbClr val="000000"/>
                </a:solidFill>
                <a:latin typeface="Roboto"/>
                <a:ea typeface="Roboto"/>
                <a:cs typeface="Roboto"/>
                <a:sym typeface="Roboto"/>
              </a:rPr>
              <a:t>the</a:t>
            </a:r>
            <a:r>
              <a:rPr lang="nl-NL" sz="1200" b="0" i="0" u="none" strike="noStrike" cap="none" dirty="0">
                <a:solidFill>
                  <a:srgbClr val="000000"/>
                </a:solidFill>
                <a:latin typeface="Roboto"/>
                <a:ea typeface="Roboto"/>
                <a:cs typeface="Roboto"/>
                <a:sym typeface="Roboto"/>
              </a:rPr>
              <a:t> EOSC website </a:t>
            </a:r>
            <a:r>
              <a:rPr lang="nl-NL" sz="1200" b="0" i="0" u="none" strike="noStrike" cap="none" dirty="0" err="1">
                <a:solidFill>
                  <a:srgbClr val="000000"/>
                </a:solidFill>
                <a:latin typeface="Roboto"/>
                <a:ea typeface="Roboto"/>
                <a:cs typeface="Roboto"/>
                <a:sym typeface="Roboto"/>
              </a:rPr>
              <a:t>and</a:t>
            </a:r>
            <a:r>
              <a:rPr lang="nl-NL" sz="1200" b="0" i="0" u="none" strike="noStrike" cap="none" dirty="0">
                <a:solidFill>
                  <a:srgbClr val="000000"/>
                </a:solidFill>
                <a:latin typeface="Roboto"/>
                <a:ea typeface="Roboto"/>
                <a:cs typeface="Roboto"/>
                <a:sym typeface="Roboto"/>
              </a:rPr>
              <a:t> </a:t>
            </a:r>
            <a:r>
              <a:rPr lang="nl-NL" sz="1200" b="0" i="0" u="none" strike="noStrike" cap="none" dirty="0" err="1">
                <a:solidFill>
                  <a:srgbClr val="000000"/>
                </a:solidFill>
                <a:latin typeface="Roboto"/>
                <a:ea typeface="Roboto"/>
                <a:cs typeface="Roboto"/>
                <a:sym typeface="Roboto"/>
              </a:rPr>
              <a:t>dedicated</a:t>
            </a:r>
            <a:r>
              <a:rPr lang="nl-NL" sz="1200" b="0" i="0" u="none" strike="noStrike" cap="none" dirty="0">
                <a:solidFill>
                  <a:srgbClr val="000000"/>
                </a:solidFill>
                <a:latin typeface="Roboto"/>
                <a:ea typeface="Roboto"/>
                <a:cs typeface="Roboto"/>
                <a:sym typeface="Roboto"/>
              </a:rPr>
              <a:t> EOSC events. It is </a:t>
            </a:r>
            <a:r>
              <a:rPr lang="nl-NL" sz="1200" b="0" i="0" u="none" strike="noStrike" cap="none" dirty="0" err="1">
                <a:solidFill>
                  <a:srgbClr val="000000"/>
                </a:solidFill>
                <a:latin typeface="Roboto"/>
                <a:ea typeface="Roboto"/>
                <a:cs typeface="Roboto"/>
                <a:sym typeface="Roboto"/>
              </a:rPr>
              <a:t>possible</a:t>
            </a:r>
            <a:r>
              <a:rPr lang="nl-NL" sz="1200" b="0" i="0" u="none" strike="noStrike" cap="none" dirty="0">
                <a:solidFill>
                  <a:srgbClr val="000000"/>
                </a:solidFill>
                <a:latin typeface="Roboto"/>
                <a:ea typeface="Roboto"/>
                <a:cs typeface="Roboto"/>
                <a:sym typeface="Roboto"/>
              </a:rPr>
              <a:t> to </a:t>
            </a:r>
            <a:r>
              <a:rPr lang="nl-NL" sz="1200" b="0" i="0" u="none" strike="noStrike" cap="none" dirty="0" err="1">
                <a:solidFill>
                  <a:srgbClr val="000000"/>
                </a:solidFill>
                <a:latin typeface="Roboto"/>
                <a:ea typeface="Roboto"/>
                <a:cs typeface="Roboto"/>
                <a:sym typeface="Roboto"/>
              </a:rPr>
              <a:t>join</a:t>
            </a:r>
            <a:r>
              <a:rPr lang="nl-NL" sz="1200" b="0" i="0" u="none" strike="noStrike" cap="none" dirty="0">
                <a:solidFill>
                  <a:srgbClr val="000000"/>
                </a:solidFill>
                <a:latin typeface="Roboto"/>
                <a:ea typeface="Roboto"/>
                <a:cs typeface="Roboto"/>
                <a:sym typeface="Roboto"/>
              </a:rPr>
              <a:t> as a non-EOSC member as well in case </a:t>
            </a:r>
            <a:r>
              <a:rPr lang="nl-NL" sz="1200" b="0" i="0" u="none" strike="noStrike" cap="none" dirty="0" err="1">
                <a:solidFill>
                  <a:srgbClr val="000000"/>
                </a:solidFill>
                <a:latin typeface="Roboto"/>
                <a:ea typeface="Roboto"/>
                <a:cs typeface="Roboto"/>
                <a:sym typeface="Roboto"/>
              </a:rPr>
              <a:t>the</a:t>
            </a:r>
            <a:r>
              <a:rPr lang="nl-NL" sz="1200" b="0" i="0" u="none" strike="noStrike" cap="none" dirty="0">
                <a:solidFill>
                  <a:srgbClr val="000000"/>
                </a:solidFill>
                <a:latin typeface="Roboto"/>
                <a:ea typeface="Roboto"/>
                <a:cs typeface="Roboto"/>
                <a:sym typeface="Roboto"/>
              </a:rPr>
              <a:t> interest of expertise of </a:t>
            </a:r>
            <a:r>
              <a:rPr lang="nl-NL" sz="1200" b="0" i="0" u="none" strike="noStrike" cap="none" dirty="0" err="1">
                <a:solidFill>
                  <a:srgbClr val="000000"/>
                </a:solidFill>
                <a:latin typeface="Roboto"/>
                <a:ea typeface="Roboto"/>
                <a:cs typeface="Roboto"/>
                <a:sym typeface="Roboto"/>
              </a:rPr>
              <a:t>the</a:t>
            </a:r>
            <a:r>
              <a:rPr lang="nl-NL" sz="1200" b="0" i="0" u="none" strike="noStrike" cap="none" dirty="0">
                <a:solidFill>
                  <a:srgbClr val="000000"/>
                </a:solidFill>
                <a:latin typeface="Roboto"/>
                <a:ea typeface="Roboto"/>
                <a:cs typeface="Roboto"/>
                <a:sym typeface="Roboto"/>
              </a:rPr>
              <a:t> </a:t>
            </a:r>
            <a:r>
              <a:rPr lang="nl-NL" sz="1200" b="0" i="0" u="none" strike="noStrike" cap="none" dirty="0" err="1">
                <a:solidFill>
                  <a:srgbClr val="000000"/>
                </a:solidFill>
                <a:latin typeface="Roboto"/>
                <a:ea typeface="Roboto"/>
                <a:cs typeface="Roboto"/>
                <a:sym typeface="Roboto"/>
              </a:rPr>
              <a:t>applicant</a:t>
            </a:r>
            <a:r>
              <a:rPr lang="nl-NL" sz="1200" b="0" i="0" u="none" strike="noStrike" cap="none" dirty="0">
                <a:solidFill>
                  <a:srgbClr val="000000"/>
                </a:solidFill>
                <a:latin typeface="Roboto"/>
                <a:ea typeface="Roboto"/>
                <a:cs typeface="Roboto"/>
                <a:sym typeface="Roboto"/>
              </a:rPr>
              <a:t> </a:t>
            </a:r>
            <a:r>
              <a:rPr lang="nl-NL" sz="1200" b="0" i="0" u="none" strike="noStrike" cap="none" dirty="0" err="1">
                <a:solidFill>
                  <a:srgbClr val="000000"/>
                </a:solidFill>
                <a:latin typeface="Roboto"/>
                <a:ea typeface="Roboto"/>
                <a:cs typeface="Roboto"/>
                <a:sym typeface="Roboto"/>
              </a:rPr>
              <a:t>aligns</a:t>
            </a:r>
            <a:r>
              <a:rPr lang="nl-NL" sz="1200" b="0" i="0" u="none" strike="noStrike" cap="none" dirty="0">
                <a:solidFill>
                  <a:srgbClr val="000000"/>
                </a:solidFill>
                <a:latin typeface="Roboto"/>
                <a:ea typeface="Roboto"/>
                <a:cs typeface="Roboto"/>
                <a:sym typeface="Roboto"/>
              </a:rPr>
              <a:t> </a:t>
            </a:r>
            <a:r>
              <a:rPr lang="nl-NL" sz="1200" b="0" i="0" u="none" strike="noStrike" cap="none" dirty="0" err="1">
                <a:solidFill>
                  <a:srgbClr val="000000"/>
                </a:solidFill>
                <a:latin typeface="Roboto"/>
                <a:ea typeface="Roboto"/>
                <a:cs typeface="Roboto"/>
                <a:sym typeface="Roboto"/>
              </a:rPr>
              <a:t>with</a:t>
            </a:r>
            <a:r>
              <a:rPr lang="nl-NL" sz="1200" b="0" i="0" u="none" strike="noStrike" cap="none" dirty="0">
                <a:solidFill>
                  <a:srgbClr val="000000"/>
                </a:solidFill>
                <a:latin typeface="Roboto"/>
                <a:ea typeface="Roboto"/>
                <a:cs typeface="Roboto"/>
                <a:sym typeface="Roboto"/>
              </a:rPr>
              <a:t> </a:t>
            </a:r>
            <a:r>
              <a:rPr lang="nl-NL" sz="1200" b="0" i="0" u="none" strike="noStrike" cap="none" dirty="0" err="1">
                <a:solidFill>
                  <a:srgbClr val="000000"/>
                </a:solidFill>
                <a:latin typeface="Roboto"/>
                <a:ea typeface="Roboto"/>
                <a:cs typeface="Roboto"/>
                <a:sym typeface="Roboto"/>
              </a:rPr>
              <a:t>the</a:t>
            </a:r>
            <a:r>
              <a:rPr lang="nl-NL" sz="1200" b="0" i="0" u="none" strike="noStrike" cap="none" dirty="0">
                <a:solidFill>
                  <a:srgbClr val="000000"/>
                </a:solidFill>
                <a:latin typeface="Roboto"/>
                <a:ea typeface="Roboto"/>
                <a:cs typeface="Roboto"/>
                <a:sym typeface="Roboto"/>
              </a:rPr>
              <a:t> TF </a:t>
            </a:r>
            <a:r>
              <a:rPr lang="nl-NL" sz="1200" b="0" i="0" u="none" strike="noStrike" cap="none" dirty="0" err="1">
                <a:solidFill>
                  <a:srgbClr val="000000"/>
                </a:solidFill>
                <a:latin typeface="Roboto"/>
                <a:ea typeface="Roboto"/>
                <a:cs typeface="Roboto"/>
                <a:sym typeface="Roboto"/>
              </a:rPr>
              <a:t>objectives</a:t>
            </a:r>
            <a:r>
              <a:rPr lang="nl-NL" sz="1200" b="0" i="0" u="none" strike="noStrike" cap="none" dirty="0">
                <a:solidFill>
                  <a:srgbClr val="000000"/>
                </a:solidFill>
                <a:latin typeface="Roboto"/>
                <a:ea typeface="Roboto"/>
                <a:cs typeface="Roboto"/>
                <a:sym typeface="Roboto"/>
              </a:rPr>
              <a:t>. </a:t>
            </a:r>
            <a:r>
              <a:rPr lang="nl-NL" sz="1200" b="0" i="0" u="none" strike="noStrike" cap="none" dirty="0" err="1">
                <a:solidFill>
                  <a:srgbClr val="000000"/>
                </a:solidFill>
                <a:latin typeface="Roboto"/>
                <a:ea typeface="Roboto"/>
                <a:cs typeface="Roboto"/>
                <a:sym typeface="Roboto"/>
              </a:rPr>
              <a:t>Any</a:t>
            </a:r>
            <a:r>
              <a:rPr lang="nl-NL" sz="1200" b="0" i="0" u="none" strike="noStrike" cap="none" dirty="0">
                <a:solidFill>
                  <a:srgbClr val="000000"/>
                </a:solidFill>
                <a:latin typeface="Roboto"/>
                <a:ea typeface="Roboto"/>
                <a:cs typeface="Roboto"/>
                <a:sym typeface="Roboto"/>
              </a:rPr>
              <a:t> new </a:t>
            </a:r>
            <a:r>
              <a:rPr lang="nl-NL" sz="1200" b="0" i="0" u="none" strike="noStrike" cap="none" dirty="0" err="1">
                <a:solidFill>
                  <a:srgbClr val="000000"/>
                </a:solidFill>
                <a:latin typeface="Roboto"/>
                <a:ea typeface="Roboto"/>
                <a:cs typeface="Roboto"/>
                <a:sym typeface="Roboto"/>
              </a:rPr>
              <a:t>candidacies</a:t>
            </a:r>
            <a:r>
              <a:rPr lang="nl-NL" sz="1200" b="0" i="0" u="none" strike="noStrike" cap="none" dirty="0">
                <a:solidFill>
                  <a:srgbClr val="000000"/>
                </a:solidFill>
                <a:latin typeface="Roboto"/>
                <a:ea typeface="Roboto"/>
                <a:cs typeface="Roboto"/>
                <a:sym typeface="Roboto"/>
              </a:rPr>
              <a:t> are </a:t>
            </a:r>
            <a:r>
              <a:rPr lang="nl-NL" sz="1200" b="0" i="0" u="none" strike="noStrike" cap="none" dirty="0" err="1">
                <a:solidFill>
                  <a:srgbClr val="000000"/>
                </a:solidFill>
                <a:latin typeface="Roboto"/>
                <a:ea typeface="Roboto"/>
                <a:cs typeface="Roboto"/>
                <a:sym typeface="Roboto"/>
              </a:rPr>
              <a:t>reviewed</a:t>
            </a:r>
            <a:r>
              <a:rPr lang="nl-NL" sz="1200" b="0" i="0" u="none" strike="noStrike" cap="none" dirty="0">
                <a:solidFill>
                  <a:srgbClr val="000000"/>
                </a:solidFill>
                <a:latin typeface="Roboto"/>
                <a:ea typeface="Roboto"/>
                <a:cs typeface="Roboto"/>
                <a:sym typeface="Roboto"/>
              </a:rPr>
              <a:t> </a:t>
            </a:r>
            <a:r>
              <a:rPr lang="nl-NL" sz="1200" b="0" i="0" u="none" strike="noStrike" cap="none" dirty="0" err="1">
                <a:solidFill>
                  <a:srgbClr val="000000"/>
                </a:solidFill>
                <a:latin typeface="Roboto"/>
                <a:ea typeface="Roboto"/>
                <a:cs typeface="Roboto"/>
                <a:sym typeface="Roboto"/>
              </a:rPr>
              <a:t>and</a:t>
            </a:r>
            <a:r>
              <a:rPr lang="nl-NL" sz="1200" b="0" i="0" u="none" strike="noStrike" cap="none" dirty="0">
                <a:solidFill>
                  <a:srgbClr val="000000"/>
                </a:solidFill>
                <a:latin typeface="Roboto"/>
                <a:ea typeface="Roboto"/>
                <a:cs typeface="Roboto"/>
                <a:sym typeface="Roboto"/>
              </a:rPr>
              <a:t> </a:t>
            </a:r>
            <a:r>
              <a:rPr lang="nl-NL" sz="1200" b="0" i="0" u="none" strike="noStrike" cap="none" dirty="0" err="1">
                <a:solidFill>
                  <a:srgbClr val="000000"/>
                </a:solidFill>
                <a:latin typeface="Roboto"/>
                <a:ea typeface="Roboto"/>
                <a:cs typeface="Roboto"/>
                <a:sym typeface="Roboto"/>
              </a:rPr>
              <a:t>approved</a:t>
            </a:r>
            <a:r>
              <a:rPr lang="nl-NL" sz="1200" b="0" i="0" u="none" strike="noStrike" cap="none" dirty="0">
                <a:solidFill>
                  <a:srgbClr val="000000"/>
                </a:solidFill>
                <a:latin typeface="Roboto"/>
                <a:ea typeface="Roboto"/>
                <a:cs typeface="Roboto"/>
                <a:sym typeface="Roboto"/>
              </a:rPr>
              <a:t> </a:t>
            </a:r>
            <a:r>
              <a:rPr lang="nl-NL" sz="1200" b="0" i="0" u="none" strike="noStrike" cap="none" dirty="0" err="1">
                <a:solidFill>
                  <a:srgbClr val="000000"/>
                </a:solidFill>
                <a:latin typeface="Roboto"/>
                <a:ea typeface="Roboto"/>
                <a:cs typeface="Roboto"/>
                <a:sym typeface="Roboto"/>
              </a:rPr>
              <a:t>by</a:t>
            </a:r>
            <a:r>
              <a:rPr lang="nl-NL" sz="1200" b="0" i="0" u="none" strike="noStrike" cap="none" dirty="0">
                <a:solidFill>
                  <a:srgbClr val="000000"/>
                </a:solidFill>
                <a:latin typeface="Roboto"/>
                <a:ea typeface="Roboto"/>
                <a:cs typeface="Roboto"/>
                <a:sym typeface="Roboto"/>
              </a:rPr>
              <a:t> </a:t>
            </a:r>
            <a:r>
              <a:rPr lang="nl-NL" sz="1200" b="0" i="0" u="none" strike="noStrike" cap="none" dirty="0" err="1">
                <a:solidFill>
                  <a:srgbClr val="000000"/>
                </a:solidFill>
                <a:latin typeface="Roboto"/>
                <a:ea typeface="Roboto"/>
                <a:cs typeface="Roboto"/>
                <a:sym typeface="Roboto"/>
              </a:rPr>
              <a:t>the</a:t>
            </a:r>
            <a:r>
              <a:rPr lang="nl-NL" sz="1200" b="0" i="0" u="none" strike="noStrike" cap="none" dirty="0">
                <a:solidFill>
                  <a:srgbClr val="000000"/>
                </a:solidFill>
                <a:latin typeface="Roboto"/>
                <a:ea typeface="Roboto"/>
                <a:cs typeface="Roboto"/>
                <a:sym typeface="Roboto"/>
              </a:rPr>
              <a:t> EOSC </a:t>
            </a:r>
            <a:r>
              <a:rPr lang="nl-NL" sz="1200" b="0" i="0" u="none" strike="noStrike" cap="none" dirty="0" err="1">
                <a:solidFill>
                  <a:srgbClr val="000000"/>
                </a:solidFill>
                <a:latin typeface="Roboto"/>
                <a:ea typeface="Roboto"/>
                <a:cs typeface="Roboto"/>
                <a:sym typeface="Roboto"/>
              </a:rPr>
              <a:t>BoD</a:t>
            </a:r>
            <a:r>
              <a:rPr lang="nl-NL" sz="1200" b="0" i="0" u="none" strike="noStrike" cap="none" dirty="0">
                <a:solidFill>
                  <a:srgbClr val="000000"/>
                </a:solidFill>
                <a:latin typeface="Roboto"/>
                <a:ea typeface="Roboto"/>
                <a:cs typeface="Roboto"/>
                <a:sym typeface="Roboto"/>
              </a:rPr>
              <a:t>.</a:t>
            </a:r>
            <a:endParaRPr dirty="0"/>
          </a:p>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119" name="Google Shape;119;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nl-NL" sz="1200" b="0" i="0" u="none" strike="noStrike" cap="none">
                <a:solidFill>
                  <a:schemeClr val="dk1"/>
                </a:solidFill>
                <a:latin typeface="Calibri"/>
                <a:ea typeface="Calibri"/>
                <a:cs typeface="Calibri"/>
                <a:sym typeface="Calibri"/>
              </a:rPr>
              <a:t>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Page" type="title">
  <p:cSld name="TITLE">
    <p:spTree>
      <p:nvGrpSpPr>
        <p:cNvPr id="1" name="Shape 14"/>
        <p:cNvGrpSpPr/>
        <p:nvPr/>
      </p:nvGrpSpPr>
      <p:grpSpPr>
        <a:xfrm>
          <a:off x="0" y="0"/>
          <a:ext cx="0" cy="0"/>
          <a:chOff x="0" y="0"/>
          <a:chExt cx="0" cy="0"/>
        </a:xfrm>
      </p:grpSpPr>
      <p:pic>
        <p:nvPicPr>
          <p:cNvPr id="15" name="Google Shape;15;p26"/>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6" name="Google Shape;16;p26"/>
          <p:cNvSpPr txBox="1">
            <a:spLocks noGrp="1"/>
          </p:cNvSpPr>
          <p:nvPr>
            <p:ph type="ctrTitle"/>
          </p:nvPr>
        </p:nvSpPr>
        <p:spPr>
          <a:xfrm>
            <a:off x="423013" y="1600200"/>
            <a:ext cx="9144000" cy="10064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500"/>
              <a:buFont typeface="Roboto"/>
              <a:buNone/>
              <a:defRPr sz="6500" b="0" i="0">
                <a:solidFill>
                  <a:schemeClr val="lt1"/>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6"/>
          <p:cNvSpPr txBox="1">
            <a:spLocks noGrp="1"/>
          </p:cNvSpPr>
          <p:nvPr>
            <p:ph type="subTitle" idx="1"/>
          </p:nvPr>
        </p:nvSpPr>
        <p:spPr>
          <a:xfrm>
            <a:off x="423013" y="2825750"/>
            <a:ext cx="9144000"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3000"/>
              <a:buNone/>
              <a:defRPr sz="3000" b="0" i="0">
                <a:solidFill>
                  <a:schemeClr val="lt1"/>
                </a:solidFill>
                <a:latin typeface="Roboto"/>
                <a:ea typeface="Roboto"/>
                <a:cs typeface="Roboto"/>
                <a:sym typeface="Robot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6"/>
          <p:cNvSpPr txBox="1">
            <a:spLocks noGrp="1"/>
          </p:cNvSpPr>
          <p:nvPr>
            <p:ph type="ftr" idx="11"/>
          </p:nvPr>
        </p:nvSpPr>
        <p:spPr>
          <a:xfrm>
            <a:off x="423013" y="6173787"/>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9" name="Google Shape;19;p26"/>
          <p:cNvPicPr preferRelativeResize="0"/>
          <p:nvPr/>
        </p:nvPicPr>
        <p:blipFill rotWithShape="1">
          <a:blip r:embed="rId3">
            <a:alphaModFix/>
          </a:blip>
          <a:srcRect/>
          <a:stretch/>
        </p:blipFill>
        <p:spPr>
          <a:xfrm>
            <a:off x="266400" y="133200"/>
            <a:ext cx="4598416" cy="77876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Full Page Image">
  <p:cSld name="Full Page Image">
    <p:spTree>
      <p:nvGrpSpPr>
        <p:cNvPr id="1" name="Shape 20"/>
        <p:cNvGrpSpPr/>
        <p:nvPr/>
      </p:nvGrpSpPr>
      <p:grpSpPr>
        <a:xfrm>
          <a:off x="0" y="0"/>
          <a:ext cx="0" cy="0"/>
          <a:chOff x="0" y="0"/>
          <a:chExt cx="0" cy="0"/>
        </a:xfrm>
      </p:grpSpPr>
      <p:sp>
        <p:nvSpPr>
          <p:cNvPr id="21" name="Google Shape;21;p32"/>
          <p:cNvSpPr>
            <a:spLocks noGrp="1"/>
          </p:cNvSpPr>
          <p:nvPr>
            <p:ph type="pic" idx="2"/>
          </p:nvPr>
        </p:nvSpPr>
        <p:spPr>
          <a:xfrm>
            <a:off x="0" y="0"/>
            <a:ext cx="12192000" cy="6857999"/>
          </a:xfrm>
          <a:prstGeom prst="rect">
            <a:avLst/>
          </a:prstGeom>
          <a:noFill/>
          <a:ln>
            <a:noFill/>
          </a:ln>
        </p:spPr>
      </p:sp>
      <p:pic>
        <p:nvPicPr>
          <p:cNvPr id="22" name="Google Shape;22;p32"/>
          <p:cNvPicPr preferRelativeResize="0"/>
          <p:nvPr/>
        </p:nvPicPr>
        <p:blipFill rotWithShape="1">
          <a:blip r:embed="rId2">
            <a:alphaModFix/>
          </a:blip>
          <a:srcRect/>
          <a:stretch/>
        </p:blipFill>
        <p:spPr>
          <a:xfrm>
            <a:off x="358140" y="360654"/>
            <a:ext cx="1196340" cy="340893"/>
          </a:xfrm>
          <a:prstGeom prst="rect">
            <a:avLst/>
          </a:prstGeom>
          <a:noFill/>
          <a:ln>
            <a:noFill/>
          </a:ln>
        </p:spPr>
      </p:pic>
      <p:sp>
        <p:nvSpPr>
          <p:cNvPr id="23" name="Google Shape;23;p32"/>
          <p:cNvSpPr txBox="1">
            <a:spLocks noGrp="1"/>
          </p:cNvSpPr>
          <p:nvPr>
            <p:ph type="body" idx="1"/>
          </p:nvPr>
        </p:nvSpPr>
        <p:spPr>
          <a:xfrm>
            <a:off x="311150" y="418955"/>
            <a:ext cx="1289043" cy="290035"/>
          </a:xfrm>
          <a:prstGeom prst="rect">
            <a:avLst/>
          </a:prstGeom>
          <a:blipFill rotWithShape="1">
            <a:blip r:embed="rId3">
              <a:alphaModFix/>
            </a:blip>
            <a:stretch>
              <a:fillRect/>
            </a:stretch>
          </a:blip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100"/>
              <a:buFont typeface="Roboto Light"/>
              <a:buNone/>
              <a:defRPr sz="1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xt Page 3">
  <p:cSld name="Text Page 3">
    <p:spTree>
      <p:nvGrpSpPr>
        <p:cNvPr id="1" name="Shape 24"/>
        <p:cNvGrpSpPr/>
        <p:nvPr/>
      </p:nvGrpSpPr>
      <p:grpSpPr>
        <a:xfrm>
          <a:off x="0" y="0"/>
          <a:ext cx="0" cy="0"/>
          <a:chOff x="0" y="0"/>
          <a:chExt cx="0" cy="0"/>
        </a:xfrm>
      </p:grpSpPr>
      <p:pic>
        <p:nvPicPr>
          <p:cNvPr id="25" name="Google Shape;25;p27"/>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6" name="Google Shape;26;p27"/>
          <p:cNvSpPr txBox="1">
            <a:spLocks noGrp="1"/>
          </p:cNvSpPr>
          <p:nvPr>
            <p:ph type="body" idx="1"/>
          </p:nvPr>
        </p:nvSpPr>
        <p:spPr>
          <a:xfrm>
            <a:off x="1721738" y="1570383"/>
            <a:ext cx="9830179" cy="4382541"/>
          </a:xfrm>
          <a:prstGeom prst="rect">
            <a:avLst/>
          </a:prstGeom>
          <a:noFill/>
          <a:ln>
            <a:noFill/>
          </a:ln>
        </p:spPr>
        <p:txBody>
          <a:bodyPr spcFirstLastPara="1" wrap="square" lIns="91425" tIns="45700" rIns="91425" bIns="45700" anchor="t" anchorCtr="0">
            <a:normAutofit/>
          </a:bodyPr>
          <a:lstStyle>
            <a:lvl1pPr marL="457200" lvl="0" indent="-228600" algn="l">
              <a:lnSpc>
                <a:spcPct val="130000"/>
              </a:lnSpc>
              <a:spcBef>
                <a:spcPts val="1000"/>
              </a:spcBef>
              <a:spcAft>
                <a:spcPts val="0"/>
              </a:spcAft>
              <a:buClr>
                <a:schemeClr val="dk1"/>
              </a:buClr>
              <a:buSzPts val="1500"/>
              <a:buNone/>
              <a:defRPr sz="1500" b="0" i="0">
                <a:solidFill>
                  <a:schemeClr val="dk1"/>
                </a:solidFill>
                <a:latin typeface="Roboto"/>
                <a:ea typeface="Roboto"/>
                <a:cs typeface="Roboto"/>
                <a:sym typeface="Roboto"/>
              </a:defRPr>
            </a:lvl1pPr>
            <a:lvl2pPr marL="914400" lvl="1" indent="-323850" algn="l">
              <a:lnSpc>
                <a:spcPct val="90000"/>
              </a:lnSpc>
              <a:spcBef>
                <a:spcPts val="500"/>
              </a:spcBef>
              <a:spcAft>
                <a:spcPts val="0"/>
              </a:spcAft>
              <a:buClr>
                <a:srgbClr val="3A3838"/>
              </a:buClr>
              <a:buSzPts val="1500"/>
              <a:buChar char="•"/>
              <a:defRPr sz="1500">
                <a:solidFill>
                  <a:srgbClr val="3A3838"/>
                </a:solidFill>
                <a:latin typeface="Roboto Light"/>
                <a:ea typeface="Roboto Light"/>
                <a:cs typeface="Roboto Light"/>
                <a:sym typeface="Roboto Light"/>
              </a:defRPr>
            </a:lvl2pPr>
            <a:lvl3pPr marL="1371600" lvl="2" indent="-323850" algn="l">
              <a:lnSpc>
                <a:spcPct val="90000"/>
              </a:lnSpc>
              <a:spcBef>
                <a:spcPts val="500"/>
              </a:spcBef>
              <a:spcAft>
                <a:spcPts val="0"/>
              </a:spcAft>
              <a:buClr>
                <a:srgbClr val="3A3838"/>
              </a:buClr>
              <a:buSzPts val="1500"/>
              <a:buChar char="•"/>
              <a:defRPr sz="1500">
                <a:solidFill>
                  <a:srgbClr val="3A3838"/>
                </a:solidFill>
                <a:latin typeface="Roboto Light"/>
                <a:ea typeface="Roboto Light"/>
                <a:cs typeface="Roboto Light"/>
                <a:sym typeface="Roboto Light"/>
              </a:defRPr>
            </a:lvl3pPr>
            <a:lvl4pPr marL="1828800" lvl="3" indent="-323850" algn="l">
              <a:lnSpc>
                <a:spcPct val="90000"/>
              </a:lnSpc>
              <a:spcBef>
                <a:spcPts val="500"/>
              </a:spcBef>
              <a:spcAft>
                <a:spcPts val="0"/>
              </a:spcAft>
              <a:buClr>
                <a:srgbClr val="3A3838"/>
              </a:buClr>
              <a:buSzPts val="1500"/>
              <a:buChar char="•"/>
              <a:defRPr sz="1500">
                <a:solidFill>
                  <a:srgbClr val="3A3838"/>
                </a:solidFill>
                <a:latin typeface="Roboto Light"/>
                <a:ea typeface="Roboto Light"/>
                <a:cs typeface="Roboto Light"/>
                <a:sym typeface="Roboto Light"/>
              </a:defRPr>
            </a:lvl4pPr>
            <a:lvl5pPr marL="2286000" lvl="4" indent="-323850" algn="l">
              <a:lnSpc>
                <a:spcPct val="90000"/>
              </a:lnSpc>
              <a:spcBef>
                <a:spcPts val="500"/>
              </a:spcBef>
              <a:spcAft>
                <a:spcPts val="0"/>
              </a:spcAft>
              <a:buClr>
                <a:srgbClr val="3A3838"/>
              </a:buClr>
              <a:buSzPts val="1500"/>
              <a:buChar char="•"/>
              <a:defRPr sz="1500">
                <a:solidFill>
                  <a:srgbClr val="3A3838"/>
                </a:solidFill>
                <a:latin typeface="Roboto Light"/>
                <a:ea typeface="Roboto Light"/>
                <a:cs typeface="Roboto Light"/>
                <a:sym typeface="Roboto Ligh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7"/>
          <p:cNvSpPr txBox="1">
            <a:spLocks noGrp="1"/>
          </p:cNvSpPr>
          <p:nvPr>
            <p:ph type="title"/>
          </p:nvPr>
        </p:nvSpPr>
        <p:spPr>
          <a:xfrm>
            <a:off x="2847248" y="235633"/>
            <a:ext cx="8704670" cy="60388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8691"/>
              </a:buClr>
              <a:buSzPts val="3500"/>
              <a:buFont typeface="Roboto"/>
              <a:buNone/>
              <a:defRPr sz="3500" b="0" i="0">
                <a:solidFill>
                  <a:srgbClr val="008691"/>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7"/>
          <p:cNvSpPr txBox="1">
            <a:spLocks noGrp="1"/>
          </p:cNvSpPr>
          <p:nvPr>
            <p:ph type="sldNum" idx="12"/>
          </p:nvPr>
        </p:nvSpPr>
        <p:spPr>
          <a:xfrm>
            <a:off x="10744200" y="6423497"/>
            <a:ext cx="1289222" cy="19887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9pPr>
          </a:lstStyle>
          <a:p>
            <a:pPr marL="0" lvl="0" indent="0" algn="r" rtl="0">
              <a:spcBef>
                <a:spcPts val="0"/>
              </a:spcBef>
              <a:spcAft>
                <a:spcPts val="0"/>
              </a:spcAft>
              <a:buNone/>
            </a:pPr>
            <a:fld id="{00000000-1234-1234-1234-123412341234}" type="slidenum">
              <a:rPr lang="nl-NL"/>
              <a:t>‹#›</a:t>
            </a:fld>
            <a:endParaRPr/>
          </a:p>
        </p:txBody>
      </p:sp>
      <p:sp>
        <p:nvSpPr>
          <p:cNvPr id="29" name="Google Shape;29;p27"/>
          <p:cNvSpPr txBox="1">
            <a:spLocks noGrp="1"/>
          </p:cNvSpPr>
          <p:nvPr>
            <p:ph type="body" idx="2"/>
          </p:nvPr>
        </p:nvSpPr>
        <p:spPr>
          <a:xfrm>
            <a:off x="2847245" y="895137"/>
            <a:ext cx="8704671" cy="36476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C0C0C"/>
              </a:buClr>
              <a:buSzPts val="1900"/>
              <a:buNone/>
              <a:defRPr sz="1900" b="0" i="0">
                <a:solidFill>
                  <a:srgbClr val="0C0C0C"/>
                </a:solidFill>
                <a:latin typeface="Roboto"/>
                <a:ea typeface="Roboto"/>
                <a:cs typeface="Roboto"/>
                <a:sym typeface="Roboto"/>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7"/>
          <p:cNvSpPr txBox="1">
            <a:spLocks noGrp="1"/>
          </p:cNvSpPr>
          <p:nvPr>
            <p:ph type="ftr" idx="11"/>
          </p:nvPr>
        </p:nvSpPr>
        <p:spPr>
          <a:xfrm>
            <a:off x="311426"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00869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1" name="Google Shape;31;p27"/>
          <p:cNvPicPr preferRelativeResize="0"/>
          <p:nvPr/>
        </p:nvPicPr>
        <p:blipFill rotWithShape="1">
          <a:blip r:embed="rId3">
            <a:alphaModFix/>
          </a:blip>
          <a:srcRect/>
          <a:stretch/>
        </p:blipFill>
        <p:spPr>
          <a:xfrm>
            <a:off x="75600" y="302400"/>
            <a:ext cx="2771648" cy="46939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xt + Image Page 2">
  <p:cSld name="Text + Image Page 2">
    <p:spTree>
      <p:nvGrpSpPr>
        <p:cNvPr id="1" name="Shape 32"/>
        <p:cNvGrpSpPr/>
        <p:nvPr/>
      </p:nvGrpSpPr>
      <p:grpSpPr>
        <a:xfrm>
          <a:off x="0" y="0"/>
          <a:ext cx="0" cy="0"/>
          <a:chOff x="0" y="0"/>
          <a:chExt cx="0" cy="0"/>
        </a:xfrm>
      </p:grpSpPr>
      <p:pic>
        <p:nvPicPr>
          <p:cNvPr id="33" name="Google Shape;33;p3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4" name="Google Shape;34;p30"/>
          <p:cNvSpPr txBox="1">
            <a:spLocks noGrp="1"/>
          </p:cNvSpPr>
          <p:nvPr>
            <p:ph type="body" idx="1"/>
          </p:nvPr>
        </p:nvSpPr>
        <p:spPr>
          <a:xfrm>
            <a:off x="1721736" y="1570384"/>
            <a:ext cx="4658743" cy="4382570"/>
          </a:xfrm>
          <a:prstGeom prst="rect">
            <a:avLst/>
          </a:prstGeom>
          <a:noFill/>
          <a:ln>
            <a:noFill/>
          </a:ln>
        </p:spPr>
        <p:txBody>
          <a:bodyPr spcFirstLastPara="1" wrap="square" lIns="91425" tIns="45700" rIns="91425" bIns="45700" anchor="t" anchorCtr="0">
            <a:normAutofit/>
          </a:bodyPr>
          <a:lstStyle>
            <a:lvl1pPr marL="457200" lvl="0" indent="-228600" algn="l">
              <a:lnSpc>
                <a:spcPct val="130000"/>
              </a:lnSpc>
              <a:spcBef>
                <a:spcPts val="1000"/>
              </a:spcBef>
              <a:spcAft>
                <a:spcPts val="0"/>
              </a:spcAft>
              <a:buClr>
                <a:schemeClr val="dk1"/>
              </a:buClr>
              <a:buSzPts val="1500"/>
              <a:buNone/>
              <a:defRPr sz="1500" b="0" i="0">
                <a:solidFill>
                  <a:schemeClr val="dk1"/>
                </a:solidFill>
                <a:latin typeface="Roboto"/>
                <a:ea typeface="Roboto"/>
                <a:cs typeface="Roboto"/>
                <a:sym typeface="Roboto"/>
              </a:defRPr>
            </a:lvl1pPr>
            <a:lvl2pPr marL="914400" lvl="1" indent="-323850" algn="l">
              <a:lnSpc>
                <a:spcPct val="90000"/>
              </a:lnSpc>
              <a:spcBef>
                <a:spcPts val="500"/>
              </a:spcBef>
              <a:spcAft>
                <a:spcPts val="0"/>
              </a:spcAft>
              <a:buClr>
                <a:srgbClr val="3A3838"/>
              </a:buClr>
              <a:buSzPts val="1500"/>
              <a:buChar char="•"/>
              <a:defRPr sz="1500">
                <a:solidFill>
                  <a:srgbClr val="3A3838"/>
                </a:solidFill>
                <a:latin typeface="Roboto Light"/>
                <a:ea typeface="Roboto Light"/>
                <a:cs typeface="Roboto Light"/>
                <a:sym typeface="Roboto Light"/>
              </a:defRPr>
            </a:lvl2pPr>
            <a:lvl3pPr marL="1371600" lvl="2" indent="-323850" algn="l">
              <a:lnSpc>
                <a:spcPct val="90000"/>
              </a:lnSpc>
              <a:spcBef>
                <a:spcPts val="500"/>
              </a:spcBef>
              <a:spcAft>
                <a:spcPts val="0"/>
              </a:spcAft>
              <a:buClr>
                <a:srgbClr val="3A3838"/>
              </a:buClr>
              <a:buSzPts val="1500"/>
              <a:buChar char="•"/>
              <a:defRPr sz="1500">
                <a:solidFill>
                  <a:srgbClr val="3A3838"/>
                </a:solidFill>
                <a:latin typeface="Roboto Light"/>
                <a:ea typeface="Roboto Light"/>
                <a:cs typeface="Roboto Light"/>
                <a:sym typeface="Roboto Light"/>
              </a:defRPr>
            </a:lvl3pPr>
            <a:lvl4pPr marL="1828800" lvl="3" indent="-323850" algn="l">
              <a:lnSpc>
                <a:spcPct val="90000"/>
              </a:lnSpc>
              <a:spcBef>
                <a:spcPts val="500"/>
              </a:spcBef>
              <a:spcAft>
                <a:spcPts val="0"/>
              </a:spcAft>
              <a:buClr>
                <a:srgbClr val="3A3838"/>
              </a:buClr>
              <a:buSzPts val="1500"/>
              <a:buChar char="•"/>
              <a:defRPr sz="1500">
                <a:solidFill>
                  <a:srgbClr val="3A3838"/>
                </a:solidFill>
                <a:latin typeface="Roboto Light"/>
                <a:ea typeface="Roboto Light"/>
                <a:cs typeface="Roboto Light"/>
                <a:sym typeface="Roboto Light"/>
              </a:defRPr>
            </a:lvl4pPr>
            <a:lvl5pPr marL="2286000" lvl="4" indent="-323850" algn="l">
              <a:lnSpc>
                <a:spcPct val="90000"/>
              </a:lnSpc>
              <a:spcBef>
                <a:spcPts val="500"/>
              </a:spcBef>
              <a:spcAft>
                <a:spcPts val="0"/>
              </a:spcAft>
              <a:buClr>
                <a:srgbClr val="3A3838"/>
              </a:buClr>
              <a:buSzPts val="1500"/>
              <a:buChar char="•"/>
              <a:defRPr sz="1500">
                <a:solidFill>
                  <a:srgbClr val="3A3838"/>
                </a:solidFill>
                <a:latin typeface="Roboto Light"/>
                <a:ea typeface="Roboto Light"/>
                <a:cs typeface="Roboto Light"/>
                <a:sym typeface="Roboto Ligh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30"/>
          <p:cNvSpPr>
            <a:spLocks noGrp="1"/>
          </p:cNvSpPr>
          <p:nvPr>
            <p:ph type="pic" idx="2"/>
          </p:nvPr>
        </p:nvSpPr>
        <p:spPr>
          <a:xfrm>
            <a:off x="6624662" y="1570355"/>
            <a:ext cx="4927256" cy="4382570"/>
          </a:xfrm>
          <a:prstGeom prst="rect">
            <a:avLst/>
          </a:prstGeom>
          <a:noFill/>
          <a:ln>
            <a:noFill/>
          </a:ln>
        </p:spPr>
      </p:sp>
      <p:sp>
        <p:nvSpPr>
          <p:cNvPr id="36" name="Google Shape;36;p30"/>
          <p:cNvSpPr txBox="1">
            <a:spLocks noGrp="1"/>
          </p:cNvSpPr>
          <p:nvPr>
            <p:ph type="ftr" idx="11"/>
          </p:nvPr>
        </p:nvSpPr>
        <p:spPr>
          <a:xfrm>
            <a:off x="311426"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00869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0"/>
          <p:cNvSpPr txBox="1">
            <a:spLocks noGrp="1"/>
          </p:cNvSpPr>
          <p:nvPr>
            <p:ph type="sldNum" idx="12"/>
          </p:nvPr>
        </p:nvSpPr>
        <p:spPr>
          <a:xfrm>
            <a:off x="10744200" y="6423497"/>
            <a:ext cx="1289222" cy="19887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9pPr>
          </a:lstStyle>
          <a:p>
            <a:pPr marL="0" lvl="0" indent="0" algn="r" rtl="0">
              <a:spcBef>
                <a:spcPts val="0"/>
              </a:spcBef>
              <a:spcAft>
                <a:spcPts val="0"/>
              </a:spcAft>
              <a:buNone/>
            </a:pPr>
            <a:fld id="{00000000-1234-1234-1234-123412341234}" type="slidenum">
              <a:rPr lang="nl-NL"/>
              <a:t>‹#›</a:t>
            </a:fld>
            <a:endParaRPr/>
          </a:p>
        </p:txBody>
      </p:sp>
      <p:sp>
        <p:nvSpPr>
          <p:cNvPr id="38" name="Google Shape;38;p30"/>
          <p:cNvSpPr txBox="1">
            <a:spLocks noGrp="1"/>
          </p:cNvSpPr>
          <p:nvPr>
            <p:ph type="title"/>
          </p:nvPr>
        </p:nvSpPr>
        <p:spPr>
          <a:xfrm>
            <a:off x="2847248" y="235633"/>
            <a:ext cx="8704670" cy="60388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8691"/>
              </a:buClr>
              <a:buSzPts val="3500"/>
              <a:buFont typeface="Roboto"/>
              <a:buNone/>
              <a:defRPr sz="3500" b="0" i="0">
                <a:solidFill>
                  <a:srgbClr val="008691"/>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0"/>
          <p:cNvSpPr txBox="1">
            <a:spLocks noGrp="1"/>
          </p:cNvSpPr>
          <p:nvPr>
            <p:ph type="body" idx="3"/>
          </p:nvPr>
        </p:nvSpPr>
        <p:spPr>
          <a:xfrm>
            <a:off x="2847245" y="895137"/>
            <a:ext cx="8704671" cy="36476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C0C0C"/>
              </a:buClr>
              <a:buSzPts val="1900"/>
              <a:buNone/>
              <a:defRPr sz="1900" b="0" i="0">
                <a:solidFill>
                  <a:srgbClr val="0C0C0C"/>
                </a:solidFill>
                <a:latin typeface="Roboto"/>
                <a:ea typeface="Roboto"/>
                <a:cs typeface="Roboto"/>
                <a:sym typeface="Roboto"/>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40" name="Google Shape;40;p30"/>
          <p:cNvPicPr preferRelativeResize="0"/>
          <p:nvPr/>
        </p:nvPicPr>
        <p:blipFill rotWithShape="1">
          <a:blip r:embed="rId3">
            <a:alphaModFix/>
          </a:blip>
          <a:srcRect/>
          <a:stretch/>
        </p:blipFill>
        <p:spPr>
          <a:xfrm>
            <a:off x="75600" y="302400"/>
            <a:ext cx="2771648" cy="46939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mage Page 2">
  <p:cSld name="Image Page 2">
    <p:spTree>
      <p:nvGrpSpPr>
        <p:cNvPr id="1" name="Shape 41"/>
        <p:cNvGrpSpPr/>
        <p:nvPr/>
      </p:nvGrpSpPr>
      <p:grpSpPr>
        <a:xfrm>
          <a:off x="0" y="0"/>
          <a:ext cx="0" cy="0"/>
          <a:chOff x="0" y="0"/>
          <a:chExt cx="0" cy="0"/>
        </a:xfrm>
      </p:grpSpPr>
      <p:pic>
        <p:nvPicPr>
          <p:cNvPr id="42" name="Google Shape;42;p3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3" name="Google Shape;43;p31"/>
          <p:cNvSpPr>
            <a:spLocks noGrp="1"/>
          </p:cNvSpPr>
          <p:nvPr>
            <p:ph type="pic" idx="2"/>
          </p:nvPr>
        </p:nvSpPr>
        <p:spPr>
          <a:xfrm>
            <a:off x="1721736" y="1570354"/>
            <a:ext cx="9830180" cy="4382570"/>
          </a:xfrm>
          <a:prstGeom prst="rect">
            <a:avLst/>
          </a:prstGeom>
          <a:noFill/>
          <a:ln>
            <a:noFill/>
          </a:ln>
        </p:spPr>
      </p:sp>
      <p:sp>
        <p:nvSpPr>
          <p:cNvPr id="44" name="Google Shape;44;p31"/>
          <p:cNvSpPr txBox="1">
            <a:spLocks noGrp="1"/>
          </p:cNvSpPr>
          <p:nvPr>
            <p:ph type="ftr" idx="11"/>
          </p:nvPr>
        </p:nvSpPr>
        <p:spPr>
          <a:xfrm>
            <a:off x="311426"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00869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1"/>
          <p:cNvSpPr txBox="1">
            <a:spLocks noGrp="1"/>
          </p:cNvSpPr>
          <p:nvPr>
            <p:ph type="sldNum" idx="12"/>
          </p:nvPr>
        </p:nvSpPr>
        <p:spPr>
          <a:xfrm>
            <a:off x="10744200" y="6423497"/>
            <a:ext cx="1289222" cy="19887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008691"/>
                </a:solidFill>
                <a:latin typeface="Roboto Light"/>
                <a:ea typeface="Roboto Light"/>
                <a:cs typeface="Roboto Light"/>
                <a:sym typeface="Roboto Light"/>
              </a:defRPr>
            </a:lvl9pPr>
          </a:lstStyle>
          <a:p>
            <a:pPr marL="0" lvl="0" indent="0" algn="r" rtl="0">
              <a:spcBef>
                <a:spcPts val="0"/>
              </a:spcBef>
              <a:spcAft>
                <a:spcPts val="0"/>
              </a:spcAft>
              <a:buNone/>
            </a:pPr>
            <a:fld id="{00000000-1234-1234-1234-123412341234}" type="slidenum">
              <a:rPr lang="nl-NL"/>
              <a:t>‹#›</a:t>
            </a:fld>
            <a:endParaRPr/>
          </a:p>
        </p:txBody>
      </p:sp>
      <p:sp>
        <p:nvSpPr>
          <p:cNvPr id="46" name="Google Shape;46;p31"/>
          <p:cNvSpPr txBox="1">
            <a:spLocks noGrp="1"/>
          </p:cNvSpPr>
          <p:nvPr>
            <p:ph type="title"/>
          </p:nvPr>
        </p:nvSpPr>
        <p:spPr>
          <a:xfrm>
            <a:off x="2847248" y="235633"/>
            <a:ext cx="8704670" cy="60388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8691"/>
              </a:buClr>
              <a:buSzPts val="3500"/>
              <a:buFont typeface="Roboto"/>
              <a:buNone/>
              <a:defRPr sz="3500" b="0" i="0">
                <a:solidFill>
                  <a:srgbClr val="008691"/>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body" idx="1"/>
          </p:nvPr>
        </p:nvSpPr>
        <p:spPr>
          <a:xfrm>
            <a:off x="2847245" y="895137"/>
            <a:ext cx="8704671" cy="36476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C0C0C"/>
              </a:buClr>
              <a:buSzPts val="1900"/>
              <a:buNone/>
              <a:defRPr sz="1900" b="0" i="0">
                <a:solidFill>
                  <a:srgbClr val="0C0C0C"/>
                </a:solidFill>
                <a:latin typeface="Roboto"/>
                <a:ea typeface="Roboto"/>
                <a:cs typeface="Roboto"/>
                <a:sym typeface="Roboto"/>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48" name="Google Shape;48;p31"/>
          <p:cNvPicPr preferRelativeResize="0"/>
          <p:nvPr/>
        </p:nvPicPr>
        <p:blipFill rotWithShape="1">
          <a:blip r:embed="rId3">
            <a:alphaModFix/>
          </a:blip>
          <a:srcRect/>
          <a:stretch/>
        </p:blipFill>
        <p:spPr>
          <a:xfrm>
            <a:off x="75600" y="302400"/>
            <a:ext cx="2771648" cy="46939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ekop">
  <p:cSld name="Sectiekop">
    <p:spTree>
      <p:nvGrpSpPr>
        <p:cNvPr id="1" name="Shape 49"/>
        <p:cNvGrpSpPr/>
        <p:nvPr/>
      </p:nvGrpSpPr>
      <p:grpSpPr>
        <a:xfrm>
          <a:off x="0" y="0"/>
          <a:ext cx="0" cy="0"/>
          <a:chOff x="0" y="0"/>
          <a:chExt cx="0" cy="0"/>
        </a:xfrm>
      </p:grpSpPr>
      <p:pic>
        <p:nvPicPr>
          <p:cNvPr id="50" name="Google Shape;50;p34"/>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1" name="Google Shape;51;p34"/>
          <p:cNvSpPr txBox="1"/>
          <p:nvPr/>
        </p:nvSpPr>
        <p:spPr>
          <a:xfrm>
            <a:off x="447261" y="1490389"/>
            <a:ext cx="2159566"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nl-NL" sz="1400" b="0" i="0" u="none" strike="noStrike" cap="none">
                <a:solidFill>
                  <a:srgbClr val="008691"/>
                </a:solidFill>
                <a:latin typeface="Quicksand"/>
                <a:ea typeface="Quicksand"/>
                <a:cs typeface="Quicksand"/>
                <a:sym typeface="Quicksand"/>
              </a:rPr>
              <a:t>EOSC Association AISBL</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869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000"/>
              <a:buFont typeface="Arial"/>
              <a:buNone/>
            </a:pPr>
            <a:r>
              <a:rPr lang="nl-NL" sz="1000" b="0" i="0" u="none" strike="noStrike" cap="none">
                <a:solidFill>
                  <a:srgbClr val="008691"/>
                </a:solidFill>
                <a:latin typeface="Roboto"/>
                <a:ea typeface="Roboto"/>
                <a:cs typeface="Roboto"/>
                <a:sym typeface="Roboto"/>
              </a:rPr>
              <a:t>Rue du Luxembourg 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nl-NL" sz="1000" b="0" i="0" u="none" strike="noStrike" cap="none">
                <a:solidFill>
                  <a:srgbClr val="008691"/>
                </a:solidFill>
                <a:latin typeface="Roboto"/>
                <a:ea typeface="Roboto"/>
                <a:cs typeface="Roboto"/>
                <a:sym typeface="Roboto"/>
              </a:rPr>
              <a:t>BE-1000 Brussels, Belgium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nl-NL" sz="1000" b="0" i="0" u="none" strike="noStrike" cap="none">
                <a:solidFill>
                  <a:srgbClr val="008691"/>
                </a:solidFill>
                <a:latin typeface="Roboto"/>
                <a:ea typeface="Roboto"/>
                <a:cs typeface="Roboto"/>
                <a:sym typeface="Roboto"/>
              </a:rPr>
              <a:t>+32 2 537 73 18</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nl-NL" sz="1000" b="0" i="0" u="none" strike="noStrike" cap="none">
                <a:solidFill>
                  <a:srgbClr val="008691"/>
                </a:solidFill>
                <a:latin typeface="Roboto"/>
                <a:ea typeface="Roboto"/>
                <a:cs typeface="Roboto"/>
                <a:sym typeface="Roboto"/>
              </a:rPr>
              <a:t>info@eosc.eu | www.eosc.eu</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nl-NL" sz="1000" b="0" i="0" u="none" strike="noStrike" cap="none">
                <a:solidFill>
                  <a:srgbClr val="008691"/>
                </a:solidFill>
                <a:latin typeface="Roboto"/>
                <a:ea typeface="Roboto"/>
                <a:cs typeface="Roboto"/>
                <a:sym typeface="Roboto"/>
              </a:rPr>
              <a:t>Reg. number: 0755 723 931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nl-NL" sz="1000" b="0" i="0" u="none" strike="noStrike" cap="none">
                <a:solidFill>
                  <a:srgbClr val="008691"/>
                </a:solidFill>
                <a:latin typeface="Roboto"/>
                <a:ea typeface="Roboto"/>
                <a:cs typeface="Roboto"/>
                <a:sym typeface="Roboto"/>
              </a:rPr>
              <a:t>VAT number: BE0755 723 931</a:t>
            </a:r>
            <a:endParaRPr sz="1400" b="0" i="0" u="none" strike="noStrike" cap="none">
              <a:solidFill>
                <a:srgbClr val="000000"/>
              </a:solidFill>
              <a:latin typeface="Arial"/>
              <a:ea typeface="Arial"/>
              <a:cs typeface="Arial"/>
              <a:sym typeface="Arial"/>
            </a:endParaRPr>
          </a:p>
        </p:txBody>
      </p:sp>
      <p:pic>
        <p:nvPicPr>
          <p:cNvPr id="52" name="Google Shape;52;p34"/>
          <p:cNvPicPr preferRelativeResize="0"/>
          <p:nvPr/>
        </p:nvPicPr>
        <p:blipFill rotWithShape="1">
          <a:blip r:embed="rId3">
            <a:alphaModFix/>
          </a:blip>
          <a:srcRect/>
          <a:stretch/>
        </p:blipFill>
        <p:spPr>
          <a:xfrm>
            <a:off x="356400" y="345600"/>
            <a:ext cx="4724400" cy="8001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3"/>
          <p:cNvSpPr txBox="1">
            <a:spLocks noGrp="1"/>
          </p:cNvSpPr>
          <p:nvPr>
            <p:ph type="ftr" idx="11"/>
          </p:nvPr>
        </p:nvSpPr>
        <p:spPr>
          <a:xfrm>
            <a:off x="838200" y="6361596"/>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9pPr>
          </a:lstStyle>
          <a:p>
            <a:pPr marL="0" lvl="0" indent="0" algn="r" rtl="0">
              <a:spcBef>
                <a:spcPts val="0"/>
              </a:spcBef>
              <a:spcAft>
                <a:spcPts val="0"/>
              </a:spcAft>
              <a:buNone/>
            </a:pPr>
            <a:fld id="{00000000-1234-1234-1234-123412341234}" type="slidenum">
              <a:rPr lang="nl-N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Roboto Light"/>
              <a:buNone/>
              <a:defRPr sz="4400" b="0" i="0" u="none" strike="noStrike" cap="none">
                <a:solidFill>
                  <a:schemeClr val="dk1"/>
                </a:solidFill>
                <a:latin typeface="Roboto Light"/>
                <a:ea typeface="Roboto Light"/>
                <a:cs typeface="Roboto Light"/>
                <a:sym typeface="Roboto Ligh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Roboto Light"/>
                <a:ea typeface="Roboto Light"/>
                <a:cs typeface="Roboto Light"/>
                <a:sym typeface="Robot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oboto Light"/>
                <a:ea typeface="Roboto Light"/>
                <a:cs typeface="Roboto Light"/>
                <a:sym typeface="Robot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oboto Light"/>
                <a:ea typeface="Roboto Light"/>
                <a:cs typeface="Roboto Light"/>
                <a:sym typeface="Robot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Light"/>
                <a:ea typeface="Roboto Light"/>
                <a:cs typeface="Roboto Light"/>
                <a:sym typeface="Robot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oboto Light"/>
                <a:ea typeface="Roboto Light"/>
                <a:cs typeface="Roboto Light"/>
                <a:sym typeface="Robot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5"/>
          <p:cNvSpPr txBox="1">
            <a:spLocks noGrp="1"/>
          </p:cNvSpPr>
          <p:nvPr>
            <p:ph type="ftr" idx="11"/>
          </p:nvPr>
        </p:nvSpPr>
        <p:spPr>
          <a:xfrm>
            <a:off x="838200" y="6361596"/>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500" b="0" i="0" u="none" strike="noStrike" cap="none">
                <a:solidFill>
                  <a:srgbClr val="888888"/>
                </a:solidFill>
                <a:latin typeface="Roboto Light"/>
                <a:ea typeface="Roboto Light"/>
                <a:cs typeface="Roboto Light"/>
                <a:sym typeface="Roboto Ligh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Roboto Light"/>
                <a:ea typeface="Roboto Light"/>
                <a:cs typeface="Roboto Light"/>
                <a:sym typeface="Roboto Light"/>
              </a:defRPr>
            </a:lvl9pPr>
          </a:lstStyle>
          <a:p>
            <a:pPr marL="0" lvl="0" indent="0" algn="r" rtl="0">
              <a:spcBef>
                <a:spcPts val="0"/>
              </a:spcBef>
              <a:spcAft>
                <a:spcPts val="0"/>
              </a:spcAft>
              <a:buNone/>
            </a:pPr>
            <a:fld id="{00000000-1234-1234-1234-123412341234}" type="slidenum">
              <a:rPr lang="nl-NL"/>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hyperlink" Target="https://doi.org/10.5281/zenodo.7516259" TargetMode="External"/><Relationship Id="rId3" Type="http://schemas.openxmlformats.org/officeDocument/2006/relationships/hyperlink" Target="https://lib.is/LTDP" TargetMode="External"/><Relationship Id="rId7" Type="http://schemas.openxmlformats.org/officeDocument/2006/relationships/hyperlink" Target="https://doi.org/10.5281/zenodo.7568400"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hyperlink" Target="https://doi.org/10.5281/zenodo.10020725" TargetMode="External"/><Relationship Id="rId5" Type="http://schemas.openxmlformats.org/officeDocument/2006/relationships/hyperlink" Target="https://doi.org/10.5281/zenodo.10848331" TargetMode="External"/><Relationship Id="rId4" Type="http://schemas.openxmlformats.org/officeDocument/2006/relationships/hyperlink" Target="https://doi.org/10.5281/zenodo.10820893"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mailto:Roxanne.Wyns@kuleuven.be" TargetMode="External"/><Relationship Id="rId2" Type="http://schemas.openxmlformats.org/officeDocument/2006/relationships/hyperlink" Target="mailto:herve@essex.ac.uk"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
          <p:cNvSpPr txBox="1">
            <a:spLocks noGrp="1"/>
          </p:cNvSpPr>
          <p:nvPr>
            <p:ph type="ctrTitle"/>
          </p:nvPr>
        </p:nvSpPr>
        <p:spPr>
          <a:xfrm>
            <a:off x="423012" y="1600201"/>
            <a:ext cx="10479938" cy="165576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400"/>
              <a:buFont typeface="Roboto"/>
              <a:buNone/>
            </a:pPr>
            <a:r>
              <a:rPr lang="nl-NL" sz="4400"/>
              <a:t>Key findings from the EOSC Association Long Term Data Preservation Task Force</a:t>
            </a:r>
            <a:endParaRPr sz="16600"/>
          </a:p>
        </p:txBody>
      </p:sp>
      <p:sp>
        <p:nvSpPr>
          <p:cNvPr id="61" name="Google Shape;61;p1"/>
          <p:cNvSpPr txBox="1">
            <a:spLocks noGrp="1"/>
          </p:cNvSpPr>
          <p:nvPr>
            <p:ph type="subTitle" idx="1"/>
          </p:nvPr>
        </p:nvSpPr>
        <p:spPr>
          <a:xfrm>
            <a:off x="423012" y="3307531"/>
            <a:ext cx="9144000" cy="165576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lt1"/>
              </a:buClr>
              <a:buSzPts val="2000"/>
              <a:buNone/>
            </a:pPr>
            <a:r>
              <a:rPr lang="nl-NL" sz="2400"/>
              <a:t>iPRES 2024</a:t>
            </a:r>
            <a:endParaRPr/>
          </a:p>
        </p:txBody>
      </p:sp>
      <p:sp>
        <p:nvSpPr>
          <p:cNvPr id="62" name="Google Shape;62;p1"/>
          <p:cNvSpPr txBox="1">
            <a:spLocks noGrp="1"/>
          </p:cNvSpPr>
          <p:nvPr>
            <p:ph type="ftr" idx="11"/>
          </p:nvPr>
        </p:nvSpPr>
        <p:spPr>
          <a:xfrm>
            <a:off x="423012" y="6173787"/>
            <a:ext cx="4476533"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nl-NL" dirty="0"/>
              <a:t>19 | 09 | 2024 </a:t>
            </a:r>
            <a:r>
              <a:rPr lang="nl-NL" dirty="0" err="1"/>
              <a:t>by</a:t>
            </a:r>
            <a:r>
              <a:rPr lang="nl-NL" dirty="0"/>
              <a:t> Hervé </a:t>
            </a:r>
            <a:r>
              <a:rPr lang="nl-NL" dirty="0" err="1"/>
              <a:t>L'Hours</a:t>
            </a:r>
            <a:r>
              <a:rPr lang="nl-NL" dirty="0"/>
              <a:t> &amp; Roxanne Wyns</a:t>
            </a:r>
            <a:endParaRPr dirty="0"/>
          </a:p>
        </p:txBody>
      </p:sp>
      <p:sp>
        <p:nvSpPr>
          <p:cNvPr id="63" name="Google Shape;63;p1"/>
          <p:cNvSpPr txBox="1">
            <a:spLocks noGrp="1"/>
          </p:cNvSpPr>
          <p:nvPr>
            <p:ph type="sldNum" idx="4294967295"/>
          </p:nvPr>
        </p:nvSpPr>
        <p:spPr>
          <a:xfrm>
            <a:off x="10902950" y="6423025"/>
            <a:ext cx="1289050" cy="2000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nl-NL"/>
              <a:t>1</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3" descr="Triangle shaped cave"/>
          <p:cNvPicPr preferRelativeResize="0">
            <a:picLocks noGrp="1"/>
          </p:cNvPicPr>
          <p:nvPr>
            <p:ph type="pic" idx="2"/>
          </p:nvPr>
        </p:nvPicPr>
        <p:blipFill rotWithShape="1">
          <a:blip r:embed="rId3">
            <a:alphaModFix/>
          </a:blip>
          <a:srcRect t="9016" b="9016"/>
          <a:stretch/>
        </p:blipFill>
        <p:spPr>
          <a:xfrm>
            <a:off x="0" y="0"/>
            <a:ext cx="12192000" cy="6857999"/>
          </a:xfrm>
          <a:prstGeom prst="rect">
            <a:avLst/>
          </a:prstGeom>
          <a:noFill/>
          <a:ln>
            <a:noFill/>
          </a:ln>
        </p:spPr>
      </p:pic>
      <p:sp>
        <p:nvSpPr>
          <p:cNvPr id="70" name="Google Shape;70;p3"/>
          <p:cNvSpPr txBox="1">
            <a:spLocks noGrp="1"/>
          </p:cNvSpPr>
          <p:nvPr>
            <p:ph type="sldNum" idx="4294967295"/>
          </p:nvPr>
        </p:nvSpPr>
        <p:spPr>
          <a:xfrm>
            <a:off x="10902950" y="6423025"/>
            <a:ext cx="1289050" cy="2000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nl-NL"/>
              <a:t>2</a:t>
            </a:fld>
            <a:endParaRPr/>
          </a:p>
        </p:txBody>
      </p:sp>
      <p:sp>
        <p:nvSpPr>
          <p:cNvPr id="71" name="Google Shape;71;p3"/>
          <p:cNvSpPr txBox="1">
            <a:spLocks noGrp="1"/>
          </p:cNvSpPr>
          <p:nvPr>
            <p:ph type="ftr" idx="4294967295"/>
          </p:nvPr>
        </p:nvSpPr>
        <p:spPr>
          <a:xfrm>
            <a:off x="0" y="6356350"/>
            <a:ext cx="4362994" cy="501649"/>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nl-NL"/>
              <a:t>19 | 09 | 2024 by Hervé L'Hours &amp; Roxanne Wyns</a:t>
            </a:r>
            <a:endParaRPr/>
          </a:p>
        </p:txBody>
      </p:sp>
      <p:sp>
        <p:nvSpPr>
          <p:cNvPr id="72" name="Google Shape;72;p3"/>
          <p:cNvSpPr txBox="1"/>
          <p:nvPr/>
        </p:nvSpPr>
        <p:spPr>
          <a:xfrm>
            <a:off x="768350" y="3158458"/>
            <a:ext cx="3594644"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nl-NL" sz="3200" b="0" i="0" u="none" strike="noStrike" cap="none">
                <a:solidFill>
                  <a:schemeClr val="lt1"/>
                </a:solidFill>
                <a:latin typeface="Arial"/>
                <a:ea typeface="Arial"/>
                <a:cs typeface="Arial"/>
                <a:sym typeface="Arial"/>
              </a:rPr>
              <a:t>A shared vision and understanding of preservation</a:t>
            </a:r>
            <a:endParaRPr sz="3200" b="0" i="0" u="none" strike="noStrike" cap="none">
              <a:solidFill>
                <a:schemeClr val="lt1"/>
              </a:solidFill>
              <a:latin typeface="Arial"/>
              <a:ea typeface="Arial"/>
              <a:cs typeface="Arial"/>
              <a:sym typeface="Arial"/>
            </a:endParaRPr>
          </a:p>
        </p:txBody>
      </p:sp>
      <p:sp>
        <p:nvSpPr>
          <p:cNvPr id="73" name="Google Shape;73;p3"/>
          <p:cNvSpPr txBox="1">
            <a:spLocks noGrp="1"/>
          </p:cNvSpPr>
          <p:nvPr>
            <p:ph type="body" idx="1"/>
          </p:nvPr>
        </p:nvSpPr>
        <p:spPr>
          <a:xfrm>
            <a:off x="0" y="0"/>
            <a:ext cx="12192000" cy="2252546"/>
          </a:xfrm>
          <a:prstGeom prst="rect">
            <a:avLst/>
          </a:prstGeom>
          <a:solidFill>
            <a:srgbClr val="262626"/>
          </a:solidFill>
          <a:ln>
            <a:noFill/>
          </a:ln>
        </p:spPr>
        <p:txBody>
          <a:bodyPr spcFirstLastPara="1" wrap="square" lIns="91425" tIns="45700" rIns="91425" bIns="45700" anchor="t" anchorCtr="0">
            <a:normAutofit fontScale="85000" lnSpcReduction="20000"/>
          </a:bodyPr>
          <a:lstStyle/>
          <a:p>
            <a:pPr marL="457200" lvl="0" indent="-228600" algn="l" rtl="0">
              <a:lnSpc>
                <a:spcPct val="130000"/>
              </a:lnSpc>
              <a:spcBef>
                <a:spcPts val="1000"/>
              </a:spcBef>
              <a:spcAft>
                <a:spcPts val="0"/>
              </a:spcAft>
              <a:buClr>
                <a:schemeClr val="dk1"/>
              </a:buClr>
              <a:buSzPct val="80213"/>
              <a:buNone/>
            </a:pPr>
            <a:r>
              <a:rPr lang="nl-NL" sz="2200" b="0" i="0" u="none" strike="noStrike">
                <a:solidFill>
                  <a:schemeClr val="lt1"/>
                </a:solidFill>
                <a:latin typeface="Roboto"/>
                <a:ea typeface="Roboto"/>
                <a:cs typeface="Roboto"/>
                <a:sym typeface="Roboto"/>
              </a:rPr>
              <a:t>Digital objects that act as inputs to, or outputs from research are findable, and accessible in environments that support good storage practice. These objects are subject to appraisal, and reappraisal over time, to assess their value, their impact, and the associated costs, risks, and benefits. Ongoing appraisal informs on the level of investment in the retention, </a:t>
            </a:r>
            <a:r>
              <a:rPr lang="nl-NL" sz="2200">
                <a:solidFill>
                  <a:schemeClr val="lt1"/>
                </a:solidFill>
                <a:latin typeface="Roboto"/>
                <a:ea typeface="Roboto"/>
                <a:cs typeface="Roboto"/>
                <a:sym typeface="Roboto"/>
              </a:rPr>
              <a:t>initial </a:t>
            </a:r>
            <a:r>
              <a:rPr lang="nl-NL" sz="2200" b="0" i="0" u="none" strike="noStrike">
                <a:solidFill>
                  <a:schemeClr val="lt1"/>
                </a:solidFill>
                <a:latin typeface="Roboto"/>
                <a:ea typeface="Roboto"/>
                <a:cs typeface="Roboto"/>
                <a:sym typeface="Roboto"/>
              </a:rPr>
              <a:t>curation and long-term preservation of digital objects. The levels of care, and changes to levels of care, provided by repositories and assigned to digital objects are transparent to (meta)data funders, depositors and users.</a:t>
            </a:r>
            <a:endParaRPr sz="2200">
              <a:solidFill>
                <a:schemeClr val="lt1"/>
              </a:solidFill>
              <a:latin typeface="Roboto"/>
              <a:ea typeface="Roboto"/>
              <a:cs typeface="Roboto"/>
              <a:sym typeface="Roboto"/>
            </a:endParaRPr>
          </a:p>
          <a:p>
            <a:pPr marL="457200" lvl="0" indent="-228600" algn="l" rtl="0">
              <a:lnSpc>
                <a:spcPct val="130000"/>
              </a:lnSpc>
              <a:spcBef>
                <a:spcPts val="1000"/>
              </a:spcBef>
              <a:spcAft>
                <a:spcPts val="0"/>
              </a:spcAft>
              <a:buClr>
                <a:schemeClr val="dk1"/>
              </a:buClr>
              <a:buSzPct val="98039"/>
              <a:buNone/>
            </a:pPr>
            <a:endParaRPr sz="18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7" descr="Light bulb with hanging lights background"/>
          <p:cNvPicPr preferRelativeResize="0"/>
          <p:nvPr/>
        </p:nvPicPr>
        <p:blipFill rotWithShape="1">
          <a:blip r:embed="rId3">
            <a:alphaModFix/>
          </a:blip>
          <a:srcRect t="7079" b="7079"/>
          <a:stretch/>
        </p:blipFill>
        <p:spPr>
          <a:xfrm>
            <a:off x="0" y="0"/>
            <a:ext cx="12192000" cy="6857999"/>
          </a:xfrm>
          <a:prstGeom prst="rect">
            <a:avLst/>
          </a:prstGeom>
          <a:noFill/>
          <a:ln>
            <a:noFill/>
          </a:ln>
        </p:spPr>
      </p:pic>
      <p:sp>
        <p:nvSpPr>
          <p:cNvPr id="80" name="Google Shape;80;p7"/>
          <p:cNvSpPr txBox="1">
            <a:spLocks noGrp="1"/>
          </p:cNvSpPr>
          <p:nvPr>
            <p:ph type="title"/>
          </p:nvPr>
        </p:nvSpPr>
        <p:spPr>
          <a:xfrm>
            <a:off x="2767446" y="236816"/>
            <a:ext cx="6645381" cy="603887"/>
          </a:xfrm>
          <a:prstGeom prst="rect">
            <a:avLst/>
          </a:prstGeom>
          <a:noFill/>
          <a:ln>
            <a:noFill/>
          </a:ln>
        </p:spPr>
        <p:txBody>
          <a:bodyPr spcFirstLastPara="1" wrap="square" lIns="91425" tIns="45700" rIns="91425" bIns="45700" anchor="ctr" anchorCtr="0">
            <a:normAutofit fontScale="90000"/>
          </a:bodyPr>
          <a:lstStyle/>
          <a:p>
            <a:pPr marL="0" marR="0" lvl="0" indent="0" algn="ctr" rtl="0">
              <a:lnSpc>
                <a:spcPct val="100000"/>
              </a:lnSpc>
              <a:spcBef>
                <a:spcPts val="0"/>
              </a:spcBef>
              <a:spcAft>
                <a:spcPts val="0"/>
              </a:spcAft>
              <a:buSzPct val="108024"/>
              <a:buNone/>
            </a:pPr>
            <a:r>
              <a:rPr lang="nl-NL" sz="3600" b="1" i="0" u="none" strike="noStrike" cap="none">
                <a:solidFill>
                  <a:schemeClr val="lt1"/>
                </a:solidFill>
                <a:latin typeface="Roboto"/>
                <a:ea typeface="Roboto"/>
                <a:cs typeface="Roboto"/>
                <a:sym typeface="Roboto"/>
              </a:rPr>
              <a:t>Key findings</a:t>
            </a:r>
            <a:endParaRPr/>
          </a:p>
        </p:txBody>
      </p:sp>
      <p:grpSp>
        <p:nvGrpSpPr>
          <p:cNvPr id="81" name="Google Shape;81;p7"/>
          <p:cNvGrpSpPr/>
          <p:nvPr/>
        </p:nvGrpSpPr>
        <p:grpSpPr>
          <a:xfrm>
            <a:off x="3778664" y="1374932"/>
            <a:ext cx="4622946" cy="4622946"/>
            <a:chOff x="3485588" y="297413"/>
            <a:chExt cx="4622946" cy="4622946"/>
          </a:xfrm>
        </p:grpSpPr>
        <p:sp>
          <p:nvSpPr>
            <p:cNvPr id="82" name="Google Shape;82;p7"/>
            <p:cNvSpPr/>
            <p:nvPr/>
          </p:nvSpPr>
          <p:spPr>
            <a:xfrm>
              <a:off x="3485588" y="297413"/>
              <a:ext cx="2259295" cy="2259295"/>
            </a:xfrm>
            <a:custGeom>
              <a:avLst/>
              <a:gdLst/>
              <a:ahLst/>
              <a:cxnLst/>
              <a:rect l="l" t="t" r="r" b="b"/>
              <a:pathLst>
                <a:path w="120000" h="120000" extrusionOk="0">
                  <a:moveTo>
                    <a:pt x="0" y="120000"/>
                  </a:moveTo>
                  <a:lnTo>
                    <a:pt x="0" y="120000"/>
                  </a:lnTo>
                  <a:cubicBezTo>
                    <a:pt x="0" y="53726"/>
                    <a:pt x="53726" y="0"/>
                    <a:pt x="120000" y="0"/>
                  </a:cubicBezTo>
                  <a:lnTo>
                    <a:pt x="120000" y="120000"/>
                  </a:lnTo>
                  <a:close/>
                </a:path>
              </a:pathLst>
            </a:custGeom>
            <a:solidFill>
              <a:srgbClr val="ACB8CA"/>
            </a:solidFill>
            <a:ln w="571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7"/>
            <p:cNvSpPr txBox="1"/>
            <p:nvPr/>
          </p:nvSpPr>
          <p:spPr>
            <a:xfrm>
              <a:off x="4147320" y="959145"/>
              <a:ext cx="1597563" cy="1597563"/>
            </a:xfrm>
            <a:prstGeom prst="rect">
              <a:avLst/>
            </a:prstGeom>
            <a:noFill/>
            <a:ln>
              <a:noFill/>
            </a:ln>
          </p:spPr>
          <p:txBody>
            <a:bodyPr spcFirstLastPara="1" wrap="square" lIns="120900" tIns="120900" rIns="120900" bIns="120900" anchor="ctr" anchorCtr="0">
              <a:noAutofit/>
            </a:bodyPr>
            <a:lstStyle/>
            <a:p>
              <a:pPr marL="0" marR="0" lvl="0" indent="0" algn="ctr" rtl="0">
                <a:lnSpc>
                  <a:spcPct val="90000"/>
                </a:lnSpc>
                <a:spcBef>
                  <a:spcPts val="0"/>
                </a:spcBef>
                <a:spcAft>
                  <a:spcPts val="0"/>
                </a:spcAft>
                <a:buClr>
                  <a:srgbClr val="000000"/>
                </a:buClr>
                <a:buSzPts val="1700"/>
                <a:buFont typeface="Arial"/>
                <a:buNone/>
              </a:pPr>
              <a:r>
                <a:rPr lang="nl-NL" sz="1700" b="0" i="0" u="none" strike="noStrike" cap="none">
                  <a:solidFill>
                    <a:schemeClr val="lt1"/>
                  </a:solidFill>
                  <a:latin typeface="Arial"/>
                  <a:ea typeface="Arial"/>
                  <a:cs typeface="Arial"/>
                  <a:sym typeface="Arial"/>
                </a:rPr>
                <a:t>Transparency</a:t>
              </a:r>
              <a:endParaRPr sz="1700" b="0" i="0" u="none" strike="noStrike" cap="none">
                <a:solidFill>
                  <a:schemeClr val="lt1"/>
                </a:solidFill>
                <a:latin typeface="Arial"/>
                <a:ea typeface="Arial"/>
                <a:cs typeface="Arial"/>
                <a:sym typeface="Arial"/>
              </a:endParaRPr>
            </a:p>
          </p:txBody>
        </p:sp>
        <p:sp>
          <p:nvSpPr>
            <p:cNvPr id="84" name="Google Shape;84;p7"/>
            <p:cNvSpPr/>
            <p:nvPr/>
          </p:nvSpPr>
          <p:spPr>
            <a:xfrm rot="5400000">
              <a:off x="5849239" y="297413"/>
              <a:ext cx="2259295" cy="2259295"/>
            </a:xfrm>
            <a:custGeom>
              <a:avLst/>
              <a:gdLst/>
              <a:ahLst/>
              <a:cxnLst/>
              <a:rect l="l" t="t" r="r" b="b"/>
              <a:pathLst>
                <a:path w="120000" h="120000" extrusionOk="0">
                  <a:moveTo>
                    <a:pt x="0" y="120000"/>
                  </a:moveTo>
                  <a:lnTo>
                    <a:pt x="0" y="120000"/>
                  </a:lnTo>
                  <a:cubicBezTo>
                    <a:pt x="0" y="53726"/>
                    <a:pt x="53726" y="0"/>
                    <a:pt x="120000" y="0"/>
                  </a:cubicBezTo>
                  <a:lnTo>
                    <a:pt x="120000" y="120000"/>
                  </a:lnTo>
                  <a:close/>
                </a:path>
              </a:pathLst>
            </a:custGeom>
            <a:solidFill>
              <a:srgbClr val="ACB8CA"/>
            </a:solidFill>
            <a:ln w="57150" cap="flat" cmpd="sng">
              <a:solidFill>
                <a:srgbClr val="ED7D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7"/>
            <p:cNvSpPr txBox="1"/>
            <p:nvPr/>
          </p:nvSpPr>
          <p:spPr>
            <a:xfrm>
              <a:off x="5849239" y="959145"/>
              <a:ext cx="1597563" cy="1597563"/>
            </a:xfrm>
            <a:prstGeom prst="rect">
              <a:avLst/>
            </a:prstGeom>
            <a:noFill/>
            <a:ln>
              <a:noFill/>
            </a:ln>
          </p:spPr>
          <p:txBody>
            <a:bodyPr spcFirstLastPara="1" wrap="square" lIns="113775" tIns="113775" rIns="113775" bIns="113775" anchor="ctr" anchorCtr="0">
              <a:noAutofit/>
            </a:bodyPr>
            <a:lstStyle/>
            <a:p>
              <a:pPr marL="0" marR="0" lvl="0" indent="0" algn="ctr" rtl="0">
                <a:lnSpc>
                  <a:spcPct val="90000"/>
                </a:lnSpc>
                <a:spcBef>
                  <a:spcPts val="0"/>
                </a:spcBef>
                <a:spcAft>
                  <a:spcPts val="0"/>
                </a:spcAft>
                <a:buClr>
                  <a:srgbClr val="000000"/>
                </a:buClr>
                <a:buSzPts val="1700"/>
                <a:buFont typeface="Arial"/>
                <a:buNone/>
              </a:pPr>
              <a:r>
                <a:rPr lang="nl-NL" sz="1700" b="0" i="0" u="none" strike="noStrike" cap="none">
                  <a:solidFill>
                    <a:srgbClr val="FFFFFF"/>
                  </a:solidFill>
                  <a:latin typeface="Arial"/>
                  <a:ea typeface="Arial"/>
                  <a:cs typeface="Arial"/>
                  <a:sym typeface="Arial"/>
                </a:rPr>
                <a:t>Professional development</a:t>
              </a:r>
              <a:endParaRPr sz="1700" b="0" i="0" u="none" strike="noStrike" cap="none">
                <a:solidFill>
                  <a:srgbClr val="FFFFFF"/>
                </a:solidFill>
                <a:latin typeface="Arial"/>
                <a:ea typeface="Arial"/>
                <a:cs typeface="Arial"/>
                <a:sym typeface="Arial"/>
              </a:endParaRPr>
            </a:p>
          </p:txBody>
        </p:sp>
        <p:sp>
          <p:nvSpPr>
            <p:cNvPr id="86" name="Google Shape;86;p7"/>
            <p:cNvSpPr/>
            <p:nvPr/>
          </p:nvSpPr>
          <p:spPr>
            <a:xfrm rot="10800000">
              <a:off x="5849239" y="2661064"/>
              <a:ext cx="2259295" cy="2259295"/>
            </a:xfrm>
            <a:custGeom>
              <a:avLst/>
              <a:gdLst/>
              <a:ahLst/>
              <a:cxnLst/>
              <a:rect l="l" t="t" r="r" b="b"/>
              <a:pathLst>
                <a:path w="120000" h="120000" extrusionOk="0">
                  <a:moveTo>
                    <a:pt x="0" y="120000"/>
                  </a:moveTo>
                  <a:lnTo>
                    <a:pt x="0" y="120000"/>
                  </a:lnTo>
                  <a:cubicBezTo>
                    <a:pt x="0" y="53726"/>
                    <a:pt x="53726" y="0"/>
                    <a:pt x="120000" y="0"/>
                  </a:cubicBezTo>
                  <a:lnTo>
                    <a:pt x="120000" y="120000"/>
                  </a:lnTo>
                  <a:close/>
                </a:path>
              </a:pathLst>
            </a:custGeom>
            <a:solidFill>
              <a:srgbClr val="ACB8CA"/>
            </a:solidFill>
            <a:ln w="57150" cap="flat" cmpd="sng">
              <a:solidFill>
                <a:srgbClr val="ED7D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7"/>
            <p:cNvSpPr txBox="1"/>
            <p:nvPr/>
          </p:nvSpPr>
          <p:spPr>
            <a:xfrm>
              <a:off x="5849239" y="2661064"/>
              <a:ext cx="1597563" cy="1597563"/>
            </a:xfrm>
            <a:prstGeom prst="rect">
              <a:avLst/>
            </a:prstGeom>
            <a:noFill/>
            <a:ln>
              <a:noFill/>
            </a:ln>
          </p:spPr>
          <p:txBody>
            <a:bodyPr spcFirstLastPara="1" wrap="square" lIns="113775" tIns="113775" rIns="113775" bIns="113775" anchor="ctr" anchorCtr="0">
              <a:noAutofit/>
            </a:bodyPr>
            <a:lstStyle/>
            <a:p>
              <a:pPr marL="0" marR="0" lvl="0" indent="0" algn="ctr" rtl="0">
                <a:lnSpc>
                  <a:spcPct val="90000"/>
                </a:lnSpc>
                <a:spcBef>
                  <a:spcPts val="0"/>
                </a:spcBef>
                <a:spcAft>
                  <a:spcPts val="0"/>
                </a:spcAft>
                <a:buClr>
                  <a:srgbClr val="000000"/>
                </a:buClr>
                <a:buSzPts val="1700"/>
                <a:buFont typeface="Arial"/>
                <a:buNone/>
              </a:pPr>
              <a:r>
                <a:rPr lang="nl-NL" sz="1700" b="0" i="0" u="none" strike="noStrike" cap="none">
                  <a:solidFill>
                    <a:schemeClr val="lt1"/>
                  </a:solidFill>
                  <a:latin typeface="Arial"/>
                  <a:ea typeface="Arial"/>
                  <a:cs typeface="Arial"/>
                  <a:sym typeface="Arial"/>
                </a:rPr>
                <a:t>FAIR + time</a:t>
              </a:r>
              <a:endParaRPr sz="1700" b="0" i="0" u="none" strike="noStrike" cap="none">
                <a:solidFill>
                  <a:schemeClr val="lt1"/>
                </a:solidFill>
                <a:latin typeface="Arial"/>
                <a:ea typeface="Arial"/>
                <a:cs typeface="Arial"/>
                <a:sym typeface="Arial"/>
              </a:endParaRPr>
            </a:p>
          </p:txBody>
        </p:sp>
        <p:sp>
          <p:nvSpPr>
            <p:cNvPr id="88" name="Google Shape;88;p7"/>
            <p:cNvSpPr/>
            <p:nvPr/>
          </p:nvSpPr>
          <p:spPr>
            <a:xfrm rot="-5400000">
              <a:off x="3485588" y="2661064"/>
              <a:ext cx="2259295" cy="2259295"/>
            </a:xfrm>
            <a:custGeom>
              <a:avLst/>
              <a:gdLst/>
              <a:ahLst/>
              <a:cxnLst/>
              <a:rect l="l" t="t" r="r" b="b"/>
              <a:pathLst>
                <a:path w="120000" h="120000" extrusionOk="0">
                  <a:moveTo>
                    <a:pt x="0" y="120000"/>
                  </a:moveTo>
                  <a:lnTo>
                    <a:pt x="0" y="120000"/>
                  </a:lnTo>
                  <a:cubicBezTo>
                    <a:pt x="0" y="53726"/>
                    <a:pt x="53726" y="0"/>
                    <a:pt x="120000" y="0"/>
                  </a:cubicBezTo>
                  <a:lnTo>
                    <a:pt x="120000" y="120000"/>
                  </a:lnTo>
                  <a:close/>
                </a:path>
              </a:pathLst>
            </a:custGeom>
            <a:solidFill>
              <a:srgbClr val="ACB8CA"/>
            </a:solidFill>
            <a:ln w="57150" cap="flat" cmpd="sng">
              <a:solidFill>
                <a:srgbClr val="ED7D3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7"/>
            <p:cNvSpPr txBox="1"/>
            <p:nvPr/>
          </p:nvSpPr>
          <p:spPr>
            <a:xfrm>
              <a:off x="4147320" y="2661064"/>
              <a:ext cx="1597563" cy="1597563"/>
            </a:xfrm>
            <a:prstGeom prst="rect">
              <a:avLst/>
            </a:prstGeom>
            <a:noFill/>
            <a:ln>
              <a:noFill/>
            </a:ln>
          </p:spPr>
          <p:txBody>
            <a:bodyPr spcFirstLastPara="1" wrap="square" lIns="113775" tIns="113775" rIns="113775" bIns="113775" anchor="ctr" anchorCtr="0">
              <a:noAutofit/>
            </a:bodyPr>
            <a:lstStyle/>
            <a:p>
              <a:pPr marL="0" marR="0" lvl="0" indent="0" algn="ctr" rtl="0">
                <a:lnSpc>
                  <a:spcPct val="90000"/>
                </a:lnSpc>
                <a:spcBef>
                  <a:spcPts val="0"/>
                </a:spcBef>
                <a:spcAft>
                  <a:spcPts val="0"/>
                </a:spcAft>
                <a:buClr>
                  <a:srgbClr val="000000"/>
                </a:buClr>
                <a:buSzPts val="1700"/>
                <a:buFont typeface="Arial"/>
                <a:buNone/>
              </a:pPr>
              <a:r>
                <a:rPr lang="nl-NL" sz="1700" b="0" i="0" u="none" strike="noStrike" cap="none">
                  <a:solidFill>
                    <a:srgbClr val="FFFFFF"/>
                  </a:solidFill>
                  <a:latin typeface="Arial"/>
                  <a:ea typeface="Arial"/>
                  <a:cs typeface="Arial"/>
                  <a:sym typeface="Arial"/>
                </a:rPr>
                <a:t>Sustainability</a:t>
              </a:r>
              <a:endParaRPr sz="1700" b="0" i="0" u="none" strike="noStrike" cap="none">
                <a:solidFill>
                  <a:srgbClr val="FFFFFF"/>
                </a:solidFill>
                <a:latin typeface="Arial"/>
                <a:ea typeface="Arial"/>
                <a:cs typeface="Arial"/>
                <a:sym typeface="Arial"/>
              </a:endParaRPr>
            </a:p>
          </p:txBody>
        </p:sp>
        <p:sp>
          <p:nvSpPr>
            <p:cNvPr id="90" name="Google Shape;90;p7"/>
            <p:cNvSpPr/>
            <p:nvPr/>
          </p:nvSpPr>
          <p:spPr>
            <a:xfrm>
              <a:off x="5407032" y="2139286"/>
              <a:ext cx="780057" cy="678310"/>
            </a:xfrm>
            <a:custGeom>
              <a:avLst/>
              <a:gdLst/>
              <a:ahLst/>
              <a:cxnLst/>
              <a:rect l="l" t="t" r="r" b="b"/>
              <a:pathLst>
                <a:path w="120000" h="120000" extrusionOk="0">
                  <a:moveTo>
                    <a:pt x="6522" y="60000"/>
                  </a:moveTo>
                  <a:lnTo>
                    <a:pt x="6522" y="60000"/>
                  </a:lnTo>
                  <a:cubicBezTo>
                    <a:pt x="6522" y="34374"/>
                    <a:pt x="25367" y="12492"/>
                    <a:pt x="51107" y="8231"/>
                  </a:cubicBezTo>
                  <a:cubicBezTo>
                    <a:pt x="76848" y="3970"/>
                    <a:pt x="101961" y="18574"/>
                    <a:pt x="110521" y="42783"/>
                  </a:cubicBezTo>
                  <a:lnTo>
                    <a:pt x="116427" y="42783"/>
                  </a:lnTo>
                  <a:lnTo>
                    <a:pt x="106957" y="60000"/>
                  </a:lnTo>
                  <a:lnTo>
                    <a:pt x="90340" y="42783"/>
                  </a:lnTo>
                  <a:lnTo>
                    <a:pt x="95921" y="42783"/>
                  </a:lnTo>
                  <a:lnTo>
                    <a:pt x="95921" y="42783"/>
                  </a:lnTo>
                  <a:cubicBezTo>
                    <a:pt x="87358" y="27416"/>
                    <a:pt x="68572" y="19475"/>
                    <a:pt x="50448" y="23561"/>
                  </a:cubicBezTo>
                  <a:cubicBezTo>
                    <a:pt x="32324" y="27648"/>
                    <a:pt x="19565" y="42702"/>
                    <a:pt x="19565" y="60000"/>
                  </a:cubicBezTo>
                  <a:close/>
                </a:path>
              </a:pathLst>
            </a:custGeom>
            <a:solidFill>
              <a:srgbClr val="ABBADE"/>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7"/>
            <p:cNvSpPr/>
            <p:nvPr/>
          </p:nvSpPr>
          <p:spPr>
            <a:xfrm rot="10800000">
              <a:off x="5407032" y="2400175"/>
              <a:ext cx="780057" cy="678310"/>
            </a:xfrm>
            <a:custGeom>
              <a:avLst/>
              <a:gdLst/>
              <a:ahLst/>
              <a:cxnLst/>
              <a:rect l="l" t="t" r="r" b="b"/>
              <a:pathLst>
                <a:path w="120000" h="120000" extrusionOk="0">
                  <a:moveTo>
                    <a:pt x="6522" y="60000"/>
                  </a:moveTo>
                  <a:lnTo>
                    <a:pt x="6522" y="60000"/>
                  </a:lnTo>
                  <a:cubicBezTo>
                    <a:pt x="6522" y="34374"/>
                    <a:pt x="25367" y="12492"/>
                    <a:pt x="51107" y="8231"/>
                  </a:cubicBezTo>
                  <a:cubicBezTo>
                    <a:pt x="76848" y="3970"/>
                    <a:pt x="101961" y="18574"/>
                    <a:pt x="110521" y="42783"/>
                  </a:cubicBezTo>
                  <a:lnTo>
                    <a:pt x="116427" y="42783"/>
                  </a:lnTo>
                  <a:lnTo>
                    <a:pt x="106957" y="60000"/>
                  </a:lnTo>
                  <a:lnTo>
                    <a:pt x="90340" y="42783"/>
                  </a:lnTo>
                  <a:lnTo>
                    <a:pt x="95921" y="42783"/>
                  </a:lnTo>
                  <a:lnTo>
                    <a:pt x="95921" y="42783"/>
                  </a:lnTo>
                  <a:cubicBezTo>
                    <a:pt x="87358" y="27416"/>
                    <a:pt x="68572" y="19475"/>
                    <a:pt x="50448" y="23561"/>
                  </a:cubicBezTo>
                  <a:cubicBezTo>
                    <a:pt x="32324" y="27648"/>
                    <a:pt x="19565" y="42702"/>
                    <a:pt x="19565" y="60000"/>
                  </a:cubicBezTo>
                  <a:close/>
                </a:path>
              </a:pathLst>
            </a:custGeom>
            <a:solidFill>
              <a:srgbClr val="ABBADE"/>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 name="Google Shape;92;p7"/>
          <p:cNvSpPr txBox="1"/>
          <p:nvPr/>
        </p:nvSpPr>
        <p:spPr>
          <a:xfrm>
            <a:off x="544014" y="764889"/>
            <a:ext cx="3620530" cy="2031325"/>
          </a:xfrm>
          <a:prstGeom prst="rect">
            <a:avLst/>
          </a:prstGeom>
          <a:solidFill>
            <a:schemeClr val="lt1"/>
          </a:solidFill>
          <a:ln w="5715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nl-NL" sz="1600" b="0" i="0" u="none" strike="noStrike" cap="none">
                <a:solidFill>
                  <a:schemeClr val="dk1"/>
                </a:solidFill>
                <a:latin typeface="Arial"/>
                <a:ea typeface="Arial"/>
                <a:cs typeface="Arial"/>
                <a:sym typeface="Arial"/>
              </a:rPr>
              <a:t>On the level of care and changes to the level of care</a:t>
            </a:r>
            <a:endParaRPr/>
          </a:p>
          <a:p>
            <a:pPr marL="285750" marR="0" lvl="0" indent="-285750" algn="l" rtl="0">
              <a:lnSpc>
                <a:spcPct val="100000"/>
              </a:lnSpc>
              <a:spcBef>
                <a:spcPts val="0"/>
              </a:spcBef>
              <a:spcAft>
                <a:spcPts val="0"/>
              </a:spcAft>
              <a:buClr>
                <a:srgbClr val="000000"/>
              </a:buClr>
              <a:buSzPts val="1600"/>
              <a:buFont typeface="Arial"/>
              <a:buChar char="•"/>
            </a:pPr>
            <a:r>
              <a:rPr lang="nl-NL" sz="1600" b="0" i="0" u="none" strike="noStrike" cap="none">
                <a:solidFill>
                  <a:schemeClr val="dk1"/>
                </a:solidFill>
                <a:latin typeface="Arial"/>
                <a:ea typeface="Arial"/>
                <a:cs typeface="Arial"/>
                <a:sym typeface="Arial"/>
              </a:rPr>
              <a:t>On curation and appraisal and reappraisal phases</a:t>
            </a:r>
            <a:endParaRPr sz="16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nl-NL" sz="1600" b="0" i="0" u="none" strike="noStrike" cap="none">
                <a:solidFill>
                  <a:schemeClr val="dk1"/>
                </a:solidFill>
                <a:latin typeface="Arial"/>
                <a:ea typeface="Arial"/>
                <a:cs typeface="Arial"/>
                <a:sym typeface="Arial"/>
              </a:rPr>
              <a:t>On measures to monitor changes in technology and community (reuse) needs</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93" name="Google Shape;93;p7"/>
          <p:cNvSpPr txBox="1"/>
          <p:nvPr/>
        </p:nvSpPr>
        <p:spPr>
          <a:xfrm>
            <a:off x="535459" y="4514910"/>
            <a:ext cx="3620530" cy="1815882"/>
          </a:xfrm>
          <a:prstGeom prst="rect">
            <a:avLst/>
          </a:prstGeom>
          <a:solidFill>
            <a:schemeClr val="lt1"/>
          </a:solidFill>
          <a:ln w="5715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nl-NL" sz="1600" b="0" i="0" u="none" strike="noStrike" cap="none">
                <a:solidFill>
                  <a:srgbClr val="000000"/>
                </a:solidFill>
                <a:latin typeface="Arial"/>
                <a:ea typeface="Arial"/>
                <a:cs typeface="Arial"/>
                <a:sym typeface="Arial"/>
              </a:rPr>
              <a:t>Continued focus in EOSC and related projects</a:t>
            </a:r>
            <a:endParaRPr/>
          </a:p>
          <a:p>
            <a:pPr marL="285750" marR="0" lvl="0" indent="-285750" algn="l" rtl="0">
              <a:lnSpc>
                <a:spcPct val="100000"/>
              </a:lnSpc>
              <a:spcBef>
                <a:spcPts val="0"/>
              </a:spcBef>
              <a:spcAft>
                <a:spcPts val="0"/>
              </a:spcAft>
              <a:buClr>
                <a:srgbClr val="000000"/>
              </a:buClr>
              <a:buSzPts val="1600"/>
              <a:buFont typeface="Arial"/>
              <a:buChar char="•"/>
            </a:pPr>
            <a:r>
              <a:rPr lang="nl-NL" sz="1600" b="0" i="0" u="none" strike="noStrike" cap="none">
                <a:solidFill>
                  <a:srgbClr val="000000"/>
                </a:solidFill>
                <a:latin typeface="Arial"/>
                <a:ea typeface="Arial"/>
                <a:cs typeface="Arial"/>
                <a:sym typeface="Arial"/>
              </a:rPr>
              <a:t>Long term financing of both infrastructure and specialised staff</a:t>
            </a:r>
            <a:endParaRPr sz="1600" b="0" i="0" u="none" strike="noStrike" cap="none">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94" name="Google Shape;94;p7"/>
          <p:cNvSpPr txBox="1"/>
          <p:nvPr/>
        </p:nvSpPr>
        <p:spPr>
          <a:xfrm>
            <a:off x="8036011" y="734111"/>
            <a:ext cx="3620530" cy="2062103"/>
          </a:xfrm>
          <a:prstGeom prst="rect">
            <a:avLst/>
          </a:prstGeom>
          <a:solidFill>
            <a:schemeClr val="lt1"/>
          </a:solidFill>
          <a:ln w="5715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nl-NL" sz="1600" b="0" i="0" u="none" strike="noStrike" cap="none">
                <a:solidFill>
                  <a:srgbClr val="000000"/>
                </a:solidFill>
                <a:latin typeface="Arial"/>
                <a:ea typeface="Arial"/>
                <a:cs typeface="Arial"/>
                <a:sym typeface="Arial"/>
              </a:rPr>
              <a:t>Training on how to create and curate FAIR digital objects over time should be embedded into education and professional development training of researchers and support staff</a:t>
            </a:r>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95" name="Google Shape;95;p7"/>
          <p:cNvSpPr txBox="1"/>
          <p:nvPr/>
        </p:nvSpPr>
        <p:spPr>
          <a:xfrm>
            <a:off x="8036011" y="4514910"/>
            <a:ext cx="3620530" cy="1815882"/>
          </a:xfrm>
          <a:prstGeom prst="rect">
            <a:avLst/>
          </a:prstGeom>
          <a:solidFill>
            <a:schemeClr val="lt1"/>
          </a:solidFill>
          <a:ln w="57150"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nl-NL" sz="1600" b="0" i="0" u="none" strike="noStrike" cap="none">
                <a:solidFill>
                  <a:srgbClr val="000000"/>
                </a:solidFill>
                <a:latin typeface="Arial"/>
                <a:ea typeface="Arial"/>
                <a:cs typeface="Arial"/>
                <a:sym typeface="Arial"/>
              </a:rPr>
              <a:t>Active preservation to ensure that digital objects that are FAIR at the point of deposit, remain FAIR over time</a:t>
            </a:r>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8"/>
          <p:cNvSpPr txBox="1">
            <a:spLocks noGrp="1"/>
          </p:cNvSpPr>
          <p:nvPr>
            <p:ph type="body" idx="1"/>
          </p:nvPr>
        </p:nvSpPr>
        <p:spPr>
          <a:xfrm>
            <a:off x="496712" y="1570383"/>
            <a:ext cx="11055206" cy="4382541"/>
          </a:xfrm>
          <a:prstGeom prst="rect">
            <a:avLst/>
          </a:prstGeom>
          <a:noFill/>
          <a:ln>
            <a:noFill/>
          </a:ln>
        </p:spPr>
        <p:txBody>
          <a:bodyPr spcFirstLastPara="1" wrap="square" lIns="91425" tIns="45700" rIns="91425" bIns="45700" anchor="t" anchorCtr="0">
            <a:normAutofit/>
          </a:bodyPr>
          <a:lstStyle/>
          <a:p>
            <a:pPr marL="228600" lvl="0" indent="-228600" algn="l" rtl="0">
              <a:lnSpc>
                <a:spcPct val="130000"/>
              </a:lnSpc>
              <a:spcBef>
                <a:spcPts val="1000"/>
              </a:spcBef>
              <a:spcAft>
                <a:spcPts val="0"/>
              </a:spcAft>
              <a:buSzPts val="1500"/>
              <a:buNone/>
            </a:pPr>
            <a:r>
              <a:rPr lang="nl-NL" sz="1800" b="1" i="0" u="none" strike="noStrike">
                <a:solidFill>
                  <a:srgbClr val="000000"/>
                </a:solidFill>
                <a:latin typeface="Roboto"/>
                <a:ea typeface="Roboto"/>
                <a:cs typeface="Roboto"/>
                <a:sym typeface="Roboto"/>
              </a:rPr>
              <a:t>Outputs  (Zotero group - </a:t>
            </a:r>
            <a:r>
              <a:rPr lang="nl-NL" sz="1800" b="1" i="0" u="sng" strike="noStrike">
                <a:solidFill>
                  <a:srgbClr val="0563C1"/>
                </a:solidFill>
                <a:latin typeface="Roboto"/>
                <a:ea typeface="Roboto"/>
                <a:cs typeface="Roboto"/>
                <a:sym typeface="Roboto"/>
                <a:hlinkClick r:id="rId3">
                  <a:extLst>
                    <a:ext uri="{A12FA001-AC4F-418D-AE19-62706E023703}">
                      <ahyp:hlinkClr xmlns:ahyp="http://schemas.microsoft.com/office/drawing/2018/hyperlinkcolor" val="tx"/>
                    </a:ext>
                  </a:extLst>
                </a:hlinkClick>
              </a:rPr>
              <a:t>https://lib.is/LTDP</a:t>
            </a:r>
            <a:r>
              <a:rPr lang="nl-NL" sz="1800" b="0" i="0" u="none" strike="noStrike">
                <a:solidFill>
                  <a:srgbClr val="000000"/>
                </a:solidFill>
                <a:latin typeface="Roboto"/>
                <a:ea typeface="Roboto"/>
                <a:cs typeface="Roboto"/>
                <a:sym typeface="Roboto"/>
              </a:rPr>
              <a:t>)</a:t>
            </a:r>
            <a:endParaRPr sz="2400"/>
          </a:p>
          <a:p>
            <a:pPr marL="95250" lvl="0" indent="-95250" algn="l" rtl="0">
              <a:lnSpc>
                <a:spcPct val="130000"/>
              </a:lnSpc>
              <a:spcBef>
                <a:spcPts val="600"/>
              </a:spcBef>
              <a:spcAft>
                <a:spcPts val="0"/>
              </a:spcAft>
              <a:buSzPts val="1500"/>
              <a:buFont typeface="Arial"/>
              <a:buChar char="•"/>
            </a:pPr>
            <a:r>
              <a:rPr lang="nl-NL" sz="1800" b="0" i="0" u="none" strike="noStrike">
                <a:solidFill>
                  <a:srgbClr val="000000"/>
                </a:solidFill>
                <a:latin typeface="Roboto"/>
                <a:ea typeface="Roboto"/>
                <a:cs typeface="Roboto"/>
                <a:sym typeface="Roboto"/>
              </a:rPr>
              <a:t>LTDP-TF Final Report &amp; Recommendations </a:t>
            </a:r>
            <a:r>
              <a:rPr lang="nl-NL" sz="1800" b="0" i="0" u="sng" strike="noStrike">
                <a:solidFill>
                  <a:srgbClr val="0563C1"/>
                </a:solidFill>
                <a:latin typeface="Roboto"/>
                <a:ea typeface="Roboto"/>
                <a:cs typeface="Roboto"/>
                <a:sym typeface="Roboto"/>
                <a:hlinkClick r:id="rId4">
                  <a:extLst>
                    <a:ext uri="{A12FA001-AC4F-418D-AE19-62706E023703}">
                      <ahyp:hlinkClr xmlns:ahyp="http://schemas.microsoft.com/office/drawing/2018/hyperlinkcolor" val="tx"/>
                    </a:ext>
                  </a:extLst>
                </a:hlinkClick>
              </a:rPr>
              <a:t>https://doi.org/10.5281/zenodo.10820893</a:t>
            </a:r>
            <a:endParaRPr sz="1800" b="0" i="0" u="none" strike="noStrike">
              <a:solidFill>
                <a:srgbClr val="000000"/>
              </a:solidFill>
              <a:latin typeface="Arial"/>
              <a:ea typeface="Arial"/>
              <a:cs typeface="Arial"/>
              <a:sym typeface="Arial"/>
            </a:endParaRPr>
          </a:p>
          <a:p>
            <a:pPr marL="95250" lvl="0" indent="-95250" algn="l" rtl="0">
              <a:lnSpc>
                <a:spcPct val="130000"/>
              </a:lnSpc>
              <a:spcBef>
                <a:spcPts val="600"/>
              </a:spcBef>
              <a:spcAft>
                <a:spcPts val="0"/>
              </a:spcAft>
              <a:buSzPts val="1500"/>
              <a:buFont typeface="Arial"/>
              <a:buChar char="•"/>
            </a:pPr>
            <a:r>
              <a:rPr lang="nl-NL" sz="1800" b="0" i="0" u="none" strike="noStrike">
                <a:solidFill>
                  <a:srgbClr val="000000"/>
                </a:solidFill>
                <a:latin typeface="Roboto"/>
                <a:ea typeface="Roboto"/>
                <a:cs typeface="Roboto"/>
                <a:sym typeface="Roboto"/>
              </a:rPr>
              <a:t>LTDP-TF Recommendations &amp; Assertions </a:t>
            </a:r>
            <a:r>
              <a:rPr lang="nl-NL" sz="1800" b="0" i="0" u="sng" strike="noStrike">
                <a:solidFill>
                  <a:srgbClr val="0563C1"/>
                </a:solidFill>
                <a:latin typeface="Roboto"/>
                <a:ea typeface="Roboto"/>
                <a:cs typeface="Roboto"/>
                <a:sym typeface="Roboto"/>
                <a:hlinkClick r:id="rId5">
                  <a:extLst>
                    <a:ext uri="{A12FA001-AC4F-418D-AE19-62706E023703}">
                      <ahyp:hlinkClr xmlns:ahyp="http://schemas.microsoft.com/office/drawing/2018/hyperlinkcolor" val="tx"/>
                    </a:ext>
                  </a:extLst>
                </a:hlinkClick>
              </a:rPr>
              <a:t>https://doi.org/10.5281/zenodo.10848331</a:t>
            </a:r>
            <a:endParaRPr sz="1800" b="0" i="0" u="none" strike="noStrike">
              <a:solidFill>
                <a:srgbClr val="000000"/>
              </a:solidFill>
              <a:latin typeface="Arial"/>
              <a:ea typeface="Arial"/>
              <a:cs typeface="Arial"/>
              <a:sym typeface="Arial"/>
            </a:endParaRPr>
          </a:p>
          <a:p>
            <a:pPr marL="95250" lvl="0" indent="-95250" algn="l" rtl="0">
              <a:lnSpc>
                <a:spcPct val="130000"/>
              </a:lnSpc>
              <a:spcBef>
                <a:spcPts val="600"/>
              </a:spcBef>
              <a:spcAft>
                <a:spcPts val="0"/>
              </a:spcAft>
              <a:buSzPts val="1500"/>
              <a:buFont typeface="Arial"/>
              <a:buChar char="•"/>
            </a:pPr>
            <a:r>
              <a:rPr lang="nl-NL" sz="1800" b="0" i="0" u="none" strike="noStrike">
                <a:solidFill>
                  <a:srgbClr val="000000"/>
                </a:solidFill>
                <a:latin typeface="Roboto"/>
                <a:ea typeface="Roboto"/>
                <a:cs typeface="Roboto"/>
                <a:sym typeface="Roboto"/>
              </a:rPr>
              <a:t>Preservation in the context of EOSC. Sustainable repositories curating digital objects from a long-term FAIR enabling perspective </a:t>
            </a:r>
            <a:r>
              <a:rPr lang="nl-NL" sz="1800" b="0" i="0" u="sng" strike="noStrike">
                <a:solidFill>
                  <a:srgbClr val="0563C1"/>
                </a:solidFill>
                <a:latin typeface="Roboto"/>
                <a:ea typeface="Roboto"/>
                <a:cs typeface="Roboto"/>
                <a:sym typeface="Roboto"/>
                <a:hlinkClick r:id="rId6">
                  <a:extLst>
                    <a:ext uri="{A12FA001-AC4F-418D-AE19-62706E023703}">
                      <ahyp:hlinkClr xmlns:ahyp="http://schemas.microsoft.com/office/drawing/2018/hyperlinkcolor" val="tx"/>
                    </a:ext>
                  </a:extLst>
                </a:hlinkClick>
              </a:rPr>
              <a:t>https://doi.org/10.5281/zenodo.10020725</a:t>
            </a:r>
            <a:endParaRPr sz="1800" b="0" i="0" u="none" strike="noStrike">
              <a:solidFill>
                <a:srgbClr val="000000"/>
              </a:solidFill>
              <a:latin typeface="Arial"/>
              <a:ea typeface="Arial"/>
              <a:cs typeface="Arial"/>
              <a:sym typeface="Arial"/>
            </a:endParaRPr>
          </a:p>
          <a:p>
            <a:pPr marL="95250" lvl="0" indent="-95250" algn="l" rtl="0">
              <a:lnSpc>
                <a:spcPct val="130000"/>
              </a:lnSpc>
              <a:spcBef>
                <a:spcPts val="600"/>
              </a:spcBef>
              <a:spcAft>
                <a:spcPts val="0"/>
              </a:spcAft>
              <a:buSzPts val="1500"/>
              <a:buFont typeface="Arial"/>
              <a:buChar char="•"/>
            </a:pPr>
            <a:r>
              <a:rPr lang="nl-NL" sz="1800" b="0" i="0" u="none" strike="noStrike">
                <a:solidFill>
                  <a:srgbClr val="000000"/>
                </a:solidFill>
                <a:latin typeface="Roboto"/>
                <a:ea typeface="Roboto"/>
                <a:cs typeface="Roboto"/>
                <a:sym typeface="Roboto"/>
              </a:rPr>
              <a:t>How a European network of FAIR-enabling Trustworthy Data Repositories can align to the vision of EOSC </a:t>
            </a:r>
            <a:r>
              <a:rPr lang="nl-NL" sz="1800" b="0" i="0" u="sng" strike="noStrike">
                <a:solidFill>
                  <a:srgbClr val="0563C1"/>
                </a:solidFill>
                <a:latin typeface="Roboto"/>
                <a:ea typeface="Roboto"/>
                <a:cs typeface="Roboto"/>
                <a:sym typeface="Roboto"/>
                <a:hlinkClick r:id="rId7">
                  <a:extLst>
                    <a:ext uri="{A12FA001-AC4F-418D-AE19-62706E023703}">
                      <ahyp:hlinkClr xmlns:ahyp="http://schemas.microsoft.com/office/drawing/2018/hyperlinkcolor" val="tx"/>
                    </a:ext>
                  </a:extLst>
                </a:hlinkClick>
              </a:rPr>
              <a:t>https://doi.org/10.5281/zenodo.7568400</a:t>
            </a:r>
            <a:endParaRPr sz="1800" b="0" i="0" u="none" strike="noStrike">
              <a:solidFill>
                <a:srgbClr val="000000"/>
              </a:solidFill>
              <a:latin typeface="Arial"/>
              <a:ea typeface="Arial"/>
              <a:cs typeface="Arial"/>
              <a:sym typeface="Arial"/>
            </a:endParaRPr>
          </a:p>
          <a:p>
            <a:pPr marL="95250" lvl="0" indent="-95250" algn="l" rtl="0">
              <a:lnSpc>
                <a:spcPct val="130000"/>
              </a:lnSpc>
              <a:spcBef>
                <a:spcPts val="600"/>
              </a:spcBef>
              <a:spcAft>
                <a:spcPts val="0"/>
              </a:spcAft>
              <a:buSzPts val="1500"/>
              <a:buFont typeface="Arial"/>
              <a:buChar char="•"/>
            </a:pPr>
            <a:r>
              <a:rPr lang="nl-NL" sz="1800" b="0" i="0" u="none" strike="noStrike">
                <a:solidFill>
                  <a:srgbClr val="000000"/>
                </a:solidFill>
                <a:latin typeface="Roboto"/>
                <a:ea typeface="Roboto"/>
                <a:cs typeface="Roboto"/>
                <a:sym typeface="Roboto"/>
              </a:rPr>
              <a:t>Overview discussion paper </a:t>
            </a:r>
            <a:r>
              <a:rPr lang="nl-NL" sz="1800" b="0" i="0" u="sng" strike="noStrike">
                <a:solidFill>
                  <a:srgbClr val="0563C1"/>
                </a:solidFill>
                <a:latin typeface="Roboto"/>
                <a:ea typeface="Roboto"/>
                <a:cs typeface="Roboto"/>
                <a:sym typeface="Roboto"/>
                <a:hlinkClick r:id="rId8">
                  <a:extLst>
                    <a:ext uri="{A12FA001-AC4F-418D-AE19-62706E023703}">
                      <ahyp:hlinkClr xmlns:ahyp="http://schemas.microsoft.com/office/drawing/2018/hyperlinkcolor" val="tx"/>
                    </a:ext>
                  </a:extLst>
                </a:hlinkClick>
              </a:rPr>
              <a:t>https://doi.org/10.5281/zenodo.7516259</a:t>
            </a:r>
            <a:endParaRPr sz="1800" b="0" i="0" u="none" strike="noStrike">
              <a:solidFill>
                <a:srgbClr val="000000"/>
              </a:solidFill>
              <a:latin typeface="Arial"/>
              <a:ea typeface="Arial"/>
              <a:cs typeface="Arial"/>
              <a:sym typeface="Arial"/>
            </a:endParaRPr>
          </a:p>
        </p:txBody>
      </p:sp>
      <p:sp>
        <p:nvSpPr>
          <p:cNvPr id="101" name="Google Shape;101;p8"/>
          <p:cNvSpPr txBox="1">
            <a:spLocks noGrp="1"/>
          </p:cNvSpPr>
          <p:nvPr>
            <p:ph type="title"/>
          </p:nvPr>
        </p:nvSpPr>
        <p:spPr>
          <a:xfrm>
            <a:off x="2847248" y="235633"/>
            <a:ext cx="8704670" cy="60388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8691"/>
              </a:buClr>
              <a:buSzPts val="3500"/>
              <a:buFont typeface="Roboto"/>
              <a:buNone/>
            </a:pPr>
            <a:r>
              <a:rPr lang="nl-NL"/>
              <a:t>Task force outputs</a:t>
            </a:r>
            <a:endParaRPr/>
          </a:p>
        </p:txBody>
      </p:sp>
      <p:sp>
        <p:nvSpPr>
          <p:cNvPr id="102" name="Google Shape;102;p8"/>
          <p:cNvSpPr txBox="1">
            <a:spLocks noGrp="1"/>
          </p:cNvSpPr>
          <p:nvPr>
            <p:ph type="sldNum" idx="12"/>
          </p:nvPr>
        </p:nvSpPr>
        <p:spPr>
          <a:xfrm>
            <a:off x="10744200" y="6423497"/>
            <a:ext cx="1289222" cy="19887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nl-NL"/>
              <a:t>4</a:t>
            </a:fld>
            <a:endParaRPr/>
          </a:p>
        </p:txBody>
      </p:sp>
      <p:sp>
        <p:nvSpPr>
          <p:cNvPr id="103" name="Google Shape;103;p8"/>
          <p:cNvSpPr txBox="1">
            <a:spLocks noGrp="1"/>
          </p:cNvSpPr>
          <p:nvPr>
            <p:ph type="body" idx="2"/>
          </p:nvPr>
        </p:nvSpPr>
        <p:spPr>
          <a:xfrm>
            <a:off x="2847245" y="895137"/>
            <a:ext cx="8704671" cy="364765"/>
          </a:xfrm>
          <a:prstGeom prst="rect">
            <a:avLst/>
          </a:prstGeom>
          <a:noFill/>
          <a:ln>
            <a:noFill/>
          </a:ln>
        </p:spPr>
        <p:txBody>
          <a:bodyPr spcFirstLastPara="1" wrap="square" lIns="91425" tIns="45700" rIns="91425" bIns="45700" anchor="t" anchorCtr="0">
            <a:normAutofit fontScale="70000" lnSpcReduction="20000"/>
          </a:bodyPr>
          <a:lstStyle/>
          <a:p>
            <a:pPr marL="457200" lvl="0" indent="-228600" algn="l" rtl="0">
              <a:lnSpc>
                <a:spcPct val="90000"/>
              </a:lnSpc>
              <a:spcBef>
                <a:spcPts val="1000"/>
              </a:spcBef>
              <a:spcAft>
                <a:spcPts val="0"/>
              </a:spcAft>
              <a:buClr>
                <a:srgbClr val="0C0C0C"/>
              </a:buClr>
              <a:buSzPct val="142857"/>
              <a:buNone/>
            </a:pPr>
            <a:endParaRPr/>
          </a:p>
        </p:txBody>
      </p:sp>
      <p:sp>
        <p:nvSpPr>
          <p:cNvPr id="104" name="Google Shape;104;p8"/>
          <p:cNvSpPr txBox="1">
            <a:spLocks noGrp="1"/>
          </p:cNvSpPr>
          <p:nvPr>
            <p:ph type="ftr" idx="11"/>
          </p:nvPr>
        </p:nvSpPr>
        <p:spPr>
          <a:xfrm>
            <a:off x="311426" y="6356350"/>
            <a:ext cx="41148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nl-NL"/>
              <a:t>19 | 09 | 2024 by Hervé L'Hours &amp; Roxanne Wyns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5"/>
          <p:cNvSpPr txBox="1">
            <a:spLocks noGrp="1"/>
          </p:cNvSpPr>
          <p:nvPr>
            <p:ph type="body" idx="1"/>
          </p:nvPr>
        </p:nvSpPr>
        <p:spPr>
          <a:xfrm>
            <a:off x="311150" y="418955"/>
            <a:ext cx="1289043" cy="290035"/>
          </a:xfrm>
          <a:prstGeom prst="rect">
            <a:avLst/>
          </a:prstGeom>
          <a:blipFill rotWithShape="1">
            <a:blip r:embed="rId3">
              <a:alphaModFix/>
            </a:blip>
            <a:stretch>
              <a:fillRect/>
            </a:stretch>
          </a:blip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SzPts val="100"/>
              <a:buFont typeface="Roboto Light"/>
              <a:buNone/>
            </a:pPr>
            <a:endParaRPr/>
          </a:p>
        </p:txBody>
      </p:sp>
      <p:sp>
        <p:nvSpPr>
          <p:cNvPr id="111" name="Google Shape;111;p15"/>
          <p:cNvSpPr txBox="1">
            <a:spLocks noGrp="1"/>
          </p:cNvSpPr>
          <p:nvPr>
            <p:ph type="sldNum" idx="4294967295"/>
          </p:nvPr>
        </p:nvSpPr>
        <p:spPr>
          <a:xfrm>
            <a:off x="10902950" y="6423025"/>
            <a:ext cx="1289050" cy="2000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nl-NL"/>
              <a:t>5</a:t>
            </a:fld>
            <a:endParaRPr/>
          </a:p>
        </p:txBody>
      </p:sp>
      <p:sp>
        <p:nvSpPr>
          <p:cNvPr id="112" name="Google Shape;112;p15"/>
          <p:cNvSpPr txBox="1">
            <a:spLocks noGrp="1"/>
          </p:cNvSpPr>
          <p:nvPr>
            <p:ph type="ftr" idx="4294967295"/>
          </p:nvPr>
        </p:nvSpPr>
        <p:spPr>
          <a:xfrm>
            <a:off x="0" y="6356350"/>
            <a:ext cx="4114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nl-NL"/>
              <a:t>19 | 09 | 2024 by Hervé L'Hours &amp; Roxanne Wyns</a:t>
            </a:r>
            <a:endParaRPr/>
          </a:p>
        </p:txBody>
      </p:sp>
      <p:pic>
        <p:nvPicPr>
          <p:cNvPr id="113" name="Google Shape;113;p15" descr="Blue fireworks explosion in the sky"/>
          <p:cNvPicPr preferRelativeResize="0">
            <a:picLocks noGrp="1"/>
          </p:cNvPicPr>
          <p:nvPr>
            <p:ph type="pic" idx="2"/>
          </p:nvPr>
        </p:nvPicPr>
        <p:blipFill rotWithShape="1">
          <a:blip r:embed="rId4">
            <a:alphaModFix/>
          </a:blip>
          <a:srcRect t="7802" b="7802"/>
          <a:stretch/>
        </p:blipFill>
        <p:spPr>
          <a:xfrm>
            <a:off x="0" y="1"/>
            <a:ext cx="12192000" cy="6857999"/>
          </a:xfrm>
          <a:prstGeom prst="rect">
            <a:avLst/>
          </a:prstGeom>
          <a:noFill/>
          <a:ln>
            <a:noFill/>
          </a:ln>
        </p:spPr>
      </p:pic>
      <p:sp>
        <p:nvSpPr>
          <p:cNvPr id="114" name="Google Shape;114;p15"/>
          <p:cNvSpPr txBox="1"/>
          <p:nvPr/>
        </p:nvSpPr>
        <p:spPr>
          <a:xfrm>
            <a:off x="311150" y="5142647"/>
            <a:ext cx="5005917" cy="10771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nl-NL" sz="3200" b="0" i="0" u="none" strike="noStrike" cap="none">
                <a:solidFill>
                  <a:schemeClr val="lt1"/>
                </a:solidFill>
                <a:latin typeface="Arial"/>
                <a:ea typeface="Arial"/>
                <a:cs typeface="Arial"/>
                <a:sym typeface="Arial"/>
              </a:rPr>
              <a:t>A new EOSC-A TF on Long Term Data Retention</a:t>
            </a:r>
            <a:endParaRPr sz="3200" b="0" i="0" u="none" strike="noStrike" cap="none">
              <a:solidFill>
                <a:schemeClr val="lt1"/>
              </a:solidFill>
              <a:latin typeface="Arial"/>
              <a:ea typeface="Arial"/>
              <a:cs typeface="Arial"/>
              <a:sym typeface="Arial"/>
            </a:endParaRPr>
          </a:p>
        </p:txBody>
      </p:sp>
      <p:sp>
        <p:nvSpPr>
          <p:cNvPr id="115" name="Google Shape;115;p15"/>
          <p:cNvSpPr txBox="1"/>
          <p:nvPr/>
        </p:nvSpPr>
        <p:spPr>
          <a:xfrm>
            <a:off x="4649538" y="6409899"/>
            <a:ext cx="785361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nl-NL" sz="1800" b="1" i="0" u="none" strike="noStrike" cap="none">
                <a:solidFill>
                  <a:schemeClr val="lt1"/>
                </a:solidFill>
                <a:latin typeface="Roboto"/>
                <a:ea typeface="Roboto"/>
                <a:cs typeface="Roboto"/>
                <a:sym typeface="Roboto"/>
              </a:rPr>
              <a:t>https://eosc.eu/advisory-groups/long-term-data-retention-task-force/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p24" descr="Circle patterns on sand"/>
          <p:cNvPicPr preferRelativeResize="0">
            <a:picLocks noGrp="1"/>
          </p:cNvPicPr>
          <p:nvPr>
            <p:ph type="pic" idx="2"/>
          </p:nvPr>
        </p:nvPicPr>
        <p:blipFill rotWithShape="1">
          <a:blip r:embed="rId3">
            <a:alphaModFix/>
          </a:blip>
          <a:srcRect t="7537" b="7537"/>
          <a:stretch/>
        </p:blipFill>
        <p:spPr>
          <a:xfrm>
            <a:off x="0" y="0"/>
            <a:ext cx="12192000" cy="6857999"/>
          </a:xfrm>
          <a:prstGeom prst="rect">
            <a:avLst/>
          </a:prstGeom>
          <a:noFill/>
          <a:ln>
            <a:noFill/>
          </a:ln>
        </p:spPr>
      </p:pic>
      <p:sp>
        <p:nvSpPr>
          <p:cNvPr id="122" name="Google Shape;122;p24"/>
          <p:cNvSpPr txBox="1"/>
          <p:nvPr/>
        </p:nvSpPr>
        <p:spPr>
          <a:xfrm>
            <a:off x="2875730" y="235633"/>
            <a:ext cx="6645381" cy="603887"/>
          </a:xfrm>
          <a:prstGeom prst="rect">
            <a:avLst/>
          </a:prstGeom>
          <a:noFill/>
          <a:ln>
            <a:noFill/>
          </a:ln>
        </p:spPr>
        <p:txBody>
          <a:bodyPr spcFirstLastPara="1" wrap="square" lIns="91425" tIns="45700" rIns="91425" bIns="45700" anchor="t" anchorCtr="0">
            <a:normAutofit fontScale="97500" lnSpcReduction="10000"/>
          </a:bodyPr>
          <a:lstStyle/>
          <a:p>
            <a:pPr marL="0" marR="0" lvl="0" indent="0" algn="ctr" rtl="0">
              <a:lnSpc>
                <a:spcPct val="100000"/>
              </a:lnSpc>
              <a:spcBef>
                <a:spcPts val="0"/>
              </a:spcBef>
              <a:spcAft>
                <a:spcPts val="0"/>
              </a:spcAft>
              <a:buNone/>
            </a:pPr>
            <a:r>
              <a:rPr lang="nl-NL" sz="3600" b="1" i="0" u="none" strike="noStrike" cap="none">
                <a:solidFill>
                  <a:schemeClr val="dk1"/>
                </a:solidFill>
                <a:latin typeface="Roboto"/>
                <a:ea typeface="Roboto"/>
                <a:cs typeface="Roboto"/>
                <a:sym typeface="Roboto"/>
              </a:rPr>
              <a:t>EOSC-A LTDR-TF</a:t>
            </a:r>
            <a:endParaRPr/>
          </a:p>
        </p:txBody>
      </p:sp>
      <p:grpSp>
        <p:nvGrpSpPr>
          <p:cNvPr id="123" name="Google Shape;123;p24"/>
          <p:cNvGrpSpPr/>
          <p:nvPr/>
        </p:nvGrpSpPr>
        <p:grpSpPr>
          <a:xfrm>
            <a:off x="3886948" y="1136933"/>
            <a:ext cx="4622946" cy="4622946"/>
            <a:chOff x="3485588" y="297413"/>
            <a:chExt cx="4622946" cy="4622946"/>
          </a:xfrm>
        </p:grpSpPr>
        <p:sp>
          <p:nvSpPr>
            <p:cNvPr id="124" name="Google Shape;124;p24"/>
            <p:cNvSpPr/>
            <p:nvPr/>
          </p:nvSpPr>
          <p:spPr>
            <a:xfrm>
              <a:off x="3485588" y="297413"/>
              <a:ext cx="2259295" cy="2259295"/>
            </a:xfrm>
            <a:custGeom>
              <a:avLst/>
              <a:gdLst/>
              <a:ahLst/>
              <a:cxnLst/>
              <a:rect l="l" t="t" r="r" b="b"/>
              <a:pathLst>
                <a:path w="120000" h="120000" extrusionOk="0">
                  <a:moveTo>
                    <a:pt x="0" y="120000"/>
                  </a:moveTo>
                  <a:lnTo>
                    <a:pt x="0" y="120000"/>
                  </a:lnTo>
                  <a:cubicBezTo>
                    <a:pt x="0" y="53726"/>
                    <a:pt x="53726" y="0"/>
                    <a:pt x="120000" y="0"/>
                  </a:cubicBezTo>
                  <a:lnTo>
                    <a:pt x="120000" y="120000"/>
                  </a:lnTo>
                  <a:close/>
                </a:path>
              </a:pathLst>
            </a:custGeom>
            <a:solidFill>
              <a:srgbClr val="D8D8D8"/>
            </a:solidFill>
            <a:ln w="571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4"/>
            <p:cNvSpPr txBox="1"/>
            <p:nvPr/>
          </p:nvSpPr>
          <p:spPr>
            <a:xfrm>
              <a:off x="4147320" y="959145"/>
              <a:ext cx="1597563" cy="1597563"/>
            </a:xfrm>
            <a:prstGeom prst="rect">
              <a:avLst/>
            </a:prstGeom>
            <a:noFill/>
            <a:ln>
              <a:noFill/>
            </a:ln>
          </p:spPr>
          <p:txBody>
            <a:bodyPr spcFirstLastPara="1" wrap="square" lIns="120900" tIns="120900" rIns="120900" bIns="120900" anchor="ctr" anchorCtr="0">
              <a:noAutofit/>
            </a:bodyPr>
            <a:lstStyle/>
            <a:p>
              <a:pPr marL="0" marR="0" lvl="0" indent="0" algn="ctr" rtl="0">
                <a:lnSpc>
                  <a:spcPct val="90000"/>
                </a:lnSpc>
                <a:spcBef>
                  <a:spcPts val="0"/>
                </a:spcBef>
                <a:spcAft>
                  <a:spcPts val="0"/>
                </a:spcAft>
                <a:buClr>
                  <a:srgbClr val="000000"/>
                </a:buClr>
                <a:buSzPts val="1700"/>
                <a:buFont typeface="Arial"/>
                <a:buNone/>
              </a:pPr>
              <a:r>
                <a:rPr lang="nl-NL" sz="1700" b="0" i="0" u="none" strike="noStrike" cap="none">
                  <a:solidFill>
                    <a:schemeClr val="dk1"/>
                  </a:solidFill>
                  <a:latin typeface="Arial"/>
                  <a:ea typeface="Arial"/>
                  <a:cs typeface="Arial"/>
                  <a:sym typeface="Arial"/>
                </a:rPr>
                <a:t>A clear and defined (re)appraisal cycle</a:t>
              </a:r>
              <a:endParaRPr sz="1700" b="0" i="0" u="none" strike="noStrike" cap="none">
                <a:solidFill>
                  <a:schemeClr val="dk1"/>
                </a:solidFill>
                <a:latin typeface="Arial"/>
                <a:ea typeface="Arial"/>
                <a:cs typeface="Arial"/>
                <a:sym typeface="Arial"/>
              </a:endParaRPr>
            </a:p>
          </p:txBody>
        </p:sp>
        <p:sp>
          <p:nvSpPr>
            <p:cNvPr id="126" name="Google Shape;126;p24"/>
            <p:cNvSpPr/>
            <p:nvPr/>
          </p:nvSpPr>
          <p:spPr>
            <a:xfrm rot="5400000">
              <a:off x="5849239" y="297413"/>
              <a:ext cx="2259295" cy="2259295"/>
            </a:xfrm>
            <a:custGeom>
              <a:avLst/>
              <a:gdLst/>
              <a:ahLst/>
              <a:cxnLst/>
              <a:rect l="l" t="t" r="r" b="b"/>
              <a:pathLst>
                <a:path w="120000" h="120000" extrusionOk="0">
                  <a:moveTo>
                    <a:pt x="0" y="120000"/>
                  </a:moveTo>
                  <a:lnTo>
                    <a:pt x="0" y="120000"/>
                  </a:lnTo>
                  <a:cubicBezTo>
                    <a:pt x="0" y="53726"/>
                    <a:pt x="53726" y="0"/>
                    <a:pt x="120000" y="0"/>
                  </a:cubicBezTo>
                  <a:lnTo>
                    <a:pt x="120000" y="120000"/>
                  </a:lnTo>
                  <a:close/>
                </a:path>
              </a:pathLst>
            </a:custGeom>
            <a:solidFill>
              <a:srgbClr val="D8D8D8"/>
            </a:solidFill>
            <a:ln w="571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4"/>
            <p:cNvSpPr txBox="1"/>
            <p:nvPr/>
          </p:nvSpPr>
          <p:spPr>
            <a:xfrm>
              <a:off x="5849239" y="959145"/>
              <a:ext cx="1597563" cy="1597563"/>
            </a:xfrm>
            <a:prstGeom prst="rect">
              <a:avLst/>
            </a:prstGeom>
            <a:noFill/>
            <a:ln>
              <a:noFill/>
            </a:ln>
          </p:spPr>
          <p:txBody>
            <a:bodyPr spcFirstLastPara="1" wrap="square" lIns="113775" tIns="113775" rIns="113775" bIns="113775" anchor="ctr" anchorCtr="0">
              <a:noAutofit/>
            </a:bodyPr>
            <a:lstStyle/>
            <a:p>
              <a:pPr marL="0" marR="0" lvl="0" indent="0" algn="ctr" rtl="0">
                <a:lnSpc>
                  <a:spcPct val="90000"/>
                </a:lnSpc>
                <a:spcBef>
                  <a:spcPts val="0"/>
                </a:spcBef>
                <a:spcAft>
                  <a:spcPts val="0"/>
                </a:spcAft>
                <a:buClr>
                  <a:srgbClr val="000000"/>
                </a:buClr>
                <a:buSzPts val="1700"/>
                <a:buFont typeface="Arial"/>
                <a:buNone/>
              </a:pPr>
              <a:r>
                <a:rPr lang="nl-NL" sz="1700" b="0" i="0" u="none" strike="noStrike" cap="none">
                  <a:solidFill>
                    <a:schemeClr val="dk1"/>
                  </a:solidFill>
                  <a:latin typeface="Arial"/>
                  <a:ea typeface="Arial"/>
                  <a:cs typeface="Arial"/>
                  <a:sym typeface="Arial"/>
                </a:rPr>
                <a:t>Deal with challenges related to growth in data production</a:t>
              </a:r>
              <a:endParaRPr sz="1700" b="0" i="0" u="none" strike="noStrike" cap="none">
                <a:solidFill>
                  <a:srgbClr val="000000"/>
                </a:solidFill>
                <a:latin typeface="Arial"/>
                <a:ea typeface="Arial"/>
                <a:cs typeface="Arial"/>
                <a:sym typeface="Arial"/>
              </a:endParaRPr>
            </a:p>
          </p:txBody>
        </p:sp>
        <p:sp>
          <p:nvSpPr>
            <p:cNvPr id="128" name="Google Shape;128;p24"/>
            <p:cNvSpPr/>
            <p:nvPr/>
          </p:nvSpPr>
          <p:spPr>
            <a:xfrm rot="10800000">
              <a:off x="5849239" y="2661064"/>
              <a:ext cx="2259295" cy="2259295"/>
            </a:xfrm>
            <a:custGeom>
              <a:avLst/>
              <a:gdLst/>
              <a:ahLst/>
              <a:cxnLst/>
              <a:rect l="l" t="t" r="r" b="b"/>
              <a:pathLst>
                <a:path w="120000" h="120000" extrusionOk="0">
                  <a:moveTo>
                    <a:pt x="0" y="120000"/>
                  </a:moveTo>
                  <a:lnTo>
                    <a:pt x="0" y="120000"/>
                  </a:lnTo>
                  <a:cubicBezTo>
                    <a:pt x="0" y="53726"/>
                    <a:pt x="53726" y="0"/>
                    <a:pt x="120000" y="0"/>
                  </a:cubicBezTo>
                  <a:lnTo>
                    <a:pt x="120000" y="120000"/>
                  </a:lnTo>
                  <a:close/>
                </a:path>
              </a:pathLst>
            </a:custGeom>
            <a:solidFill>
              <a:srgbClr val="D8D8D8"/>
            </a:solidFill>
            <a:ln w="571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4"/>
            <p:cNvSpPr txBox="1"/>
            <p:nvPr/>
          </p:nvSpPr>
          <p:spPr>
            <a:xfrm>
              <a:off x="5849239" y="2661064"/>
              <a:ext cx="1597563" cy="1597563"/>
            </a:xfrm>
            <a:prstGeom prst="rect">
              <a:avLst/>
            </a:prstGeom>
            <a:noFill/>
            <a:ln>
              <a:noFill/>
            </a:ln>
          </p:spPr>
          <p:txBody>
            <a:bodyPr spcFirstLastPara="1" wrap="square" lIns="120900" tIns="120900" rIns="120900" bIns="120900" anchor="ctr" anchorCtr="0">
              <a:noAutofit/>
            </a:bodyPr>
            <a:lstStyle/>
            <a:p>
              <a:pPr marL="0" marR="0" lvl="0" indent="0" algn="ctr" rtl="0">
                <a:lnSpc>
                  <a:spcPct val="90000"/>
                </a:lnSpc>
                <a:spcBef>
                  <a:spcPts val="0"/>
                </a:spcBef>
                <a:spcAft>
                  <a:spcPts val="0"/>
                </a:spcAft>
                <a:buClr>
                  <a:srgbClr val="000000"/>
                </a:buClr>
                <a:buSzPts val="1700"/>
                <a:buFont typeface="Arial"/>
                <a:buNone/>
              </a:pPr>
              <a:r>
                <a:rPr lang="nl-NL" sz="1700" b="0" i="0" u="none" strike="noStrike" cap="none">
                  <a:solidFill>
                    <a:srgbClr val="000000"/>
                  </a:solidFill>
                  <a:latin typeface="Arial"/>
                  <a:ea typeface="Arial"/>
                  <a:cs typeface="Arial"/>
                  <a:sym typeface="Arial"/>
                </a:rPr>
                <a:t>Community engagement</a:t>
              </a:r>
              <a:endParaRPr sz="1700" b="0" i="0" u="none" strike="noStrike" cap="none">
                <a:solidFill>
                  <a:srgbClr val="000000"/>
                </a:solidFill>
                <a:latin typeface="Arial"/>
                <a:ea typeface="Arial"/>
                <a:cs typeface="Arial"/>
                <a:sym typeface="Arial"/>
              </a:endParaRPr>
            </a:p>
          </p:txBody>
        </p:sp>
        <p:sp>
          <p:nvSpPr>
            <p:cNvPr id="130" name="Google Shape;130;p24"/>
            <p:cNvSpPr/>
            <p:nvPr/>
          </p:nvSpPr>
          <p:spPr>
            <a:xfrm rot="-5400000">
              <a:off x="3485588" y="2661064"/>
              <a:ext cx="2259295" cy="2259295"/>
            </a:xfrm>
            <a:custGeom>
              <a:avLst/>
              <a:gdLst/>
              <a:ahLst/>
              <a:cxnLst/>
              <a:rect l="l" t="t" r="r" b="b"/>
              <a:pathLst>
                <a:path w="120000" h="120000" extrusionOk="0">
                  <a:moveTo>
                    <a:pt x="0" y="120000"/>
                  </a:moveTo>
                  <a:lnTo>
                    <a:pt x="0" y="120000"/>
                  </a:lnTo>
                  <a:cubicBezTo>
                    <a:pt x="0" y="53726"/>
                    <a:pt x="53726" y="0"/>
                    <a:pt x="120000" y="0"/>
                  </a:cubicBezTo>
                  <a:lnTo>
                    <a:pt x="120000" y="120000"/>
                  </a:lnTo>
                  <a:close/>
                </a:path>
              </a:pathLst>
            </a:custGeom>
            <a:solidFill>
              <a:srgbClr val="D8D8D8"/>
            </a:solidFill>
            <a:ln w="571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4"/>
            <p:cNvSpPr txBox="1"/>
            <p:nvPr/>
          </p:nvSpPr>
          <p:spPr>
            <a:xfrm>
              <a:off x="4147320" y="2661064"/>
              <a:ext cx="1597563" cy="1597563"/>
            </a:xfrm>
            <a:prstGeom prst="rect">
              <a:avLst/>
            </a:prstGeom>
            <a:noFill/>
            <a:ln>
              <a:noFill/>
            </a:ln>
          </p:spPr>
          <p:txBody>
            <a:bodyPr spcFirstLastPara="1" wrap="square" lIns="120900" tIns="120900" rIns="120900" bIns="120900" anchor="ctr" anchorCtr="0">
              <a:noAutofit/>
            </a:bodyPr>
            <a:lstStyle/>
            <a:p>
              <a:pPr marL="0" marR="0" lvl="0" indent="0" algn="ctr" rtl="0">
                <a:lnSpc>
                  <a:spcPct val="90000"/>
                </a:lnSpc>
                <a:spcBef>
                  <a:spcPts val="0"/>
                </a:spcBef>
                <a:spcAft>
                  <a:spcPts val="0"/>
                </a:spcAft>
                <a:buClr>
                  <a:srgbClr val="000000"/>
                </a:buClr>
                <a:buSzPts val="1700"/>
                <a:buFont typeface="Arial"/>
                <a:buNone/>
              </a:pPr>
              <a:r>
                <a:rPr lang="nl-NL" sz="1700" b="0" i="0" u="none" strike="noStrike" cap="none">
                  <a:solidFill>
                    <a:srgbClr val="000000"/>
                  </a:solidFill>
                  <a:latin typeface="Arial"/>
                  <a:ea typeface="Arial"/>
                  <a:cs typeface="Arial"/>
                  <a:sym typeface="Arial"/>
                </a:rPr>
                <a:t>Advice</a:t>
              </a:r>
              <a:endParaRPr/>
            </a:p>
          </p:txBody>
        </p:sp>
        <p:sp>
          <p:nvSpPr>
            <p:cNvPr id="132" name="Google Shape;132;p24"/>
            <p:cNvSpPr/>
            <p:nvPr/>
          </p:nvSpPr>
          <p:spPr>
            <a:xfrm>
              <a:off x="5407032" y="2139286"/>
              <a:ext cx="780057" cy="678310"/>
            </a:xfrm>
            <a:custGeom>
              <a:avLst/>
              <a:gdLst/>
              <a:ahLst/>
              <a:cxnLst/>
              <a:rect l="l" t="t" r="r" b="b"/>
              <a:pathLst>
                <a:path w="120000" h="120000" extrusionOk="0">
                  <a:moveTo>
                    <a:pt x="6522" y="60000"/>
                  </a:moveTo>
                  <a:lnTo>
                    <a:pt x="6522" y="60000"/>
                  </a:lnTo>
                  <a:cubicBezTo>
                    <a:pt x="6522" y="34374"/>
                    <a:pt x="25367" y="12492"/>
                    <a:pt x="51107" y="8231"/>
                  </a:cubicBezTo>
                  <a:cubicBezTo>
                    <a:pt x="76848" y="3970"/>
                    <a:pt x="101961" y="18574"/>
                    <a:pt x="110521" y="42783"/>
                  </a:cubicBezTo>
                  <a:lnTo>
                    <a:pt x="116427" y="42783"/>
                  </a:lnTo>
                  <a:lnTo>
                    <a:pt x="106957" y="60000"/>
                  </a:lnTo>
                  <a:lnTo>
                    <a:pt x="90340" y="42783"/>
                  </a:lnTo>
                  <a:lnTo>
                    <a:pt x="95921" y="42783"/>
                  </a:lnTo>
                  <a:lnTo>
                    <a:pt x="95921" y="42783"/>
                  </a:lnTo>
                  <a:cubicBezTo>
                    <a:pt x="87358" y="27416"/>
                    <a:pt x="68572" y="19475"/>
                    <a:pt x="50448" y="23561"/>
                  </a:cubicBezTo>
                  <a:cubicBezTo>
                    <a:pt x="32324" y="27648"/>
                    <a:pt x="19565" y="42702"/>
                    <a:pt x="19565" y="60000"/>
                  </a:cubicBezTo>
                  <a:close/>
                </a:path>
              </a:pathLst>
            </a:custGeom>
            <a:solidFill>
              <a:srgbClr val="ABBADE"/>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4"/>
            <p:cNvSpPr/>
            <p:nvPr/>
          </p:nvSpPr>
          <p:spPr>
            <a:xfrm rot="10800000">
              <a:off x="5407032" y="2400175"/>
              <a:ext cx="780057" cy="678310"/>
            </a:xfrm>
            <a:custGeom>
              <a:avLst/>
              <a:gdLst/>
              <a:ahLst/>
              <a:cxnLst/>
              <a:rect l="l" t="t" r="r" b="b"/>
              <a:pathLst>
                <a:path w="120000" h="120000" extrusionOk="0">
                  <a:moveTo>
                    <a:pt x="6522" y="60000"/>
                  </a:moveTo>
                  <a:lnTo>
                    <a:pt x="6522" y="60000"/>
                  </a:lnTo>
                  <a:cubicBezTo>
                    <a:pt x="6522" y="34374"/>
                    <a:pt x="25367" y="12492"/>
                    <a:pt x="51107" y="8231"/>
                  </a:cubicBezTo>
                  <a:cubicBezTo>
                    <a:pt x="76848" y="3970"/>
                    <a:pt x="101961" y="18574"/>
                    <a:pt x="110521" y="42783"/>
                  </a:cubicBezTo>
                  <a:lnTo>
                    <a:pt x="116427" y="42783"/>
                  </a:lnTo>
                  <a:lnTo>
                    <a:pt x="106957" y="60000"/>
                  </a:lnTo>
                  <a:lnTo>
                    <a:pt x="90340" y="42783"/>
                  </a:lnTo>
                  <a:lnTo>
                    <a:pt x="95921" y="42783"/>
                  </a:lnTo>
                  <a:lnTo>
                    <a:pt x="95921" y="42783"/>
                  </a:lnTo>
                  <a:cubicBezTo>
                    <a:pt x="87358" y="27416"/>
                    <a:pt x="68572" y="19475"/>
                    <a:pt x="50448" y="23561"/>
                  </a:cubicBezTo>
                  <a:cubicBezTo>
                    <a:pt x="32324" y="27648"/>
                    <a:pt x="19565" y="42702"/>
                    <a:pt x="19565" y="60000"/>
                  </a:cubicBezTo>
                  <a:close/>
                </a:path>
              </a:pathLst>
            </a:custGeom>
            <a:solidFill>
              <a:srgbClr val="ABBADE"/>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 name="Google Shape;134;p24"/>
          <p:cNvSpPr txBox="1"/>
          <p:nvPr/>
        </p:nvSpPr>
        <p:spPr>
          <a:xfrm>
            <a:off x="687009" y="666427"/>
            <a:ext cx="3620400" cy="1816200"/>
          </a:xfrm>
          <a:prstGeom prst="rect">
            <a:avLst/>
          </a:prstGeom>
          <a:solidFill>
            <a:schemeClr val="lt1"/>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nl-NL" sz="1600" b="0" i="0" u="none" strike="noStrike" cap="none">
                <a:solidFill>
                  <a:srgbClr val="000000"/>
                </a:solidFill>
                <a:latin typeface="Roboto"/>
                <a:ea typeface="Roboto"/>
                <a:cs typeface="Roboto"/>
                <a:sym typeface="Roboto"/>
              </a:rPr>
              <a:t>A clear and defined (re)appraisal cycle is needed for informed and transparent decisions around the proper level of care</a:t>
            </a:r>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Roboto"/>
              <a:ea typeface="Roboto"/>
              <a:cs typeface="Roboto"/>
              <a:sym typeface="Roboto"/>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endParaRPr sz="1600" b="0" i="0" u="none" strike="noStrike" cap="none">
              <a:solidFill>
                <a:srgbClr val="000000"/>
              </a:solidFill>
              <a:latin typeface="Roboto"/>
              <a:ea typeface="Roboto"/>
              <a:cs typeface="Roboto"/>
              <a:sym typeface="Roboto"/>
            </a:endParaRPr>
          </a:p>
        </p:txBody>
      </p:sp>
      <p:sp>
        <p:nvSpPr>
          <p:cNvPr id="135" name="Google Shape;135;p24"/>
          <p:cNvSpPr txBox="1"/>
          <p:nvPr/>
        </p:nvSpPr>
        <p:spPr>
          <a:xfrm>
            <a:off x="636484" y="3597286"/>
            <a:ext cx="3620400" cy="2801400"/>
          </a:xfrm>
          <a:prstGeom prst="rect">
            <a:avLst/>
          </a:prstGeom>
          <a:solidFill>
            <a:schemeClr val="lt1"/>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nl-NL" sz="1600" b="0" i="0" u="none" strike="noStrike" cap="none" dirty="0" err="1">
                <a:solidFill>
                  <a:srgbClr val="000000"/>
                </a:solidFill>
                <a:latin typeface="Arial"/>
                <a:ea typeface="Arial"/>
                <a:cs typeface="Arial"/>
                <a:sym typeface="Arial"/>
              </a:rPr>
              <a:t>Provide</a:t>
            </a:r>
            <a:r>
              <a:rPr lang="nl-NL" sz="1600" b="0" i="0" u="none" strike="noStrike" cap="none" dirty="0">
                <a:solidFill>
                  <a:srgbClr val="000000"/>
                </a:solidFill>
                <a:latin typeface="Arial"/>
                <a:ea typeface="Arial"/>
                <a:cs typeface="Arial"/>
                <a:sym typeface="Arial"/>
              </a:rPr>
              <a:t> feedback </a:t>
            </a:r>
            <a:r>
              <a:rPr lang="nl-NL" sz="1600" b="0" i="0" u="none" strike="noStrike" cap="none" dirty="0" err="1">
                <a:solidFill>
                  <a:srgbClr val="000000"/>
                </a:solidFill>
                <a:latin typeface="Arial"/>
                <a:ea typeface="Arial"/>
                <a:cs typeface="Arial"/>
                <a:sym typeface="Arial"/>
              </a:rPr>
              <a:t>and</a:t>
            </a:r>
            <a:r>
              <a:rPr lang="nl-NL" sz="1600" b="0" i="0" u="none" strike="noStrike" cap="none" dirty="0">
                <a:solidFill>
                  <a:srgbClr val="000000"/>
                </a:solidFill>
                <a:latin typeface="Arial"/>
                <a:ea typeface="Arial"/>
                <a:cs typeface="Arial"/>
                <a:sym typeface="Arial"/>
              </a:rPr>
              <a:t> </a:t>
            </a:r>
            <a:r>
              <a:rPr lang="nl-NL" sz="1600" b="0" i="0" u="none" strike="noStrike" cap="none" dirty="0" err="1">
                <a:solidFill>
                  <a:srgbClr val="000000"/>
                </a:solidFill>
                <a:latin typeface="Arial"/>
                <a:ea typeface="Arial"/>
                <a:cs typeface="Arial"/>
                <a:sym typeface="Arial"/>
              </a:rPr>
              <a:t>recommendations</a:t>
            </a:r>
            <a:r>
              <a:rPr lang="nl-NL" sz="1600" b="0" i="0" u="none" strike="noStrike" cap="none" dirty="0">
                <a:solidFill>
                  <a:srgbClr val="000000"/>
                </a:solidFill>
                <a:latin typeface="Arial"/>
                <a:ea typeface="Arial"/>
                <a:cs typeface="Arial"/>
                <a:sym typeface="Arial"/>
              </a:rPr>
              <a:t> to </a:t>
            </a:r>
            <a:r>
              <a:rPr lang="nl-NL" sz="1600" b="0" i="0" u="none" strike="noStrike" cap="none" dirty="0" err="1">
                <a:solidFill>
                  <a:srgbClr val="000000"/>
                </a:solidFill>
                <a:latin typeface="Arial"/>
                <a:ea typeface="Arial"/>
                <a:cs typeface="Arial"/>
                <a:sym typeface="Arial"/>
              </a:rPr>
              <a:t>the</a:t>
            </a:r>
            <a:r>
              <a:rPr lang="nl-NL" sz="1600" b="0" i="0" u="none" strike="noStrike" cap="none" dirty="0">
                <a:solidFill>
                  <a:srgbClr val="000000"/>
                </a:solidFill>
                <a:latin typeface="Arial"/>
                <a:ea typeface="Arial"/>
                <a:cs typeface="Arial"/>
                <a:sym typeface="Arial"/>
              </a:rPr>
              <a:t> EOSC-A Board</a:t>
            </a:r>
            <a:r>
              <a:rPr lang="nl-NL" sz="1600" dirty="0"/>
              <a:t> </a:t>
            </a:r>
            <a:r>
              <a:rPr lang="nl-NL" sz="1600" dirty="0" err="1"/>
              <a:t>and</a:t>
            </a:r>
            <a:r>
              <a:rPr lang="nl-NL" sz="1600" dirty="0"/>
              <a:t> </a:t>
            </a:r>
            <a:r>
              <a:rPr lang="nl-NL" sz="1600" dirty="0" err="1"/>
              <a:t>related</a:t>
            </a:r>
            <a:r>
              <a:rPr lang="nl-NL" sz="1600" dirty="0"/>
              <a:t> </a:t>
            </a:r>
            <a:r>
              <a:rPr lang="nl-NL" sz="1600" b="0" i="0" u="none" strike="noStrike" cap="none" dirty="0" err="1">
                <a:solidFill>
                  <a:srgbClr val="000000"/>
                </a:solidFill>
                <a:latin typeface="Arial"/>
                <a:ea typeface="Arial"/>
                <a:cs typeface="Arial"/>
                <a:sym typeface="Arial"/>
              </a:rPr>
              <a:t>projects</a:t>
            </a:r>
            <a:r>
              <a:rPr lang="nl-NL" sz="1600" b="0" i="0" u="none" strike="noStrike" cap="none" dirty="0">
                <a:solidFill>
                  <a:srgbClr val="000000"/>
                </a:solidFill>
                <a:latin typeface="Arial"/>
                <a:ea typeface="Arial"/>
                <a:cs typeface="Arial"/>
                <a:sym typeface="Arial"/>
              </a:rPr>
              <a:t> </a:t>
            </a:r>
            <a:r>
              <a:rPr lang="nl-NL" sz="1600" dirty="0"/>
              <a:t>(INFRA-2024-EOSC-01-03/-04)</a:t>
            </a:r>
            <a:endParaRPr sz="1600" dirty="0"/>
          </a:p>
          <a:p>
            <a:pPr marL="285750" marR="0" lvl="0" indent="-285750" algn="l" rtl="0">
              <a:lnSpc>
                <a:spcPct val="100000"/>
              </a:lnSpc>
              <a:spcBef>
                <a:spcPts val="0"/>
              </a:spcBef>
              <a:spcAft>
                <a:spcPts val="0"/>
              </a:spcAft>
              <a:buClr>
                <a:srgbClr val="000000"/>
              </a:buClr>
              <a:buSzPts val="1600"/>
              <a:buFont typeface="Arial"/>
              <a:buChar char="•"/>
            </a:pPr>
            <a:r>
              <a:rPr lang="nl-NL" sz="1600" dirty="0" err="1"/>
              <a:t>Future</a:t>
            </a:r>
            <a:r>
              <a:rPr lang="nl-NL" sz="1600" dirty="0"/>
              <a:t> actions </a:t>
            </a:r>
            <a:r>
              <a:rPr lang="nl-NL" sz="1600" dirty="0" err="1"/>
              <a:t>and</a:t>
            </a:r>
            <a:r>
              <a:rPr lang="nl-NL" sz="1600" dirty="0"/>
              <a:t> </a:t>
            </a:r>
            <a:r>
              <a:rPr lang="nl-NL" sz="1600" dirty="0" err="1"/>
              <a:t>investments</a:t>
            </a:r>
            <a:r>
              <a:rPr lang="nl-NL" sz="1600" dirty="0"/>
              <a:t> </a:t>
            </a:r>
            <a:r>
              <a:rPr lang="nl-NL" sz="1600" dirty="0" err="1"/>
              <a:t>depend</a:t>
            </a:r>
            <a:r>
              <a:rPr lang="nl-NL" sz="1600" dirty="0"/>
              <a:t> on </a:t>
            </a:r>
            <a:r>
              <a:rPr lang="nl-NL" sz="1600" dirty="0" err="1"/>
              <a:t>defining</a:t>
            </a:r>
            <a:r>
              <a:rPr lang="nl-NL" sz="1600" dirty="0"/>
              <a:t> </a:t>
            </a:r>
            <a:r>
              <a:rPr lang="nl-NL" sz="1600" dirty="0" err="1"/>
              <a:t>the</a:t>
            </a:r>
            <a:r>
              <a:rPr lang="nl-NL" sz="1600" dirty="0"/>
              <a:t> types of metadata </a:t>
            </a:r>
            <a:r>
              <a:rPr lang="nl-NL" sz="1600" dirty="0" err="1"/>
              <a:t>and</a:t>
            </a:r>
            <a:r>
              <a:rPr lang="nl-NL" sz="1600" dirty="0"/>
              <a:t> data service </a:t>
            </a:r>
            <a:r>
              <a:rPr lang="nl-NL" sz="1600" dirty="0" err="1"/>
              <a:t>including</a:t>
            </a:r>
            <a:r>
              <a:rPr lang="nl-NL" sz="1600" dirty="0"/>
              <a:t> </a:t>
            </a:r>
            <a:r>
              <a:rPr lang="nl-NL" sz="1600" dirty="0" err="1"/>
              <a:t>repositories</a:t>
            </a:r>
            <a:r>
              <a:rPr lang="nl-NL" sz="1600" dirty="0"/>
              <a:t> </a:t>
            </a:r>
            <a:r>
              <a:rPr lang="nl-NL" sz="1600" dirty="0" err="1"/>
              <a:t>and</a:t>
            </a:r>
            <a:r>
              <a:rPr lang="nl-NL" sz="1600" dirty="0"/>
              <a:t> </a:t>
            </a:r>
            <a:r>
              <a:rPr lang="nl-NL" sz="1600" dirty="0" err="1"/>
              <a:t>registries</a:t>
            </a:r>
            <a:r>
              <a:rPr lang="nl-NL" sz="1600" dirty="0"/>
              <a:t> </a:t>
            </a:r>
            <a:r>
              <a:rPr lang="nl-NL" sz="1600" dirty="0" err="1"/>
              <a:t>and</a:t>
            </a:r>
            <a:r>
              <a:rPr lang="nl-NL" sz="1600" dirty="0"/>
              <a:t> </a:t>
            </a:r>
            <a:r>
              <a:rPr lang="nl-NL" sz="1600" dirty="0" err="1"/>
              <a:t>the</a:t>
            </a:r>
            <a:r>
              <a:rPr lang="nl-NL" sz="1600" dirty="0"/>
              <a:t> level of </a:t>
            </a:r>
            <a:r>
              <a:rPr lang="nl-NL" sz="1600" dirty="0" err="1"/>
              <a:t>responsibility</a:t>
            </a:r>
            <a:r>
              <a:rPr lang="nl-NL" sz="1600" dirty="0"/>
              <a:t> </a:t>
            </a:r>
            <a:r>
              <a:rPr lang="nl-NL" sz="1600" dirty="0" err="1"/>
              <a:t>they</a:t>
            </a:r>
            <a:r>
              <a:rPr lang="nl-NL" sz="1600" dirty="0"/>
              <a:t> have </a:t>
            </a:r>
            <a:r>
              <a:rPr lang="nl-NL" sz="1600" dirty="0" err="1"/>
              <a:t>and</a:t>
            </a:r>
            <a:r>
              <a:rPr lang="nl-NL" sz="1600" dirty="0"/>
              <a:t> care </a:t>
            </a:r>
            <a:r>
              <a:rPr lang="nl-NL" sz="1600" dirty="0" err="1"/>
              <a:t>they</a:t>
            </a:r>
            <a:r>
              <a:rPr lang="nl-NL" sz="1600" dirty="0"/>
              <a:t> </a:t>
            </a:r>
            <a:r>
              <a:rPr lang="nl-NL" sz="1600" dirty="0" err="1"/>
              <a:t>provide</a:t>
            </a:r>
            <a:endParaRPr sz="1600" b="0" i="0" u="none" strike="noStrike" cap="none" dirty="0">
              <a:solidFill>
                <a:srgbClr val="000000"/>
              </a:solidFill>
              <a:latin typeface="Arial"/>
              <a:ea typeface="Arial"/>
              <a:cs typeface="Arial"/>
              <a:sym typeface="Arial"/>
            </a:endParaRPr>
          </a:p>
        </p:txBody>
      </p:sp>
      <p:sp>
        <p:nvSpPr>
          <p:cNvPr id="136" name="Google Shape;136;p24"/>
          <p:cNvSpPr txBox="1"/>
          <p:nvPr/>
        </p:nvSpPr>
        <p:spPr>
          <a:xfrm>
            <a:off x="8096650" y="543312"/>
            <a:ext cx="3620530" cy="2062103"/>
          </a:xfrm>
          <a:prstGeom prst="rect">
            <a:avLst/>
          </a:prstGeom>
          <a:solidFill>
            <a:schemeClr val="lt1"/>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nl-NL" sz="1600" b="0" i="0" u="none" strike="noStrike" cap="none">
                <a:solidFill>
                  <a:srgbClr val="000000"/>
                </a:solidFill>
                <a:latin typeface="Roboto"/>
                <a:ea typeface="Roboto"/>
                <a:cs typeface="Roboto"/>
                <a:sym typeface="Roboto"/>
              </a:rPr>
              <a:t>Growing costs and limited storage capacity requires clearer criteria around what should be kept and cared for, including through long-term preservation</a:t>
            </a:r>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Roboto"/>
              <a:ea typeface="Roboto"/>
              <a:cs typeface="Roboto"/>
              <a:sym typeface="Roboto"/>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Roboto"/>
              <a:ea typeface="Roboto"/>
              <a:cs typeface="Roboto"/>
              <a:sym typeface="Roboto"/>
            </a:endParaRPr>
          </a:p>
          <a:p>
            <a:pPr marL="0" marR="0" lvl="0" indent="0" algn="l" rtl="0">
              <a:lnSpc>
                <a:spcPct val="100000"/>
              </a:lnSpc>
              <a:spcBef>
                <a:spcPts val="0"/>
              </a:spcBef>
              <a:spcAft>
                <a:spcPts val="0"/>
              </a:spcAft>
              <a:buNone/>
            </a:pPr>
            <a:endParaRPr sz="1600" b="0" i="0" u="none" strike="noStrike" cap="none">
              <a:solidFill>
                <a:srgbClr val="000000"/>
              </a:solidFill>
              <a:latin typeface="Roboto"/>
              <a:ea typeface="Roboto"/>
              <a:cs typeface="Roboto"/>
              <a:sym typeface="Roboto"/>
            </a:endParaRPr>
          </a:p>
        </p:txBody>
      </p:sp>
      <p:sp>
        <p:nvSpPr>
          <p:cNvPr id="137" name="Google Shape;137;p24"/>
          <p:cNvSpPr txBox="1"/>
          <p:nvPr/>
        </p:nvSpPr>
        <p:spPr>
          <a:xfrm>
            <a:off x="8096710" y="3597281"/>
            <a:ext cx="3620400" cy="1816200"/>
          </a:xfrm>
          <a:prstGeom prst="rect">
            <a:avLst/>
          </a:prstGeom>
          <a:solidFill>
            <a:schemeClr val="lt1"/>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nl-NL" sz="1600" b="0" i="0" u="none" strike="noStrike" cap="none">
                <a:solidFill>
                  <a:srgbClr val="000000"/>
                </a:solidFill>
                <a:latin typeface="Arial"/>
                <a:ea typeface="Arial"/>
                <a:cs typeface="Arial"/>
                <a:sym typeface="Arial"/>
              </a:rPr>
              <a:t>Engagement with the repository landscape is needed to support an improved understanding of the different scientific community’s status, needs and challenges in data retention, appraisal, and re-appraisal</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B70AFE9-EAD8-B8CF-53FB-70AC840448CB}"/>
              </a:ext>
            </a:extLst>
          </p:cNvPr>
          <p:cNvSpPr>
            <a:spLocks noGrp="1"/>
          </p:cNvSpPr>
          <p:nvPr>
            <p:ph type="ctrTitle"/>
          </p:nvPr>
        </p:nvSpPr>
        <p:spPr>
          <a:xfrm>
            <a:off x="423013" y="1600200"/>
            <a:ext cx="9144000" cy="1828800"/>
          </a:xfrm>
        </p:spPr>
        <p:txBody>
          <a:bodyPr>
            <a:normAutofit fontScale="90000"/>
          </a:bodyPr>
          <a:lstStyle/>
          <a:p>
            <a:r>
              <a:rPr lang="en-GB" dirty="0"/>
              <a:t>Thank you!</a:t>
            </a:r>
            <a:br>
              <a:rPr lang="en-GB" dirty="0"/>
            </a:br>
            <a:r>
              <a:rPr lang="en-GB" dirty="0"/>
              <a:t>		</a:t>
            </a:r>
            <a:endParaRPr lang="en-BE" dirty="0"/>
          </a:p>
        </p:txBody>
      </p:sp>
      <p:sp>
        <p:nvSpPr>
          <p:cNvPr id="5" name="Subtitle 4">
            <a:extLst>
              <a:ext uri="{FF2B5EF4-FFF2-40B4-BE49-F238E27FC236}">
                <a16:creationId xmlns:a16="http://schemas.microsoft.com/office/drawing/2014/main" id="{C5BBC6BF-4A22-8F2D-C05F-331A43CD6B31}"/>
              </a:ext>
            </a:extLst>
          </p:cNvPr>
          <p:cNvSpPr>
            <a:spLocks noGrp="1"/>
          </p:cNvSpPr>
          <p:nvPr>
            <p:ph type="subTitle" idx="1"/>
          </p:nvPr>
        </p:nvSpPr>
        <p:spPr>
          <a:xfrm>
            <a:off x="423013" y="3779479"/>
            <a:ext cx="9144000" cy="1655762"/>
          </a:xfrm>
        </p:spPr>
        <p:txBody>
          <a:bodyPr/>
          <a:lstStyle/>
          <a:p>
            <a:r>
              <a:rPr lang="nl-BE" dirty="0">
                <a:solidFill>
                  <a:schemeClr val="bg1"/>
                </a:solidFill>
                <a:hlinkClick r:id="rId2">
                  <a:extLst>
                    <a:ext uri="{A12FA001-AC4F-418D-AE19-62706E023703}">
                      <ahyp:hlinkClr xmlns:ahyp="http://schemas.microsoft.com/office/drawing/2018/hyperlinkcolor" val="tx"/>
                    </a:ext>
                  </a:extLst>
                </a:hlinkClick>
              </a:rPr>
              <a:t>herve@essex.ac.uk</a:t>
            </a:r>
            <a:r>
              <a:rPr lang="en-GB" dirty="0">
                <a:solidFill>
                  <a:schemeClr val="bg1"/>
                </a:solidFill>
              </a:rPr>
              <a:t> </a:t>
            </a:r>
          </a:p>
          <a:p>
            <a:r>
              <a:rPr lang="en-GB" dirty="0">
                <a:solidFill>
                  <a:schemeClr val="bg1"/>
                </a:solidFill>
                <a:hlinkClick r:id="rId3">
                  <a:extLst>
                    <a:ext uri="{A12FA001-AC4F-418D-AE19-62706E023703}">
                      <ahyp:hlinkClr xmlns:ahyp="http://schemas.microsoft.com/office/drawing/2018/hyperlinkcolor" val="tx"/>
                    </a:ext>
                  </a:extLst>
                </a:hlinkClick>
              </a:rPr>
              <a:t>Roxanne.Wyns@kuleuven.be</a:t>
            </a:r>
            <a:endParaRPr lang="en-GB" dirty="0">
              <a:solidFill>
                <a:schemeClr val="bg1"/>
              </a:solidFill>
            </a:endParaRPr>
          </a:p>
        </p:txBody>
      </p:sp>
    </p:spTree>
    <p:extLst>
      <p:ext uri="{BB962C8B-B14F-4D97-AF65-F5344CB8AC3E}">
        <p14:creationId xmlns:p14="http://schemas.microsoft.com/office/powerpoint/2010/main" val="39573371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Kantoorth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Kantoorth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1025</Words>
  <Application>Microsoft Office PowerPoint</Application>
  <PresentationFormat>Widescreen</PresentationFormat>
  <Paragraphs>68</Paragraphs>
  <Slides>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Roboto</vt:lpstr>
      <vt:lpstr>Arial</vt:lpstr>
      <vt:lpstr>Quicksand</vt:lpstr>
      <vt:lpstr>Calibri</vt:lpstr>
      <vt:lpstr>Roboto Light</vt:lpstr>
      <vt:lpstr>Kantoorthema</vt:lpstr>
      <vt:lpstr>Key findings from the EOSC Association Long Term Data Preservation Task Force</vt:lpstr>
      <vt:lpstr>PowerPoint Presentation</vt:lpstr>
      <vt:lpstr>Key findings</vt:lpstr>
      <vt:lpstr>Task force outputs</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Roxanne Wyns</dc:creator>
  <cp:lastModifiedBy>Roxanne Wyns</cp:lastModifiedBy>
  <cp:revision>1</cp:revision>
  <dcterms:created xsi:type="dcterms:W3CDTF">2022-10-18T13:39:41Z</dcterms:created>
  <dcterms:modified xsi:type="dcterms:W3CDTF">2024-09-10T13:12:18Z</dcterms:modified>
</cp:coreProperties>
</file>