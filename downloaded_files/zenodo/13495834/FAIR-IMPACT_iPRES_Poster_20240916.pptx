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12192000" cy="6858000"/>
  <p:notesSz cx="6858000" cy="9144000"/>
  <p:embeddedFontLst>
    <p:embeddedFont>
      <p:font typeface="Calibri" panose="020F0502020204030204" pitchFamily="34" charset="0"/>
      <p:regular r:id="rId4"/>
      <p:bold r:id="rId5"/>
      <p:italic r:id="rId6"/>
      <p:boldItalic r:id="rId7"/>
    </p:embeddedFont>
    <p:embeddedFont>
      <p:font typeface="Inter" panose="020B0502030000000004" charset="0"/>
      <p:regular r:id="rId8"/>
      <p:bold r:id="rId9"/>
      <p:italic r:id="rId10"/>
      <p:boldItalic r:id="rId11"/>
    </p:embeddedFont>
    <p:embeddedFont>
      <p:font typeface="Inter SemiBold" panose="02000503000000020004" pitchFamily="2"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6" roundtripDataSignature="AMtx7mgZ5p069Tr/BweNNPVVXXlR1K3/K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97"/>
  </p:normalViewPr>
  <p:slideViewPr>
    <p:cSldViewPr snapToGrid="0">
      <p:cViewPr varScale="1">
        <p:scale>
          <a:sx n="119" d="100"/>
          <a:sy n="119" d="100"/>
        </p:scale>
        <p:origin x="312"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font" Target="fonts/font10.fntdata"/><Relationship Id="rId18" Type="http://schemas.openxmlformats.org/officeDocument/2006/relationships/viewProps" Target="viewProps.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font" Target="fonts/font9.fntdata"/><Relationship Id="rId17" Type="http://schemas.openxmlformats.org/officeDocument/2006/relationships/presProps" Target="presProps.xml"/><Relationship Id="rId2" Type="http://schemas.openxmlformats.org/officeDocument/2006/relationships/slide" Target="slides/slide1.xml"/><Relationship Id="rId16" Type="http://customschemas.google.com/relationships/presentationmetadata" Target="meta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5" Type="http://schemas.openxmlformats.org/officeDocument/2006/relationships/font" Target="fonts/font2.fntdata"/><Relationship Id="rId15" Type="http://schemas.openxmlformats.org/officeDocument/2006/relationships/font" Target="fonts/font12.fntdata"/><Relationship Id="rId10" Type="http://schemas.openxmlformats.org/officeDocument/2006/relationships/font" Target="fonts/font7.fntdata"/><Relationship Id="rId19" Type="http://schemas.openxmlformats.org/officeDocument/2006/relationships/theme" Target="theme/theme1.xml"/><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1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1"/>
          <p:cNvSpPr>
            <a:spLocks noGrp="1"/>
          </p:cNvSpPr>
          <p:nvPr>
            <p:ph type="pic" idx="2"/>
          </p:nvPr>
        </p:nvSpPr>
        <p:spPr>
          <a:xfrm>
            <a:off x="5183188" y="987425"/>
            <a:ext cx="6172200" cy="4873625"/>
          </a:xfrm>
          <a:prstGeom prst="rect">
            <a:avLst/>
          </a:prstGeom>
          <a:noFill/>
          <a:ln>
            <a:noFill/>
          </a:ln>
        </p:spPr>
      </p:sp>
      <p:sp>
        <p:nvSpPr>
          <p:cNvPr id="68" name="Google Shape;68;p1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pic>
        <p:nvPicPr>
          <p:cNvPr id="89" name="Google Shape;89;p1"/>
          <p:cNvPicPr preferRelativeResize="0"/>
          <p:nvPr/>
        </p:nvPicPr>
        <p:blipFill rotWithShape="1">
          <a:blip r:embed="rId3">
            <a:alphaModFix/>
          </a:blip>
          <a:srcRect/>
          <a:stretch/>
        </p:blipFill>
        <p:spPr>
          <a:xfrm>
            <a:off x="8363329" y="3091255"/>
            <a:ext cx="1513503" cy="1513503"/>
          </a:xfrm>
          <a:prstGeom prst="rect">
            <a:avLst/>
          </a:prstGeom>
          <a:noFill/>
          <a:ln>
            <a:noFill/>
          </a:ln>
        </p:spPr>
      </p:pic>
      <p:pic>
        <p:nvPicPr>
          <p:cNvPr id="90" name="Google Shape;90;p1"/>
          <p:cNvPicPr preferRelativeResize="0"/>
          <p:nvPr/>
        </p:nvPicPr>
        <p:blipFill rotWithShape="1">
          <a:blip r:embed="rId4">
            <a:alphaModFix/>
          </a:blip>
          <a:srcRect/>
          <a:stretch/>
        </p:blipFill>
        <p:spPr>
          <a:xfrm>
            <a:off x="-3340" y="5138058"/>
            <a:ext cx="12245526" cy="1770744"/>
          </a:xfrm>
          <a:prstGeom prst="rect">
            <a:avLst/>
          </a:prstGeom>
          <a:noFill/>
          <a:ln>
            <a:noFill/>
          </a:ln>
        </p:spPr>
      </p:pic>
      <p:pic>
        <p:nvPicPr>
          <p:cNvPr id="91" name="Google Shape;91;p1"/>
          <p:cNvPicPr preferRelativeResize="0"/>
          <p:nvPr/>
        </p:nvPicPr>
        <p:blipFill rotWithShape="1">
          <a:blip r:embed="rId5">
            <a:alphaModFix/>
          </a:blip>
          <a:srcRect/>
          <a:stretch/>
        </p:blipFill>
        <p:spPr>
          <a:xfrm>
            <a:off x="-3341" y="-170328"/>
            <a:ext cx="12207192" cy="1500520"/>
          </a:xfrm>
          <a:prstGeom prst="rect">
            <a:avLst/>
          </a:prstGeom>
          <a:noFill/>
          <a:ln>
            <a:noFill/>
          </a:ln>
        </p:spPr>
      </p:pic>
      <p:pic>
        <p:nvPicPr>
          <p:cNvPr id="92" name="Google Shape;92;p1"/>
          <p:cNvPicPr preferRelativeResize="0"/>
          <p:nvPr/>
        </p:nvPicPr>
        <p:blipFill rotWithShape="1">
          <a:blip r:embed="rId6">
            <a:alphaModFix/>
          </a:blip>
          <a:srcRect/>
          <a:stretch/>
        </p:blipFill>
        <p:spPr>
          <a:xfrm>
            <a:off x="-5067" y="2797053"/>
            <a:ext cx="7772400" cy="2709959"/>
          </a:xfrm>
          <a:prstGeom prst="rect">
            <a:avLst/>
          </a:prstGeom>
          <a:noFill/>
          <a:ln>
            <a:noFill/>
          </a:ln>
        </p:spPr>
      </p:pic>
      <p:pic>
        <p:nvPicPr>
          <p:cNvPr id="93" name="Google Shape;93;p1"/>
          <p:cNvPicPr preferRelativeResize="0"/>
          <p:nvPr/>
        </p:nvPicPr>
        <p:blipFill rotWithShape="1">
          <a:blip r:embed="rId7">
            <a:alphaModFix/>
          </a:blip>
          <a:srcRect/>
          <a:stretch/>
        </p:blipFill>
        <p:spPr>
          <a:xfrm>
            <a:off x="55857" y="3256034"/>
            <a:ext cx="749677" cy="906236"/>
          </a:xfrm>
          <a:prstGeom prst="rect">
            <a:avLst/>
          </a:prstGeom>
          <a:noFill/>
          <a:ln>
            <a:noFill/>
          </a:ln>
        </p:spPr>
      </p:pic>
      <p:sp>
        <p:nvSpPr>
          <p:cNvPr id="94" name="Google Shape;94;p1"/>
          <p:cNvSpPr txBox="1"/>
          <p:nvPr/>
        </p:nvSpPr>
        <p:spPr>
          <a:xfrm>
            <a:off x="847648" y="2996300"/>
            <a:ext cx="4274457"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i="0" u="none" strike="noStrike" cap="none">
                <a:solidFill>
                  <a:schemeClr val="lt1"/>
                </a:solidFill>
                <a:latin typeface="Inter SemiBold"/>
                <a:ea typeface="Inter SemiBold"/>
                <a:cs typeface="Inter SemiBold"/>
                <a:sym typeface="Inter SemiBold"/>
              </a:rPr>
              <a:t>Guidelines for exposing information</a:t>
            </a:r>
            <a:endParaRPr sz="1600" b="1">
              <a:solidFill>
                <a:schemeClr val="lt1"/>
              </a:solidFill>
              <a:latin typeface="Inter SemiBold"/>
              <a:ea typeface="Inter SemiBold"/>
              <a:cs typeface="Inter SemiBold"/>
              <a:sym typeface="Inter SemiBold"/>
            </a:endParaRPr>
          </a:p>
        </p:txBody>
      </p:sp>
      <p:sp>
        <p:nvSpPr>
          <p:cNvPr id="95" name="Google Shape;95;p1"/>
          <p:cNvSpPr txBox="1"/>
          <p:nvPr/>
        </p:nvSpPr>
        <p:spPr>
          <a:xfrm>
            <a:off x="847648" y="3309806"/>
            <a:ext cx="3182043" cy="1754326"/>
          </a:xfrm>
          <a:prstGeom prst="rect">
            <a:avLst/>
          </a:prstGeom>
          <a:noFill/>
          <a:ln>
            <a:noFill/>
          </a:ln>
        </p:spPr>
        <p:txBody>
          <a:bodyPr spcFirstLastPara="1" wrap="square" lIns="91425" tIns="45700" rIns="91425" bIns="45700" anchor="t" anchorCtr="0">
            <a:spAutoFit/>
          </a:bodyPr>
          <a:lstStyle/>
          <a:p>
            <a:pPr marL="228600" marR="0" lvl="0" indent="-228600" algn="l" rtl="0">
              <a:spcBef>
                <a:spcPts val="0"/>
              </a:spcBef>
              <a:spcAft>
                <a:spcPts val="0"/>
              </a:spcAft>
              <a:buClr>
                <a:schemeClr val="lt1"/>
              </a:buClr>
              <a:buSzPts val="900"/>
              <a:buFont typeface="Calibri"/>
              <a:buAutoNum type="arabicPeriod"/>
            </a:pPr>
            <a:r>
              <a:rPr lang="en-US" sz="900">
                <a:solidFill>
                  <a:schemeClr val="lt1"/>
                </a:solidFill>
                <a:latin typeface="Inter"/>
                <a:ea typeface="Inter"/>
                <a:cs typeface="Inter"/>
                <a:sym typeface="Inter"/>
              </a:rPr>
              <a:t>Relevant information should be exposed to achieve transparency</a:t>
            </a:r>
            <a:endParaRPr/>
          </a:p>
          <a:p>
            <a:pPr marL="228600" marR="0" lvl="0" indent="-228600" algn="l" rtl="0">
              <a:spcBef>
                <a:spcPts val="0"/>
              </a:spcBef>
              <a:spcAft>
                <a:spcPts val="0"/>
              </a:spcAft>
              <a:buClr>
                <a:schemeClr val="lt1"/>
              </a:buClr>
              <a:buSzPts val="900"/>
              <a:buFont typeface="Calibri"/>
              <a:buAutoNum type="arabicPeriod"/>
            </a:pPr>
            <a:r>
              <a:rPr lang="en-US" sz="900">
                <a:solidFill>
                  <a:schemeClr val="lt1"/>
                </a:solidFill>
                <a:latin typeface="Inter"/>
                <a:ea typeface="Inter"/>
                <a:cs typeface="Inter"/>
                <a:sym typeface="Inter"/>
              </a:rPr>
              <a:t>Information about the functions and characteristics of repositories and objects should be expressed in line with defined standards and criteriA</a:t>
            </a:r>
            <a:endParaRPr sz="900">
              <a:solidFill>
                <a:schemeClr val="lt1"/>
              </a:solidFill>
              <a:latin typeface="Inter"/>
              <a:ea typeface="Inter"/>
              <a:cs typeface="Inter"/>
              <a:sym typeface="Inter"/>
            </a:endParaRPr>
          </a:p>
          <a:p>
            <a:pPr marL="228600" marR="0" lvl="0" indent="-228600" algn="l" rtl="0">
              <a:spcBef>
                <a:spcPts val="0"/>
              </a:spcBef>
              <a:spcAft>
                <a:spcPts val="0"/>
              </a:spcAft>
              <a:buClr>
                <a:schemeClr val="lt1"/>
              </a:buClr>
              <a:buSzPts val="900"/>
              <a:buFont typeface="Calibri"/>
              <a:buAutoNum type="arabicPeriod"/>
            </a:pPr>
            <a:r>
              <a:rPr lang="en-US" sz="900">
                <a:solidFill>
                  <a:schemeClr val="lt1"/>
                </a:solidFill>
                <a:latin typeface="Inter"/>
                <a:ea typeface="Inter"/>
                <a:cs typeface="Inter"/>
                <a:sym typeface="Inter"/>
              </a:rPr>
              <a:t>Information should be exposed by, and/or provide reference to, an originating sourc</a:t>
            </a:r>
            <a:endParaRPr sz="900">
              <a:solidFill>
                <a:schemeClr val="lt1"/>
              </a:solidFill>
              <a:latin typeface="Inter"/>
              <a:ea typeface="Inter"/>
              <a:cs typeface="Inter"/>
              <a:sym typeface="Inter"/>
            </a:endParaRPr>
          </a:p>
          <a:p>
            <a:pPr marL="228600" marR="0" lvl="0" indent="-228600" algn="l" rtl="0">
              <a:spcBef>
                <a:spcPts val="0"/>
              </a:spcBef>
              <a:spcAft>
                <a:spcPts val="0"/>
              </a:spcAft>
              <a:buClr>
                <a:schemeClr val="lt1"/>
              </a:buClr>
              <a:buSzPts val="900"/>
              <a:buFont typeface="Calibri"/>
              <a:buAutoNum type="arabicPeriod"/>
            </a:pPr>
            <a:r>
              <a:rPr lang="en-US" sz="900">
                <a:solidFill>
                  <a:schemeClr val="lt1"/>
                </a:solidFill>
                <a:latin typeface="Inter"/>
                <a:ea typeface="Inter"/>
                <a:cs typeface="Inter"/>
                <a:sym typeface="Inter"/>
              </a:rPr>
              <a:t>Clarity should be provided on how information should be expressed to support humans and machines</a:t>
            </a:r>
            <a:endParaRPr/>
          </a:p>
          <a:p>
            <a:pPr marL="228600" marR="0" lvl="0" indent="-228600" algn="l" rtl="0">
              <a:spcBef>
                <a:spcPts val="0"/>
              </a:spcBef>
              <a:spcAft>
                <a:spcPts val="0"/>
              </a:spcAft>
              <a:buClr>
                <a:schemeClr val="lt1"/>
              </a:buClr>
              <a:buSzPts val="900"/>
              <a:buFont typeface="Calibri"/>
              <a:buAutoNum type="arabicPeriod"/>
            </a:pPr>
            <a:r>
              <a:rPr lang="en-US" sz="900">
                <a:solidFill>
                  <a:schemeClr val="lt1"/>
                </a:solidFill>
                <a:latin typeface="Inter"/>
                <a:ea typeface="Inter"/>
                <a:cs typeface="Inter"/>
                <a:sym typeface="Inter"/>
              </a:rPr>
              <a:t>When an assertion can be validated, the possible validation action(s) should be defined</a:t>
            </a:r>
            <a:endParaRPr sz="900">
              <a:solidFill>
                <a:schemeClr val="lt1"/>
              </a:solidFill>
              <a:latin typeface="Inter"/>
              <a:ea typeface="Inter"/>
              <a:cs typeface="Inter"/>
              <a:sym typeface="Inter"/>
            </a:endParaRPr>
          </a:p>
        </p:txBody>
      </p:sp>
      <p:sp>
        <p:nvSpPr>
          <p:cNvPr id="96" name="Google Shape;96;p1"/>
          <p:cNvSpPr txBox="1"/>
          <p:nvPr/>
        </p:nvSpPr>
        <p:spPr>
          <a:xfrm>
            <a:off x="4131002" y="3407810"/>
            <a:ext cx="3260455" cy="1338828"/>
          </a:xfrm>
          <a:prstGeom prst="rect">
            <a:avLst/>
          </a:prstGeom>
          <a:noFill/>
          <a:ln>
            <a:noFill/>
          </a:ln>
        </p:spPr>
        <p:txBody>
          <a:bodyPr spcFirstLastPara="1" wrap="square" lIns="91425" tIns="45700" rIns="91425" bIns="45700" anchor="t" anchorCtr="0">
            <a:spAutoFit/>
          </a:bodyPr>
          <a:lstStyle/>
          <a:p>
            <a:pPr marL="228600" marR="0" lvl="0" indent="-228600" algn="l" rtl="0">
              <a:spcBef>
                <a:spcPts val="0"/>
              </a:spcBef>
              <a:spcAft>
                <a:spcPts val="0"/>
              </a:spcAft>
              <a:buClr>
                <a:schemeClr val="lt1"/>
              </a:buClr>
              <a:buSzPts val="900"/>
              <a:buFont typeface="Calibri"/>
              <a:buAutoNum type="arabicPeriod" startAt="6"/>
            </a:pPr>
            <a:r>
              <a:rPr lang="en-US" sz="900">
                <a:solidFill>
                  <a:schemeClr val="lt1"/>
                </a:solidFill>
                <a:latin typeface="Inter"/>
                <a:ea typeface="Inter"/>
                <a:cs typeface="Inter"/>
                <a:sym typeface="Inter"/>
              </a:rPr>
              <a:t>Appropriate standards should be used to expose dataset metadata, FAIR assessment results, and catalogue information towards harvesters and discovery services</a:t>
            </a:r>
            <a:endParaRPr/>
          </a:p>
          <a:p>
            <a:pPr marL="228600" marR="0" lvl="0" indent="-228600" algn="l" rtl="0">
              <a:spcBef>
                <a:spcPts val="0"/>
              </a:spcBef>
              <a:spcAft>
                <a:spcPts val="0"/>
              </a:spcAft>
              <a:buClr>
                <a:schemeClr val="lt1"/>
              </a:buClr>
              <a:buSzPts val="900"/>
              <a:buFont typeface="Calibri"/>
              <a:buAutoNum type="arabicPeriod" startAt="6"/>
            </a:pPr>
            <a:r>
              <a:rPr lang="en-US" sz="900">
                <a:solidFill>
                  <a:schemeClr val="lt1"/>
                </a:solidFill>
                <a:latin typeface="Inter"/>
                <a:ea typeface="Inter"/>
                <a:cs typeface="Inter"/>
                <a:sym typeface="Inter"/>
              </a:rPr>
              <a:t>The levels of care offeredby the repositories and received by digital objects should be expresse£</a:t>
            </a:r>
            <a:endParaRPr/>
          </a:p>
          <a:p>
            <a:pPr marL="228600" marR="0" lvl="0" indent="-228600" algn="l" rtl="0">
              <a:spcBef>
                <a:spcPts val="0"/>
              </a:spcBef>
              <a:spcAft>
                <a:spcPts val="0"/>
              </a:spcAft>
              <a:buClr>
                <a:schemeClr val="lt1"/>
              </a:buClr>
              <a:buSzPts val="900"/>
              <a:buFont typeface="Calibri"/>
              <a:buAutoNum type="arabicPeriod" startAt="6"/>
            </a:pPr>
            <a:r>
              <a:rPr lang="en-US" sz="900">
                <a:solidFill>
                  <a:schemeClr val="lt1"/>
                </a:solidFill>
                <a:latin typeface="Inter"/>
                <a:ea typeface="Inter"/>
                <a:cs typeface="Inter"/>
                <a:sym typeface="Inter"/>
              </a:rPr>
              <a:t>Multiple calibrated FAIR assessment tools should be used, embedded in a holistic FAIR consultation process that supports contextual understanding</a:t>
            </a:r>
            <a:endParaRPr sz="900">
              <a:solidFill>
                <a:schemeClr val="lt1"/>
              </a:solidFill>
              <a:latin typeface="Inter"/>
              <a:ea typeface="Inter"/>
              <a:cs typeface="Inter"/>
              <a:sym typeface="Inter"/>
            </a:endParaRPr>
          </a:p>
        </p:txBody>
      </p:sp>
      <p:pic>
        <p:nvPicPr>
          <p:cNvPr id="97" name="Google Shape;97;p1"/>
          <p:cNvPicPr preferRelativeResize="0"/>
          <p:nvPr/>
        </p:nvPicPr>
        <p:blipFill rotWithShape="1">
          <a:blip r:embed="rId8">
            <a:alphaModFix/>
          </a:blip>
          <a:srcRect/>
          <a:stretch/>
        </p:blipFill>
        <p:spPr>
          <a:xfrm>
            <a:off x="251439" y="65065"/>
            <a:ext cx="3509124" cy="454887"/>
          </a:xfrm>
          <a:prstGeom prst="rect">
            <a:avLst/>
          </a:prstGeom>
          <a:noFill/>
          <a:ln>
            <a:noFill/>
          </a:ln>
        </p:spPr>
      </p:pic>
      <p:sp>
        <p:nvSpPr>
          <p:cNvPr id="98" name="Google Shape;98;p1"/>
          <p:cNvSpPr txBox="1"/>
          <p:nvPr/>
        </p:nvSpPr>
        <p:spPr>
          <a:xfrm>
            <a:off x="4132729" y="-20482"/>
            <a:ext cx="814849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01A3E0"/>
                </a:solidFill>
                <a:latin typeface="Inter SemiBold"/>
                <a:ea typeface="Inter SemiBold"/>
                <a:cs typeface="Inter SemiBold"/>
                <a:sym typeface="Inter SemiBold"/>
              </a:rPr>
              <a:t>Exposing repository information to foster connections and trust:</a:t>
            </a:r>
            <a:endParaRPr/>
          </a:p>
          <a:p>
            <a:pPr marL="0" marR="0" lvl="0" indent="0" algn="l" rtl="0">
              <a:spcBef>
                <a:spcPts val="0"/>
              </a:spcBef>
              <a:spcAft>
                <a:spcPts val="0"/>
              </a:spcAft>
              <a:buNone/>
            </a:pPr>
            <a:r>
              <a:rPr lang="en-US" sz="1800" b="1">
                <a:solidFill>
                  <a:srgbClr val="01A3E0"/>
                </a:solidFill>
                <a:latin typeface="Inter SemiBold"/>
                <a:ea typeface="Inter SemiBold"/>
                <a:cs typeface="Inter SemiBold"/>
                <a:sym typeface="Inter SemiBold"/>
              </a:rPr>
              <a:t>evaluating and implementing guidelines </a:t>
            </a:r>
            <a:endParaRPr sz="1800" b="1">
              <a:solidFill>
                <a:srgbClr val="01A3E0"/>
              </a:solidFill>
              <a:latin typeface="Inter SemiBold"/>
              <a:ea typeface="Inter SemiBold"/>
              <a:cs typeface="Inter SemiBold"/>
              <a:sym typeface="Inter SemiBold"/>
            </a:endParaRPr>
          </a:p>
        </p:txBody>
      </p:sp>
      <p:sp>
        <p:nvSpPr>
          <p:cNvPr id="99" name="Google Shape;99;p1"/>
          <p:cNvSpPr txBox="1"/>
          <p:nvPr/>
        </p:nvSpPr>
        <p:spPr>
          <a:xfrm>
            <a:off x="179294" y="680465"/>
            <a:ext cx="11743765" cy="5539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a:solidFill>
                  <a:srgbClr val="28275A"/>
                </a:solidFill>
                <a:latin typeface="Inter"/>
                <a:ea typeface="Inter"/>
                <a:cs typeface="Inter"/>
                <a:sym typeface="Inter"/>
              </a:rPr>
              <a:t>FAIR-IMPACT supports the implementation of FAIR-enabling practices, tools and services. Guidelines and a prototype are being developed to expose relevant information as metadata to facilitate discovery, provide context, support interoperability, and create a sense of trust in service providers and the services they offer. The collection of community input is essential to ensure the guidelines and technical implementation of them flexibly fit different use cases and scenarios that occur in the research data landscape.</a:t>
            </a:r>
            <a:endParaRPr sz="1000">
              <a:solidFill>
                <a:srgbClr val="28275A"/>
              </a:solidFill>
              <a:latin typeface="Inter"/>
              <a:ea typeface="Inter"/>
              <a:cs typeface="Inter"/>
              <a:sym typeface="Inter"/>
            </a:endParaRPr>
          </a:p>
        </p:txBody>
      </p:sp>
      <p:sp>
        <p:nvSpPr>
          <p:cNvPr id="100" name="Google Shape;100;p1"/>
          <p:cNvSpPr txBox="1"/>
          <p:nvPr/>
        </p:nvSpPr>
        <p:spPr>
          <a:xfrm>
            <a:off x="179294" y="1433710"/>
            <a:ext cx="251011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01A3E0"/>
                </a:solidFill>
                <a:latin typeface="Inter SemiBold"/>
                <a:ea typeface="Inter SemiBold"/>
                <a:cs typeface="Inter SemiBold"/>
                <a:sym typeface="Inter SemiBold"/>
              </a:rPr>
              <a:t>Transparency &amp; Standards</a:t>
            </a:r>
            <a:endParaRPr sz="1400" b="1">
              <a:solidFill>
                <a:srgbClr val="01A3E0"/>
              </a:solidFill>
              <a:latin typeface="Inter SemiBold"/>
              <a:ea typeface="Inter SemiBold"/>
              <a:cs typeface="Inter SemiBold"/>
              <a:sym typeface="Inter SemiBold"/>
            </a:endParaRPr>
          </a:p>
        </p:txBody>
      </p:sp>
      <p:sp>
        <p:nvSpPr>
          <p:cNvPr id="101" name="Google Shape;101;p1"/>
          <p:cNvSpPr txBox="1"/>
          <p:nvPr/>
        </p:nvSpPr>
        <p:spPr>
          <a:xfrm>
            <a:off x="179295" y="1666676"/>
            <a:ext cx="2967317" cy="86173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dirty="0">
                <a:solidFill>
                  <a:srgbClr val="28275A"/>
                </a:solidFill>
                <a:latin typeface="Inter"/>
                <a:ea typeface="Inter"/>
                <a:cs typeface="Inter"/>
                <a:sym typeface="Inter"/>
              </a:rPr>
              <a:t>Information about a (meta)data service and its resources should be provided transparently following open technical standards and community recommendations in both human and machine readable </a:t>
            </a:r>
            <a:r>
              <a:rPr lang="en-US" sz="1000">
                <a:solidFill>
                  <a:srgbClr val="28275A"/>
                </a:solidFill>
                <a:latin typeface="Inter"/>
                <a:ea typeface="Inter"/>
                <a:cs typeface="Inter"/>
                <a:sym typeface="Inter"/>
              </a:rPr>
              <a:t>forms.</a:t>
            </a:r>
            <a:endParaRPr sz="1000" dirty="0">
              <a:solidFill>
                <a:srgbClr val="28275A"/>
              </a:solidFill>
              <a:latin typeface="Inter"/>
              <a:ea typeface="Inter"/>
              <a:cs typeface="Inter"/>
              <a:sym typeface="Inter"/>
            </a:endParaRPr>
          </a:p>
        </p:txBody>
      </p:sp>
      <p:sp>
        <p:nvSpPr>
          <p:cNvPr id="102" name="Google Shape;102;p1"/>
          <p:cNvSpPr txBox="1"/>
          <p:nvPr/>
        </p:nvSpPr>
        <p:spPr>
          <a:xfrm>
            <a:off x="3247923" y="1433710"/>
            <a:ext cx="251011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01A3E0"/>
                </a:solidFill>
                <a:latin typeface="Inter SemiBold"/>
                <a:ea typeface="Inter SemiBold"/>
                <a:cs typeface="Inter SemiBold"/>
                <a:sym typeface="Inter SemiBold"/>
              </a:rPr>
              <a:t>Evidence &amp; Assessment</a:t>
            </a:r>
            <a:endParaRPr sz="1400" b="1">
              <a:solidFill>
                <a:srgbClr val="01A3E0"/>
              </a:solidFill>
              <a:latin typeface="Inter SemiBold"/>
              <a:ea typeface="Inter SemiBold"/>
              <a:cs typeface="Inter SemiBold"/>
              <a:sym typeface="Inter SemiBold"/>
            </a:endParaRPr>
          </a:p>
        </p:txBody>
      </p:sp>
      <p:sp>
        <p:nvSpPr>
          <p:cNvPr id="103" name="Google Shape;103;p1"/>
          <p:cNvSpPr txBox="1"/>
          <p:nvPr/>
        </p:nvSpPr>
        <p:spPr>
          <a:xfrm>
            <a:off x="3247924" y="1666676"/>
            <a:ext cx="2967317" cy="116955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a:solidFill>
                  <a:srgbClr val="28275A"/>
                </a:solidFill>
                <a:latin typeface="Inter"/>
                <a:ea typeface="Inter"/>
                <a:cs typeface="Inter"/>
                <a:sym typeface="Inter"/>
              </a:rPr>
              <a:t>(Meta)data services providing information about their functions and activities should include evidence and links to authoritative third parties, such as CoreTrustSeal or FAIR assessment services, enabling validation and assessment by human and automated processes, thus increasing trustworthiness.</a:t>
            </a:r>
            <a:endParaRPr sz="1000">
              <a:solidFill>
                <a:srgbClr val="28275A"/>
              </a:solidFill>
              <a:latin typeface="Inter"/>
              <a:ea typeface="Inter"/>
              <a:cs typeface="Inter"/>
              <a:sym typeface="Inter"/>
            </a:endParaRPr>
          </a:p>
        </p:txBody>
      </p:sp>
      <p:sp>
        <p:nvSpPr>
          <p:cNvPr id="104" name="Google Shape;104;p1"/>
          <p:cNvSpPr txBox="1"/>
          <p:nvPr/>
        </p:nvSpPr>
        <p:spPr>
          <a:xfrm>
            <a:off x="6364941" y="1433710"/>
            <a:ext cx="251011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01A3E0"/>
                </a:solidFill>
                <a:latin typeface="Inter SemiBold"/>
                <a:ea typeface="Inter SemiBold"/>
                <a:cs typeface="Inter SemiBold"/>
                <a:sym typeface="Inter SemiBold"/>
              </a:rPr>
              <a:t>Linking &amp; Validation</a:t>
            </a:r>
            <a:endParaRPr sz="1400" b="1">
              <a:solidFill>
                <a:srgbClr val="01A3E0"/>
              </a:solidFill>
              <a:latin typeface="Inter SemiBold"/>
              <a:ea typeface="Inter SemiBold"/>
              <a:cs typeface="Inter SemiBold"/>
              <a:sym typeface="Inter SemiBold"/>
            </a:endParaRPr>
          </a:p>
        </p:txBody>
      </p:sp>
      <p:sp>
        <p:nvSpPr>
          <p:cNvPr id="105" name="Google Shape;105;p1"/>
          <p:cNvSpPr txBox="1"/>
          <p:nvPr/>
        </p:nvSpPr>
        <p:spPr>
          <a:xfrm>
            <a:off x="6364942" y="1666676"/>
            <a:ext cx="2967317"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a:solidFill>
                  <a:srgbClr val="28275A"/>
                </a:solidFill>
                <a:latin typeface="Inter"/>
                <a:ea typeface="Inter"/>
                <a:cs typeface="Inter"/>
                <a:sym typeface="Inter"/>
              </a:rPr>
              <a:t>The prototype schematic, in which information about digital objects and repositories is linked to registries, and this information can be validated by authorities.</a:t>
            </a:r>
            <a:endParaRPr/>
          </a:p>
        </p:txBody>
      </p:sp>
      <p:pic>
        <p:nvPicPr>
          <p:cNvPr id="106" name="Google Shape;106;p1"/>
          <p:cNvPicPr preferRelativeResize="0"/>
          <p:nvPr/>
        </p:nvPicPr>
        <p:blipFill rotWithShape="1">
          <a:blip r:embed="rId9">
            <a:alphaModFix/>
          </a:blip>
          <a:srcRect/>
          <a:stretch/>
        </p:blipFill>
        <p:spPr>
          <a:xfrm>
            <a:off x="9244389" y="1453160"/>
            <a:ext cx="2822795" cy="1562736"/>
          </a:xfrm>
          <a:prstGeom prst="rect">
            <a:avLst/>
          </a:prstGeom>
          <a:noFill/>
          <a:ln>
            <a:noFill/>
          </a:ln>
        </p:spPr>
      </p:pic>
      <p:pic>
        <p:nvPicPr>
          <p:cNvPr id="107" name="Google Shape;107;p1"/>
          <p:cNvPicPr preferRelativeResize="0"/>
          <p:nvPr/>
        </p:nvPicPr>
        <p:blipFill rotWithShape="1">
          <a:blip r:embed="rId10">
            <a:alphaModFix/>
          </a:blip>
          <a:srcRect/>
          <a:stretch/>
        </p:blipFill>
        <p:spPr>
          <a:xfrm>
            <a:off x="7753290" y="3192639"/>
            <a:ext cx="667845" cy="671010"/>
          </a:xfrm>
          <a:prstGeom prst="rect">
            <a:avLst/>
          </a:prstGeom>
          <a:noFill/>
          <a:ln>
            <a:noFill/>
          </a:ln>
        </p:spPr>
      </p:pic>
      <p:sp>
        <p:nvSpPr>
          <p:cNvPr id="108" name="Google Shape;108;p1"/>
          <p:cNvSpPr txBox="1"/>
          <p:nvPr/>
        </p:nvSpPr>
        <p:spPr>
          <a:xfrm>
            <a:off x="8463249" y="3252885"/>
            <a:ext cx="251011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rgbClr val="28275A"/>
                </a:solidFill>
                <a:latin typeface="Inter SemiBold"/>
                <a:ea typeface="Inter SemiBold"/>
                <a:cs typeface="Inter SemiBold"/>
                <a:sym typeface="Inter SemiBold"/>
              </a:rPr>
              <a:t>Find all information and works on this topic on our website! </a:t>
            </a:r>
            <a:endParaRPr/>
          </a:p>
        </p:txBody>
      </p:sp>
      <p:sp>
        <p:nvSpPr>
          <p:cNvPr id="109" name="Google Shape;109;p1"/>
          <p:cNvSpPr txBox="1"/>
          <p:nvPr/>
        </p:nvSpPr>
        <p:spPr>
          <a:xfrm>
            <a:off x="7753290" y="3906953"/>
            <a:ext cx="3260455"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rgbClr val="28275A"/>
                </a:solidFill>
                <a:latin typeface="Inter SemiBold"/>
                <a:ea typeface="Inter SemiBold"/>
                <a:cs typeface="Inter SemiBold"/>
                <a:sym typeface="Inter SemiBold"/>
              </a:rPr>
              <a:t>Are you interested in becoming more FAIR- Enabling as a repository or data service provider? Check out our open calls for financial and expert support!</a:t>
            </a:r>
            <a:endParaRPr/>
          </a:p>
        </p:txBody>
      </p:sp>
      <p:pic>
        <p:nvPicPr>
          <p:cNvPr id="110" name="Google Shape;110;p1"/>
          <p:cNvPicPr preferRelativeResize="0"/>
          <p:nvPr/>
        </p:nvPicPr>
        <p:blipFill rotWithShape="1">
          <a:blip r:embed="rId11">
            <a:alphaModFix/>
          </a:blip>
          <a:srcRect/>
          <a:stretch/>
        </p:blipFill>
        <p:spPr>
          <a:xfrm>
            <a:off x="10655786" y="4151431"/>
            <a:ext cx="508775" cy="332489"/>
          </a:xfrm>
          <a:prstGeom prst="rect">
            <a:avLst/>
          </a:prstGeom>
          <a:noFill/>
          <a:ln>
            <a:noFill/>
          </a:ln>
        </p:spPr>
      </p:pic>
      <p:pic>
        <p:nvPicPr>
          <p:cNvPr id="111" name="Google Shape;111;p1"/>
          <p:cNvPicPr preferRelativeResize="0"/>
          <p:nvPr/>
        </p:nvPicPr>
        <p:blipFill rotWithShape="1">
          <a:blip r:embed="rId12">
            <a:alphaModFix/>
          </a:blip>
          <a:srcRect/>
          <a:stretch/>
        </p:blipFill>
        <p:spPr>
          <a:xfrm>
            <a:off x="11217254" y="3983534"/>
            <a:ext cx="726261" cy="729702"/>
          </a:xfrm>
          <a:prstGeom prst="rect">
            <a:avLst/>
          </a:prstGeom>
          <a:noFill/>
          <a:ln>
            <a:noFill/>
          </a:ln>
        </p:spPr>
      </p:pic>
      <p:sp>
        <p:nvSpPr>
          <p:cNvPr id="112" name="Google Shape;112;p1"/>
          <p:cNvSpPr txBox="1"/>
          <p:nvPr/>
        </p:nvSpPr>
        <p:spPr>
          <a:xfrm>
            <a:off x="7753290" y="4725100"/>
            <a:ext cx="419022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900" i="1">
                <a:solidFill>
                  <a:srgbClr val="28275A"/>
                </a:solidFill>
                <a:latin typeface="Inter"/>
                <a:ea typeface="Inter"/>
                <a:cs typeface="Inter"/>
                <a:sym typeface="Inter"/>
              </a:rPr>
              <a:t>The final call for support will launch on September 30</a:t>
            </a:r>
            <a:r>
              <a:rPr lang="en-US" sz="900" i="1" baseline="30000">
                <a:solidFill>
                  <a:srgbClr val="28275A"/>
                </a:solidFill>
                <a:latin typeface="Inter"/>
                <a:ea typeface="Inter"/>
                <a:cs typeface="Inter"/>
                <a:sym typeface="Inter"/>
              </a:rPr>
              <a:t>th</a:t>
            </a:r>
            <a:r>
              <a:rPr lang="en-US" sz="900" i="1">
                <a:solidFill>
                  <a:srgbClr val="28275A"/>
                </a:solidFill>
                <a:latin typeface="Inter"/>
                <a:ea typeface="Inter"/>
                <a:cs typeface="Inter"/>
                <a:sym typeface="Inter"/>
              </a:rPr>
              <a:t> and the closing date will be Nov 30</a:t>
            </a:r>
            <a:r>
              <a:rPr lang="en-US" sz="900" i="1" baseline="30000">
                <a:solidFill>
                  <a:srgbClr val="28275A"/>
                </a:solidFill>
                <a:latin typeface="Inter"/>
                <a:ea typeface="Inter"/>
                <a:cs typeface="Inter"/>
                <a:sym typeface="Inter"/>
              </a:rPr>
              <a:t>th</a:t>
            </a:r>
            <a:endParaRPr/>
          </a:p>
        </p:txBody>
      </p:sp>
      <p:sp>
        <p:nvSpPr>
          <p:cNvPr id="113" name="Google Shape;113;p1"/>
          <p:cNvSpPr txBox="1"/>
          <p:nvPr/>
        </p:nvSpPr>
        <p:spPr>
          <a:xfrm>
            <a:off x="6364942" y="5177274"/>
            <a:ext cx="5827058" cy="8309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dirty="0" err="1">
                <a:solidFill>
                  <a:schemeClr val="lt1"/>
                </a:solidFill>
                <a:latin typeface="Inter"/>
                <a:ea typeface="Inter"/>
                <a:cs typeface="Inter"/>
                <a:sym typeface="Inter"/>
              </a:rPr>
              <a:t>Maaike</a:t>
            </a:r>
            <a:r>
              <a:rPr lang="en-US" sz="800" dirty="0">
                <a:solidFill>
                  <a:schemeClr val="lt1"/>
                </a:solidFill>
                <a:latin typeface="Inter"/>
                <a:ea typeface="Inter"/>
                <a:cs typeface="Inter"/>
                <a:sym typeface="Inter"/>
              </a:rPr>
              <a:t> </a:t>
            </a:r>
            <a:r>
              <a:rPr lang="en-US" sz="800" dirty="0" err="1">
                <a:solidFill>
                  <a:schemeClr val="lt1"/>
                </a:solidFill>
                <a:latin typeface="Inter"/>
                <a:ea typeface="Inter"/>
                <a:cs typeface="Inter"/>
                <a:sym typeface="Inter"/>
              </a:rPr>
              <a:t>Verburg</a:t>
            </a:r>
            <a:r>
              <a:rPr lang="en-US" sz="800" dirty="0">
                <a:solidFill>
                  <a:schemeClr val="lt1"/>
                </a:solidFill>
                <a:latin typeface="Inter"/>
                <a:ea typeface="Inter"/>
                <a:cs typeface="Inter"/>
                <a:sym typeface="Inter"/>
              </a:rPr>
              <a:t>, Mike Priddy, Ingrid </a:t>
            </a:r>
            <a:r>
              <a:rPr lang="en-US" sz="800" dirty="0" err="1">
                <a:solidFill>
                  <a:schemeClr val="lt1"/>
                </a:solidFill>
                <a:latin typeface="Inter"/>
                <a:ea typeface="Inter"/>
                <a:cs typeface="Inter"/>
                <a:sym typeface="Inter"/>
              </a:rPr>
              <a:t>Dillo</a:t>
            </a:r>
            <a:r>
              <a:rPr lang="en-US" sz="800" dirty="0">
                <a:solidFill>
                  <a:schemeClr val="lt1"/>
                </a:solidFill>
                <a:latin typeface="Inter"/>
                <a:ea typeface="Inter"/>
                <a:cs typeface="Inter"/>
                <a:sym typeface="Inter"/>
              </a:rPr>
              <a:t>, </a:t>
            </a:r>
            <a:r>
              <a:rPr lang="en-US" sz="800" dirty="0" err="1">
                <a:solidFill>
                  <a:schemeClr val="lt1"/>
                </a:solidFill>
                <a:latin typeface="Inter"/>
                <a:ea typeface="Inter"/>
                <a:cs typeface="Inter"/>
                <a:sym typeface="Inter"/>
              </a:rPr>
              <a:t>Loek</a:t>
            </a:r>
            <a:r>
              <a:rPr lang="en-US" sz="800" dirty="0">
                <a:solidFill>
                  <a:schemeClr val="lt1"/>
                </a:solidFill>
                <a:latin typeface="Inter"/>
                <a:ea typeface="Inter"/>
                <a:cs typeface="Inter"/>
                <a:sym typeface="Inter"/>
              </a:rPr>
              <a:t> Brinkman, Linda </a:t>
            </a:r>
            <a:r>
              <a:rPr lang="en-US" sz="800" dirty="0" err="1">
                <a:solidFill>
                  <a:schemeClr val="lt1"/>
                </a:solidFill>
                <a:latin typeface="Inter"/>
                <a:ea typeface="Inter"/>
                <a:cs typeface="Inter"/>
                <a:sym typeface="Inter"/>
              </a:rPr>
              <a:t>Reijnhoudt</a:t>
            </a:r>
            <a:r>
              <a:rPr lang="en-US" sz="800" dirty="0">
                <a:solidFill>
                  <a:schemeClr val="lt1"/>
                </a:solidFill>
                <a:latin typeface="Inter"/>
                <a:ea typeface="Inter"/>
                <a:cs typeface="Inter"/>
                <a:sym typeface="Inter"/>
              </a:rPr>
              <a:t> - Data Archiving and Networked Services (DANS)Robert Ulrich, Charlotte </a:t>
            </a:r>
            <a:r>
              <a:rPr lang="en-US" sz="800" dirty="0" err="1">
                <a:solidFill>
                  <a:schemeClr val="lt1"/>
                </a:solidFill>
                <a:latin typeface="Inter"/>
                <a:ea typeface="Inter"/>
                <a:cs typeface="Inter"/>
                <a:sym typeface="Inter"/>
              </a:rPr>
              <a:t>Neidiger</a:t>
            </a:r>
            <a:r>
              <a:rPr lang="en-US" sz="800" dirty="0">
                <a:solidFill>
                  <a:schemeClr val="lt1"/>
                </a:solidFill>
                <a:latin typeface="Inter"/>
                <a:ea typeface="Inter"/>
                <a:cs typeface="Inter"/>
                <a:sym typeface="Inter"/>
              </a:rPr>
              <a:t> - Karlsruhe Institute of Technology (KIT)</a:t>
            </a:r>
            <a:endParaRPr dirty="0"/>
          </a:p>
          <a:p>
            <a:pPr marL="0" marR="0" lvl="0" indent="0" algn="l" rtl="0">
              <a:spcBef>
                <a:spcPts val="0"/>
              </a:spcBef>
              <a:spcAft>
                <a:spcPts val="0"/>
              </a:spcAft>
              <a:buNone/>
            </a:pPr>
            <a:r>
              <a:rPr lang="en-US" sz="800" dirty="0">
                <a:solidFill>
                  <a:schemeClr val="lt1"/>
                </a:solidFill>
                <a:latin typeface="Inter"/>
                <a:ea typeface="Inter"/>
                <a:cs typeface="Inter"/>
                <a:sym typeface="Inter"/>
              </a:rPr>
              <a:t>Robert Huber - MARUM Center for Marine Environmental Sciences, University of Bremen</a:t>
            </a:r>
            <a:endParaRPr dirty="0"/>
          </a:p>
          <a:p>
            <a:pPr marL="0" marR="0" lvl="0" indent="0" algn="l" rtl="0">
              <a:spcBef>
                <a:spcPts val="0"/>
              </a:spcBef>
              <a:spcAft>
                <a:spcPts val="0"/>
              </a:spcAft>
              <a:buNone/>
            </a:pPr>
            <a:r>
              <a:rPr lang="en-US" sz="800" dirty="0" err="1">
                <a:solidFill>
                  <a:schemeClr val="lt1"/>
                </a:solidFill>
                <a:latin typeface="Inter"/>
                <a:ea typeface="Inter"/>
                <a:cs typeface="Inter"/>
                <a:sym typeface="Inter"/>
              </a:rPr>
              <a:t>Hervé</a:t>
            </a:r>
            <a:r>
              <a:rPr lang="en-US" sz="800" dirty="0">
                <a:solidFill>
                  <a:schemeClr val="lt1"/>
                </a:solidFill>
                <a:latin typeface="Inter"/>
                <a:ea typeface="Inter"/>
                <a:cs typeface="Inter"/>
                <a:sym typeface="Inter"/>
              </a:rPr>
              <a:t> </a:t>
            </a:r>
            <a:r>
              <a:rPr lang="en-US" sz="800" dirty="0" err="1">
                <a:solidFill>
                  <a:schemeClr val="lt1"/>
                </a:solidFill>
                <a:latin typeface="Inter"/>
                <a:ea typeface="Inter"/>
                <a:cs typeface="Inter"/>
                <a:sym typeface="Inter"/>
              </a:rPr>
              <a:t>L’Hours</a:t>
            </a:r>
            <a:r>
              <a:rPr lang="en-US" sz="800" dirty="0">
                <a:solidFill>
                  <a:schemeClr val="lt1"/>
                </a:solidFill>
                <a:latin typeface="Inter"/>
                <a:ea typeface="Inter"/>
                <a:cs typeface="Inter"/>
                <a:sym typeface="Inter"/>
              </a:rPr>
              <a:t>, Oliver Parkes - UK Data Service, University of Essex</a:t>
            </a:r>
            <a:endParaRPr dirty="0"/>
          </a:p>
          <a:p>
            <a:pPr marL="0" marR="0" lvl="0" indent="0" algn="l" rtl="0">
              <a:spcBef>
                <a:spcPts val="0"/>
              </a:spcBef>
              <a:spcAft>
                <a:spcPts val="0"/>
              </a:spcAft>
              <a:buNone/>
            </a:pPr>
            <a:r>
              <a:rPr lang="en-US" sz="800" dirty="0">
                <a:solidFill>
                  <a:schemeClr val="lt1"/>
                </a:solidFill>
                <a:latin typeface="Inter"/>
                <a:ea typeface="Inter"/>
                <a:cs typeface="Inter"/>
                <a:sym typeface="Inter"/>
              </a:rPr>
              <a:t>Joy Davidson - Data Curation Centre, University of Edinburgh</a:t>
            </a:r>
            <a:endParaRPr dirty="0"/>
          </a:p>
          <a:p>
            <a:pPr marL="0" marR="0" lvl="0" indent="0" algn="l" rtl="0">
              <a:spcBef>
                <a:spcPts val="0"/>
              </a:spcBef>
              <a:spcAft>
                <a:spcPts val="0"/>
              </a:spcAft>
              <a:buNone/>
            </a:pPr>
            <a:r>
              <a:rPr lang="en-US" sz="800" dirty="0">
                <a:solidFill>
                  <a:schemeClr val="lt1"/>
                </a:solidFill>
                <a:latin typeface="Inter"/>
                <a:ea typeface="Inter"/>
                <a:cs typeface="Inter"/>
                <a:sym typeface="Inter"/>
              </a:rPr>
              <a:t>Gabriela </a:t>
            </a:r>
            <a:r>
              <a:rPr lang="en-US" sz="800" dirty="0" err="1">
                <a:solidFill>
                  <a:schemeClr val="lt1"/>
                </a:solidFill>
                <a:latin typeface="Inter"/>
                <a:ea typeface="Inter"/>
                <a:cs typeface="Inter"/>
                <a:sym typeface="Inter"/>
              </a:rPr>
              <a:t>Mejias</a:t>
            </a:r>
            <a:r>
              <a:rPr lang="en-US" sz="800" dirty="0">
                <a:solidFill>
                  <a:schemeClr val="lt1"/>
                </a:solidFill>
                <a:latin typeface="Inter"/>
                <a:ea typeface="Inter"/>
                <a:cs typeface="Inter"/>
                <a:sym typeface="Inter"/>
              </a:rPr>
              <a:t> – </a:t>
            </a:r>
            <a:r>
              <a:rPr lang="en-US" sz="800" dirty="0" err="1">
                <a:solidFill>
                  <a:schemeClr val="lt1"/>
                </a:solidFill>
                <a:latin typeface="Inter"/>
                <a:ea typeface="Inter"/>
                <a:cs typeface="Inter"/>
                <a:sym typeface="Inter"/>
              </a:rPr>
              <a:t>DataCite</a:t>
            </a:r>
            <a:r>
              <a:rPr lang="en-US" sz="800" dirty="0">
                <a:solidFill>
                  <a:schemeClr val="lt1"/>
                </a:solidFill>
                <a:latin typeface="Inter"/>
                <a:ea typeface="Inter"/>
                <a:cs typeface="Inter"/>
                <a:sym typeface="Inter"/>
              </a:rPr>
              <a:t>, Parham </a:t>
            </a:r>
            <a:r>
              <a:rPr lang="en-US" sz="800" dirty="0" err="1">
                <a:solidFill>
                  <a:schemeClr val="lt1"/>
                </a:solidFill>
                <a:latin typeface="Inter"/>
                <a:ea typeface="Inter"/>
                <a:cs typeface="Inter"/>
                <a:sym typeface="Inter"/>
              </a:rPr>
              <a:t>Ramezani</a:t>
            </a:r>
            <a:r>
              <a:rPr lang="en-US" sz="800" dirty="0">
                <a:solidFill>
                  <a:schemeClr val="lt1"/>
                </a:solidFill>
                <a:latin typeface="Inter"/>
                <a:ea typeface="Inter"/>
                <a:cs typeface="Inter"/>
                <a:sym typeface="Inter"/>
              </a:rPr>
              <a:t> - </a:t>
            </a:r>
            <a:r>
              <a:rPr lang="en-US" sz="800" dirty="0" err="1">
                <a:solidFill>
                  <a:schemeClr val="lt1"/>
                </a:solidFill>
                <a:latin typeface="Inter"/>
                <a:ea typeface="Inter"/>
                <a:cs typeface="Inter"/>
                <a:sym typeface="Inter"/>
              </a:rPr>
              <a:t>LifeWatch</a:t>
            </a:r>
            <a:endParaRPr sz="800" dirty="0">
              <a:solidFill>
                <a:schemeClr val="lt1"/>
              </a:solidFill>
              <a:latin typeface="Inter"/>
              <a:ea typeface="Inter"/>
              <a:cs typeface="Inter"/>
              <a:sym typeface="Inter"/>
            </a:endParaRPr>
          </a:p>
        </p:txBody>
      </p:sp>
      <p:pic>
        <p:nvPicPr>
          <p:cNvPr id="114" name="Google Shape;114;p1"/>
          <p:cNvPicPr preferRelativeResize="0"/>
          <p:nvPr/>
        </p:nvPicPr>
        <p:blipFill rotWithShape="1">
          <a:blip r:embed="rId13">
            <a:alphaModFix/>
          </a:blip>
          <a:srcRect/>
          <a:stretch/>
        </p:blipFill>
        <p:spPr>
          <a:xfrm>
            <a:off x="6420304" y="6021048"/>
            <a:ext cx="5787770" cy="85575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480</Words>
  <Application>Microsoft Macintosh PowerPoint</Application>
  <PresentationFormat>Widescreen</PresentationFormat>
  <Paragraphs>27</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Inter SemiBold</vt:lpstr>
      <vt:lpstr>Calibri</vt:lpstr>
      <vt:lpstr>Inter</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Andrea Greco</dc:creator>
  <cp:lastModifiedBy>Ingrid Dillo</cp:lastModifiedBy>
  <cp:revision>3</cp:revision>
  <dcterms:created xsi:type="dcterms:W3CDTF">2024-08-16T08:53:09Z</dcterms:created>
  <dcterms:modified xsi:type="dcterms:W3CDTF">2024-08-27T08:29:21Z</dcterms:modified>
</cp:coreProperties>
</file>