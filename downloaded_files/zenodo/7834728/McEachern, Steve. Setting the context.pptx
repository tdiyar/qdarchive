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850376a5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850376a5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8603308c6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8603308c6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This workshop is a partnership between ADA, ARDC &amp; CODATA.  </a:t>
            </a:r>
            <a:endParaRPr/>
          </a:p>
          <a:p>
            <a:pPr indent="-298450" lvl="0" marL="457200" rtl="0" algn="l">
              <a:spcBef>
                <a:spcPts val="0"/>
              </a:spcBef>
              <a:spcAft>
                <a:spcPts val="0"/>
              </a:spcAft>
              <a:buSzPts val="1100"/>
              <a:buChar char="●"/>
            </a:pPr>
            <a:r>
              <a:rPr lang="en-GB"/>
              <a:t>ADA is an archive of national social sciences datasets.  Itholds over 6000 datasets from more than 1500 projects and studies from 1838 through until the present day.</a:t>
            </a:r>
            <a:endParaRPr/>
          </a:p>
          <a:p>
            <a:pPr indent="-298450" lvl="0" marL="457200" rtl="0" algn="l">
              <a:spcBef>
                <a:spcPts val="0"/>
              </a:spcBef>
              <a:spcAft>
                <a:spcPts val="0"/>
              </a:spcAft>
              <a:buClr>
                <a:schemeClr val="dk1"/>
              </a:buClr>
              <a:buSzPts val="1100"/>
              <a:buChar char="●"/>
            </a:pPr>
            <a:r>
              <a:rPr lang="en-GB">
                <a:solidFill>
                  <a:schemeClr val="dk1"/>
                </a:solidFill>
              </a:rPr>
              <a:t>ARDC provides Australian researchers with competitive advantage through data.  Partnering on projects, developing platforms and providing services.</a:t>
            </a:r>
            <a:endParaRPr/>
          </a:p>
          <a:p>
            <a:pPr indent="-298450" lvl="0" marL="457200" rtl="0" algn="l">
              <a:spcBef>
                <a:spcPts val="0"/>
              </a:spcBef>
              <a:spcAft>
                <a:spcPts val="0"/>
              </a:spcAft>
              <a:buSzPts val="1100"/>
              <a:buChar char="●"/>
            </a:pPr>
            <a:r>
              <a:rPr lang="en-GB"/>
              <a:t>CODATA is the Committee on Data of the International Science Council.  It promotes global collaboration to advance open science and to improve the availability and usability of data for all areas of research.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organisational representatives are Steve McEachern, Adrian Burton and Simon Hodson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8bcdf249b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8bcdf249b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8603308c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8603308c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850376a52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850376a52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8bcdf249b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8bcdf249b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850376a52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850376a52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An ADA, ARDC &amp; CODATA partnered workshop on vocabulary service development to meet next generation demands.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850376a52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850376a52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~18 (7 F, 11 M) + 7 (2 F, 5M)</a:t>
            </a:r>
            <a:endParaRPr/>
          </a:p>
          <a:p>
            <a:pPr indent="0" lvl="0" marL="0" rtl="0" algn="l">
              <a:spcBef>
                <a:spcPts val="0"/>
              </a:spcBef>
              <a:spcAft>
                <a:spcPts val="0"/>
              </a:spcAft>
              <a:buClr>
                <a:schemeClr val="dk1"/>
              </a:buClr>
              <a:buSzPts val="1100"/>
              <a:buFont typeface="Arial"/>
              <a:buNone/>
            </a:pPr>
            <a:r>
              <a:rPr lang="en-GB"/>
              <a:t>25 (9 F, 16 M) </a:t>
            </a:r>
            <a:endParaRPr/>
          </a:p>
          <a:p>
            <a:pPr indent="0" lvl="0" marL="0" rtl="0" algn="l">
              <a:spcBef>
                <a:spcPts val="0"/>
              </a:spcBef>
              <a:spcAft>
                <a:spcPts val="0"/>
              </a:spcAft>
              <a:buClr>
                <a:schemeClr val="dk1"/>
              </a:buClr>
              <a:buSzPts val="1100"/>
              <a:buFont typeface="Arial"/>
              <a:buNone/>
            </a:pPr>
            <a:r>
              <a:rPr lang="en-GB"/>
              <a:t>Background</a:t>
            </a:r>
            <a:endParaRPr/>
          </a:p>
          <a:p>
            <a:pPr indent="0" lvl="0" marL="0" rtl="0" algn="l">
              <a:spcBef>
                <a:spcPts val="0"/>
              </a:spcBef>
              <a:spcAft>
                <a:spcPts val="0"/>
              </a:spcAft>
              <a:buClr>
                <a:schemeClr val="dk1"/>
              </a:buClr>
              <a:buSzPts val="1100"/>
              <a:buFont typeface="Arial"/>
              <a:buNone/>
            </a:pPr>
            <a:r>
              <a:rPr lang="en-GB"/>
              <a:t>HASS 4 (4M)</a:t>
            </a:r>
            <a:endParaRPr/>
          </a:p>
          <a:p>
            <a:pPr indent="0" lvl="0" marL="0" rtl="0" algn="l">
              <a:spcBef>
                <a:spcPts val="0"/>
              </a:spcBef>
              <a:spcAft>
                <a:spcPts val="0"/>
              </a:spcAft>
              <a:buClr>
                <a:schemeClr val="dk1"/>
              </a:buClr>
              <a:buSzPts val="1100"/>
              <a:buFont typeface="Arial"/>
              <a:buNone/>
            </a:pPr>
            <a:r>
              <a:rPr lang="en-GB"/>
              <a:t>Health &amp; medical 5 (2M 3F)</a:t>
            </a:r>
            <a:endParaRPr/>
          </a:p>
          <a:p>
            <a:pPr indent="0" lvl="0" marL="0" rtl="0" algn="l">
              <a:spcBef>
                <a:spcPts val="0"/>
              </a:spcBef>
              <a:spcAft>
                <a:spcPts val="0"/>
              </a:spcAft>
              <a:buClr>
                <a:schemeClr val="dk1"/>
              </a:buClr>
              <a:buSzPts val="1100"/>
              <a:buFont typeface="Arial"/>
              <a:buNone/>
            </a:pPr>
            <a:r>
              <a:rPr lang="en-GB"/>
              <a:t>Planet 5 (3M 2F)</a:t>
            </a:r>
            <a:endParaRPr/>
          </a:p>
          <a:p>
            <a:pPr indent="0" lvl="0" marL="0" rtl="0" algn="l">
              <a:spcBef>
                <a:spcPts val="0"/>
              </a:spcBef>
              <a:spcAft>
                <a:spcPts val="0"/>
              </a:spcAft>
              <a:buNone/>
            </a:pPr>
            <a:r>
              <a:rPr lang="en-GB"/>
              <a:t>Cross Discipline 4 (2M 2F)</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8bcdf249b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8bcdf249b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850376a521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850376a521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di-alliance.atlassian.net/wiki/spaces/DDI4/pages/2681667690/2021+Interoperability+for+Cross-Domain+Research+FAIR+Vocabularies" TargetMode="External"/><Relationship Id="rId4" Type="http://schemas.openxmlformats.org/officeDocument/2006/relationships/hyperlink" Target="https://conference.eresearch.edu.au/2022/08/vocabularies-across-domains-and-cross-domain-vocabularies-what-are-the-burning-issues-for-interdisciplinarity/" TargetMode="External"/><Relationship Id="rId5" Type="http://schemas.openxmlformats.org/officeDocument/2006/relationships/hyperlink" Target="https://ardc.edu.au/event/vocabulary-symposium-2022/" TargetMode="Externa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231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Vocabulary Symposium 2022:</a:t>
            </a:r>
            <a:endParaRPr/>
          </a:p>
          <a:p>
            <a:pPr indent="0" lvl="0" marL="0" rtl="0" algn="ctr">
              <a:spcBef>
                <a:spcPts val="0"/>
              </a:spcBef>
              <a:spcAft>
                <a:spcPts val="0"/>
              </a:spcAft>
              <a:buClr>
                <a:schemeClr val="dk1"/>
              </a:buClr>
              <a:buSzPts val="990"/>
              <a:buFont typeface="Arial"/>
              <a:buNone/>
            </a:pPr>
            <a:r>
              <a:rPr lang="en-GB"/>
              <a:t>Setting the Context</a:t>
            </a:r>
            <a:endParaRPr/>
          </a:p>
        </p:txBody>
      </p:sp>
      <p:pic>
        <p:nvPicPr>
          <p:cNvPr id="55" name="Google Shape;55;p13"/>
          <p:cNvPicPr preferRelativeResize="0"/>
          <p:nvPr/>
        </p:nvPicPr>
        <p:blipFill>
          <a:blip r:embed="rId3">
            <a:alphaModFix/>
          </a:blip>
          <a:stretch>
            <a:fillRect/>
          </a:stretch>
        </p:blipFill>
        <p:spPr>
          <a:xfrm>
            <a:off x="2181302" y="3608675"/>
            <a:ext cx="4781399" cy="969825"/>
          </a:xfrm>
          <a:prstGeom prst="rect">
            <a:avLst/>
          </a:prstGeom>
          <a:noFill/>
          <a:ln>
            <a:noFill/>
          </a:ln>
        </p:spPr>
      </p:pic>
      <p:sp>
        <p:nvSpPr>
          <p:cNvPr id="56" name="Google Shape;56;p13"/>
          <p:cNvSpPr txBox="1"/>
          <p:nvPr>
            <p:ph idx="1" type="subTitle"/>
          </p:nvPr>
        </p:nvSpPr>
        <p:spPr>
          <a:xfrm>
            <a:off x="253475" y="1975775"/>
            <a:ext cx="8520600" cy="14184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GB"/>
              <a:t>Assoc. Prof. Steve McEachern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GB"/>
              <a:t>Director, Australian Data Archive</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GB"/>
              <a:t>On behalf of the Symposium Sponsors and Organising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Welcome</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I would like to begin by acknowledging the Traditional Owners of the various lands that we are on today.</a:t>
            </a:r>
            <a:endParaRPr/>
          </a:p>
          <a:p>
            <a:pPr indent="0" lvl="0" marL="0" rtl="0" algn="l">
              <a:spcBef>
                <a:spcPts val="1200"/>
              </a:spcBef>
              <a:spcAft>
                <a:spcPts val="0"/>
              </a:spcAft>
              <a:buClr>
                <a:schemeClr val="dk1"/>
              </a:buClr>
              <a:buSzPts val="1100"/>
              <a:buFont typeface="Arial"/>
              <a:buNone/>
            </a:pPr>
            <a:r>
              <a:rPr lang="en-GB"/>
              <a:t>I am currently on the land of the Ngunnawal people, and I want to pay my respect to their Elders past, present, and emerging, and also of the other lands where participants at the workshop are present. </a:t>
            </a:r>
            <a:endParaRPr/>
          </a:p>
          <a:p>
            <a:pPr indent="0" lvl="0" marL="0" rtl="0" algn="l">
              <a:spcBef>
                <a:spcPts val="1200"/>
              </a:spcBef>
              <a:spcAft>
                <a:spcPts val="1200"/>
              </a:spcAft>
              <a:buNone/>
            </a:pPr>
            <a:r>
              <a:t/>
            </a:r>
            <a:endParaRPr/>
          </a:p>
        </p:txBody>
      </p:sp>
      <p:pic>
        <p:nvPicPr>
          <p:cNvPr id="63" name="Google Shape;63;p14"/>
          <p:cNvPicPr preferRelativeResize="0"/>
          <p:nvPr/>
        </p:nvPicPr>
        <p:blipFill>
          <a:blip r:embed="rId3">
            <a:alphaModFix/>
          </a:blip>
          <a:stretch>
            <a:fillRect/>
          </a:stretch>
        </p:blipFill>
        <p:spPr>
          <a:xfrm>
            <a:off x="475475" y="4568875"/>
            <a:ext cx="1899126" cy="385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Organisational partners &amp; representatives</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Australian Data Archive (ADA)</a:t>
            </a:r>
            <a:endParaRPr/>
          </a:p>
          <a:p>
            <a:pPr indent="-317500" lvl="1" marL="914400" rtl="0" algn="l">
              <a:spcBef>
                <a:spcPts val="0"/>
              </a:spcBef>
              <a:spcAft>
                <a:spcPts val="0"/>
              </a:spcAft>
              <a:buSzPts val="1400"/>
              <a:buChar char="○"/>
            </a:pPr>
            <a:r>
              <a:rPr lang="en-GB"/>
              <a:t>Steve McEachern</a:t>
            </a:r>
            <a:endParaRPr/>
          </a:p>
          <a:p>
            <a:pPr indent="-342900" lvl="0" marL="457200" rtl="0" algn="l">
              <a:spcBef>
                <a:spcPts val="0"/>
              </a:spcBef>
              <a:spcAft>
                <a:spcPts val="0"/>
              </a:spcAft>
              <a:buSzPts val="1800"/>
              <a:buChar char="●"/>
            </a:pPr>
            <a:r>
              <a:rPr lang="en-GB"/>
              <a:t>Australian Research Data Commons (ARDC)</a:t>
            </a:r>
            <a:endParaRPr/>
          </a:p>
          <a:p>
            <a:pPr indent="-317500" lvl="1" marL="914400" rtl="0" algn="l">
              <a:spcBef>
                <a:spcPts val="0"/>
              </a:spcBef>
              <a:spcAft>
                <a:spcPts val="0"/>
              </a:spcAft>
              <a:buSzPts val="1400"/>
              <a:buChar char="○"/>
            </a:pPr>
            <a:r>
              <a:rPr lang="en-GB"/>
              <a:t>Adrian Burton</a:t>
            </a:r>
            <a:endParaRPr/>
          </a:p>
          <a:p>
            <a:pPr indent="-342900" lvl="0" marL="457200" rtl="0" algn="l">
              <a:spcBef>
                <a:spcPts val="0"/>
              </a:spcBef>
              <a:spcAft>
                <a:spcPts val="0"/>
              </a:spcAft>
              <a:buSzPts val="1800"/>
              <a:buChar char="●"/>
            </a:pPr>
            <a:r>
              <a:rPr lang="en-GB"/>
              <a:t>CODATA</a:t>
            </a:r>
            <a:endParaRPr/>
          </a:p>
          <a:p>
            <a:pPr indent="-317500" lvl="1" marL="914400" rtl="0" algn="l">
              <a:spcBef>
                <a:spcPts val="0"/>
              </a:spcBef>
              <a:spcAft>
                <a:spcPts val="0"/>
              </a:spcAft>
              <a:buSzPts val="1400"/>
              <a:buChar char="○"/>
            </a:pPr>
            <a:r>
              <a:rPr lang="en-GB"/>
              <a:t>Simon Hodson</a:t>
            </a:r>
            <a:endParaRPr/>
          </a:p>
        </p:txBody>
      </p:sp>
      <p:pic>
        <p:nvPicPr>
          <p:cNvPr id="70" name="Google Shape;70;p15"/>
          <p:cNvPicPr preferRelativeResize="0"/>
          <p:nvPr/>
        </p:nvPicPr>
        <p:blipFill>
          <a:blip r:embed="rId3">
            <a:alphaModFix/>
          </a:blip>
          <a:stretch>
            <a:fillRect/>
          </a:stretch>
        </p:blipFill>
        <p:spPr>
          <a:xfrm>
            <a:off x="465775" y="4568875"/>
            <a:ext cx="1899126" cy="385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Welcome to country</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Paul House, ANU First Nations Portfolio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Local organising committee</a:t>
            </a:r>
            <a:endParaRPr/>
          </a:p>
        </p:txBody>
      </p:sp>
      <p:sp>
        <p:nvSpPr>
          <p:cNvPr id="82" name="Google Shape;82;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a:t>Organising Committee:</a:t>
            </a:r>
            <a:endParaRPr b="1"/>
          </a:p>
          <a:p>
            <a:pPr indent="0" lvl="0" marL="0" rtl="0" algn="l">
              <a:spcBef>
                <a:spcPts val="1200"/>
              </a:spcBef>
              <a:spcAft>
                <a:spcPts val="0"/>
              </a:spcAft>
              <a:buClr>
                <a:schemeClr val="dk1"/>
              </a:buClr>
              <a:buSzPts val="1100"/>
              <a:buFont typeface="Arial"/>
              <a:buNone/>
            </a:pPr>
            <a:r>
              <a:rPr lang="en-GB"/>
              <a:t>Lesley Wyborn - ARDC/NCI/AuScope</a:t>
            </a:r>
            <a:endParaRPr/>
          </a:p>
          <a:p>
            <a:pPr indent="0" lvl="0" marL="0" rtl="0" algn="l">
              <a:spcBef>
                <a:spcPts val="1200"/>
              </a:spcBef>
              <a:spcAft>
                <a:spcPts val="0"/>
              </a:spcAft>
              <a:buClr>
                <a:schemeClr val="dk1"/>
              </a:buClr>
              <a:buSzPts val="1100"/>
              <a:buFont typeface="Arial"/>
              <a:buNone/>
            </a:pPr>
            <a:r>
              <a:rPr lang="en-GB"/>
              <a:t>Megan Wong - Federation University</a:t>
            </a:r>
            <a:endParaRPr/>
          </a:p>
          <a:p>
            <a:pPr indent="0" lvl="0" marL="0" rtl="0" algn="l">
              <a:spcBef>
                <a:spcPts val="1200"/>
              </a:spcBef>
              <a:spcAft>
                <a:spcPts val="0"/>
              </a:spcAft>
              <a:buClr>
                <a:schemeClr val="dk1"/>
              </a:buClr>
              <a:buSzPts val="1100"/>
              <a:buFont typeface="Arial"/>
              <a:buNone/>
            </a:pPr>
            <a:r>
              <a:rPr lang="en-GB"/>
              <a:t>Steve McEachern - ANU/ADA/DDI/CODATA</a:t>
            </a:r>
            <a:endParaRPr/>
          </a:p>
          <a:p>
            <a:pPr indent="0" lvl="0" marL="0" rtl="0" algn="l">
              <a:spcBef>
                <a:spcPts val="1200"/>
              </a:spcBef>
              <a:spcAft>
                <a:spcPts val="0"/>
              </a:spcAft>
              <a:buClr>
                <a:schemeClr val="dk1"/>
              </a:buClr>
              <a:buSzPts val="1100"/>
              <a:buFont typeface="Arial"/>
              <a:buNone/>
            </a:pPr>
            <a:r>
              <a:rPr lang="en-GB"/>
              <a:t>Kheeran Dharmawardena - Cytrax</a:t>
            </a:r>
            <a:endParaRPr/>
          </a:p>
          <a:p>
            <a:pPr indent="0" lvl="0" marL="0" rtl="0" algn="l">
              <a:spcBef>
                <a:spcPts val="1200"/>
              </a:spcBef>
              <a:spcAft>
                <a:spcPts val="0"/>
              </a:spcAft>
              <a:buClr>
                <a:schemeClr val="dk1"/>
              </a:buClr>
              <a:buSzPts val="1100"/>
              <a:buFont typeface="Arial"/>
              <a:buNone/>
            </a:pPr>
            <a:r>
              <a:rPr lang="en-GB"/>
              <a:t>Simon Cox - CSIRO/CODATA</a:t>
            </a:r>
            <a:endParaRPr/>
          </a:p>
          <a:p>
            <a:pPr indent="0" lvl="0" marL="0" rtl="0" algn="l">
              <a:spcBef>
                <a:spcPts val="1200"/>
              </a:spcBef>
              <a:spcAft>
                <a:spcPts val="1200"/>
              </a:spcAft>
              <a:buClr>
                <a:schemeClr val="dk1"/>
              </a:buClr>
              <a:buSzPts val="1100"/>
              <a:buFont typeface="Arial"/>
              <a:buNone/>
            </a:pPr>
            <a:r>
              <a:rPr lang="en-GB"/>
              <a:t>Rowan Brownlee - ARDC</a:t>
            </a:r>
            <a:endParaRPr/>
          </a:p>
        </p:txBody>
      </p:sp>
      <p:pic>
        <p:nvPicPr>
          <p:cNvPr id="83" name="Google Shape;83;p17"/>
          <p:cNvPicPr preferRelativeResize="0"/>
          <p:nvPr/>
        </p:nvPicPr>
        <p:blipFill>
          <a:blip r:embed="rId3">
            <a:alphaModFix/>
          </a:blip>
          <a:stretch>
            <a:fillRect/>
          </a:stretch>
        </p:blipFill>
        <p:spPr>
          <a:xfrm>
            <a:off x="446375" y="4568875"/>
            <a:ext cx="1899126" cy="385200"/>
          </a:xfrm>
          <a:prstGeom prst="rect">
            <a:avLst/>
          </a:prstGeom>
          <a:noFill/>
          <a:ln>
            <a:noFill/>
          </a:ln>
        </p:spPr>
      </p:pic>
      <p:sp>
        <p:nvSpPr>
          <p:cNvPr id="84" name="Google Shape;84;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ANU logistics - ADA:</a:t>
            </a:r>
            <a:endParaRPr b="1"/>
          </a:p>
          <a:p>
            <a:pPr indent="0" lvl="0" marL="0" rtl="0" algn="l">
              <a:spcBef>
                <a:spcPts val="1200"/>
              </a:spcBef>
              <a:spcAft>
                <a:spcPts val="0"/>
              </a:spcAft>
              <a:buNone/>
            </a:pPr>
            <a:r>
              <a:rPr lang="en-GB"/>
              <a:t>Giverney Ainscough</a:t>
            </a:r>
            <a:endParaRPr/>
          </a:p>
          <a:p>
            <a:pPr indent="0" lvl="0" marL="0" rtl="0" algn="l">
              <a:spcBef>
                <a:spcPts val="1200"/>
              </a:spcBef>
              <a:spcAft>
                <a:spcPts val="0"/>
              </a:spcAft>
              <a:buNone/>
            </a:pPr>
            <a:r>
              <a:rPr lang="en-GB"/>
              <a:t>Keila da Silva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ADA staff: Heather Leasor, Janet McDougall, Tina Gregor, Weifan Jiang, Ryan Perry (online)</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Workshop history</a:t>
            </a:r>
            <a:endParaRPr/>
          </a:p>
        </p:txBody>
      </p:sp>
      <p:sp>
        <p:nvSpPr>
          <p:cNvPr id="90" name="Google Shape;90;p18"/>
          <p:cNvSpPr txBox="1"/>
          <p:nvPr>
            <p:ph idx="1" type="body"/>
          </p:nvPr>
        </p:nvSpPr>
        <p:spPr>
          <a:xfrm>
            <a:off x="311700" y="1115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highlight>
                  <a:schemeClr val="lt1"/>
                </a:highlight>
              </a:rPr>
              <a:t>2021</a:t>
            </a:r>
            <a:r>
              <a:rPr lang="en-GB" sz="1200">
                <a:highlight>
                  <a:schemeClr val="lt1"/>
                </a:highlight>
              </a:rPr>
              <a:t> - CODATA, DDI, ARDC supported workshop on the FAIR publication of vocabularies</a:t>
            </a:r>
            <a:r>
              <a:rPr lang="en-GB" sz="1200">
                <a:highlight>
                  <a:schemeClr val="lt1"/>
                </a:highlight>
              </a:rPr>
              <a:t> - </a:t>
            </a:r>
            <a:r>
              <a:rPr lang="en-GB" sz="1200">
                <a:solidFill>
                  <a:srgbClr val="666666"/>
                </a:solidFill>
                <a:highlight>
                  <a:srgbClr val="FFFFFF"/>
                </a:highlight>
              </a:rPr>
              <a:t>the main Outputs of the workshop are available from the Cross-Domain Research </a:t>
            </a:r>
            <a:r>
              <a:rPr lang="en-GB" sz="1200" u="sng">
                <a:solidFill>
                  <a:srgbClr val="0000FF"/>
                </a:solidFill>
                <a:highlight>
                  <a:srgbClr val="FFFFFF"/>
                </a:highlight>
                <a:hlinkClick r:id="rId3">
                  <a:extLst>
                    <a:ext uri="{A12FA001-AC4F-418D-AE19-62706E023703}">
                      <ahyp:hlinkClr val="tx"/>
                    </a:ext>
                  </a:extLst>
                </a:hlinkClick>
              </a:rPr>
              <a:t>FAIR Vocabularies workshop website</a:t>
            </a:r>
            <a:r>
              <a:rPr lang="en-GB" sz="1200">
                <a:solidFill>
                  <a:srgbClr val="0000FF"/>
                </a:solidFill>
                <a:highlight>
                  <a:srgbClr val="FFFFFF"/>
                </a:highlight>
              </a:rPr>
              <a:t>.</a:t>
            </a:r>
            <a:r>
              <a:rPr lang="en-GB" sz="1200">
                <a:solidFill>
                  <a:srgbClr val="666666"/>
                </a:solidFill>
                <a:highlight>
                  <a:srgbClr val="FFFFFF"/>
                </a:highlight>
              </a:rPr>
              <a:t> They focused on documenting a number of FAIRification case studies and a snapshot of key governance concerns for FAIR </a:t>
            </a:r>
            <a:r>
              <a:rPr lang="en-GB" sz="1200">
                <a:solidFill>
                  <a:srgbClr val="666666"/>
                </a:solidFill>
                <a:highlight>
                  <a:srgbClr val="FFFFFF"/>
                </a:highlight>
              </a:rPr>
              <a:t>vocabularies</a:t>
            </a:r>
            <a:endParaRPr sz="1200">
              <a:highlight>
                <a:schemeClr val="lt1"/>
              </a:highlight>
            </a:endParaRPr>
          </a:p>
          <a:p>
            <a:pPr indent="0" lvl="0" marL="0" rtl="0" algn="l">
              <a:spcBef>
                <a:spcPts val="1200"/>
              </a:spcBef>
              <a:spcAft>
                <a:spcPts val="0"/>
              </a:spcAft>
              <a:buNone/>
            </a:pPr>
            <a:r>
              <a:rPr b="1" lang="en-GB" sz="1200">
                <a:highlight>
                  <a:schemeClr val="lt1"/>
                </a:highlight>
              </a:rPr>
              <a:t>2022</a:t>
            </a:r>
            <a:r>
              <a:rPr lang="en-GB" sz="1200">
                <a:highlight>
                  <a:schemeClr val="lt1"/>
                </a:highlight>
              </a:rPr>
              <a:t> - eResearch Australasia BoF - </a:t>
            </a:r>
            <a:r>
              <a:rPr lang="en-GB" sz="1200" u="sng">
                <a:solidFill>
                  <a:srgbClr val="0000FF"/>
                </a:solidFill>
                <a:highlight>
                  <a:schemeClr val="lt1"/>
                </a:highlight>
                <a:hlinkClick r:id="rId4">
                  <a:extLst>
                    <a:ext uri="{A12FA001-AC4F-418D-AE19-62706E023703}">
                      <ahyp:hlinkClr val="tx"/>
                    </a:ext>
                  </a:extLst>
                </a:hlinkClick>
              </a:rPr>
              <a:t>Vocabularies Across Domains and Cross-Domain Vocabularies</a:t>
            </a:r>
            <a:r>
              <a:rPr lang="en-GB" sz="1200">
                <a:highlight>
                  <a:schemeClr val="lt1"/>
                </a:highlight>
              </a:rPr>
              <a:t> Participant contributions, focused on question -  “ what is the current vocabulary landscape” </a:t>
            </a:r>
            <a:endParaRPr sz="1200">
              <a:highlight>
                <a:schemeClr val="lt1"/>
              </a:highlight>
            </a:endParaRPr>
          </a:p>
          <a:p>
            <a:pPr indent="0" lvl="0" marL="0" rtl="0" algn="l">
              <a:spcBef>
                <a:spcPts val="1200"/>
              </a:spcBef>
              <a:spcAft>
                <a:spcPts val="0"/>
              </a:spcAft>
              <a:buNone/>
            </a:pPr>
            <a:r>
              <a:rPr b="1" lang="en-GB" sz="1200">
                <a:highlight>
                  <a:schemeClr val="lt1"/>
                </a:highlight>
              </a:rPr>
              <a:t>2022</a:t>
            </a:r>
            <a:r>
              <a:rPr lang="en-GB" sz="1200">
                <a:highlight>
                  <a:schemeClr val="lt1"/>
                </a:highlight>
              </a:rPr>
              <a:t> </a:t>
            </a:r>
            <a:r>
              <a:rPr lang="en-GB" sz="1200" u="sng">
                <a:solidFill>
                  <a:srgbClr val="0000FF"/>
                </a:solidFill>
                <a:highlight>
                  <a:schemeClr val="lt1"/>
                </a:highlight>
                <a:hlinkClick r:id="rId5">
                  <a:extLst>
                    <a:ext uri="{A12FA001-AC4F-418D-AE19-62706E023703}">
                      <ahyp:hlinkClr val="tx"/>
                    </a:ext>
                  </a:extLst>
                </a:hlinkClick>
              </a:rPr>
              <a:t>Open vocabulary symposium</a:t>
            </a:r>
            <a:r>
              <a:rPr lang="en-GB" sz="1200">
                <a:solidFill>
                  <a:srgbClr val="0000FF"/>
                </a:solidFill>
                <a:highlight>
                  <a:schemeClr val="lt1"/>
                </a:highlight>
              </a:rPr>
              <a:t> </a:t>
            </a:r>
            <a:r>
              <a:rPr lang="en-GB" sz="1200">
                <a:highlight>
                  <a:schemeClr val="lt1"/>
                </a:highlight>
              </a:rPr>
              <a:t>- Key notes, presentations, and posing a number of questions to participants on the current and ideal states for vocabulary use in domains and cross-domain vocabularies </a:t>
            </a:r>
            <a:endParaRPr sz="1200">
              <a:highlight>
                <a:schemeClr val="lt1"/>
              </a:highlight>
            </a:endParaRPr>
          </a:p>
          <a:p>
            <a:pPr indent="0" lvl="0" marL="0" rtl="0" algn="l">
              <a:spcBef>
                <a:spcPts val="1200"/>
              </a:spcBef>
              <a:spcAft>
                <a:spcPts val="1200"/>
              </a:spcAft>
              <a:buNone/>
            </a:pPr>
            <a:r>
              <a:t/>
            </a:r>
            <a:endParaRPr>
              <a:highlight>
                <a:schemeClr val="lt1"/>
              </a:highlight>
            </a:endParaRPr>
          </a:p>
        </p:txBody>
      </p:sp>
      <p:pic>
        <p:nvPicPr>
          <p:cNvPr id="91" name="Google Shape;91;p18"/>
          <p:cNvPicPr preferRelativeResize="0"/>
          <p:nvPr/>
        </p:nvPicPr>
        <p:blipFill>
          <a:blip r:embed="rId6">
            <a:alphaModFix/>
          </a:blip>
          <a:stretch>
            <a:fillRect/>
          </a:stretch>
        </p:blipFill>
        <p:spPr>
          <a:xfrm>
            <a:off x="465775" y="4568875"/>
            <a:ext cx="1899126" cy="38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Australian Vocabularies Symposium</a:t>
            </a:r>
            <a:endParaRPr/>
          </a:p>
        </p:txBody>
      </p:sp>
      <p:sp>
        <p:nvSpPr>
          <p:cNvPr id="97" name="Google Shape;97;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Day One: Understanding the present </a:t>
            </a:r>
            <a:endParaRPr b="1"/>
          </a:p>
          <a:p>
            <a:pPr indent="0" lvl="0" marL="0" rtl="0" algn="l">
              <a:spcBef>
                <a:spcPts val="1200"/>
              </a:spcBef>
              <a:spcAft>
                <a:spcPts val="0"/>
              </a:spcAft>
              <a:buNone/>
            </a:pPr>
            <a:r>
              <a:rPr i="1" lang="en-GB"/>
              <a:t>(10am - 4pm AEDT)</a:t>
            </a:r>
            <a:endParaRPr i="1"/>
          </a:p>
          <a:p>
            <a:pPr indent="0" lvl="0" marL="0" rtl="0" algn="l">
              <a:spcBef>
                <a:spcPts val="1200"/>
              </a:spcBef>
              <a:spcAft>
                <a:spcPts val="0"/>
              </a:spcAft>
              <a:buNone/>
            </a:pPr>
            <a:r>
              <a:rPr lang="en-GB"/>
              <a:t>Keynote: Adrian Burton, ARDC</a:t>
            </a:r>
            <a:endParaRPr/>
          </a:p>
          <a:p>
            <a:pPr indent="0" lvl="0" marL="0" rtl="0" algn="l">
              <a:spcBef>
                <a:spcPts val="1200"/>
              </a:spcBef>
              <a:spcAft>
                <a:spcPts val="0"/>
              </a:spcAft>
              <a:buNone/>
            </a:pPr>
            <a:r>
              <a:rPr lang="en-GB"/>
              <a:t>International vocabularies and services</a:t>
            </a:r>
            <a:endParaRPr/>
          </a:p>
          <a:p>
            <a:pPr indent="0" lvl="0" marL="0" rtl="0" algn="l">
              <a:spcBef>
                <a:spcPts val="1200"/>
              </a:spcBef>
              <a:spcAft>
                <a:spcPts val="0"/>
              </a:spcAft>
              <a:buNone/>
            </a:pPr>
            <a:r>
              <a:rPr lang="en-GB"/>
              <a:t>Vocabularies in Australia</a:t>
            </a:r>
            <a:endParaRPr/>
          </a:p>
          <a:p>
            <a:pPr indent="0" lvl="0" marL="0" rtl="0" algn="l">
              <a:spcBef>
                <a:spcPts val="1200"/>
              </a:spcBef>
              <a:spcAft>
                <a:spcPts val="1200"/>
              </a:spcAft>
              <a:buNone/>
            </a:pPr>
            <a:r>
              <a:rPr lang="en-GB"/>
              <a:t>Group discussion: Mapping the landscape</a:t>
            </a:r>
            <a:endParaRPr/>
          </a:p>
        </p:txBody>
      </p:sp>
      <p:sp>
        <p:nvSpPr>
          <p:cNvPr id="98" name="Google Shape;98;p19"/>
          <p:cNvSpPr txBox="1"/>
          <p:nvPr>
            <p:ph idx="2" type="body"/>
          </p:nvPr>
        </p:nvSpPr>
        <p:spPr>
          <a:xfrm>
            <a:off x="4832400" y="1152475"/>
            <a:ext cx="3999900" cy="334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Day Two: Imagining the future</a:t>
            </a:r>
            <a:endParaRPr b="1"/>
          </a:p>
          <a:p>
            <a:pPr indent="0" lvl="0" marL="0" rtl="0" algn="l">
              <a:spcBef>
                <a:spcPts val="1200"/>
              </a:spcBef>
              <a:spcAft>
                <a:spcPts val="0"/>
              </a:spcAft>
              <a:buClr>
                <a:schemeClr val="dk1"/>
              </a:buClr>
              <a:buSzPts val="1100"/>
              <a:buFont typeface="Arial"/>
              <a:buNone/>
            </a:pPr>
            <a:r>
              <a:rPr i="1" lang="en-GB"/>
              <a:t>(10am - 4pm AEDT)</a:t>
            </a:r>
            <a:endParaRPr b="1"/>
          </a:p>
          <a:p>
            <a:pPr indent="0" lvl="0" marL="0" rtl="0" algn="l">
              <a:spcBef>
                <a:spcPts val="1200"/>
              </a:spcBef>
              <a:spcAft>
                <a:spcPts val="0"/>
              </a:spcAft>
              <a:buNone/>
            </a:pPr>
            <a:r>
              <a:rPr lang="en-GB"/>
              <a:t>Keynote: Simon Hodson, CODATA</a:t>
            </a:r>
            <a:endParaRPr/>
          </a:p>
          <a:p>
            <a:pPr indent="0" lvl="0" marL="0" rtl="0" algn="l">
              <a:spcBef>
                <a:spcPts val="1200"/>
              </a:spcBef>
              <a:spcAft>
                <a:spcPts val="0"/>
              </a:spcAft>
              <a:buNone/>
            </a:pPr>
            <a:r>
              <a:rPr lang="en-GB"/>
              <a:t>Strategies, systems and tools: solutions for the discovery and re-use of trusted vocabularies within and across domains (Two sessions)</a:t>
            </a:r>
            <a:endParaRPr/>
          </a:p>
          <a:p>
            <a:pPr indent="0" lvl="0" marL="0" rtl="0" algn="l">
              <a:spcBef>
                <a:spcPts val="1200"/>
              </a:spcBef>
              <a:spcAft>
                <a:spcPts val="0"/>
              </a:spcAft>
              <a:buNone/>
            </a:pPr>
            <a:r>
              <a:rPr lang="en-GB"/>
              <a:t>Group discussion: Solutions for making vocabularies more useable</a:t>
            </a:r>
            <a:endParaRPr/>
          </a:p>
          <a:p>
            <a:pPr indent="0" lvl="0" marL="0" rtl="0" algn="l">
              <a:spcBef>
                <a:spcPts val="1200"/>
              </a:spcBef>
              <a:spcAft>
                <a:spcPts val="1200"/>
              </a:spcAft>
              <a:buNone/>
            </a:pPr>
            <a:r>
              <a:rPr lang="en-GB"/>
              <a:t>Where to next?</a:t>
            </a:r>
            <a:endParaRPr b="1"/>
          </a:p>
        </p:txBody>
      </p:sp>
      <p:pic>
        <p:nvPicPr>
          <p:cNvPr id="99" name="Google Shape;99;p19"/>
          <p:cNvPicPr preferRelativeResize="0"/>
          <p:nvPr/>
        </p:nvPicPr>
        <p:blipFill>
          <a:blip r:embed="rId3">
            <a:alphaModFix/>
          </a:blip>
          <a:stretch>
            <a:fillRect/>
          </a:stretch>
        </p:blipFill>
        <p:spPr>
          <a:xfrm>
            <a:off x="465775" y="4568875"/>
            <a:ext cx="1899126" cy="385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Invited </a:t>
            </a:r>
            <a:r>
              <a:rPr lang="en-GB"/>
              <a:t>Workshop - Wednesday to Friday</a:t>
            </a:r>
            <a:endParaRPr/>
          </a:p>
        </p:txBody>
      </p:sp>
      <p:sp>
        <p:nvSpPr>
          <p:cNvPr id="105" name="Google Shape;105;p20"/>
          <p:cNvSpPr txBox="1"/>
          <p:nvPr>
            <p:ph idx="1" type="body"/>
          </p:nvPr>
        </p:nvSpPr>
        <p:spPr>
          <a:xfrm>
            <a:off x="311700" y="1152475"/>
            <a:ext cx="8211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How do we develop a program to move from the current state of AU vocabularies toward a desired future state?</a:t>
            </a:r>
            <a:endParaRPr/>
          </a:p>
          <a:p>
            <a:pPr indent="0" lvl="0" marL="0" rtl="0" algn="l">
              <a:spcBef>
                <a:spcPts val="0"/>
              </a:spcBef>
              <a:spcAft>
                <a:spcPts val="0"/>
              </a:spcAft>
              <a:buClr>
                <a:schemeClr val="dk1"/>
              </a:buClr>
              <a:buSzPts val="1100"/>
              <a:buFont typeface="Arial"/>
              <a:buNone/>
            </a:pPr>
            <a:r>
              <a:t/>
            </a:r>
            <a:endParaRPr/>
          </a:p>
          <a:p>
            <a:pPr indent="-342900" lvl="0" marL="457200" rtl="0" algn="l">
              <a:spcBef>
                <a:spcPts val="0"/>
              </a:spcBef>
              <a:spcAft>
                <a:spcPts val="0"/>
              </a:spcAft>
              <a:buSzPts val="1800"/>
              <a:buChar char="●"/>
            </a:pPr>
            <a:r>
              <a:rPr lang="en-GB"/>
              <a:t>What is our current vocabulary landscape?</a:t>
            </a:r>
            <a:endParaRPr/>
          </a:p>
          <a:p>
            <a:pPr indent="-342900" lvl="0" marL="457200" rtl="0" algn="l">
              <a:spcBef>
                <a:spcPts val="0"/>
              </a:spcBef>
              <a:spcAft>
                <a:spcPts val="0"/>
              </a:spcAft>
              <a:buSzPts val="1800"/>
              <a:buChar char="●"/>
            </a:pPr>
            <a:r>
              <a:rPr lang="en-GB"/>
              <a:t>What are the requirements of an optimum future state?</a:t>
            </a:r>
            <a:endParaRPr/>
          </a:p>
          <a:p>
            <a:pPr indent="-342900" lvl="0" marL="457200" rtl="0" algn="l">
              <a:spcBef>
                <a:spcPts val="0"/>
              </a:spcBef>
              <a:spcAft>
                <a:spcPts val="0"/>
              </a:spcAft>
              <a:buSzPts val="1800"/>
              <a:buChar char="●"/>
            </a:pPr>
            <a:r>
              <a:rPr lang="en-GB"/>
              <a:t>How may we work towards a future state?</a:t>
            </a:r>
            <a:endParaRPr/>
          </a:p>
          <a:p>
            <a:pPr indent="-342900" lvl="0" marL="457200" rtl="0" algn="l">
              <a:spcBef>
                <a:spcPts val="0"/>
              </a:spcBef>
              <a:spcAft>
                <a:spcPts val="0"/>
              </a:spcAft>
              <a:buSzPts val="1800"/>
              <a:buChar char="●"/>
            </a:pPr>
            <a:r>
              <a:rPr lang="en-GB"/>
              <a:t>How may we achieve sustainability and longevity of critical services?</a:t>
            </a:r>
            <a:endParaRPr/>
          </a:p>
          <a:p>
            <a:pPr indent="0" lvl="0" marL="0" rtl="0" algn="l">
              <a:spcBef>
                <a:spcPts val="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465775" y="4568875"/>
            <a:ext cx="1899126" cy="385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3">
            <a:alphaModFix/>
          </a:blip>
          <a:stretch>
            <a:fillRect/>
          </a:stretch>
        </p:blipFill>
        <p:spPr>
          <a:xfrm>
            <a:off x="465775" y="4441750"/>
            <a:ext cx="2525874" cy="512325"/>
          </a:xfrm>
          <a:prstGeom prst="rect">
            <a:avLst/>
          </a:prstGeom>
          <a:noFill/>
          <a:ln>
            <a:noFill/>
          </a:ln>
        </p:spPr>
      </p:pic>
      <p:sp>
        <p:nvSpPr>
          <p:cNvPr id="112" name="Google Shape;112;p21"/>
          <p:cNvSpPr txBox="1"/>
          <p:nvPr>
            <p:ph idx="1" type="body"/>
          </p:nvPr>
        </p:nvSpPr>
        <p:spPr>
          <a:xfrm>
            <a:off x="0" y="939725"/>
            <a:ext cx="3415200" cy="28311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sz="3000">
                <a:solidFill>
                  <a:schemeClr val="dk1"/>
                </a:solidFill>
              </a:rPr>
              <a:t>Participants</a:t>
            </a:r>
            <a:br>
              <a:rPr lang="en-GB" sz="2300">
                <a:solidFill>
                  <a:schemeClr val="dk1"/>
                </a:solidFill>
              </a:rPr>
            </a:br>
            <a:endParaRPr sz="2300">
              <a:solidFill>
                <a:schemeClr val="dk1"/>
              </a:solidFill>
            </a:endParaRPr>
          </a:p>
          <a:p>
            <a:pPr indent="0" lvl="0" marL="0" rtl="0" algn="ctr">
              <a:spcBef>
                <a:spcPts val="1200"/>
              </a:spcBef>
              <a:spcAft>
                <a:spcPts val="0"/>
              </a:spcAft>
              <a:buNone/>
            </a:pPr>
            <a:r>
              <a:rPr lang="en-GB" sz="2300">
                <a:solidFill>
                  <a:schemeClr val="dk1"/>
                </a:solidFill>
              </a:rPr>
              <a:t>240 registered</a:t>
            </a:r>
            <a:endParaRPr sz="2300">
              <a:solidFill>
                <a:schemeClr val="dk1"/>
              </a:solidFill>
            </a:endParaRPr>
          </a:p>
          <a:p>
            <a:pPr indent="0" lvl="0" marL="0" rtl="0" algn="ctr">
              <a:spcBef>
                <a:spcPts val="1200"/>
              </a:spcBef>
              <a:spcAft>
                <a:spcPts val="0"/>
              </a:spcAft>
              <a:buNone/>
            </a:pPr>
            <a:r>
              <a:rPr lang="en-GB" sz="2300">
                <a:solidFill>
                  <a:schemeClr val="dk1"/>
                </a:solidFill>
              </a:rPr>
              <a:t>(plus last-minute additions :-)</a:t>
            </a:r>
            <a:endParaRPr sz="2300">
              <a:solidFill>
                <a:schemeClr val="dk1"/>
              </a:solidFill>
            </a:endParaRPr>
          </a:p>
          <a:p>
            <a:pPr indent="0" lvl="0" marL="0" rtl="0" algn="ctr">
              <a:lnSpc>
                <a:spcPct val="100000"/>
              </a:lnSpc>
              <a:spcBef>
                <a:spcPts val="1200"/>
              </a:spcBef>
              <a:spcAft>
                <a:spcPts val="0"/>
              </a:spcAft>
              <a:buNone/>
            </a:pPr>
            <a:r>
              <a:t/>
            </a:r>
            <a:endParaRPr sz="1700"/>
          </a:p>
          <a:p>
            <a:pPr indent="0" lvl="0" marL="0" rtl="0" algn="ctr">
              <a:lnSpc>
                <a:spcPct val="100000"/>
              </a:lnSpc>
              <a:spcBef>
                <a:spcPts val="0"/>
              </a:spcBef>
              <a:spcAft>
                <a:spcPts val="0"/>
              </a:spcAft>
              <a:buNone/>
            </a:pPr>
            <a:r>
              <a:rPr lang="en-GB" sz="1700"/>
              <a:t>59 in-person</a:t>
            </a:r>
            <a:endParaRPr sz="1700"/>
          </a:p>
          <a:p>
            <a:pPr indent="0" lvl="0" marL="0" rtl="0" algn="ctr">
              <a:lnSpc>
                <a:spcPct val="100000"/>
              </a:lnSpc>
              <a:spcBef>
                <a:spcPts val="0"/>
              </a:spcBef>
              <a:spcAft>
                <a:spcPts val="0"/>
              </a:spcAft>
              <a:buNone/>
            </a:pPr>
            <a:r>
              <a:t/>
            </a:r>
            <a:endParaRPr sz="1700"/>
          </a:p>
          <a:p>
            <a:pPr indent="0" lvl="0" marL="0" rtl="0" algn="ctr">
              <a:lnSpc>
                <a:spcPct val="100000"/>
              </a:lnSpc>
              <a:spcBef>
                <a:spcPts val="0"/>
              </a:spcBef>
              <a:spcAft>
                <a:spcPts val="0"/>
              </a:spcAft>
              <a:buNone/>
            </a:pPr>
            <a:r>
              <a:rPr lang="en-GB" sz="1700"/>
              <a:t>181 online</a:t>
            </a:r>
            <a:endParaRPr sz="1700"/>
          </a:p>
          <a:p>
            <a:pPr indent="0" lvl="0" marL="0" rtl="0" algn="ctr">
              <a:lnSpc>
                <a:spcPct val="100000"/>
              </a:lnSpc>
              <a:spcBef>
                <a:spcPts val="0"/>
              </a:spcBef>
              <a:spcAft>
                <a:spcPts val="0"/>
              </a:spcAft>
              <a:buNone/>
            </a:pPr>
            <a:r>
              <a:t/>
            </a:r>
            <a:endParaRPr sz="1700"/>
          </a:p>
        </p:txBody>
      </p:sp>
      <p:pic>
        <p:nvPicPr>
          <p:cNvPr id="113" name="Google Shape;113;p21"/>
          <p:cNvPicPr preferRelativeResize="0"/>
          <p:nvPr/>
        </p:nvPicPr>
        <p:blipFill rotWithShape="1">
          <a:blip r:embed="rId4">
            <a:alphaModFix/>
          </a:blip>
          <a:srcRect b="0" l="6682" r="9781" t="0"/>
          <a:stretch/>
        </p:blipFill>
        <p:spPr>
          <a:xfrm>
            <a:off x="3415200" y="0"/>
            <a:ext cx="5728799"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ctrTitle"/>
          </p:nvPr>
        </p:nvSpPr>
        <p:spPr>
          <a:xfrm>
            <a:off x="311708" y="744575"/>
            <a:ext cx="8520600" cy="20526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GB" sz="2700">
                <a:solidFill>
                  <a:schemeClr val="dk2"/>
                </a:solidFill>
              </a:rPr>
              <a:t>Keynote One: </a:t>
            </a:r>
            <a:endParaRPr b="1" sz="2700">
              <a:solidFill>
                <a:schemeClr val="dk2"/>
              </a:solidFill>
            </a:endParaRPr>
          </a:p>
          <a:p>
            <a:pPr indent="0" lvl="0" marL="0" rtl="0" algn="ctr">
              <a:lnSpc>
                <a:spcPct val="115000"/>
              </a:lnSpc>
              <a:spcBef>
                <a:spcPts val="1200"/>
              </a:spcBef>
              <a:spcAft>
                <a:spcPts val="1200"/>
              </a:spcAft>
              <a:buNone/>
            </a:pPr>
            <a:r>
              <a:rPr b="1" lang="en-GB" sz="2700">
                <a:solidFill>
                  <a:schemeClr val="dk2"/>
                </a:solidFill>
              </a:rPr>
              <a:t>Data Commons: Knowledge infrastructure to support impactful research</a:t>
            </a:r>
            <a:endParaRPr b="1" sz="6100"/>
          </a:p>
        </p:txBody>
      </p:sp>
      <p:sp>
        <p:nvSpPr>
          <p:cNvPr id="119" name="Google Shape;119;p22"/>
          <p:cNvSpPr txBox="1"/>
          <p:nvPr>
            <p:ph idx="1" type="subTitle"/>
          </p:nvPr>
        </p:nvSpPr>
        <p:spPr>
          <a:xfrm>
            <a:off x="311700" y="2834125"/>
            <a:ext cx="8520600" cy="17646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Clr>
                <a:schemeClr val="dk1"/>
              </a:buClr>
              <a:buSzPct val="39285"/>
              <a:buFont typeface="Arial"/>
              <a:buNone/>
            </a:pPr>
            <a:r>
              <a:rPr b="1" lang="en-GB"/>
              <a:t>Dr Adrian Burton</a:t>
            </a:r>
            <a:endParaRPr b="1"/>
          </a:p>
          <a:p>
            <a:pPr indent="0" lvl="0" marL="0" rtl="0" algn="ctr">
              <a:spcBef>
                <a:spcPts val="0"/>
              </a:spcBef>
              <a:spcAft>
                <a:spcPts val="0"/>
              </a:spcAft>
              <a:buNone/>
            </a:pPr>
            <a:r>
              <a:rPr lang="en-GB"/>
              <a:t>Director, Data, Policy, and Services</a:t>
            </a:r>
            <a:endParaRPr/>
          </a:p>
          <a:p>
            <a:pPr indent="0" lvl="0" marL="0" rtl="0" algn="ctr">
              <a:spcBef>
                <a:spcPts val="0"/>
              </a:spcBef>
              <a:spcAft>
                <a:spcPts val="0"/>
              </a:spcAft>
              <a:buNone/>
            </a:pPr>
            <a:r>
              <a:rPr lang="en-GB"/>
              <a:t>Australian Research Data Commons</a:t>
            </a:r>
            <a:endParaRPr/>
          </a:p>
          <a:p>
            <a:pPr indent="0" lvl="0" marL="0" rtl="0" algn="ctr">
              <a:spcBef>
                <a:spcPts val="0"/>
              </a:spcBef>
              <a:spcAft>
                <a:spcPts val="0"/>
              </a:spcAft>
              <a:buNone/>
            </a:pPr>
            <a:r>
              <a:t/>
            </a:r>
            <a:endParaRPr/>
          </a:p>
        </p:txBody>
      </p:sp>
      <p:pic>
        <p:nvPicPr>
          <p:cNvPr id="120" name="Google Shape;120;p22"/>
          <p:cNvPicPr preferRelativeResize="0"/>
          <p:nvPr/>
        </p:nvPicPr>
        <p:blipFill>
          <a:blip r:embed="rId3">
            <a:alphaModFix/>
          </a:blip>
          <a:stretch>
            <a:fillRect/>
          </a:stretch>
        </p:blipFill>
        <p:spPr>
          <a:xfrm>
            <a:off x="465775" y="4568875"/>
            <a:ext cx="1899126" cy="38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Workshop structure </a:t>
            </a:r>
            <a:endParaRPr/>
          </a:p>
        </p:txBody>
      </p:sp>
      <p:sp>
        <p:nvSpPr>
          <p:cNvPr id="126" name="Google Shape;126;p23"/>
          <p:cNvSpPr txBox="1"/>
          <p:nvPr>
            <p:ph idx="1" type="body"/>
          </p:nvPr>
        </p:nvSpPr>
        <p:spPr>
          <a:xfrm>
            <a:off x="311700" y="1152475"/>
            <a:ext cx="4009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t>Day 1: Wednesday 16</a:t>
            </a:r>
            <a:r>
              <a:rPr b="1" baseline="30000" lang="en-GB" sz="1400"/>
              <a:t>th</a:t>
            </a:r>
            <a:r>
              <a:rPr b="1" lang="en-GB" sz="1400"/>
              <a:t> November</a:t>
            </a:r>
            <a:br>
              <a:rPr lang="en-GB"/>
            </a:br>
            <a:r>
              <a:rPr lang="en-GB" sz="1400">
                <a:solidFill>
                  <a:srgbClr val="4A86E8"/>
                </a:solidFill>
              </a:rPr>
              <a:t>Context Setting and Mapping the Current Landscape</a:t>
            </a:r>
            <a:endParaRPr sz="900">
              <a:solidFill>
                <a:srgbClr val="4A86E8"/>
              </a:solidFill>
            </a:endParaRPr>
          </a:p>
          <a:p>
            <a:pPr indent="0" lvl="0" marL="0" rtl="0" algn="l">
              <a:spcBef>
                <a:spcPts val="1200"/>
              </a:spcBef>
              <a:spcAft>
                <a:spcPts val="0"/>
              </a:spcAft>
              <a:buNone/>
            </a:pPr>
            <a:r>
              <a:rPr b="1" lang="en-GB" sz="1400"/>
              <a:t>Day 2: Thursday 17</a:t>
            </a:r>
            <a:r>
              <a:rPr b="1" baseline="30000" lang="en-GB" sz="1400"/>
              <a:t>th</a:t>
            </a:r>
            <a:r>
              <a:rPr b="1" lang="en-GB" sz="1400"/>
              <a:t> November</a:t>
            </a:r>
            <a:br>
              <a:rPr lang="en-GB"/>
            </a:br>
            <a:r>
              <a:rPr lang="en-GB" sz="1400">
                <a:solidFill>
                  <a:srgbClr val="4A86E8"/>
                </a:solidFill>
              </a:rPr>
              <a:t>Guidance and Governance of Cross Domain Vocabularies</a:t>
            </a:r>
            <a:endParaRPr sz="1400">
              <a:solidFill>
                <a:srgbClr val="4A86E8"/>
              </a:solidFill>
            </a:endParaRPr>
          </a:p>
          <a:p>
            <a:pPr indent="0" lvl="0" marL="0" rtl="0" algn="l">
              <a:spcBef>
                <a:spcPts val="1200"/>
              </a:spcBef>
              <a:spcAft>
                <a:spcPts val="1200"/>
              </a:spcAft>
              <a:buNone/>
            </a:pPr>
            <a:r>
              <a:rPr b="1" lang="en-GB" sz="1400"/>
              <a:t>Day 3: Friday 18</a:t>
            </a:r>
            <a:r>
              <a:rPr b="1" baseline="30000" lang="en-GB" sz="1400"/>
              <a:t>th</a:t>
            </a:r>
            <a:r>
              <a:rPr b="1" lang="en-GB" sz="1400"/>
              <a:t> November</a:t>
            </a:r>
            <a:br>
              <a:rPr lang="en-GB"/>
            </a:br>
            <a:r>
              <a:rPr lang="en-GB" sz="1400">
                <a:solidFill>
                  <a:srgbClr val="4A86E8"/>
                </a:solidFill>
              </a:rPr>
              <a:t>The Path Forward</a:t>
            </a:r>
            <a:endParaRPr sz="1400">
              <a:solidFill>
                <a:srgbClr val="4A86E8"/>
              </a:solidFill>
            </a:endParaRPr>
          </a:p>
        </p:txBody>
      </p:sp>
      <p:sp>
        <p:nvSpPr>
          <p:cNvPr id="127" name="Google Shape;127;p23"/>
          <p:cNvSpPr txBox="1"/>
          <p:nvPr>
            <p:ph idx="1" type="body"/>
          </p:nvPr>
        </p:nvSpPr>
        <p:spPr>
          <a:xfrm>
            <a:off x="4366050" y="1152475"/>
            <a:ext cx="4009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t>Day 1 &amp; 2: 10am to 4:30pm</a:t>
            </a:r>
            <a:endParaRPr sz="1400"/>
          </a:p>
          <a:p>
            <a:pPr indent="0" lvl="0" marL="0" rtl="0" algn="l">
              <a:spcBef>
                <a:spcPts val="1200"/>
              </a:spcBef>
              <a:spcAft>
                <a:spcPts val="0"/>
              </a:spcAft>
              <a:buNone/>
            </a:pPr>
            <a:r>
              <a:rPr lang="en-GB" sz="1400"/>
              <a:t>Day 3: 10am - 1:30pm </a:t>
            </a:r>
            <a:br>
              <a:rPr lang="en-GB" sz="1400"/>
            </a:br>
            <a:r>
              <a:rPr lang="en-GB" sz="1000"/>
              <a:t>(with lunch at 1:30-2:30 pm)</a:t>
            </a:r>
            <a:endParaRPr sz="1000"/>
          </a:p>
          <a:p>
            <a:pPr indent="0" lvl="0" marL="0" rtl="0" algn="l">
              <a:spcBef>
                <a:spcPts val="1200"/>
              </a:spcBef>
              <a:spcAft>
                <a:spcPts val="0"/>
              </a:spcAft>
              <a:buNone/>
            </a:pPr>
            <a:r>
              <a:rPr lang="en-GB" sz="1400"/>
              <a:t>Roughly 8 sessions each day</a:t>
            </a:r>
            <a:endParaRPr sz="1400"/>
          </a:p>
          <a:p>
            <a:pPr indent="0" lvl="0" marL="0" rtl="0" algn="l">
              <a:spcBef>
                <a:spcPts val="1200"/>
              </a:spcBef>
              <a:spcAft>
                <a:spcPts val="1200"/>
              </a:spcAft>
              <a:buNone/>
            </a:pPr>
            <a:r>
              <a:rPr lang="en-GB" sz="1400"/>
              <a:t>Its a hands on workshop</a:t>
            </a:r>
            <a:endParaRPr sz="1400"/>
          </a:p>
        </p:txBody>
      </p:sp>
      <p:pic>
        <p:nvPicPr>
          <p:cNvPr id="128" name="Google Shape;128;p23"/>
          <p:cNvPicPr preferRelativeResize="0"/>
          <p:nvPr/>
        </p:nvPicPr>
        <p:blipFill>
          <a:blip r:embed="rId3">
            <a:alphaModFix/>
          </a:blip>
          <a:stretch>
            <a:fillRect/>
          </a:stretch>
        </p:blipFill>
        <p:spPr>
          <a:xfrm>
            <a:off x="465775" y="4640875"/>
            <a:ext cx="1899126" cy="385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