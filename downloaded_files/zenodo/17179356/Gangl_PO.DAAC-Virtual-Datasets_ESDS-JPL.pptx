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7010400" cy="9296400"/>
  <p:embeddedFontLst>
    <p:embeddedFont>
      <p:font typeface="Public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34ZlBAfSdaOlrVT4s4OnlobmB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ublicSans-bold.fntdata"/><Relationship Id="rId14" Type="http://schemas.openxmlformats.org/officeDocument/2006/relationships/font" Target="fonts/PublicSans-regular.fntdata"/><Relationship Id="rId17" Type="http://schemas.openxmlformats.org/officeDocument/2006/relationships/font" Target="fonts/PublicSans-boldItalic.fntdata"/><Relationship Id="rId16" Type="http://schemas.openxmlformats.org/officeDocument/2006/relationships/font" Target="fonts/Public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Many users have small, hummingbird bellies and cannot eat too much at once (disk space, processing)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They float around only taking bits and pieces from the right flower, not the entire bush (dataset)</a:t>
            </a:r>
            <a:endParaRPr/>
          </a:p>
        </p:txBody>
      </p:sp>
      <p:sp>
        <p:nvSpPr>
          <p:cNvPr id="206" name="Google Shape;20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3275" lIns="93275" spcFirstLastPara="1" rIns="93275" wrap="square" tIns="93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And More: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Reduce data egress (e.g. don’t just download a ton of data that isn’t usable)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Infuse into AI and discovery- plot datasets and compare them for regions of interest in real time for user education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Infuse into other tools for visual ‘charting’- e.g. Worldview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3275" lIns="93275" spcFirstLastPara="1" rIns="93275" wrap="square" tIns="93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Horz Image">
  <p:cSld name="Cover_Horz Imag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>
            <p:ph idx="2" type="pic"/>
          </p:nvPr>
        </p:nvSpPr>
        <p:spPr>
          <a:xfrm>
            <a:off x="0" y="0"/>
            <a:ext cx="9144000" cy="446583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" name="Google Shape;19;p10"/>
          <p:cNvSpPr txBox="1"/>
          <p:nvPr>
            <p:ph idx="3" type="body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4" type="body"/>
          </p:nvPr>
        </p:nvSpPr>
        <p:spPr>
          <a:xfrm>
            <a:off x="369199" y="5853545"/>
            <a:ext cx="4964801" cy="6657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5" type="body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Tribrand_ColorBlack_rgb_16x3_160601.png" id="22" name="Google Shape;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7568" y="5833872"/>
            <a:ext cx="2925483" cy="812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369198" y="6457847"/>
            <a:ext cx="4964802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A0C2F"/>
                </a:solidFill>
                <a:latin typeface="Arial"/>
                <a:ea typeface="Arial"/>
                <a:cs typeface="Arial"/>
                <a:sym typeface="Arial"/>
              </a:rPr>
              <a:t>© 2025 California Institute of Technology. Government sponsorship acknowledged.</a:t>
            </a:r>
            <a:endParaRPr b="0" i="0" sz="1000" u="none" cap="none" strike="noStrike">
              <a:solidFill>
                <a:srgbClr val="BA0C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0"/>
          <p:cNvSpPr txBox="1"/>
          <p:nvPr/>
        </p:nvSpPr>
        <p:spPr>
          <a:xfrm>
            <a:off x="1871186" y="6457847"/>
            <a:ext cx="54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0C2F"/>
                </a:solidFill>
                <a:latin typeface="Arial"/>
                <a:ea typeface="Arial"/>
                <a:cs typeface="Arial"/>
                <a:sym typeface="Arial"/>
              </a:rPr>
              <a:t>© 2025 California Institute of Technology. Government sponsorship acknowledged.</a:t>
            </a:r>
            <a:endParaRPr b="0" i="0" sz="1100" u="none" cap="none" strike="noStrike">
              <a:solidFill>
                <a:srgbClr val="BA0C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Example">
  <p:cSld name="Chart Examp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628650" y="454819"/>
            <a:ext cx="7886700" cy="1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36195" y="6149657"/>
            <a:ext cx="323700" cy="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1"/>
          <p:cNvSpPr/>
          <p:nvPr>
            <p:ph idx="2" type="chart"/>
          </p:nvPr>
        </p:nvSpPr>
        <p:spPr>
          <a:xfrm>
            <a:off x="628650" y="1828800"/>
            <a:ext cx="7886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472775" y="5991227"/>
            <a:ext cx="5042400" cy="7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457200" y="149734"/>
            <a:ext cx="8229601" cy="2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57199" y="1600198"/>
            <a:ext cx="8229601" cy="4525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14"/>
          <p:cNvCxnSpPr/>
          <p:nvPr/>
        </p:nvCxnSpPr>
        <p:spPr>
          <a:xfrm>
            <a:off x="2276323" y="3654169"/>
            <a:ext cx="4581678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14"/>
          <p:cNvSpPr txBox="1"/>
          <p:nvPr/>
        </p:nvSpPr>
        <p:spPr>
          <a:xfrm>
            <a:off x="1" y="3863419"/>
            <a:ext cx="9144000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brand_ColorBlack_rgb_16x3_160601.png" id="47" name="Google Shape;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6856" y="2377440"/>
            <a:ext cx="4581144" cy="127254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Char char="•"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457200" y="149733"/>
            <a:ext cx="8229601" cy="26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2" type="body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3" type="body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4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5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6"/>
          <p:cNvSpPr txBox="1"/>
          <p:nvPr>
            <p:ph idx="6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6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ly">
  <p:cSld name="Content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57200" y="149734"/>
            <a:ext cx="8229601" cy="2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57199" y="1600198"/>
            <a:ext cx="8229601" cy="4525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No Image">
  <p:cSld name="Cover_No Imag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b="1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3" type="body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4" type="body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Tribrand_ColorBlack_rgb_16x3_160601.png" id="79" name="Google Shape;7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" y="1956816"/>
            <a:ext cx="3337560" cy="927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912341" y="6457847"/>
            <a:ext cx="742237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Vert Image">
  <p:cSld name="Cover_Vert Imag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>
            <p:ph idx="2" type="pic"/>
          </p:nvPr>
        </p:nvSpPr>
        <p:spPr>
          <a:xfrm>
            <a:off x="0" y="0"/>
            <a:ext cx="557645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9"/>
          <p:cNvSpPr txBox="1"/>
          <p:nvPr>
            <p:ph idx="3" type="body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4" type="body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descr="Tribrand_ColorBlack_rgb_16x3_160601.png" id="86" name="Google Shape;8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7568" y="5367528"/>
            <a:ext cx="2925483" cy="81263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5687568" y="6457847"/>
            <a:ext cx="334757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457200" y="149733"/>
            <a:ext cx="8229601" cy="26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2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0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57200" y="149733"/>
            <a:ext cx="8229601" cy="26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57200" y="1599449"/>
            <a:ext cx="4038600" cy="452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3" type="body"/>
          </p:nvPr>
        </p:nvSpPr>
        <p:spPr>
          <a:xfrm>
            <a:off x="4648200" y="1599449"/>
            <a:ext cx="4038600" cy="4526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4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1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457200" y="149733"/>
            <a:ext cx="8229601" cy="26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3" type="body"/>
          </p:nvPr>
        </p:nvSpPr>
        <p:spPr>
          <a:xfrm>
            <a:off x="3575050" y="1596524"/>
            <a:ext cx="5111750" cy="4405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22"/>
          <p:cNvSpPr txBox="1"/>
          <p:nvPr>
            <p:ph idx="4" type="body"/>
          </p:nvPr>
        </p:nvSpPr>
        <p:spPr>
          <a:xfrm>
            <a:off x="457200" y="2758573"/>
            <a:ext cx="3008313" cy="3243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2" name="Google Shape;112;p22"/>
          <p:cNvSpPr txBox="1"/>
          <p:nvPr>
            <p:ph idx="5" type="body"/>
          </p:nvPr>
        </p:nvSpPr>
        <p:spPr>
          <a:xfrm>
            <a:off x="457200" y="1596524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22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2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0" y="149733"/>
            <a:ext cx="8229601" cy="261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2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3"/>
          <p:cNvSpPr/>
          <p:nvPr>
            <p:ph idx="3" type="pic"/>
          </p:nvPr>
        </p:nvSpPr>
        <p:spPr>
          <a:xfrm>
            <a:off x="1792288" y="1590842"/>
            <a:ext cx="5486400" cy="338396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4" type="body"/>
          </p:nvPr>
        </p:nvSpPr>
        <p:spPr>
          <a:xfrm>
            <a:off x="1792288" y="5614565"/>
            <a:ext cx="5486400" cy="52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p23"/>
          <p:cNvSpPr txBox="1"/>
          <p:nvPr>
            <p:ph idx="5" type="body"/>
          </p:nvPr>
        </p:nvSpPr>
        <p:spPr>
          <a:xfrm>
            <a:off x="1792288" y="4974802"/>
            <a:ext cx="5486400" cy="631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3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lack Strip">
  <p:cSld name="Title, Subtitle and Black Strip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57200" y="149734"/>
            <a:ext cx="8229601" cy="2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/>
          <p:nvPr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>
            <p:ph idx="2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Light Strip">
  <p:cSld name="Title, Subtitle and Light Strip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/>
          <p:nvPr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457200" y="149734"/>
            <a:ext cx="8229601" cy="2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2" type="body"/>
          </p:nvPr>
        </p:nvSpPr>
        <p:spPr>
          <a:xfrm>
            <a:off x="457199" y="890176"/>
            <a:ext cx="8229601" cy="426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Font typeface="Arial"/>
              <a:buNone/>
              <a:defRPr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>
  <p:cSld name="Footer 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58107" y="2537619"/>
            <a:ext cx="8227786" cy="178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7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Gray">
  <p:cSld name="Section Header_Gray">
    <p:bg>
      <p:bgPr>
        <a:solidFill>
          <a:srgbClr val="A5A5A5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458107" y="2537619"/>
            <a:ext cx="8227786" cy="178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7F7F7F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8"/>
          <p:cNvSpPr txBox="1"/>
          <p:nvPr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2">
  <p:cSld name="Closing Slide 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brand_ColorBlack_rgb_16x3_160601.png"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1428" y="2792730"/>
            <a:ext cx="4581144" cy="12725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7F7F7F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9"/>
          <p:cNvSpPr txBox="1"/>
          <p:nvPr/>
        </p:nvSpPr>
        <p:spPr>
          <a:xfrm>
            <a:off x="1871186" y="6457847"/>
            <a:ext cx="54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A0C2F"/>
                </a:solidFill>
                <a:latin typeface="Arial"/>
                <a:ea typeface="Arial"/>
                <a:cs typeface="Arial"/>
                <a:sym typeface="Arial"/>
              </a:rPr>
              <a:t>© 2025 California Institute of Technology. Government sponsorship acknowledged.</a:t>
            </a:r>
            <a:endParaRPr b="0" i="0" sz="1100" u="none" cap="none" strike="noStrike">
              <a:solidFill>
                <a:srgbClr val="BA0C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hyperlink" Target="mailto:michael.e.gangl@jpl.nasa.gov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image" Target="../media/image13.jp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podaac/virtualzarr-gen" TargetMode="External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odaac.github.io/tutorials/quarto_text/UsingVirtualDatasets.html" TargetMode="External"/><Relationship Id="rId4" Type="http://schemas.openxmlformats.org/officeDocument/2006/relationships/hyperlink" Target="https://github.com/podaac/virtualzarr-ge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oto-2015-03-12-085758 - D2015_0302_D370_CMSalt2.jpg" id="176" name="Google Shape;17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46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"/>
          <p:cNvSpPr txBox="1"/>
          <p:nvPr>
            <p:ph idx="1" type="body"/>
          </p:nvPr>
        </p:nvSpPr>
        <p:spPr>
          <a:xfrm>
            <a:off x="369198" y="4509534"/>
            <a:ext cx="8436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PO.DAAC Virtual Datasets</a:t>
            </a:r>
            <a:endParaRPr sz="2600"/>
          </a:p>
        </p:txBody>
      </p:sp>
      <p:sp>
        <p:nvSpPr>
          <p:cNvPr id="178" name="Google Shape;178;p1"/>
          <p:cNvSpPr txBox="1"/>
          <p:nvPr/>
        </p:nvSpPr>
        <p:spPr>
          <a:xfrm>
            <a:off x="1336842" y="-77536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>
            <p:ph idx="3" type="body"/>
          </p:nvPr>
        </p:nvSpPr>
        <p:spPr>
          <a:xfrm>
            <a:off x="462073" y="5346099"/>
            <a:ext cx="84360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Michael Gangl, Jet Propulsion Laboratory, California Institute of Technology (</a:t>
            </a:r>
            <a:r>
              <a:rPr lang="en-US" u="sng">
                <a:solidFill>
                  <a:schemeClr val="hlink"/>
                </a:solidFill>
                <a:hlinkClick r:id="rId4"/>
              </a:rPr>
              <a:t>michael.e.gangl@jpl.nasa.gov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 txBox="1"/>
          <p:nvPr>
            <p:ph type="title"/>
          </p:nvPr>
        </p:nvSpPr>
        <p:spPr>
          <a:xfrm>
            <a:off x="628650" y="119836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Earth Science Data Archive</a:t>
            </a:r>
            <a:br>
              <a:rPr lang="en-US"/>
            </a:br>
            <a:r>
              <a:rPr lang="en-US"/>
              <a:t>Projected Growth</a:t>
            </a:r>
            <a:endParaRPr/>
          </a:p>
        </p:txBody>
      </p:sp>
      <p:cxnSp>
        <p:nvCxnSpPr>
          <p:cNvPr id="185" name="Google Shape;185;p2"/>
          <p:cNvCxnSpPr/>
          <p:nvPr/>
        </p:nvCxnSpPr>
        <p:spPr>
          <a:xfrm rot="10800000">
            <a:off x="1502465" y="3246908"/>
            <a:ext cx="5478000" cy="11100"/>
          </a:xfrm>
          <a:prstGeom prst="straightConnector1">
            <a:avLst/>
          </a:prstGeom>
          <a:noFill/>
          <a:ln cap="flat" cmpd="sng" w="19050">
            <a:solidFill>
              <a:srgbClr val="C5C5C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2"/>
          <p:cNvCxnSpPr/>
          <p:nvPr/>
        </p:nvCxnSpPr>
        <p:spPr>
          <a:xfrm rot="10800000">
            <a:off x="1502678" y="4064273"/>
            <a:ext cx="4171500" cy="0"/>
          </a:xfrm>
          <a:prstGeom prst="straightConnector1">
            <a:avLst/>
          </a:prstGeom>
          <a:noFill/>
          <a:ln cap="flat" cmpd="sng" w="19050">
            <a:solidFill>
              <a:srgbClr val="C5C5C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7" name="Google Shape;1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909" y="2393381"/>
            <a:ext cx="6307353" cy="250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0908" y="3272716"/>
            <a:ext cx="6329026" cy="164905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"/>
          <p:cNvSpPr txBox="1"/>
          <p:nvPr/>
        </p:nvSpPr>
        <p:spPr>
          <a:xfrm>
            <a:off x="1480908" y="5018042"/>
            <a:ext cx="7323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2019       2020      2021       2022      2023       2024      2025       2026      2027       2028      2029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"/>
          <p:cNvCxnSpPr/>
          <p:nvPr/>
        </p:nvCxnSpPr>
        <p:spPr>
          <a:xfrm rot="10800000">
            <a:off x="1482327" y="2460242"/>
            <a:ext cx="6219300" cy="0"/>
          </a:xfrm>
          <a:prstGeom prst="straightConnector1">
            <a:avLst/>
          </a:prstGeom>
          <a:noFill/>
          <a:ln cap="flat" cmpd="sng" w="19050">
            <a:solidFill>
              <a:srgbClr val="C5C5C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2"/>
          <p:cNvSpPr txBox="1"/>
          <p:nvPr/>
        </p:nvSpPr>
        <p:spPr>
          <a:xfrm>
            <a:off x="1033142" y="2328546"/>
            <a:ext cx="59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600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1056955" y="3112295"/>
            <a:ext cx="59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1056955" y="3876808"/>
            <a:ext cx="593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 txBox="1"/>
          <p:nvPr/>
        </p:nvSpPr>
        <p:spPr>
          <a:xfrm>
            <a:off x="1118187" y="4777181"/>
            <a:ext cx="363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A"/>
                </a:solidFill>
                <a:latin typeface="Public Sans"/>
                <a:ea typeface="Public Sans"/>
                <a:cs typeface="Public Sans"/>
                <a:sym typeface="Public Sans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 txBox="1"/>
          <p:nvPr/>
        </p:nvSpPr>
        <p:spPr>
          <a:xfrm rot="-5400000">
            <a:off x="-403656" y="3558129"/>
            <a:ext cx="246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NASA Archive Volume (PB)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3963256" y="5307850"/>
            <a:ext cx="1217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A"/>
                </a:solidFill>
                <a:latin typeface="Arial"/>
                <a:ea typeface="Arial"/>
                <a:cs typeface="Arial"/>
                <a:sym typeface="Arial"/>
              </a:rPr>
              <a:t>Fiscal Year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4085504" y="3680041"/>
            <a:ext cx="972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3D91"/>
                </a:solidFill>
                <a:latin typeface="Arial"/>
                <a:ea typeface="Arial"/>
                <a:cs typeface="Arial"/>
                <a:sym typeface="Arial"/>
              </a:rPr>
              <a:t>FY24: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B3D91"/>
                </a:solidFill>
                <a:latin typeface="Arial"/>
                <a:ea typeface="Arial"/>
                <a:cs typeface="Arial"/>
                <a:sym typeface="Arial"/>
              </a:rPr>
              <a:t>144.4 PB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599155" y="4189016"/>
            <a:ext cx="187800" cy="1878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EAAC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7054871" y="3550031"/>
            <a:ext cx="1466700" cy="1466700"/>
          </a:xfrm>
          <a:prstGeom prst="ellipse">
            <a:avLst/>
          </a:prstGeom>
          <a:solidFill>
            <a:srgbClr val="0B3D91"/>
          </a:solidFill>
          <a:ln cap="flat" cmpd="sng" w="38100">
            <a:solidFill>
              <a:srgbClr val="C5E5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7148261" y="3981452"/>
            <a:ext cx="12486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Current archive holdings continue to grow (~95 missions)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"/>
          <p:cNvSpPr/>
          <p:nvPr/>
        </p:nvSpPr>
        <p:spPr>
          <a:xfrm>
            <a:off x="7301716" y="2393381"/>
            <a:ext cx="972900" cy="972900"/>
          </a:xfrm>
          <a:prstGeom prst="ellipse">
            <a:avLst/>
          </a:prstGeom>
          <a:solidFill>
            <a:srgbClr val="0B3D91"/>
          </a:solidFill>
          <a:ln cap="flat" cmpd="sng" w="38100">
            <a:solidFill>
              <a:srgbClr val="C5E5F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5E5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7325528" y="2574785"/>
            <a:ext cx="917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 new missions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be added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17507" y="883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What’s the Problem?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"/>
          <p:cNvSpPr txBox="1"/>
          <p:nvPr>
            <p:ph type="title"/>
          </p:nvPr>
        </p:nvSpPr>
        <p:spPr>
          <a:xfrm>
            <a:off x="17507" y="883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000"/>
              <a:t>Many Users don’t need ALL the data</a:t>
            </a:r>
            <a:endParaRPr/>
          </a:p>
        </p:txBody>
      </p:sp>
      <p:pic>
        <p:nvPicPr>
          <p:cNvPr descr="A hummingbird flying&#10;&#10;AI-generated content may be incorrect." id="209" name="Google Shape;2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253" y="2812429"/>
            <a:ext cx="887082" cy="616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3"/>
          <p:cNvGrpSpPr/>
          <p:nvPr/>
        </p:nvGrpSpPr>
        <p:grpSpPr>
          <a:xfrm>
            <a:off x="1929302" y="1647956"/>
            <a:ext cx="5222451" cy="3655244"/>
            <a:chOff x="4656841" y="1548909"/>
            <a:chExt cx="6963268" cy="4873658"/>
          </a:xfrm>
        </p:grpSpPr>
        <p:grpSp>
          <p:nvGrpSpPr>
            <p:cNvPr id="211" name="Google Shape;211;p3"/>
            <p:cNvGrpSpPr/>
            <p:nvPr/>
          </p:nvGrpSpPr>
          <p:grpSpPr>
            <a:xfrm>
              <a:off x="5059053" y="1548909"/>
              <a:ext cx="6561056" cy="4873658"/>
              <a:chOff x="3296239" y="1648476"/>
              <a:chExt cx="6561056" cy="4873658"/>
            </a:xfrm>
          </p:grpSpPr>
          <p:pic>
            <p:nvPicPr>
              <p:cNvPr id="212" name="Google Shape;212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296239" y="1648476"/>
                <a:ext cx="6561056" cy="4873658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13" name="Google Shape;213;p3"/>
              <p:cNvGrpSpPr/>
              <p:nvPr/>
            </p:nvGrpSpPr>
            <p:grpSpPr>
              <a:xfrm>
                <a:off x="3858381" y="2861670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14" name="Google Shape;214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5" name="Google Shape;215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6" name="Google Shape;216;p3"/>
              <p:cNvGrpSpPr/>
              <p:nvPr/>
            </p:nvGrpSpPr>
            <p:grpSpPr>
              <a:xfrm>
                <a:off x="3934454" y="365159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17" name="Google Shape;217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8" name="Google Shape;218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9" name="Google Shape;219;p3"/>
              <p:cNvGrpSpPr/>
              <p:nvPr/>
            </p:nvGrpSpPr>
            <p:grpSpPr>
              <a:xfrm>
                <a:off x="5999837" y="2545439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20" name="Google Shape;220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1" name="Google Shape;221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2" name="Google Shape;222;p3"/>
              <p:cNvGrpSpPr/>
              <p:nvPr/>
            </p:nvGrpSpPr>
            <p:grpSpPr>
              <a:xfrm>
                <a:off x="4538682" y="1863302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23" name="Google Shape;223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4" name="Google Shape;224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5" name="Google Shape;225;p3"/>
              <p:cNvGrpSpPr/>
              <p:nvPr/>
            </p:nvGrpSpPr>
            <p:grpSpPr>
              <a:xfrm>
                <a:off x="5999837" y="4992670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26" name="Google Shape;226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7" name="Google Shape;227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8" name="Google Shape;228;p3"/>
              <p:cNvGrpSpPr/>
              <p:nvPr/>
            </p:nvGrpSpPr>
            <p:grpSpPr>
              <a:xfrm>
                <a:off x="7310510" y="4752101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29" name="Google Shape;229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0" name="Google Shape;230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1" name="Google Shape;231;p3"/>
              <p:cNvGrpSpPr/>
              <p:nvPr/>
            </p:nvGrpSpPr>
            <p:grpSpPr>
              <a:xfrm>
                <a:off x="6839521" y="518580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32" name="Google Shape;232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3" name="Google Shape;233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" name="Google Shape;234;p3"/>
              <p:cNvGrpSpPr/>
              <p:nvPr/>
            </p:nvGrpSpPr>
            <p:grpSpPr>
              <a:xfrm>
                <a:off x="7943013" y="3651597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35" name="Google Shape;235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6" name="Google Shape;236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7" name="Google Shape;237;p3"/>
              <p:cNvGrpSpPr/>
              <p:nvPr/>
            </p:nvGrpSpPr>
            <p:grpSpPr>
              <a:xfrm>
                <a:off x="8200964" y="254543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38" name="Google Shape;238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9" name="Google Shape;239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" name="Google Shape;240;p3"/>
              <p:cNvGrpSpPr/>
              <p:nvPr/>
            </p:nvGrpSpPr>
            <p:grpSpPr>
              <a:xfrm>
                <a:off x="7338728" y="2098344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41" name="Google Shape;241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2" name="Google Shape;242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" name="Google Shape;243;p3"/>
              <p:cNvGrpSpPr/>
              <p:nvPr/>
            </p:nvGrpSpPr>
            <p:grpSpPr>
              <a:xfrm>
                <a:off x="9291331" y="2631131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44" name="Google Shape;244;p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45" name="Google Shape;245;p3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46" name="Google Shape;246;p3"/>
            <p:cNvSpPr/>
            <p:nvPr/>
          </p:nvSpPr>
          <p:spPr>
            <a:xfrm>
              <a:off x="4656841" y="2500476"/>
              <a:ext cx="1008668" cy="431260"/>
            </a:xfrm>
            <a:custGeom>
              <a:rect b="b" l="l" r="r" t="t"/>
              <a:pathLst>
                <a:path extrusionOk="0" h="431260" w="1008668">
                  <a:moveTo>
                    <a:pt x="0" y="431260"/>
                  </a:moveTo>
                  <a:cubicBezTo>
                    <a:pt x="74629" y="282002"/>
                    <a:pt x="149258" y="132745"/>
                    <a:pt x="273378" y="63615"/>
                  </a:cubicBezTo>
                  <a:cubicBezTo>
                    <a:pt x="397498" y="-5515"/>
                    <a:pt x="622170" y="-13371"/>
                    <a:pt x="744718" y="16481"/>
                  </a:cubicBezTo>
                  <a:cubicBezTo>
                    <a:pt x="867266" y="46332"/>
                    <a:pt x="937967" y="144528"/>
                    <a:pt x="1008668" y="242724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5084152" y="3242821"/>
              <a:ext cx="2645827" cy="1841052"/>
            </a:xfrm>
            <a:custGeom>
              <a:rect b="b" l="l" r="r" t="t"/>
              <a:pathLst>
                <a:path extrusionOk="0" h="1841052" w="2645827">
                  <a:moveTo>
                    <a:pt x="732186" y="0"/>
                  </a:moveTo>
                  <a:cubicBezTo>
                    <a:pt x="733757" y="78556"/>
                    <a:pt x="735328" y="157113"/>
                    <a:pt x="685052" y="226243"/>
                  </a:cubicBezTo>
                  <a:cubicBezTo>
                    <a:pt x="634776" y="295373"/>
                    <a:pt x="523225" y="351934"/>
                    <a:pt x="430528" y="414779"/>
                  </a:cubicBezTo>
                  <a:cubicBezTo>
                    <a:pt x="337831" y="477624"/>
                    <a:pt x="199572" y="496478"/>
                    <a:pt x="128871" y="603315"/>
                  </a:cubicBezTo>
                  <a:cubicBezTo>
                    <a:pt x="58170" y="710152"/>
                    <a:pt x="-23529" y="917542"/>
                    <a:pt x="6322" y="1055802"/>
                  </a:cubicBezTo>
                  <a:cubicBezTo>
                    <a:pt x="36173" y="1194062"/>
                    <a:pt x="122586" y="1346462"/>
                    <a:pt x="307980" y="1432874"/>
                  </a:cubicBezTo>
                  <a:cubicBezTo>
                    <a:pt x="493374" y="1519286"/>
                    <a:pt x="969427" y="1596272"/>
                    <a:pt x="1118685" y="1574276"/>
                  </a:cubicBezTo>
                  <a:cubicBezTo>
                    <a:pt x="1267943" y="1552280"/>
                    <a:pt x="1212953" y="1379455"/>
                    <a:pt x="1203526" y="1300899"/>
                  </a:cubicBezTo>
                  <a:cubicBezTo>
                    <a:pt x="1194099" y="1222343"/>
                    <a:pt x="1146965" y="1135930"/>
                    <a:pt x="1062124" y="1102936"/>
                  </a:cubicBezTo>
                  <a:cubicBezTo>
                    <a:pt x="977283" y="1069942"/>
                    <a:pt x="769893" y="1055802"/>
                    <a:pt x="694479" y="1102936"/>
                  </a:cubicBezTo>
                  <a:cubicBezTo>
                    <a:pt x="619065" y="1150070"/>
                    <a:pt x="600211" y="1278903"/>
                    <a:pt x="609638" y="1385740"/>
                  </a:cubicBezTo>
                  <a:cubicBezTo>
                    <a:pt x="619065" y="1492577"/>
                    <a:pt x="681910" y="1673257"/>
                    <a:pt x="751040" y="1743958"/>
                  </a:cubicBezTo>
                  <a:cubicBezTo>
                    <a:pt x="820170" y="1814659"/>
                    <a:pt x="886157" y="1794235"/>
                    <a:pt x="1024417" y="1809946"/>
                  </a:cubicBezTo>
                  <a:cubicBezTo>
                    <a:pt x="1162677" y="1825657"/>
                    <a:pt x="1399919" y="1849224"/>
                    <a:pt x="1580599" y="1838226"/>
                  </a:cubicBezTo>
                  <a:cubicBezTo>
                    <a:pt x="1761280" y="1827228"/>
                    <a:pt x="1971812" y="1754956"/>
                    <a:pt x="2108500" y="1743958"/>
                  </a:cubicBezTo>
                  <a:cubicBezTo>
                    <a:pt x="2245189" y="1732960"/>
                    <a:pt x="2311176" y="1756528"/>
                    <a:pt x="2400730" y="1772239"/>
                  </a:cubicBezTo>
                  <a:cubicBezTo>
                    <a:pt x="2490285" y="1787950"/>
                    <a:pt x="2568056" y="1813088"/>
                    <a:pt x="2645827" y="1838226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8257880" y="5183931"/>
              <a:ext cx="339365" cy="132787"/>
            </a:xfrm>
            <a:custGeom>
              <a:rect b="b" l="l" r="r" t="t"/>
              <a:pathLst>
                <a:path extrusionOk="0" h="132787" w="339365">
                  <a:moveTo>
                    <a:pt x="0" y="811"/>
                  </a:moveTo>
                  <a:cubicBezTo>
                    <a:pt x="61274" y="-760"/>
                    <a:pt x="122549" y="-2331"/>
                    <a:pt x="179110" y="19665"/>
                  </a:cubicBezTo>
                  <a:cubicBezTo>
                    <a:pt x="235671" y="41661"/>
                    <a:pt x="287518" y="87224"/>
                    <a:pt x="339365" y="132787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9096866" y="3959258"/>
              <a:ext cx="2064534" cy="1563858"/>
            </a:xfrm>
            <a:custGeom>
              <a:rect b="b" l="l" r="r" t="t"/>
              <a:pathLst>
                <a:path extrusionOk="0" h="1563858" w="2064534">
                  <a:moveTo>
                    <a:pt x="0" y="1461154"/>
                  </a:moveTo>
                  <a:cubicBezTo>
                    <a:pt x="95053" y="1432874"/>
                    <a:pt x="190107" y="1404594"/>
                    <a:pt x="320511" y="1395167"/>
                  </a:cubicBezTo>
                  <a:cubicBezTo>
                    <a:pt x="450915" y="1385740"/>
                    <a:pt x="636310" y="1382598"/>
                    <a:pt x="782425" y="1404594"/>
                  </a:cubicBezTo>
                  <a:cubicBezTo>
                    <a:pt x="928540" y="1426590"/>
                    <a:pt x="1051089" y="1502004"/>
                    <a:pt x="1197204" y="1527142"/>
                  </a:cubicBezTo>
                  <a:cubicBezTo>
                    <a:pt x="1343319" y="1552280"/>
                    <a:pt x="1533427" y="1577418"/>
                    <a:pt x="1659118" y="1555422"/>
                  </a:cubicBezTo>
                  <a:cubicBezTo>
                    <a:pt x="1784809" y="1533426"/>
                    <a:pt x="1883789" y="1470581"/>
                    <a:pt x="1951348" y="1395167"/>
                  </a:cubicBezTo>
                  <a:cubicBezTo>
                    <a:pt x="2018907" y="1319753"/>
                    <a:pt x="2062899" y="1227056"/>
                    <a:pt x="2064470" y="1102936"/>
                  </a:cubicBezTo>
                  <a:cubicBezTo>
                    <a:pt x="2066041" y="978816"/>
                    <a:pt x="2039332" y="780853"/>
                    <a:pt x="1960775" y="650449"/>
                  </a:cubicBezTo>
                  <a:cubicBezTo>
                    <a:pt x="1882218" y="520045"/>
                    <a:pt x="1743959" y="428919"/>
                    <a:pt x="1593130" y="320511"/>
                  </a:cubicBezTo>
                  <a:cubicBezTo>
                    <a:pt x="1442301" y="212103"/>
                    <a:pt x="1249051" y="106051"/>
                    <a:pt x="1055802" y="0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7081097" y="1894370"/>
              <a:ext cx="2487109" cy="1848071"/>
            </a:xfrm>
            <a:custGeom>
              <a:rect b="b" l="l" r="r" t="t"/>
              <a:pathLst>
                <a:path extrusionOk="0" h="1848071" w="2487109">
                  <a:moveTo>
                    <a:pt x="2487109" y="1848071"/>
                  </a:moveTo>
                  <a:cubicBezTo>
                    <a:pt x="2390484" y="1770299"/>
                    <a:pt x="2293860" y="1692528"/>
                    <a:pt x="2157171" y="1650108"/>
                  </a:cubicBezTo>
                  <a:cubicBezTo>
                    <a:pt x="2020482" y="1607687"/>
                    <a:pt x="1842944" y="1591977"/>
                    <a:pt x="1666977" y="1593548"/>
                  </a:cubicBezTo>
                  <a:cubicBezTo>
                    <a:pt x="1491010" y="1595119"/>
                    <a:pt x="1300903" y="1662677"/>
                    <a:pt x="1101369" y="1659535"/>
                  </a:cubicBezTo>
                  <a:cubicBezTo>
                    <a:pt x="901835" y="1656393"/>
                    <a:pt x="622173" y="1629684"/>
                    <a:pt x="469773" y="1574694"/>
                  </a:cubicBezTo>
                  <a:cubicBezTo>
                    <a:pt x="317373" y="1519704"/>
                    <a:pt x="259241" y="1433292"/>
                    <a:pt x="186969" y="1329597"/>
                  </a:cubicBezTo>
                  <a:cubicBezTo>
                    <a:pt x="114697" y="1225902"/>
                    <a:pt x="65991" y="1076645"/>
                    <a:pt x="36140" y="952525"/>
                  </a:cubicBezTo>
                  <a:cubicBezTo>
                    <a:pt x="6289" y="828405"/>
                    <a:pt x="-10994" y="702714"/>
                    <a:pt x="7860" y="584879"/>
                  </a:cubicBezTo>
                  <a:cubicBezTo>
                    <a:pt x="26714" y="467044"/>
                    <a:pt x="87988" y="328785"/>
                    <a:pt x="149262" y="245515"/>
                  </a:cubicBezTo>
                  <a:cubicBezTo>
                    <a:pt x="210536" y="162245"/>
                    <a:pt x="267097" y="126109"/>
                    <a:pt x="375505" y="85259"/>
                  </a:cubicBezTo>
                  <a:cubicBezTo>
                    <a:pt x="483913" y="44409"/>
                    <a:pt x="666165" y="5131"/>
                    <a:pt x="799711" y="418"/>
                  </a:cubicBezTo>
                  <a:cubicBezTo>
                    <a:pt x="933257" y="-4295"/>
                    <a:pt x="1080944" y="31840"/>
                    <a:pt x="1176783" y="56978"/>
                  </a:cubicBezTo>
                  <a:cubicBezTo>
                    <a:pt x="1272622" y="82116"/>
                    <a:pt x="1318185" y="113539"/>
                    <a:pt x="1374746" y="151246"/>
                  </a:cubicBezTo>
                  <a:cubicBezTo>
                    <a:pt x="1431307" y="188953"/>
                    <a:pt x="1472156" y="254942"/>
                    <a:pt x="1516148" y="283222"/>
                  </a:cubicBezTo>
                  <a:cubicBezTo>
                    <a:pt x="1560140" y="311502"/>
                    <a:pt x="1577423" y="306789"/>
                    <a:pt x="1638697" y="320929"/>
                  </a:cubicBezTo>
                  <a:cubicBezTo>
                    <a:pt x="1699971" y="335069"/>
                    <a:pt x="1820949" y="364921"/>
                    <a:pt x="1883794" y="368063"/>
                  </a:cubicBezTo>
                  <a:cubicBezTo>
                    <a:pt x="1946639" y="371205"/>
                    <a:pt x="1981204" y="355494"/>
                    <a:pt x="2015769" y="339783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3"/>
          <p:cNvSpPr txBox="1"/>
          <p:nvPr/>
        </p:nvSpPr>
        <p:spPr>
          <a:xfrm>
            <a:off x="2849395" y="5284483"/>
            <a:ext cx="31438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 to dean.c.henze@jpl.nasa.gov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"/>
          <p:cNvSpPr txBox="1"/>
          <p:nvPr>
            <p:ph type="title"/>
          </p:nvPr>
        </p:nvSpPr>
        <p:spPr>
          <a:xfrm>
            <a:off x="17507" y="883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000"/>
              <a:t>Many Users don’t need ALL the data</a:t>
            </a:r>
            <a:endParaRPr/>
          </a:p>
        </p:txBody>
      </p:sp>
      <p:pic>
        <p:nvPicPr>
          <p:cNvPr id="257" name="Google Shape;2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6" y="4319461"/>
            <a:ext cx="663882" cy="85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"/>
          <p:cNvSpPr txBox="1"/>
          <p:nvPr/>
        </p:nvSpPr>
        <p:spPr>
          <a:xfrm>
            <a:off x="985646" y="2437906"/>
            <a:ext cx="589592" cy="1605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{JSON}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 txBox="1"/>
          <p:nvPr/>
        </p:nvSpPr>
        <p:spPr>
          <a:xfrm>
            <a:off x="985646" y="3606164"/>
            <a:ext cx="364523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2620564" y="3207111"/>
            <a:ext cx="364523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hummingbird flying&#10;&#10;AI-generated content may be incorrect." id="261" name="Google Shape;2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4818" y="3161632"/>
            <a:ext cx="887082" cy="616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4"/>
          <p:cNvGrpSpPr/>
          <p:nvPr/>
        </p:nvGrpSpPr>
        <p:grpSpPr>
          <a:xfrm>
            <a:off x="3867867" y="1997159"/>
            <a:ext cx="5222451" cy="3655244"/>
            <a:chOff x="4656841" y="1548909"/>
            <a:chExt cx="6963268" cy="4873658"/>
          </a:xfrm>
        </p:grpSpPr>
        <p:grpSp>
          <p:nvGrpSpPr>
            <p:cNvPr id="263" name="Google Shape;263;p4"/>
            <p:cNvGrpSpPr/>
            <p:nvPr/>
          </p:nvGrpSpPr>
          <p:grpSpPr>
            <a:xfrm>
              <a:off x="5059053" y="1548909"/>
              <a:ext cx="6561056" cy="4873658"/>
              <a:chOff x="3296239" y="1648476"/>
              <a:chExt cx="6561056" cy="4873658"/>
            </a:xfrm>
          </p:grpSpPr>
          <p:pic>
            <p:nvPicPr>
              <p:cNvPr id="264" name="Google Shape;264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96239" y="1648476"/>
                <a:ext cx="6561056" cy="4873658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5" name="Google Shape;265;p4"/>
              <p:cNvGrpSpPr/>
              <p:nvPr/>
            </p:nvGrpSpPr>
            <p:grpSpPr>
              <a:xfrm>
                <a:off x="3858381" y="2861670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66" name="Google Shape;266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7" name="Google Shape;267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" name="Google Shape;268;p4"/>
              <p:cNvGrpSpPr/>
              <p:nvPr/>
            </p:nvGrpSpPr>
            <p:grpSpPr>
              <a:xfrm>
                <a:off x="3934454" y="365159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69" name="Google Shape;269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0" name="Google Shape;270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" name="Google Shape;271;p4"/>
              <p:cNvGrpSpPr/>
              <p:nvPr/>
            </p:nvGrpSpPr>
            <p:grpSpPr>
              <a:xfrm>
                <a:off x="5999837" y="2545439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72" name="Google Shape;272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3" name="Google Shape;273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4" name="Google Shape;274;p4"/>
              <p:cNvGrpSpPr/>
              <p:nvPr/>
            </p:nvGrpSpPr>
            <p:grpSpPr>
              <a:xfrm>
                <a:off x="4538682" y="1863302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75" name="Google Shape;275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6" name="Google Shape;276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7" name="Google Shape;277;p4"/>
              <p:cNvGrpSpPr/>
              <p:nvPr/>
            </p:nvGrpSpPr>
            <p:grpSpPr>
              <a:xfrm>
                <a:off x="5999837" y="4992670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78" name="Google Shape;278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9" name="Google Shape;279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" name="Google Shape;280;p4"/>
              <p:cNvGrpSpPr/>
              <p:nvPr/>
            </p:nvGrpSpPr>
            <p:grpSpPr>
              <a:xfrm>
                <a:off x="7310510" y="4752101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81" name="Google Shape;281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2" name="Google Shape;282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3" name="Google Shape;283;p4"/>
              <p:cNvGrpSpPr/>
              <p:nvPr/>
            </p:nvGrpSpPr>
            <p:grpSpPr>
              <a:xfrm>
                <a:off x="6839521" y="518580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84" name="Google Shape;284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5" name="Google Shape;285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" name="Google Shape;286;p4"/>
              <p:cNvGrpSpPr/>
              <p:nvPr/>
            </p:nvGrpSpPr>
            <p:grpSpPr>
              <a:xfrm>
                <a:off x="7943013" y="3651597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87" name="Google Shape;287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8" name="Google Shape;288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" name="Google Shape;289;p4"/>
              <p:cNvGrpSpPr/>
              <p:nvPr/>
            </p:nvGrpSpPr>
            <p:grpSpPr>
              <a:xfrm>
                <a:off x="8200964" y="2545438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90" name="Google Shape;290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1" name="Google Shape;291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2" name="Google Shape;292;p4"/>
              <p:cNvGrpSpPr/>
              <p:nvPr/>
            </p:nvGrpSpPr>
            <p:grpSpPr>
              <a:xfrm>
                <a:off x="7338728" y="2098344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93" name="Google Shape;293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4" name="Google Shape;294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" name="Google Shape;295;p4"/>
              <p:cNvGrpSpPr/>
              <p:nvPr/>
            </p:nvGrpSpPr>
            <p:grpSpPr>
              <a:xfrm>
                <a:off x="9291331" y="2631131"/>
                <a:ext cx="433708" cy="433707"/>
                <a:chOff x="3207181" y="3061741"/>
                <a:chExt cx="854348" cy="854347"/>
              </a:xfrm>
            </p:grpSpPr>
            <p:pic>
              <p:nvPicPr>
                <p:cNvPr descr="HDF File - What is an .hdf file and how do I open it?" id="296" name="Google Shape;296;p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3207181" y="3061741"/>
                  <a:ext cx="854348" cy="8543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7" name="Google Shape;297;p4"/>
                <p:cNvSpPr/>
                <p:nvPr/>
              </p:nvSpPr>
              <p:spPr>
                <a:xfrm>
                  <a:off x="3689940" y="3568165"/>
                  <a:ext cx="188536" cy="179109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34275" lIns="68550" spcFirstLastPara="1" rIns="68550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5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98" name="Google Shape;298;p4"/>
            <p:cNvSpPr/>
            <p:nvPr/>
          </p:nvSpPr>
          <p:spPr>
            <a:xfrm>
              <a:off x="4656841" y="2500476"/>
              <a:ext cx="1008668" cy="431260"/>
            </a:xfrm>
            <a:custGeom>
              <a:rect b="b" l="l" r="r" t="t"/>
              <a:pathLst>
                <a:path extrusionOk="0" h="431260" w="1008668">
                  <a:moveTo>
                    <a:pt x="0" y="431260"/>
                  </a:moveTo>
                  <a:cubicBezTo>
                    <a:pt x="74629" y="282002"/>
                    <a:pt x="149258" y="132745"/>
                    <a:pt x="273378" y="63615"/>
                  </a:cubicBezTo>
                  <a:cubicBezTo>
                    <a:pt x="397498" y="-5515"/>
                    <a:pt x="622170" y="-13371"/>
                    <a:pt x="744718" y="16481"/>
                  </a:cubicBezTo>
                  <a:cubicBezTo>
                    <a:pt x="867266" y="46332"/>
                    <a:pt x="937967" y="144528"/>
                    <a:pt x="1008668" y="242724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5084152" y="3242821"/>
              <a:ext cx="2645827" cy="1841052"/>
            </a:xfrm>
            <a:custGeom>
              <a:rect b="b" l="l" r="r" t="t"/>
              <a:pathLst>
                <a:path extrusionOk="0" h="1841052" w="2645827">
                  <a:moveTo>
                    <a:pt x="732186" y="0"/>
                  </a:moveTo>
                  <a:cubicBezTo>
                    <a:pt x="733757" y="78556"/>
                    <a:pt x="735328" y="157113"/>
                    <a:pt x="685052" y="226243"/>
                  </a:cubicBezTo>
                  <a:cubicBezTo>
                    <a:pt x="634776" y="295373"/>
                    <a:pt x="523225" y="351934"/>
                    <a:pt x="430528" y="414779"/>
                  </a:cubicBezTo>
                  <a:cubicBezTo>
                    <a:pt x="337831" y="477624"/>
                    <a:pt x="199572" y="496478"/>
                    <a:pt x="128871" y="603315"/>
                  </a:cubicBezTo>
                  <a:cubicBezTo>
                    <a:pt x="58170" y="710152"/>
                    <a:pt x="-23529" y="917542"/>
                    <a:pt x="6322" y="1055802"/>
                  </a:cubicBezTo>
                  <a:cubicBezTo>
                    <a:pt x="36173" y="1194062"/>
                    <a:pt x="122586" y="1346462"/>
                    <a:pt x="307980" y="1432874"/>
                  </a:cubicBezTo>
                  <a:cubicBezTo>
                    <a:pt x="493374" y="1519286"/>
                    <a:pt x="969427" y="1596272"/>
                    <a:pt x="1118685" y="1574276"/>
                  </a:cubicBezTo>
                  <a:cubicBezTo>
                    <a:pt x="1267943" y="1552280"/>
                    <a:pt x="1212953" y="1379455"/>
                    <a:pt x="1203526" y="1300899"/>
                  </a:cubicBezTo>
                  <a:cubicBezTo>
                    <a:pt x="1194099" y="1222343"/>
                    <a:pt x="1146965" y="1135930"/>
                    <a:pt x="1062124" y="1102936"/>
                  </a:cubicBezTo>
                  <a:cubicBezTo>
                    <a:pt x="977283" y="1069942"/>
                    <a:pt x="769893" y="1055802"/>
                    <a:pt x="694479" y="1102936"/>
                  </a:cubicBezTo>
                  <a:cubicBezTo>
                    <a:pt x="619065" y="1150070"/>
                    <a:pt x="600211" y="1278903"/>
                    <a:pt x="609638" y="1385740"/>
                  </a:cubicBezTo>
                  <a:cubicBezTo>
                    <a:pt x="619065" y="1492577"/>
                    <a:pt x="681910" y="1673257"/>
                    <a:pt x="751040" y="1743958"/>
                  </a:cubicBezTo>
                  <a:cubicBezTo>
                    <a:pt x="820170" y="1814659"/>
                    <a:pt x="886157" y="1794235"/>
                    <a:pt x="1024417" y="1809946"/>
                  </a:cubicBezTo>
                  <a:cubicBezTo>
                    <a:pt x="1162677" y="1825657"/>
                    <a:pt x="1399919" y="1849224"/>
                    <a:pt x="1580599" y="1838226"/>
                  </a:cubicBezTo>
                  <a:cubicBezTo>
                    <a:pt x="1761280" y="1827228"/>
                    <a:pt x="1971812" y="1754956"/>
                    <a:pt x="2108500" y="1743958"/>
                  </a:cubicBezTo>
                  <a:cubicBezTo>
                    <a:pt x="2245189" y="1732960"/>
                    <a:pt x="2311176" y="1756528"/>
                    <a:pt x="2400730" y="1772239"/>
                  </a:cubicBezTo>
                  <a:cubicBezTo>
                    <a:pt x="2490285" y="1787950"/>
                    <a:pt x="2568056" y="1813088"/>
                    <a:pt x="2645827" y="1838226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8257880" y="5183931"/>
              <a:ext cx="339365" cy="132787"/>
            </a:xfrm>
            <a:custGeom>
              <a:rect b="b" l="l" r="r" t="t"/>
              <a:pathLst>
                <a:path extrusionOk="0" h="132787" w="339365">
                  <a:moveTo>
                    <a:pt x="0" y="811"/>
                  </a:moveTo>
                  <a:cubicBezTo>
                    <a:pt x="61274" y="-760"/>
                    <a:pt x="122549" y="-2331"/>
                    <a:pt x="179110" y="19665"/>
                  </a:cubicBezTo>
                  <a:cubicBezTo>
                    <a:pt x="235671" y="41661"/>
                    <a:pt x="287518" y="87224"/>
                    <a:pt x="339365" y="132787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9096866" y="3959258"/>
              <a:ext cx="2064534" cy="1563858"/>
            </a:xfrm>
            <a:custGeom>
              <a:rect b="b" l="l" r="r" t="t"/>
              <a:pathLst>
                <a:path extrusionOk="0" h="1563858" w="2064534">
                  <a:moveTo>
                    <a:pt x="0" y="1461154"/>
                  </a:moveTo>
                  <a:cubicBezTo>
                    <a:pt x="95053" y="1432874"/>
                    <a:pt x="190107" y="1404594"/>
                    <a:pt x="320511" y="1395167"/>
                  </a:cubicBezTo>
                  <a:cubicBezTo>
                    <a:pt x="450915" y="1385740"/>
                    <a:pt x="636310" y="1382598"/>
                    <a:pt x="782425" y="1404594"/>
                  </a:cubicBezTo>
                  <a:cubicBezTo>
                    <a:pt x="928540" y="1426590"/>
                    <a:pt x="1051089" y="1502004"/>
                    <a:pt x="1197204" y="1527142"/>
                  </a:cubicBezTo>
                  <a:cubicBezTo>
                    <a:pt x="1343319" y="1552280"/>
                    <a:pt x="1533427" y="1577418"/>
                    <a:pt x="1659118" y="1555422"/>
                  </a:cubicBezTo>
                  <a:cubicBezTo>
                    <a:pt x="1784809" y="1533426"/>
                    <a:pt x="1883789" y="1470581"/>
                    <a:pt x="1951348" y="1395167"/>
                  </a:cubicBezTo>
                  <a:cubicBezTo>
                    <a:pt x="2018907" y="1319753"/>
                    <a:pt x="2062899" y="1227056"/>
                    <a:pt x="2064470" y="1102936"/>
                  </a:cubicBezTo>
                  <a:cubicBezTo>
                    <a:pt x="2066041" y="978816"/>
                    <a:pt x="2039332" y="780853"/>
                    <a:pt x="1960775" y="650449"/>
                  </a:cubicBezTo>
                  <a:cubicBezTo>
                    <a:pt x="1882218" y="520045"/>
                    <a:pt x="1743959" y="428919"/>
                    <a:pt x="1593130" y="320511"/>
                  </a:cubicBezTo>
                  <a:cubicBezTo>
                    <a:pt x="1442301" y="212103"/>
                    <a:pt x="1249051" y="106051"/>
                    <a:pt x="1055802" y="0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7081097" y="1894370"/>
              <a:ext cx="2487109" cy="1848071"/>
            </a:xfrm>
            <a:custGeom>
              <a:rect b="b" l="l" r="r" t="t"/>
              <a:pathLst>
                <a:path extrusionOk="0" h="1848071" w="2487109">
                  <a:moveTo>
                    <a:pt x="2487109" y="1848071"/>
                  </a:moveTo>
                  <a:cubicBezTo>
                    <a:pt x="2390484" y="1770299"/>
                    <a:pt x="2293860" y="1692528"/>
                    <a:pt x="2157171" y="1650108"/>
                  </a:cubicBezTo>
                  <a:cubicBezTo>
                    <a:pt x="2020482" y="1607687"/>
                    <a:pt x="1842944" y="1591977"/>
                    <a:pt x="1666977" y="1593548"/>
                  </a:cubicBezTo>
                  <a:cubicBezTo>
                    <a:pt x="1491010" y="1595119"/>
                    <a:pt x="1300903" y="1662677"/>
                    <a:pt x="1101369" y="1659535"/>
                  </a:cubicBezTo>
                  <a:cubicBezTo>
                    <a:pt x="901835" y="1656393"/>
                    <a:pt x="622173" y="1629684"/>
                    <a:pt x="469773" y="1574694"/>
                  </a:cubicBezTo>
                  <a:cubicBezTo>
                    <a:pt x="317373" y="1519704"/>
                    <a:pt x="259241" y="1433292"/>
                    <a:pt x="186969" y="1329597"/>
                  </a:cubicBezTo>
                  <a:cubicBezTo>
                    <a:pt x="114697" y="1225902"/>
                    <a:pt x="65991" y="1076645"/>
                    <a:pt x="36140" y="952525"/>
                  </a:cubicBezTo>
                  <a:cubicBezTo>
                    <a:pt x="6289" y="828405"/>
                    <a:pt x="-10994" y="702714"/>
                    <a:pt x="7860" y="584879"/>
                  </a:cubicBezTo>
                  <a:cubicBezTo>
                    <a:pt x="26714" y="467044"/>
                    <a:pt x="87988" y="328785"/>
                    <a:pt x="149262" y="245515"/>
                  </a:cubicBezTo>
                  <a:cubicBezTo>
                    <a:pt x="210536" y="162245"/>
                    <a:pt x="267097" y="126109"/>
                    <a:pt x="375505" y="85259"/>
                  </a:cubicBezTo>
                  <a:cubicBezTo>
                    <a:pt x="483913" y="44409"/>
                    <a:pt x="666165" y="5131"/>
                    <a:pt x="799711" y="418"/>
                  </a:cubicBezTo>
                  <a:cubicBezTo>
                    <a:pt x="933257" y="-4295"/>
                    <a:pt x="1080944" y="31840"/>
                    <a:pt x="1176783" y="56978"/>
                  </a:cubicBezTo>
                  <a:cubicBezTo>
                    <a:pt x="1272622" y="82116"/>
                    <a:pt x="1318185" y="113539"/>
                    <a:pt x="1374746" y="151246"/>
                  </a:cubicBezTo>
                  <a:cubicBezTo>
                    <a:pt x="1431307" y="188953"/>
                    <a:pt x="1472156" y="254942"/>
                    <a:pt x="1516148" y="283222"/>
                  </a:cubicBezTo>
                  <a:cubicBezTo>
                    <a:pt x="1560140" y="311502"/>
                    <a:pt x="1577423" y="306789"/>
                    <a:pt x="1638697" y="320929"/>
                  </a:cubicBezTo>
                  <a:cubicBezTo>
                    <a:pt x="1699971" y="335069"/>
                    <a:pt x="1820949" y="364921"/>
                    <a:pt x="1883794" y="368063"/>
                  </a:cubicBezTo>
                  <a:cubicBezTo>
                    <a:pt x="1946639" y="371205"/>
                    <a:pt x="1981204" y="355494"/>
                    <a:pt x="2015769" y="339783"/>
                  </a:cubicBezTo>
                </a:path>
              </a:pathLst>
            </a:custGeom>
            <a:noFill/>
            <a:ln cap="flat" cmpd="sng" w="254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50" spcFirstLastPara="1" rIns="68550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Xarray: N-D labeled arrays and datasets in Python" id="303" name="Google Shape;30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833" y="2788484"/>
            <a:ext cx="2286000" cy="6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 txBox="1"/>
          <p:nvPr/>
        </p:nvSpPr>
        <p:spPr>
          <a:xfrm>
            <a:off x="161632" y="3431239"/>
            <a:ext cx="464585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https://xarray.dev/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Virtual Dataset Generation</a:t>
            </a:r>
            <a:endParaRPr/>
          </a:p>
        </p:txBody>
      </p:sp>
      <p:sp>
        <p:nvSpPr>
          <p:cNvPr id="310" name="Google Shape;310;p5"/>
          <p:cNvSpPr txBox="1"/>
          <p:nvPr>
            <p:ph idx="1" type="body"/>
          </p:nvPr>
        </p:nvSpPr>
        <p:spPr>
          <a:xfrm>
            <a:off x="457200" y="149734"/>
            <a:ext cx="8229601" cy="251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311" name="Google Shape;311;p5"/>
          <p:cNvSpPr txBox="1"/>
          <p:nvPr>
            <p:ph idx="2" type="body"/>
          </p:nvPr>
        </p:nvSpPr>
        <p:spPr>
          <a:xfrm>
            <a:off x="457199" y="3610865"/>
            <a:ext cx="8229601" cy="2677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AWS Deployable (Docker + ECR)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Open Source: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https://github.com/podaac/virtualzarr-gen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DAAC re-usable ready, easily extensible to ”any” http data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i="1" lang="en-US"/>
              <a:t>Optional</a:t>
            </a:r>
            <a:r>
              <a:rPr lang="en-US"/>
              <a:t> Airflow integration and monitoring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On-going improvements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Icechunk integration for ongoing datasets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Level 2 datasets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2" name="Google Shape;312;p5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3" name="Google Shape;3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828" y="974872"/>
            <a:ext cx="6705600" cy="27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/>
          <p:nvPr/>
        </p:nvSpPr>
        <p:spPr>
          <a:xfrm>
            <a:off x="17507" y="883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Dataset Generation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457199" y="1199073"/>
            <a:ext cx="8229601" cy="50891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830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envision this…</a:t>
            </a:r>
            <a:endParaRPr/>
          </a:p>
          <a:p>
            <a:pPr indent="-22225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us to provide efficient, democratized access to data</a:t>
            </a:r>
            <a:endParaRPr/>
          </a:p>
          <a:p>
            <a:pPr indent="-355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</a:rPr>
              <a:t>Do more with less: </a:t>
            </a:r>
            <a:r>
              <a:rPr b="0" i="1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explicit need for tools and services in favor of programmatic access</a:t>
            </a:r>
            <a:endParaRPr/>
          </a:p>
          <a:p>
            <a:pPr indent="-355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from ‘file based’ operations to collection/dataset level operations</a:t>
            </a:r>
            <a:endParaRPr/>
          </a:p>
          <a:p>
            <a:pPr indent="-3556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more… (ask!)</a:t>
            </a:r>
            <a:endParaRPr/>
          </a:p>
          <a:p>
            <a:pPr indent="-22225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 txBox="1"/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Special Thanks</a:t>
            </a:r>
            <a:endParaRPr/>
          </a:p>
        </p:txBody>
      </p:sp>
      <p:sp>
        <p:nvSpPr>
          <p:cNvPr id="325" name="Google Shape;325;p7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7"/>
          <p:cNvSpPr txBox="1"/>
          <p:nvPr>
            <p:ph idx="2" type="body"/>
          </p:nvPr>
        </p:nvSpPr>
        <p:spPr>
          <a:xfrm>
            <a:off x="457199" y="1209822"/>
            <a:ext cx="8229601" cy="4916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Dean Henze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Ed Armstrong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Celia 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500"/>
              <a:t>Links</a:t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User Tutorials: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https://podaac.github.io/tutorials/quarto_text/UsingVirtualDatasets.html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Source Code: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https://github.com/podaac/virtualzarr-gen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 txBox="1"/>
          <p:nvPr>
            <p:ph idx="12" type="sldNum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SAjpl-WhiteTheme-4x3-vA6">
  <a:themeElements>
    <a:clrScheme name="NASA-JPL - Jan 2017">
      <a:dk1>
        <a:srgbClr val="000000"/>
      </a:dk1>
      <a:lt1>
        <a:srgbClr val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