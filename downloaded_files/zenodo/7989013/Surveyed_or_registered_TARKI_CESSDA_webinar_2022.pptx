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2" roundtripDataSignature="AMtx7mgc6bNoMGfh10IcTMJvwMDHuXNI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2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hu-H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dia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tartalom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Üres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s slide layout">
  <p:cSld name="1_Contents slide layou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2"/>
          <p:cNvSpPr txBox="1"/>
          <p:nvPr>
            <p:ph idx="1" type="body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None/>
              <a:defRPr b="0" sz="5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zakaszfejléc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artalomrész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Összehasonlítás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5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5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5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sak cím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talomrész képaláírással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5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ép képaláírással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5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ím és függőleges szöveg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üggőleges cím és szöveg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.jp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1524000" y="2530135"/>
            <a:ext cx="9144000" cy="17133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r>
              <a:rPr b="1" lang="hu-HU" sz="3100"/>
              <a:t>Kérdezve vagy regisztrálva? Tanácsok és előadások a survey adatfelvételekkel és az adminisztratív adatbázisok használatával kapcsolatban</a:t>
            </a:r>
            <a:br>
              <a:rPr b="1" lang="hu-HU" sz="3100"/>
            </a:br>
            <a:br>
              <a:rPr b="1" lang="hu-HU" sz="3100"/>
            </a:br>
            <a:endParaRPr b="1" sz="3100"/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524000" y="3923930"/>
            <a:ext cx="9144000" cy="2352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hu-HU" sz="3100"/>
              <a:t>Surveyed or registered? Advice and presentations on survey data collection and the use of administrative databases.</a:t>
            </a:r>
            <a:endParaRPr sz="31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hu-HU" sz="2400"/>
              <a:t>Hibrid workshop</a:t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hu-HU"/>
              <a:t>Delivered under CESSDA Training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hu-HU" sz="2400"/>
            </a:br>
            <a:r>
              <a:rPr lang="hu-HU" sz="2400"/>
              <a:t>November 9, 2022; 13.00–15.30</a:t>
            </a:r>
            <a:endParaRPr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580" y="520350"/>
            <a:ext cx="2301129" cy="1291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3271" y="705833"/>
            <a:ext cx="926672" cy="92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01886" y="720160"/>
            <a:ext cx="1591194" cy="603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mirrors.creativecommons.org/presskit/buttons/88x31/png/by-nc-sa.png" id="95" name="Google Shape;9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88464" y="5341180"/>
            <a:ext cx="1136886" cy="397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838200" y="292964"/>
            <a:ext cx="10515600" cy="58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hu-HU"/>
              <a:t>A workshop céljai: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hu-HU"/>
              <a:t>1, Megismertetni a közgazdászokat a survey illetve attitűd vizsgálatokkal, az adatfelvételek lehetőségeivel valamint a regiszter adatbázisokkal való összekapcsolódás lehetőségeivel.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hu-HU"/>
              <a:t>2, Az eddig surveyt használók is megismerhetnék az adminisztratív adatbázisok felhasználásának irányvonalait.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hu-HU"/>
              <a:t>A workshop részei: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hu-HU"/>
              <a:t> Az első felében a két téma köré szerveződik egy-egy szekció, melyben a kutatók megismerkedhetnek az adott módszer előnyeivel, hátrányaival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hu-HU"/>
              <a:t> Adott témában meghívott előadó segítségével konkrét kutatási kérdéseikben tanácsokat kapnak.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838200" y="275208"/>
            <a:ext cx="10515600" cy="5901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hu-HU"/>
              <a:t>1a. Survey módszer alkalmazási területei, lehetőségei és hátrányai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hu-HU"/>
              <a:t>Milyen típusú társadalomkutatási kérdések megválaszolására alkalmas a survey? Milyen alapvető hibákat követhetünk el? Hogyan tudjuk ezeket elkerülni? (Pl. idő dimenziók tisztázása a kérdések során, mintavételi egységek és a kérdések inkonzisztenciája stb.). Hogyan érdemes megtervezni egy adatfelvételt, milyen részei, buktatói vannak. Milyen válaszadási arányokra számíthatunk egyéni vagy vállalati survey-nél? Milyen elvárásaink lehetnek az adatfelvételt végző cég felé, mi az, ami a kutató feladata és mit bízzunk a cégre? Adatkezelési, adatvédelmi feladatok: Milyen esetekben kérjünk szakértői, jogi segítséget?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hu-HU"/>
              <a:t>előadó: Tóth Gergely, ügyvezető igazgató, Pharmaproject-Statisztika Bt.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hu-HU"/>
              <a:t>előadás 45 perc; kérdések/válaszok, konkrét kutatásokhoz kapcsolódóan is: 45 perc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838200" y="355107"/>
            <a:ext cx="10515600" cy="5821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hu-HU"/>
              <a:t>1b. Az adminisztratív adatbázisok általános tulajdonságai, ebből adódó előnyök és korlátok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u-HU"/>
              <a:t>Hogyan épül fel egy regiszter adatbázis? Milyen elemi egységek lehetnek a kiinduló pont (egyének, háztartások, lakás, stb.)? A teljeskörűség elemzési lehetőségei, pl. kis elemszámú társadalmi csoportok, a kutatási témák sokszínűsége. Milyen módon közelítsünk az adatokhoz. Már megvalósult kutatási témák bemutatása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u-HU"/>
              <a:t>előadók: Köllő János, tudományos tanácsadó KRTK KTI; a KRTK Adatbank vezetője, Tir Melinda KRTK Adatbank munkatárs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u-HU"/>
              <a:t>előadás 45 perc; kérdések/válaszok, konkrét kutatásokhoz kapcsolódóan is; 45 perc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838200" y="648070"/>
            <a:ext cx="10515600" cy="5528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hu-HU"/>
              <a:t>2. Összekapcsolás lehetőségei, főbb módszerek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u-HU"/>
              <a:t>Megvalósult kapcsolások bemutatása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u-HU"/>
              <a:t>Panelbeszélgetés, kérdések/válaszok; 1 óra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u-HU"/>
              <a:t>Résztvevők: Koren Miklós KRTK KTI tudományos főmunkatárs, Köllő János KRTK KTI tudományos tanácsadó, Dr. Németh Ádám infokommunikációs szakjogász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hu-HU"/>
              <a:t>A workshop második részében közös előadáson a kétféle adattípus összekapcsolási lehetőségeiről tartanánk rövid ismertetőt konkrét példákon keresztül.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ctrTitle"/>
          </p:nvPr>
        </p:nvSpPr>
        <p:spPr>
          <a:xfrm>
            <a:off x="1524000" y="2530135"/>
            <a:ext cx="9144000" cy="17133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r>
              <a:rPr lang="hu-HU" sz="2400"/>
              <a:t>Gergely Tóth:</a:t>
            </a:r>
            <a:br>
              <a:rPr b="1" lang="hu-HU" sz="3100"/>
            </a:br>
            <a:br>
              <a:rPr b="1" lang="hu-HU" sz="3100"/>
            </a:br>
            <a:r>
              <a:rPr lang="hu-HU" sz="2800">
                <a:solidFill>
                  <a:schemeClr val="dk1"/>
                </a:solidFill>
              </a:rPr>
              <a:t>Survey módszerről „bővebben”</a:t>
            </a:r>
            <a:br>
              <a:rPr b="1" lang="hu-HU" sz="3100"/>
            </a:br>
            <a:br>
              <a:rPr b="1" lang="hu-HU" sz="3100"/>
            </a:br>
            <a:endParaRPr b="1" sz="3100"/>
          </a:p>
        </p:txBody>
      </p:sp>
      <p:sp>
        <p:nvSpPr>
          <p:cNvPr id="121" name="Google Shape;121;p6"/>
          <p:cNvSpPr txBox="1"/>
          <p:nvPr>
            <p:ph idx="1" type="subTitle"/>
          </p:nvPr>
        </p:nvSpPr>
        <p:spPr>
          <a:xfrm>
            <a:off x="1524000" y="3923930"/>
            <a:ext cx="9144000" cy="2352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hu-HU" sz="2000"/>
              <a:t>In.: Surveyed or registered? Advice and presentations on survey data collection and the use of administrative databases.</a:t>
            </a:r>
            <a:endParaRPr sz="20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hu-HU" sz="2400"/>
              <a:t>Hibrid workshop</a:t>
            </a:r>
            <a:br>
              <a:rPr lang="hu-HU" sz="2400"/>
            </a:br>
            <a:r>
              <a:rPr lang="hu-HU" sz="2400"/>
              <a:t>2022. november 9. 13.00 – 15.30</a:t>
            </a:r>
            <a:endParaRPr/>
          </a:p>
        </p:txBody>
      </p:sp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580" y="520350"/>
            <a:ext cx="2301129" cy="1291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3271" y="705833"/>
            <a:ext cx="926672" cy="92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01886" y="720160"/>
            <a:ext cx="1591194" cy="603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gy embléma közelképe&#10;&#10;Automatikusan létrehozott leírás"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-1" t="0"/>
          <a:stretch/>
        </p:blipFill>
        <p:spPr>
          <a:xfrm>
            <a:off x="20" y="10"/>
            <a:ext cx="1219197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7"/>
          <p:cNvSpPr txBox="1"/>
          <p:nvPr>
            <p:ph type="ctrTitle"/>
          </p:nvPr>
        </p:nvSpPr>
        <p:spPr>
          <a:xfrm>
            <a:off x="6028696" y="2187456"/>
            <a:ext cx="4775075" cy="16309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hu-HU" sz="3200">
                <a:solidFill>
                  <a:schemeClr val="dk1"/>
                </a:solidFill>
              </a:rPr>
              <a:t>Survey módszerRŐL „BŐVEBBEN”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31" name="Google Shape;131;p7"/>
          <p:cNvSpPr txBox="1"/>
          <p:nvPr>
            <p:ph idx="1" type="subTitle"/>
          </p:nvPr>
        </p:nvSpPr>
        <p:spPr>
          <a:xfrm>
            <a:off x="6033793" y="3995988"/>
            <a:ext cx="4775075" cy="55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hu-HU">
                <a:solidFill>
                  <a:schemeClr val="dk1"/>
                </a:solidFill>
              </a:rPr>
              <a:t>Tóth Gergely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hu-HU">
                <a:solidFill>
                  <a:schemeClr val="dk1"/>
                </a:solidFill>
              </a:rPr>
              <a:t>Pharmaproject-Statisztika Bt</a:t>
            </a:r>
            <a:endParaRPr/>
          </a:p>
        </p:txBody>
      </p:sp>
      <p:pic>
        <p:nvPicPr>
          <p:cNvPr id="132" name="Google Shape;13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19048" cy="1419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Mottó 1.</a:t>
            </a:r>
            <a:endParaRPr/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hu-HU" sz="4000"/>
              <a:t>„Amilyen könnyű egy kérdőívet elkészíteni, olyan nehéz egy jó kérdőíves kutatás alapján minőségi adatokhoz jutni”</a:t>
            </a:r>
            <a:endParaRPr/>
          </a:p>
        </p:txBody>
      </p:sp>
      <p:sp>
        <p:nvSpPr>
          <p:cNvPr id="139" name="Google Shape;13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Gallup Story?</a:t>
            </a:r>
            <a:endParaRPr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hu-HU" sz="2800"/>
              <a:t>Ki ismeri Alf Landon nevét?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hu-HU" sz="2800"/>
              <a:t>					    És Franklin D. Roosevelt-ét?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hu-HU" sz="2800"/>
              <a:t>Minta 1936: Literary Digest 2 Millió vs.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hu-HU" sz="2800"/>
              <a:t>						Gallup 50 ezer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hu-HU" sz="2800"/>
              <a:t>1948: Harry Truman vs. Thomas Dewey	</a:t>
            </a:r>
            <a:endParaRPr/>
          </a:p>
        </p:txBody>
      </p:sp>
      <p:sp>
        <p:nvSpPr>
          <p:cNvPr id="147" name="Google Shape;1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148" name="Google Shape;1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Áttekintő</a:t>
            </a:r>
            <a:endParaRPr/>
          </a:p>
        </p:txBody>
      </p:sp>
      <p:sp>
        <p:nvSpPr>
          <p:cNvPr id="154" name="Google Shape;154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hu-HU" sz="3200"/>
              <a:t>Alapok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hu-HU" sz="3200"/>
              <a:t>Mintavétel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hu-HU" sz="3200"/>
              <a:t>Kérdőíves adatfelvételek típusai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hu-HU" sz="3200"/>
              <a:t>Kérdések típusai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hu-HU" sz="3200"/>
              <a:t>Lehetséges hibák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hu-HU" sz="3200"/>
              <a:t>GDPR</a:t>
            </a:r>
            <a:endParaRPr/>
          </a:p>
        </p:txBody>
      </p:sp>
      <p:sp>
        <p:nvSpPr>
          <p:cNvPr id="155" name="Google Shape;15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hu-HU" sz="4800"/>
              <a:t>Alapok</a:t>
            </a:r>
            <a:endParaRPr b="1"/>
          </a:p>
        </p:txBody>
      </p:sp>
      <p:sp>
        <p:nvSpPr>
          <p:cNvPr id="162" name="Google Shape;162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hu-HU" sz="3600"/>
              <a:t>Paradigma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hu-HU" sz="3600"/>
              <a:t>Módszerválasztás: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hu-HU" sz="3600"/>
              <a:t>		Mit szeretnénk megtudni?</a:t>
            </a:r>
            <a:endParaRPr sz="35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hu-HU" sz="3600"/>
              <a:t>Eredet: Leíró kutatás / várható érték / Felderítő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hu-HU" sz="3600"/>
              <a:t>Manapság: Magyarázókutatás / 				   					    Hipotézistesztelés</a:t>
            </a:r>
            <a:endParaRPr/>
          </a:p>
        </p:txBody>
      </p:sp>
      <p:sp>
        <p:nvSpPr>
          <p:cNvPr id="163" name="Google Shape;16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164" name="Google Shape;1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Miben „lehetne” jó a kérdőíves kutatás?</a:t>
            </a:r>
            <a:endParaRPr/>
          </a:p>
        </p:txBody>
      </p:sp>
      <p:sp>
        <p:nvSpPr>
          <p:cNvPr id="170" name="Google Shape;170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hu-HU" sz="3200"/>
              <a:t>Gyors információszerzés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hu-HU" sz="3200"/>
              <a:t>Primer kutatás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hu-HU" sz="3200"/>
              <a:t>Megbízhatóság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hu-HU" sz="3200"/>
              <a:t>Általánosíthatóság</a:t>
            </a:r>
            <a:endParaRPr sz="3200"/>
          </a:p>
        </p:txBody>
      </p:sp>
      <p:sp>
        <p:nvSpPr>
          <p:cNvPr id="171" name="Google Shape;1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172" name="Google Shape;1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Miben NEM jó a kérdőíves kutatás?</a:t>
            </a:r>
            <a:endParaRPr/>
          </a:p>
        </p:txBody>
      </p:sp>
      <p:sp>
        <p:nvSpPr>
          <p:cNvPr id="178" name="Google Shape;178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hu-HU" sz="3200"/>
              <a:t> Érvényesség (Kvalitatív vs. Kvantitatív)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hu-HU" sz="3200"/>
              <a:t> Ha a megfigyelési egység eltér az elemzési egységtől „szépséghibássá” válhat (aggregációs torzítás vagy vonatkoztatási hiba)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hu-HU" sz="3200"/>
              <a:t>Könnyen megvezethet (Könnyű adatforrás, de túl sok a csapda)</a:t>
            </a:r>
            <a:endParaRPr/>
          </a:p>
        </p:txBody>
      </p:sp>
      <p:sp>
        <p:nvSpPr>
          <p:cNvPr id="179" name="Google Shape;17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180" name="Google Shape;1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Konceptualizálás és operacionizálás fontossága</a:t>
            </a:r>
            <a:endParaRPr/>
          </a:p>
        </p:txBody>
      </p:sp>
      <p:sp>
        <p:nvSpPr>
          <p:cNvPr id="186" name="Google Shape;186;p14"/>
          <p:cNvSpPr txBox="1"/>
          <p:nvPr>
            <p:ph idx="1" type="body"/>
          </p:nvPr>
        </p:nvSpPr>
        <p:spPr>
          <a:xfrm>
            <a:off x="1038009" y="2014194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hu-HU" sz="3200"/>
              <a:t>Mennyire elégedett Ön az életével?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hu-HU" sz="3200"/>
              <a:t>				     vs.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hu-HU" sz="3200"/>
              <a:t>					Mennyire boldog Ön?</a:t>
            </a:r>
            <a:endParaRPr/>
          </a:p>
        </p:txBody>
      </p:sp>
      <p:sp>
        <p:nvSpPr>
          <p:cNvPr id="187" name="Google Shape;18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188" name="Google Shape;1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Idődimenzió</a:t>
            </a:r>
            <a:endParaRPr/>
          </a:p>
        </p:txBody>
      </p:sp>
      <p:sp>
        <p:nvSpPr>
          <p:cNvPr id="194" name="Google Shape;194;p15"/>
          <p:cNvSpPr txBox="1"/>
          <p:nvPr>
            <p:ph idx="1" type="body"/>
          </p:nvPr>
        </p:nvSpPr>
        <p:spPr>
          <a:xfrm>
            <a:off x="1038009" y="2014194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hu-HU" sz="3200"/>
              <a:t>Keresztmetszeti vs. Longitudinális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Az adatfelvétel idődimenziója (Pl.: választáskutatás, válság), de kérdőív hossza is…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A kérdések vonatkoztatási idődimenziója (Jövőre, múltra?)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hu-HU" sz="3200"/>
              <a:t>Retrosprektív kutatások elég rosszul működnek. Az adatforrás torzít (identitás megőrzésének igénye)</a:t>
            </a:r>
            <a:endParaRPr/>
          </a:p>
        </p:txBody>
      </p:sp>
      <p:sp>
        <p:nvSpPr>
          <p:cNvPr id="195" name="Google Shape;19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196" name="Google Shape;1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Adatfelvétel típusai</a:t>
            </a:r>
            <a:endParaRPr/>
          </a:p>
        </p:txBody>
      </p:sp>
      <p:sp>
        <p:nvSpPr>
          <p:cNvPr id="202" name="Google Shape;202;p16"/>
          <p:cNvSpPr txBox="1"/>
          <p:nvPr>
            <p:ph idx="1" type="body"/>
          </p:nvPr>
        </p:nvSpPr>
        <p:spPr>
          <a:xfrm>
            <a:off x="1038009" y="2014194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PAPI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CAPI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CATI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CAWI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Kombinált / Push-to-web</a:t>
            </a:r>
            <a:endParaRPr/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</p:txBody>
      </p:sp>
      <p:sp>
        <p:nvSpPr>
          <p:cNvPr id="203" name="Google Shape;20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204" name="Google Shape;2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"/>
          <p:cNvSpPr txBox="1"/>
          <p:nvPr>
            <p:ph type="title"/>
          </p:nvPr>
        </p:nvSpPr>
        <p:spPr>
          <a:xfrm>
            <a:off x="1066800" y="390525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Mintavétel</a:t>
            </a:r>
            <a:endParaRPr/>
          </a:p>
        </p:txBody>
      </p:sp>
      <p:sp>
        <p:nvSpPr>
          <p:cNvPr id="210" name="Google Shape;210;p17"/>
          <p:cNvSpPr txBox="1"/>
          <p:nvPr>
            <p:ph idx="1" type="body"/>
          </p:nvPr>
        </p:nvSpPr>
        <p:spPr>
          <a:xfrm>
            <a:off x="1066800" y="1394691"/>
            <a:ext cx="10058400" cy="507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hu-HU" sz="3200"/>
              <a:t>Reprezentativitás VS. Valószínűségi mintavétel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Reprezentetivitás: Adott dimenziókra nézve! (nem, kor, iskola, régió) (Kvótás?)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Valószínűségi: ismert bekerülési valószínűség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Súlyozás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hu-HU" sz="3000"/>
              <a:t>Design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hu-HU" sz="3000"/>
              <a:t>Utólagos rétegzési (Válaszmegtagadási arány)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hu-HU" sz="3000"/>
              <a:t>Projetkáló</a:t>
            </a:r>
            <a:endParaRPr sz="3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</a:pPr>
            <a:r>
              <a:rPr lang="hu-HU" sz="3400"/>
              <a:t>Mintavételi hiba vs. nem mintavételi hiba (torzítás)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</a:pPr>
            <a:r>
              <a:rPr lang="hu-HU" sz="3400"/>
              <a:t>„Design hatás”</a:t>
            </a:r>
            <a:endParaRPr/>
          </a:p>
          <a:p>
            <a:pPr indent="0" lvl="1" marL="27432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</p:txBody>
      </p:sp>
      <p:sp>
        <p:nvSpPr>
          <p:cNvPr id="211" name="Google Shape;21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212" name="Google Shape;2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/>
          <p:nvPr>
            <p:ph type="title"/>
          </p:nvPr>
        </p:nvSpPr>
        <p:spPr>
          <a:xfrm>
            <a:off x="1066800" y="390525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Kérdések típusai</a:t>
            </a:r>
            <a:endParaRPr/>
          </a:p>
        </p:txBody>
      </p:sp>
      <p:sp>
        <p:nvSpPr>
          <p:cNvPr id="218" name="Google Shape;218;p18"/>
          <p:cNvSpPr txBox="1"/>
          <p:nvPr>
            <p:ph idx="1" type="body"/>
          </p:nvPr>
        </p:nvSpPr>
        <p:spPr>
          <a:xfrm>
            <a:off x="1066800" y="1874981"/>
            <a:ext cx="10058400" cy="4592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1" marL="78867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hu-HU" sz="3000"/>
              <a:t>Nyitott vs zárt</a:t>
            </a:r>
            <a:endParaRPr/>
          </a:p>
          <a:p>
            <a:pPr indent="-514350" lvl="1" marL="78867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hu-HU" sz="3000"/>
              <a:t>Egy válaszos vs több válaszos</a:t>
            </a:r>
            <a:endParaRPr/>
          </a:p>
          <a:p>
            <a:pPr indent="-514350" lvl="1" marL="78867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hu-HU" sz="3000"/>
              <a:t>Táblázatos</a:t>
            </a:r>
            <a:endParaRPr/>
          </a:p>
          <a:p>
            <a:pPr indent="-514350" lvl="1" marL="78867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hu-HU" sz="3000"/>
              <a:t>Grafikus (HTML: „csillagos ég”)</a:t>
            </a:r>
            <a:endParaRPr/>
          </a:p>
        </p:txBody>
      </p:sp>
      <p:sp>
        <p:nvSpPr>
          <p:cNvPr id="219" name="Google Shape;2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220" name="Google Shape;2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/>
          <p:nvPr>
            <p:ph type="title"/>
          </p:nvPr>
        </p:nvSpPr>
        <p:spPr>
          <a:xfrm>
            <a:off x="1066800" y="390525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Kérdések típushibái</a:t>
            </a:r>
            <a:endParaRPr/>
          </a:p>
        </p:txBody>
      </p:sp>
      <p:sp>
        <p:nvSpPr>
          <p:cNvPr id="226" name="Google Shape;226;p19"/>
          <p:cNvSpPr txBox="1"/>
          <p:nvPr>
            <p:ph idx="1" type="body"/>
          </p:nvPr>
        </p:nvSpPr>
        <p:spPr>
          <a:xfrm>
            <a:off x="1066800" y="1874981"/>
            <a:ext cx="10058400" cy="4592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14350" lvl="1" marL="78867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AutoNum type="arabicPeriod"/>
            </a:pPr>
            <a:r>
              <a:rPr lang="hu-HU" sz="3000"/>
              <a:t>Nem érthető / nem plauzibilis a kérdezőnek</a:t>
            </a:r>
            <a:endParaRPr/>
          </a:p>
          <a:p>
            <a:pPr indent="0" lvl="1" marL="27432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i="1" lang="hu-HU" sz="3000"/>
              <a:t>„Hogyan értékeli Ön a jövő évi költségvetést?”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hu-HU" sz="2900"/>
              <a:t>Minta összetétele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lang="hu-HU" sz="2900"/>
              <a:t>Próbakérdezés fontossága</a:t>
            </a:r>
            <a:endParaRPr/>
          </a:p>
          <a:p>
            <a:pPr indent="0" lvl="1" marL="27432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hu-HU" sz="3000"/>
              <a:t>2. Sugalmazó kérdések</a:t>
            </a:r>
            <a:endParaRPr/>
          </a:p>
          <a:p>
            <a:pPr indent="0" lvl="1" marL="27432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i="1" lang="hu-HU" sz="3000"/>
              <a:t>„A szankciók az élelmiszer-ellátásra is súlyos hatással vannak. Ön egyetért az élelmiszerárak emelkedését okozó szankciókkal?”</a:t>
            </a:r>
            <a:endParaRPr/>
          </a:p>
          <a:p>
            <a:pPr indent="0" lvl="1" marL="27432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hu-HU" sz="3000"/>
              <a:t>3. Dupla-triplacsövű kérdések</a:t>
            </a:r>
            <a:endParaRPr/>
          </a:p>
          <a:p>
            <a:pPr indent="0" lvl="1" marL="27432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i="1" lang="hu-HU" sz="3000"/>
              <a:t>„Mennyire elégedett Ön a jelenlegi fizetésével és a béren kívüli juttatásokkal?”</a:t>
            </a:r>
            <a:endParaRPr/>
          </a:p>
        </p:txBody>
      </p:sp>
      <p:sp>
        <p:nvSpPr>
          <p:cNvPr id="227" name="Google Shape;22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228" name="Google Shape;2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 txBox="1"/>
          <p:nvPr>
            <p:ph type="title"/>
          </p:nvPr>
        </p:nvSpPr>
        <p:spPr>
          <a:xfrm>
            <a:off x="1066800" y="390525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Kérdések típushibái</a:t>
            </a:r>
            <a:endParaRPr/>
          </a:p>
        </p:txBody>
      </p:sp>
      <p:sp>
        <p:nvSpPr>
          <p:cNvPr id="234" name="Google Shape;234;p20"/>
          <p:cNvSpPr txBox="1"/>
          <p:nvPr>
            <p:ph idx="1" type="body"/>
          </p:nvPr>
        </p:nvSpPr>
        <p:spPr>
          <a:xfrm>
            <a:off x="1066800" y="1874981"/>
            <a:ext cx="10058400" cy="45924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hu-HU" sz="3000"/>
              <a:t>4. Kerülendőek a mindenre kiterjedő kérdések</a:t>
            </a:r>
            <a:endParaRPr/>
          </a:p>
          <a:p>
            <a:pPr indent="0" lvl="1" marL="27432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hu-HU" sz="3000"/>
              <a:t>Mindenki / senki / mindenkor</a:t>
            </a:r>
            <a:endParaRPr/>
          </a:p>
          <a:p>
            <a:pPr indent="0" lvl="1" marL="27432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i="1" lang="hu-HU" sz="3000"/>
              <a:t>„Ön szokott minden reggel enni?” Igen /nem</a:t>
            </a:r>
            <a:endParaRPr/>
          </a:p>
          <a:p>
            <a:pPr indent="0" lvl="1" marL="27432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hu-HU" sz="3000"/>
              <a:t>5. Tagadó /dupla tagadó kérdések kerülendőek</a:t>
            </a:r>
            <a:endParaRPr/>
          </a:p>
          <a:p>
            <a:pPr indent="0" lvl="1" marL="27432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i="1" lang="hu-HU" sz="3000"/>
              <a:t>„Ön sem ért egyet avval az állítással, hogy nem kéne emelni a szociális kiadásokat?”</a:t>
            </a:r>
            <a:endParaRPr/>
          </a:p>
        </p:txBody>
      </p:sp>
      <p:sp>
        <p:nvSpPr>
          <p:cNvPr id="235" name="Google Shape;23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236" name="Google Shape;2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Jó kérdőív jellemzői</a:t>
            </a:r>
            <a:endParaRPr/>
          </a:p>
        </p:txBody>
      </p:sp>
      <p:sp>
        <p:nvSpPr>
          <p:cNvPr id="242" name="Google Shape;242;p21"/>
          <p:cNvSpPr txBox="1"/>
          <p:nvPr>
            <p:ph idx="1" type="body"/>
          </p:nvPr>
        </p:nvSpPr>
        <p:spPr>
          <a:xfrm>
            <a:off x="1038009" y="2014194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Rövid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Érthető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„Storytelling” – íve van és élményt ad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Nem manipulál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38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</p:txBody>
      </p:sp>
      <p:sp>
        <p:nvSpPr>
          <p:cNvPr id="243" name="Google Shape;24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244" name="Google Shape;2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GDPR</a:t>
            </a:r>
            <a:endParaRPr/>
          </a:p>
        </p:txBody>
      </p:sp>
      <p:sp>
        <p:nvSpPr>
          <p:cNvPr id="250" name="Google Shape;250;p22"/>
          <p:cNvSpPr txBox="1"/>
          <p:nvPr>
            <p:ph idx="1" type="body"/>
          </p:nvPr>
        </p:nvSpPr>
        <p:spPr>
          <a:xfrm>
            <a:off x="1038009" y="2014194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 Adatvédelmi szempontok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 Személyes adatkezelés! (Google?)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 Tájékoztatás kötelezettsége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hu-HU" sz="3200"/>
              <a:t> Tudományos kutatás (Etikai engedély? Pl.: kísérlet)</a:t>
            </a:r>
            <a:endParaRPr/>
          </a:p>
          <a:p>
            <a:pPr indent="-38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</p:txBody>
      </p:sp>
      <p:sp>
        <p:nvSpPr>
          <p:cNvPr id="251" name="Google Shape;2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252" name="Google Shape;2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Záró mottó</a:t>
            </a:r>
            <a:endParaRPr/>
          </a:p>
        </p:txBody>
      </p:sp>
      <p:sp>
        <p:nvSpPr>
          <p:cNvPr id="258" name="Google Shape;258;p23"/>
          <p:cNvSpPr txBox="1"/>
          <p:nvPr>
            <p:ph idx="1" type="body"/>
          </p:nvPr>
        </p:nvSpPr>
        <p:spPr>
          <a:xfrm>
            <a:off x="1038009" y="2014194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i="1" lang="hu-HU" sz="3600"/>
              <a:t>Kérdőívet készíteni olyan mint házat építeni: csak befejezni lehet, de sosem készül el teljesen… </a:t>
            </a:r>
            <a:endParaRPr/>
          </a:p>
        </p:txBody>
      </p:sp>
      <p:sp>
        <p:nvSpPr>
          <p:cNvPr id="259" name="Google Shape;25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>
            <p:ph idx="1" type="body"/>
          </p:nvPr>
        </p:nvSpPr>
        <p:spPr>
          <a:xfrm>
            <a:off x="1038009" y="2014194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i="1" lang="hu-HU" sz="4400"/>
              <a:t>Köszönöm a figyelmet!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i="1" sz="36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i="1" sz="36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i="1" sz="36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i="1" lang="hu-HU" sz="3600"/>
              <a:t>ppstatisztika@gmail.com</a:t>
            </a:r>
            <a:endParaRPr/>
          </a:p>
        </p:txBody>
      </p:sp>
      <p:sp>
        <p:nvSpPr>
          <p:cNvPr id="266" name="Google Shape;26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/>
              <a:t>2023. 05. 26.</a:t>
            </a:r>
            <a:endParaRPr/>
          </a:p>
        </p:txBody>
      </p:sp>
      <p:pic>
        <p:nvPicPr>
          <p:cNvPr id="267" name="Google Shape;2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3027" y="357620"/>
            <a:ext cx="1225175" cy="718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/>
          <p:nvPr>
            <p:ph type="ctrTitle"/>
          </p:nvPr>
        </p:nvSpPr>
        <p:spPr>
          <a:xfrm>
            <a:off x="1524000" y="2530135"/>
            <a:ext cx="9144000" cy="17133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br>
              <a:rPr lang="hu-HU" sz="2400"/>
            </a:br>
            <a:r>
              <a:rPr lang="hu-HU" sz="2400"/>
              <a:t>Melinda Tir:</a:t>
            </a:r>
            <a:br>
              <a:rPr b="1" lang="hu-HU" sz="3100"/>
            </a:br>
            <a:br>
              <a:rPr b="1" lang="hu-HU" sz="3100"/>
            </a:br>
            <a:r>
              <a:rPr b="1" lang="hu-HU" sz="3100"/>
              <a:t>Kérdezve vagy regisztrálva: A regiszter adatokról</a:t>
            </a:r>
            <a:br>
              <a:rPr b="1" lang="hu-HU" sz="3100"/>
            </a:br>
            <a:endParaRPr b="1" sz="3100"/>
          </a:p>
        </p:txBody>
      </p:sp>
      <p:sp>
        <p:nvSpPr>
          <p:cNvPr id="273" name="Google Shape;273;p25"/>
          <p:cNvSpPr txBox="1"/>
          <p:nvPr>
            <p:ph idx="1" type="subTitle"/>
          </p:nvPr>
        </p:nvSpPr>
        <p:spPr>
          <a:xfrm>
            <a:off x="1524000" y="3923930"/>
            <a:ext cx="9144000" cy="2352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hu-HU" sz="2000"/>
              <a:t>In.: Surveyed or registered? Advice and presentations on survey data collection and the use of administrative databases.</a:t>
            </a:r>
            <a:endParaRPr sz="20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hu-HU" sz="2400"/>
              <a:t>Hibrid workshop</a:t>
            </a:r>
            <a:br>
              <a:rPr lang="hu-HU" sz="2400"/>
            </a:br>
            <a:r>
              <a:rPr lang="hu-HU" sz="2400"/>
              <a:t>2022. november 9. 13.00 – 15.30</a:t>
            </a:r>
            <a:endParaRPr/>
          </a:p>
        </p:txBody>
      </p:sp>
      <p:pic>
        <p:nvPicPr>
          <p:cNvPr id="274" name="Google Shape;2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580" y="520350"/>
            <a:ext cx="2301129" cy="1291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43271" y="705833"/>
            <a:ext cx="926672" cy="92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01886" y="720160"/>
            <a:ext cx="1591194" cy="603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hu-HU"/>
              <a:t>Kérdezve vagy regisztrálva: A regiszter adatokról</a:t>
            </a:r>
            <a:endParaRPr/>
          </a:p>
        </p:txBody>
      </p:sp>
      <p:pic>
        <p:nvPicPr>
          <p:cNvPr id="282" name="Google Shape;282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8935" y="2757240"/>
            <a:ext cx="2854345" cy="198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/>
          <p:nvPr/>
        </p:nvSpPr>
        <p:spPr>
          <a:xfrm>
            <a:off x="1153298" y="1018561"/>
            <a:ext cx="8130746" cy="4678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hu-HU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Rövid Áttekintés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hu-H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regiszter és a kapcsolt regiszter adatokról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hu-H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KRTK Adminisztratív Adatkapcsolásainak bemutatása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hu-H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Mitől más egy kapcsolt adminisztratív panel, mint a hagyományosan rendelkezésre álló adatforrások?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hu-H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Milyen módon közelítsünk az adatokhoz?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hu-H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Néhány kutatási példa bemutatása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4044" y="65007"/>
            <a:ext cx="1224387" cy="85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8"/>
          <p:cNvSpPr/>
          <p:nvPr/>
        </p:nvSpPr>
        <p:spPr>
          <a:xfrm>
            <a:off x="1153298" y="1018561"/>
            <a:ext cx="8130746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regiszter és a kapcsolt regiszter adatokról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Regiszter adatok</a:t>
            </a: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Leginkább államigazgatási szereplők feladataik ellátásához kötődő nyilvántartási, engedélyezési, jogosultsági adatbázisai.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Jellemzője a célcsoport teljes lefedettsége és egyedi azonosíthatósága.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Példák: egyes KSH OSAP felvételek, NAV bevallások, egészségügyi, oktatási, munkanélküli regiszterek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5960" y="167974"/>
            <a:ext cx="1224387" cy="85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"/>
          <p:cNvSpPr/>
          <p:nvPr/>
        </p:nvSpPr>
        <p:spPr>
          <a:xfrm>
            <a:off x="1153298" y="1018561"/>
            <a:ext cx="8130746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Kapcsolt regiszter adatok</a:t>
            </a: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Alapja a 2007 CI. Törvény (visszavonva)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Alapelve, hogy egy vagy több közös azonosító mentén összekapcsolható regisztereket/felvételeket ugyanazon mintára (max 50 %), ugyanarra az időszakra egyesíti.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Megvalósult adatintegrációk: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Pénzügyminisztérium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Oktatási Hivatal (Diplomás pályakövetés)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MNB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KRTK</a:t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5960" y="167974"/>
            <a:ext cx="1224387" cy="85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/>
          <p:nvPr/>
        </p:nvSpPr>
        <p:spPr>
          <a:xfrm>
            <a:off x="2067407" y="3258841"/>
            <a:ext cx="813074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KRTK Adminisztratív Adatkapcsolásai</a:t>
            </a:r>
            <a:endParaRPr/>
          </a:p>
        </p:txBody>
      </p:sp>
      <p:pic>
        <p:nvPicPr>
          <p:cNvPr id="306" name="Google Shape;3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5960" y="37958"/>
            <a:ext cx="1224387" cy="85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 txBox="1"/>
          <p:nvPr>
            <p:ph idx="1" type="body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r>
              <a:rPr b="1" lang="hu-HU"/>
              <a:t>Eddig megvalósult/folyamatban lévő adatkapcsolások</a:t>
            </a:r>
            <a:endParaRPr/>
          </a:p>
        </p:txBody>
      </p:sp>
      <p:cxnSp>
        <p:nvCxnSpPr>
          <p:cNvPr id="312" name="Google Shape;312;p31"/>
          <p:cNvCxnSpPr/>
          <p:nvPr/>
        </p:nvCxnSpPr>
        <p:spPr>
          <a:xfrm>
            <a:off x="904143" y="5149875"/>
            <a:ext cx="10383715" cy="0"/>
          </a:xfrm>
          <a:prstGeom prst="straightConnector1">
            <a:avLst/>
          </a:prstGeom>
          <a:noFill/>
          <a:ln cap="flat" cmpd="sng" w="22225">
            <a:solidFill>
              <a:srgbClr val="3F3F3F"/>
            </a:solidFill>
            <a:prstDash val="solid"/>
            <a:miter lim="800000"/>
            <a:headEnd len="med" w="med" type="oval"/>
            <a:tailEnd len="med" w="med" type="oval"/>
          </a:ln>
        </p:spPr>
      </p:cxnSp>
      <p:sp>
        <p:nvSpPr>
          <p:cNvPr id="313" name="Google Shape;313;p31"/>
          <p:cNvSpPr/>
          <p:nvPr/>
        </p:nvSpPr>
        <p:spPr>
          <a:xfrm rot="-2700000">
            <a:off x="1293084" y="4919532"/>
            <a:ext cx="432048" cy="432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 txBox="1"/>
          <p:nvPr/>
        </p:nvSpPr>
        <p:spPr>
          <a:xfrm>
            <a:off x="960631" y="5441061"/>
            <a:ext cx="10969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Admin1</a:t>
            </a:r>
            <a:endParaRPr b="1"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1"/>
          <p:cNvSpPr/>
          <p:nvPr/>
        </p:nvSpPr>
        <p:spPr>
          <a:xfrm>
            <a:off x="1406583" y="5034948"/>
            <a:ext cx="201216" cy="2012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1"/>
          <p:cNvSpPr/>
          <p:nvPr/>
        </p:nvSpPr>
        <p:spPr>
          <a:xfrm rot="-2700000">
            <a:off x="3583782" y="4919532"/>
            <a:ext cx="432048" cy="432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1"/>
          <p:cNvSpPr txBox="1"/>
          <p:nvPr/>
        </p:nvSpPr>
        <p:spPr>
          <a:xfrm>
            <a:off x="3312943" y="5461292"/>
            <a:ext cx="10969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Admin2</a:t>
            </a:r>
            <a:endParaRPr b="1"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3697281" y="5034948"/>
            <a:ext cx="201216" cy="2012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1"/>
          <p:cNvSpPr/>
          <p:nvPr/>
        </p:nvSpPr>
        <p:spPr>
          <a:xfrm rot="-2700000">
            <a:off x="6861410" y="4967523"/>
            <a:ext cx="432048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1"/>
          <p:cNvSpPr txBox="1"/>
          <p:nvPr/>
        </p:nvSpPr>
        <p:spPr>
          <a:xfrm>
            <a:off x="6491613" y="5466785"/>
            <a:ext cx="10969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Admin3</a:t>
            </a:r>
            <a:endParaRPr b="1"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7040091" y="5099631"/>
            <a:ext cx="201216" cy="2012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1"/>
          <p:cNvSpPr/>
          <p:nvPr/>
        </p:nvSpPr>
        <p:spPr>
          <a:xfrm rot="-2700000">
            <a:off x="10455876" y="4919532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1"/>
          <p:cNvSpPr txBox="1"/>
          <p:nvPr/>
        </p:nvSpPr>
        <p:spPr>
          <a:xfrm>
            <a:off x="10123423" y="5441061"/>
            <a:ext cx="10969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Admin4</a:t>
            </a:r>
            <a:endParaRPr b="1"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10569375" y="5034948"/>
            <a:ext cx="201216" cy="20121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1487950" y="4532135"/>
            <a:ext cx="2160000" cy="108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6" name="Google Shape;326;p31"/>
          <p:cNvGrpSpPr/>
          <p:nvPr/>
        </p:nvGrpSpPr>
        <p:grpSpPr>
          <a:xfrm>
            <a:off x="1497960" y="1983387"/>
            <a:ext cx="1779952" cy="2461641"/>
            <a:chOff x="1654682" y="1766707"/>
            <a:chExt cx="1149935" cy="712590"/>
          </a:xfrm>
        </p:grpSpPr>
        <p:sp>
          <p:nvSpPr>
            <p:cNvPr id="327" name="Google Shape;327;p31"/>
            <p:cNvSpPr txBox="1"/>
            <p:nvPr/>
          </p:nvSpPr>
          <p:spPr>
            <a:xfrm>
              <a:off x="1654682" y="1971459"/>
              <a:ext cx="1088061" cy="507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hu-HU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4 602 000 egyén (15-74)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hu-HU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Nincs munkáltatói információ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hu-HU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Adatgazdák száma 3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OEP, ONYF, ÁFSZ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31"/>
            <p:cNvSpPr txBox="1"/>
            <p:nvPr/>
          </p:nvSpPr>
          <p:spPr>
            <a:xfrm>
              <a:off x="1704484" y="1766707"/>
              <a:ext cx="1100133" cy="1183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hu-HU" sz="14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Időszak:2002-2009</a:t>
              </a:r>
              <a:endParaRPr b="1" sz="1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29" name="Google Shape;329;p31"/>
          <p:cNvCxnSpPr/>
          <p:nvPr/>
        </p:nvCxnSpPr>
        <p:spPr>
          <a:xfrm>
            <a:off x="1487950" y="2537197"/>
            <a:ext cx="10011" cy="1513622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dash"/>
            <a:miter lim="800000"/>
            <a:headEnd len="med" w="med" type="oval"/>
            <a:tailEnd len="med" w="med" type="oval"/>
          </a:ln>
        </p:spPr>
      </p:cxnSp>
      <p:sp>
        <p:nvSpPr>
          <p:cNvPr id="330" name="Google Shape;330;p31"/>
          <p:cNvSpPr/>
          <p:nvPr/>
        </p:nvSpPr>
        <p:spPr>
          <a:xfrm>
            <a:off x="3774325" y="4242862"/>
            <a:ext cx="2160000" cy="108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1" name="Google Shape;331;p31"/>
          <p:cNvGrpSpPr/>
          <p:nvPr/>
        </p:nvGrpSpPr>
        <p:grpSpPr>
          <a:xfrm>
            <a:off x="3829660" y="1717606"/>
            <a:ext cx="1785508" cy="1766307"/>
            <a:chOff x="1682719" y="1109361"/>
            <a:chExt cx="1083449" cy="1766307"/>
          </a:xfrm>
        </p:grpSpPr>
        <p:sp>
          <p:nvSpPr>
            <p:cNvPr id="332" name="Google Shape;332;p31"/>
            <p:cNvSpPr txBox="1"/>
            <p:nvPr/>
          </p:nvSpPr>
          <p:spPr>
            <a:xfrm>
              <a:off x="1682719" y="1675339"/>
              <a:ext cx="1018432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hu-HU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4 601 999 egyén (5-74)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hu-HU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886 425 munkáltató</a:t>
              </a:r>
              <a:endParaRPr/>
            </a:p>
            <a:p>
              <a:pPr indent="-171450" lvl="0" marL="1714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Char char="•"/>
              </a:pPr>
              <a:r>
                <a:rPr lang="hu-HU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Adatgazdák száma 5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OEP, ONYF, NAV, ÁFSZ, OH</a:t>
              </a:r>
              <a:endParaRPr/>
            </a:p>
          </p:txBody>
        </p:sp>
        <p:sp>
          <p:nvSpPr>
            <p:cNvPr id="333" name="Google Shape;333;p31"/>
            <p:cNvSpPr txBox="1"/>
            <p:nvPr/>
          </p:nvSpPr>
          <p:spPr>
            <a:xfrm>
              <a:off x="1686671" y="1109361"/>
              <a:ext cx="107949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hu-HU" sz="14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Időszak:2003-2011</a:t>
              </a:r>
              <a:endParaRPr b="1" sz="1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4" name="Google Shape;334;p31"/>
          <p:cNvCxnSpPr/>
          <p:nvPr/>
        </p:nvCxnSpPr>
        <p:spPr>
          <a:xfrm>
            <a:off x="3755072" y="2131887"/>
            <a:ext cx="29264" cy="1717851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dash"/>
            <a:miter lim="800000"/>
            <a:headEnd len="med" w="med" type="oval"/>
            <a:tailEnd len="med" w="med" type="oval"/>
          </a:ln>
        </p:spPr>
      </p:cxnSp>
      <p:sp>
        <p:nvSpPr>
          <p:cNvPr id="335" name="Google Shape;335;p31"/>
          <p:cNvSpPr/>
          <p:nvPr/>
        </p:nvSpPr>
        <p:spPr>
          <a:xfrm>
            <a:off x="6110127" y="4031976"/>
            <a:ext cx="2160000" cy="108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6" name="Google Shape;336;p31"/>
          <p:cNvGrpSpPr/>
          <p:nvPr/>
        </p:nvGrpSpPr>
        <p:grpSpPr>
          <a:xfrm>
            <a:off x="6198707" y="1475804"/>
            <a:ext cx="1840394" cy="2093458"/>
            <a:chOff x="1724504" y="1489130"/>
            <a:chExt cx="1048684" cy="2093458"/>
          </a:xfrm>
        </p:grpSpPr>
        <p:sp>
          <p:nvSpPr>
            <p:cNvPr id="337" name="Google Shape;337;p31"/>
            <p:cNvSpPr txBox="1"/>
            <p:nvPr/>
          </p:nvSpPr>
          <p:spPr>
            <a:xfrm>
              <a:off x="1724504" y="2012928"/>
              <a:ext cx="1018432" cy="1569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5 174 486 egyén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886 425 munkáltató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Adatgazdák száma 5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NEAK, ONYF, NAV, NMH, OH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Egészségügyi, oktatási adatkör bővítése</a:t>
              </a:r>
              <a:endParaRPr/>
            </a:p>
          </p:txBody>
        </p:sp>
        <p:sp>
          <p:nvSpPr>
            <p:cNvPr id="338" name="Google Shape;338;p31"/>
            <p:cNvSpPr txBox="1"/>
            <p:nvPr/>
          </p:nvSpPr>
          <p:spPr>
            <a:xfrm>
              <a:off x="1749342" y="1489130"/>
              <a:ext cx="102384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hu-HU" sz="14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Időszak:2003-2017</a:t>
              </a:r>
              <a:endParaRPr b="1" sz="1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9" name="Google Shape;339;p31"/>
          <p:cNvCxnSpPr/>
          <p:nvPr/>
        </p:nvCxnSpPr>
        <p:spPr>
          <a:xfrm>
            <a:off x="6041447" y="1949854"/>
            <a:ext cx="29264" cy="1695655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dash"/>
            <a:miter lim="800000"/>
            <a:headEnd len="med" w="med" type="oval"/>
            <a:tailEnd len="med" w="med" type="oval"/>
          </a:ln>
        </p:spPr>
      </p:cxnSp>
      <p:sp>
        <p:nvSpPr>
          <p:cNvPr id="340" name="Google Shape;340;p31"/>
          <p:cNvSpPr/>
          <p:nvPr/>
        </p:nvSpPr>
        <p:spPr>
          <a:xfrm>
            <a:off x="8373342" y="3795699"/>
            <a:ext cx="2160000" cy="1080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1" name="Google Shape;341;p31"/>
          <p:cNvGrpSpPr/>
          <p:nvPr/>
        </p:nvGrpSpPr>
        <p:grpSpPr>
          <a:xfrm>
            <a:off x="8354074" y="1263707"/>
            <a:ext cx="2143006" cy="2663206"/>
            <a:chOff x="1648215" y="1305830"/>
            <a:chExt cx="1073059" cy="2356946"/>
          </a:xfrm>
        </p:grpSpPr>
        <p:sp>
          <p:nvSpPr>
            <p:cNvPr id="342" name="Google Shape;342;p31"/>
            <p:cNvSpPr txBox="1"/>
            <p:nvPr/>
          </p:nvSpPr>
          <p:spPr>
            <a:xfrm>
              <a:off x="1702842" y="1619902"/>
              <a:ext cx="1018432" cy="20428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6 393 158 egyén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Munkáltatók számát még nem tudjuk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Adatgazdák száma 6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NEAK, ONYF, NAV, NMH, OH, NSZFH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Egészségügyi, oktatási adatkör további bővítése, családi pótlék adatok (anya-gyerek kapcsolat), új belépők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343" name="Google Shape;343;p31"/>
            <p:cNvSpPr txBox="1"/>
            <p:nvPr/>
          </p:nvSpPr>
          <p:spPr>
            <a:xfrm>
              <a:off x="1648215" y="1305830"/>
              <a:ext cx="1023846" cy="272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108000" spcFirstLastPara="1" rIns="108000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hu-HU" sz="14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Időszak:2003-2021</a:t>
              </a:r>
              <a:endParaRPr b="1" sz="1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44" name="Google Shape;344;p31"/>
          <p:cNvCxnSpPr/>
          <p:nvPr/>
        </p:nvCxnSpPr>
        <p:spPr>
          <a:xfrm>
            <a:off x="8354074" y="1672916"/>
            <a:ext cx="3013" cy="1790560"/>
          </a:xfrm>
          <a:prstGeom prst="straightConnector1">
            <a:avLst/>
          </a:prstGeom>
          <a:noFill/>
          <a:ln cap="flat" cmpd="sng" w="19050">
            <a:solidFill>
              <a:srgbClr val="3F3F3F"/>
            </a:solidFill>
            <a:prstDash val="dash"/>
            <a:miter lim="800000"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/>
          <p:nvPr/>
        </p:nvSpPr>
        <p:spPr>
          <a:xfrm>
            <a:off x="2649434" y="2378668"/>
            <a:ext cx="1216681" cy="1147408"/>
          </a:xfrm>
          <a:prstGeom prst="ellipse">
            <a:avLst/>
          </a:prstGeom>
          <a:solidFill>
            <a:srgbClr val="1E4E79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NISZ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2"/>
          <p:cNvSpPr/>
          <p:nvPr/>
        </p:nvSpPr>
        <p:spPr>
          <a:xfrm>
            <a:off x="2736339" y="430750"/>
            <a:ext cx="91440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NEAK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2"/>
          <p:cNvSpPr/>
          <p:nvPr/>
        </p:nvSpPr>
        <p:spPr>
          <a:xfrm>
            <a:off x="1053446" y="1700114"/>
            <a:ext cx="91440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ONYF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2"/>
          <p:cNvSpPr/>
          <p:nvPr/>
        </p:nvSpPr>
        <p:spPr>
          <a:xfrm>
            <a:off x="4756578" y="1743155"/>
            <a:ext cx="91440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2"/>
          <p:cNvSpPr/>
          <p:nvPr/>
        </p:nvSpPr>
        <p:spPr>
          <a:xfrm>
            <a:off x="1075824" y="3326865"/>
            <a:ext cx="91440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NMH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4756578" y="3362164"/>
            <a:ext cx="91440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NAV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2514450" y="4785580"/>
            <a:ext cx="717569" cy="914400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MTA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3408914" y="5181253"/>
            <a:ext cx="914400" cy="914400"/>
          </a:xfrm>
          <a:prstGeom prst="rect">
            <a:avLst/>
          </a:prstGeom>
          <a:solidFill>
            <a:srgbClr val="C00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KRTK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2"/>
          <p:cNvSpPr/>
          <p:nvPr/>
        </p:nvSpPr>
        <p:spPr>
          <a:xfrm rot="-5400000">
            <a:off x="2658125" y="1703279"/>
            <a:ext cx="830529" cy="3172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/>
          <p:cNvSpPr/>
          <p:nvPr/>
        </p:nvSpPr>
        <p:spPr>
          <a:xfrm flipH="1" rot="-5400000">
            <a:off x="3011214" y="1754026"/>
            <a:ext cx="830529" cy="3172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2"/>
          <p:cNvSpPr/>
          <p:nvPr/>
        </p:nvSpPr>
        <p:spPr>
          <a:xfrm rot="-1199461">
            <a:off x="3700863" y="2169291"/>
            <a:ext cx="830529" cy="3172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/>
          <p:nvPr/>
        </p:nvSpPr>
        <p:spPr>
          <a:xfrm rot="9550699">
            <a:off x="3838044" y="2483452"/>
            <a:ext cx="727656" cy="3172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/>
          <p:cNvSpPr/>
          <p:nvPr/>
        </p:nvSpPr>
        <p:spPr>
          <a:xfrm rot="1588306">
            <a:off x="3893286" y="3245060"/>
            <a:ext cx="830529" cy="3172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"/>
          <p:cNvSpPr/>
          <p:nvPr/>
        </p:nvSpPr>
        <p:spPr>
          <a:xfrm rot="9226927">
            <a:off x="2148449" y="3612943"/>
            <a:ext cx="830529" cy="3172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2"/>
          <p:cNvSpPr/>
          <p:nvPr/>
        </p:nvSpPr>
        <p:spPr>
          <a:xfrm rot="-8754723">
            <a:off x="2093915" y="2446243"/>
            <a:ext cx="519496" cy="3172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2"/>
          <p:cNvSpPr/>
          <p:nvPr/>
        </p:nvSpPr>
        <p:spPr>
          <a:xfrm flipH="1" rot="-8325181">
            <a:off x="2090186" y="2062828"/>
            <a:ext cx="830529" cy="3172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2"/>
          <p:cNvSpPr/>
          <p:nvPr/>
        </p:nvSpPr>
        <p:spPr>
          <a:xfrm flipH="1" rot="9457461">
            <a:off x="2113809" y="3225731"/>
            <a:ext cx="579766" cy="3172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2"/>
          <p:cNvSpPr/>
          <p:nvPr/>
        </p:nvSpPr>
        <p:spPr>
          <a:xfrm flipH="1" rot="1941169">
            <a:off x="3671164" y="3489811"/>
            <a:ext cx="830529" cy="3172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2"/>
          <p:cNvSpPr/>
          <p:nvPr/>
        </p:nvSpPr>
        <p:spPr>
          <a:xfrm flipH="1" rot="5400000">
            <a:off x="2711936" y="4013280"/>
            <a:ext cx="830529" cy="3172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2"/>
          <p:cNvSpPr/>
          <p:nvPr/>
        </p:nvSpPr>
        <p:spPr>
          <a:xfrm flipH="1" rot="-5400000">
            <a:off x="2972824" y="4276342"/>
            <a:ext cx="1301813" cy="3172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2"/>
          <p:cNvSpPr txBox="1"/>
          <p:nvPr/>
        </p:nvSpPr>
        <p:spPr>
          <a:xfrm>
            <a:off x="6151418" y="825243"/>
            <a:ext cx="5871808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Admin3 példáján az adatkapcsolás folyamata (2007.CI, tv szerint)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MTA Elnök 🡪 NISZ a 2007.CI tv alapján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NISZ 🡪 adatgazdák: hash1 (TAJ), hash2 (adóazonosító) kódoló algoritmusok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NEAK: 50%-os TAJ minta (2003.01.01.).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Adatgazdák 🡪 TAJ alapján leválogatott állományok, hash1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ONYF, NAV: vállalati adóazonosítók alapján leválogatott állományok, hash2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NISZ: anonimizálás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NISZ 🡪 KRTK: kapcsolt állomány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KRTK: spell szerkezetűből fix formátumú havi panel. Javítás, tisztítás, tesztelés: 2-3 év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3"/>
          <p:cNvSpPr txBox="1"/>
          <p:nvPr/>
        </p:nvSpPr>
        <p:spPr>
          <a:xfrm>
            <a:off x="4452396" y="298297"/>
            <a:ext cx="17491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3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5705553" y="1654989"/>
            <a:ext cx="2629844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 dolgozik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3"/>
          <p:cNvSpPr/>
          <p:nvPr/>
        </p:nvSpPr>
        <p:spPr>
          <a:xfrm>
            <a:off x="5705551" y="2679455"/>
            <a:ext cx="2629845" cy="185147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Belépés, kilépés ideje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Foglalkozás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Fogl. jogviszony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Kereset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Kollégák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3"/>
          <p:cNvSpPr/>
          <p:nvPr/>
        </p:nvSpPr>
        <p:spPr>
          <a:xfrm>
            <a:off x="9559636" y="2251991"/>
            <a:ext cx="1662546" cy="9144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Munkáltató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3"/>
          <p:cNvSpPr/>
          <p:nvPr/>
        </p:nvSpPr>
        <p:spPr>
          <a:xfrm>
            <a:off x="9559636" y="3166391"/>
            <a:ext cx="1662546" cy="2717528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Ágazat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Méret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Árbevétel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Tőke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Létszám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Beruházás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Stb, stb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3"/>
          <p:cNvSpPr/>
          <p:nvPr/>
        </p:nvSpPr>
        <p:spPr>
          <a:xfrm flipH="1">
            <a:off x="8450755" y="3226357"/>
            <a:ext cx="978408" cy="4846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3"/>
          <p:cNvSpPr/>
          <p:nvPr/>
        </p:nvSpPr>
        <p:spPr>
          <a:xfrm>
            <a:off x="3167011" y="1654989"/>
            <a:ext cx="214619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 nem dolgozik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3"/>
          <p:cNvSpPr/>
          <p:nvPr/>
        </p:nvSpPr>
        <p:spPr>
          <a:xfrm>
            <a:off x="3167010" y="2679456"/>
            <a:ext cx="2146195" cy="185147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Regisztrálás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Segély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Programrészvétel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Nyugdíj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Gyes-gyed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Egyéb transzferek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3"/>
          <p:cNvSpPr/>
          <p:nvPr/>
        </p:nvSpPr>
        <p:spPr>
          <a:xfrm>
            <a:off x="454038" y="4969519"/>
            <a:ext cx="7996717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Egészségi állapot proxik (háziorvos, szakorvos, gyógyszer, BNO), halálozás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801661" y="1654989"/>
            <a:ext cx="2100853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Jár-e iskolába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3"/>
          <p:cNvSpPr txBox="1"/>
          <p:nvPr/>
        </p:nvSpPr>
        <p:spPr>
          <a:xfrm>
            <a:off x="1299065" y="954792"/>
            <a:ext cx="923759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millió ember X 180 hónap (2003-2017). Minden hónapban tudjuk, hogy az (anonim) személy: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801661" y="2769157"/>
            <a:ext cx="2100853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Miféle iskolába?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Tesztpontszámai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OKM háttérkérdőív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4"/>
          <p:cNvSpPr txBox="1"/>
          <p:nvPr>
            <p:ph idx="1" type="body"/>
          </p:nvPr>
        </p:nvSpPr>
        <p:spPr>
          <a:xfrm>
            <a:off x="75879" y="353800"/>
            <a:ext cx="10804584" cy="724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None/>
            </a:pPr>
            <a:r>
              <a:rPr lang="hu-HU"/>
              <a:t>Adattisztítás folyamata:adatkéréstől a használatig</a:t>
            </a:r>
            <a:endParaRPr/>
          </a:p>
        </p:txBody>
      </p:sp>
      <p:sp>
        <p:nvSpPr>
          <p:cNvPr id="391" name="Google Shape;391;p34"/>
          <p:cNvSpPr/>
          <p:nvPr/>
        </p:nvSpPr>
        <p:spPr>
          <a:xfrm>
            <a:off x="2956628" y="1640658"/>
            <a:ext cx="593089" cy="2123308"/>
          </a:xfrm>
          <a:custGeom>
            <a:rect b="b" l="l" r="r" t="t"/>
            <a:pathLst>
              <a:path extrusionOk="0" h="2123308" w="593089">
                <a:moveTo>
                  <a:pt x="0" y="497090"/>
                </a:moveTo>
                <a:lnTo>
                  <a:pt x="86489" y="2123308"/>
                </a:lnTo>
                <a:lnTo>
                  <a:pt x="593089" y="1626171"/>
                </a:lnTo>
                <a:cubicBezTo>
                  <a:pt x="571538" y="1060767"/>
                  <a:pt x="534303" y="813054"/>
                  <a:pt x="493702" y="0"/>
                </a:cubicBezTo>
                <a:cubicBezTo>
                  <a:pt x="339509" y="169088"/>
                  <a:pt x="149719" y="345079"/>
                  <a:pt x="0" y="497090"/>
                </a:cubicBezTo>
                <a:close/>
              </a:path>
            </a:pathLst>
          </a:custGeom>
          <a:solidFill>
            <a:srgbClr val="1F38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4487384" y="1639261"/>
            <a:ext cx="593089" cy="2123308"/>
          </a:xfrm>
          <a:custGeom>
            <a:rect b="b" l="l" r="r" t="t"/>
            <a:pathLst>
              <a:path extrusionOk="0" h="2123308" w="593089">
                <a:moveTo>
                  <a:pt x="0" y="497090"/>
                </a:moveTo>
                <a:lnTo>
                  <a:pt x="86489" y="2123308"/>
                </a:lnTo>
                <a:lnTo>
                  <a:pt x="593089" y="1626171"/>
                </a:lnTo>
                <a:cubicBezTo>
                  <a:pt x="571538" y="1060767"/>
                  <a:pt x="534303" y="813054"/>
                  <a:pt x="493702" y="0"/>
                </a:cubicBezTo>
                <a:cubicBezTo>
                  <a:pt x="339509" y="169088"/>
                  <a:pt x="149719" y="345079"/>
                  <a:pt x="0" y="497090"/>
                </a:cubicBezTo>
                <a:close/>
              </a:path>
            </a:pathLst>
          </a:custGeom>
          <a:solidFill>
            <a:srgbClr val="833C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4"/>
          <p:cNvSpPr/>
          <p:nvPr/>
        </p:nvSpPr>
        <p:spPr>
          <a:xfrm>
            <a:off x="7598730" y="2377579"/>
            <a:ext cx="764934" cy="1313994"/>
          </a:xfrm>
          <a:custGeom>
            <a:rect b="b" l="l" r="r" t="t"/>
            <a:pathLst>
              <a:path extrusionOk="0" h="1313994" w="764934">
                <a:moveTo>
                  <a:pt x="0" y="36945"/>
                </a:moveTo>
                <a:lnTo>
                  <a:pt x="659445" y="0"/>
                </a:lnTo>
                <a:lnTo>
                  <a:pt x="764934" y="816858"/>
                </a:lnTo>
                <a:lnTo>
                  <a:pt x="270649" y="1313994"/>
                </a:lnTo>
                <a:cubicBezTo>
                  <a:pt x="164012" y="903705"/>
                  <a:pt x="106637" y="447234"/>
                  <a:pt x="0" y="36945"/>
                </a:cubicBezTo>
                <a:close/>
              </a:path>
            </a:pathLst>
          </a:custGeom>
          <a:solidFill>
            <a:srgbClr val="7F6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6018140" y="1637864"/>
            <a:ext cx="593089" cy="2123308"/>
          </a:xfrm>
          <a:custGeom>
            <a:rect b="b" l="l" r="r" t="t"/>
            <a:pathLst>
              <a:path extrusionOk="0" h="2123308" w="593089">
                <a:moveTo>
                  <a:pt x="0" y="497090"/>
                </a:moveTo>
                <a:lnTo>
                  <a:pt x="86489" y="2123308"/>
                </a:lnTo>
                <a:lnTo>
                  <a:pt x="593089" y="1626171"/>
                </a:lnTo>
                <a:cubicBezTo>
                  <a:pt x="571538" y="1060767"/>
                  <a:pt x="534303" y="813054"/>
                  <a:pt x="493702" y="0"/>
                </a:cubicBezTo>
                <a:cubicBezTo>
                  <a:pt x="339509" y="169088"/>
                  <a:pt x="149719" y="345079"/>
                  <a:pt x="0" y="497090"/>
                </a:cubicBezTo>
                <a:close/>
              </a:path>
            </a:pathLst>
          </a:custGeom>
          <a:solidFill>
            <a:srgbClr val="5252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4"/>
          <p:cNvSpPr/>
          <p:nvPr/>
        </p:nvSpPr>
        <p:spPr>
          <a:xfrm>
            <a:off x="845708" y="1781577"/>
            <a:ext cx="8810625" cy="1647423"/>
          </a:xfrm>
          <a:prstGeom prst="rightArrow">
            <a:avLst>
              <a:gd fmla="val 50000" name="adj1"/>
              <a:gd fmla="val 62720" name="adj2"/>
            </a:avLst>
          </a:prstGeom>
          <a:solidFill>
            <a:srgbClr val="AEABA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4"/>
          <p:cNvSpPr/>
          <p:nvPr/>
        </p:nvSpPr>
        <p:spPr>
          <a:xfrm rot="2700000">
            <a:off x="1382227" y="2324634"/>
            <a:ext cx="2317763" cy="736699"/>
          </a:xfrm>
          <a:prstGeom prst="rect">
            <a:avLst/>
          </a:prstGeom>
          <a:solidFill>
            <a:schemeClr val="lt1"/>
          </a:solidFill>
          <a:ln cap="flat" cmpd="sng" w="635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4"/>
          <p:cNvSpPr/>
          <p:nvPr/>
        </p:nvSpPr>
        <p:spPr>
          <a:xfrm rot="2700000">
            <a:off x="2963357" y="2203022"/>
            <a:ext cx="2143588" cy="807032"/>
          </a:xfrm>
          <a:prstGeom prst="rect">
            <a:avLst/>
          </a:prstGeom>
          <a:solidFill>
            <a:schemeClr val="lt1"/>
          </a:solidFill>
          <a:ln cap="flat" cmpd="sng" w="635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4"/>
          <p:cNvSpPr/>
          <p:nvPr/>
        </p:nvSpPr>
        <p:spPr>
          <a:xfrm rot="2700000">
            <a:off x="4471649" y="2145613"/>
            <a:ext cx="2276456" cy="1021811"/>
          </a:xfrm>
          <a:prstGeom prst="rect">
            <a:avLst/>
          </a:prstGeom>
          <a:solidFill>
            <a:schemeClr val="lt1"/>
          </a:solidFill>
          <a:ln cap="flat" cmpd="sng" w="635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4"/>
          <p:cNvSpPr/>
          <p:nvPr/>
        </p:nvSpPr>
        <p:spPr>
          <a:xfrm rot="2700000">
            <a:off x="6621291" y="2038125"/>
            <a:ext cx="2422142" cy="991604"/>
          </a:xfrm>
          <a:prstGeom prst="rect">
            <a:avLst/>
          </a:prstGeom>
          <a:solidFill>
            <a:schemeClr val="lt1"/>
          </a:solidFill>
          <a:ln cap="flat" cmpd="sng" w="635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4"/>
          <p:cNvSpPr txBox="1"/>
          <p:nvPr/>
        </p:nvSpPr>
        <p:spPr>
          <a:xfrm rot="2700000">
            <a:off x="1446975" y="2591042"/>
            <a:ext cx="24627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Adatkérés, az adat beérkezése</a:t>
            </a:r>
            <a:endParaRPr b="1"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4"/>
          <p:cNvSpPr txBox="1"/>
          <p:nvPr/>
        </p:nvSpPr>
        <p:spPr>
          <a:xfrm rot="2700000">
            <a:off x="3047957" y="2406170"/>
            <a:ext cx="193984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Validálás, tisztítás, építés</a:t>
            </a:r>
            <a:endParaRPr b="1"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4"/>
          <p:cNvSpPr txBox="1"/>
          <p:nvPr/>
        </p:nvSpPr>
        <p:spPr>
          <a:xfrm rot="2700000">
            <a:off x="4572363" y="2283059"/>
            <a:ext cx="193984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Kollektív fázis, Kutatói visszacsatolás</a:t>
            </a:r>
            <a:endParaRPr b="1"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4"/>
          <p:cNvSpPr txBox="1"/>
          <p:nvPr/>
        </p:nvSpPr>
        <p:spPr>
          <a:xfrm rot="2700000">
            <a:off x="6693182" y="2068296"/>
            <a:ext cx="193984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Visszajelzések beépítése, adatbázis megnyitása </a:t>
            </a:r>
            <a:endParaRPr b="1" sz="1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9791350" y="1781577"/>
            <a:ext cx="1605299" cy="1470397"/>
          </a:xfrm>
          <a:custGeom>
            <a:rect b="b" l="l" r="r" t="t"/>
            <a:pathLst>
              <a:path extrusionOk="0" h="2940925" w="3210745">
                <a:moveTo>
                  <a:pt x="340528" y="2526682"/>
                </a:moveTo>
                <a:cubicBezTo>
                  <a:pt x="280875" y="2526682"/>
                  <a:pt x="232516" y="2575041"/>
                  <a:pt x="232516" y="2634694"/>
                </a:cubicBezTo>
                <a:cubicBezTo>
                  <a:pt x="232516" y="2694347"/>
                  <a:pt x="280875" y="2742706"/>
                  <a:pt x="340528" y="2742706"/>
                </a:cubicBezTo>
                <a:cubicBezTo>
                  <a:pt x="400181" y="2742706"/>
                  <a:pt x="448540" y="2694347"/>
                  <a:pt x="448540" y="2634694"/>
                </a:cubicBezTo>
                <a:cubicBezTo>
                  <a:pt x="448540" y="2575041"/>
                  <a:pt x="400181" y="2526682"/>
                  <a:pt x="340528" y="2526682"/>
                </a:cubicBezTo>
                <a:close/>
                <a:moveTo>
                  <a:pt x="1821636" y="152"/>
                </a:moveTo>
                <a:cubicBezTo>
                  <a:pt x="1920275" y="-4956"/>
                  <a:pt x="2051571" y="119306"/>
                  <a:pt x="2102482" y="278737"/>
                </a:cubicBezTo>
                <a:cubicBezTo>
                  <a:pt x="2192513" y="649582"/>
                  <a:pt x="1575154" y="1213351"/>
                  <a:pt x="2006019" y="1236931"/>
                </a:cubicBezTo>
                <a:cubicBezTo>
                  <a:pt x="2310412" y="1206920"/>
                  <a:pt x="2473326" y="1176910"/>
                  <a:pt x="2803442" y="1166192"/>
                </a:cubicBezTo>
                <a:cubicBezTo>
                  <a:pt x="3103547" y="1170479"/>
                  <a:pt x="3152850" y="1361260"/>
                  <a:pt x="3002798" y="1564903"/>
                </a:cubicBezTo>
                <a:cubicBezTo>
                  <a:pt x="3191435" y="1575621"/>
                  <a:pt x="3347919" y="1869296"/>
                  <a:pt x="3022090" y="1989338"/>
                </a:cubicBezTo>
                <a:cubicBezTo>
                  <a:pt x="3332913" y="2182262"/>
                  <a:pt x="3154994" y="2426634"/>
                  <a:pt x="2977074" y="2471650"/>
                </a:cubicBezTo>
                <a:cubicBezTo>
                  <a:pt x="3127127" y="2606697"/>
                  <a:pt x="3109978" y="2709590"/>
                  <a:pt x="2957782" y="2793191"/>
                </a:cubicBezTo>
                <a:cubicBezTo>
                  <a:pt x="2620164" y="2932526"/>
                  <a:pt x="1747715" y="3028988"/>
                  <a:pt x="1253613" y="2818914"/>
                </a:cubicBezTo>
                <a:cubicBezTo>
                  <a:pt x="1018944" y="2738561"/>
                  <a:pt x="869067" y="2654318"/>
                  <a:pt x="700568" y="2648441"/>
                </a:cubicBezTo>
                <a:lnTo>
                  <a:pt x="700568" y="2796242"/>
                </a:lnTo>
                <a:cubicBezTo>
                  <a:pt x="700568" y="2860729"/>
                  <a:pt x="648291" y="2913006"/>
                  <a:pt x="583804" y="2913006"/>
                </a:cubicBezTo>
                <a:lnTo>
                  <a:pt x="0" y="2913006"/>
                </a:lnTo>
                <a:lnTo>
                  <a:pt x="0" y="1400838"/>
                </a:lnTo>
                <a:lnTo>
                  <a:pt x="583804" y="1400838"/>
                </a:lnTo>
                <a:cubicBezTo>
                  <a:pt x="648291" y="1400838"/>
                  <a:pt x="700568" y="1453115"/>
                  <a:pt x="700568" y="1517602"/>
                </a:cubicBezTo>
                <a:lnTo>
                  <a:pt x="700568" y="1571674"/>
                </a:lnTo>
                <a:cubicBezTo>
                  <a:pt x="721537" y="1568378"/>
                  <a:pt x="746526" y="1559634"/>
                  <a:pt x="784162" y="1539180"/>
                </a:cubicBezTo>
                <a:cubicBezTo>
                  <a:pt x="831321" y="1421281"/>
                  <a:pt x="890271" y="1323747"/>
                  <a:pt x="1034964" y="1191915"/>
                </a:cubicBezTo>
                <a:cubicBezTo>
                  <a:pt x="1257900" y="851081"/>
                  <a:pt x="1628744" y="677449"/>
                  <a:pt x="1703770" y="169413"/>
                </a:cubicBezTo>
                <a:cubicBezTo>
                  <a:pt x="1715024" y="52855"/>
                  <a:pt x="1762452" y="3217"/>
                  <a:pt x="1821636" y="15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4"/>
          <p:cNvSpPr txBox="1"/>
          <p:nvPr/>
        </p:nvSpPr>
        <p:spPr>
          <a:xfrm>
            <a:off x="1362599" y="4071571"/>
            <a:ext cx="101544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5400">
                <a:solidFill>
                  <a:srgbClr val="4A5D6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sz="5400">
              <a:solidFill>
                <a:srgbClr val="4A5D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4"/>
          <p:cNvSpPr txBox="1"/>
          <p:nvPr/>
        </p:nvSpPr>
        <p:spPr>
          <a:xfrm>
            <a:off x="1362599" y="5370052"/>
            <a:ext cx="101544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5400">
                <a:solidFill>
                  <a:srgbClr val="4A788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 sz="5400">
              <a:solidFill>
                <a:srgbClr val="4A78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4"/>
          <p:cNvSpPr txBox="1"/>
          <p:nvPr/>
        </p:nvSpPr>
        <p:spPr>
          <a:xfrm>
            <a:off x="6121530" y="4071571"/>
            <a:ext cx="101544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5400">
                <a:solidFill>
                  <a:srgbClr val="88BAB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5400">
              <a:solidFill>
                <a:srgbClr val="88BAB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4"/>
          <p:cNvSpPr txBox="1"/>
          <p:nvPr/>
        </p:nvSpPr>
        <p:spPr>
          <a:xfrm>
            <a:off x="6121530" y="5370052"/>
            <a:ext cx="101544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5400">
                <a:solidFill>
                  <a:srgbClr val="9CCCD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5400">
              <a:solidFill>
                <a:srgbClr val="9CCCD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9" name="Google Shape;409;p34"/>
          <p:cNvGrpSpPr/>
          <p:nvPr/>
        </p:nvGrpSpPr>
        <p:grpSpPr>
          <a:xfrm>
            <a:off x="2350614" y="4071570"/>
            <a:ext cx="3770918" cy="923330"/>
            <a:chOff x="2551705" y="4283314"/>
            <a:chExt cx="2152229" cy="923330"/>
          </a:xfrm>
        </p:grpSpPr>
        <p:sp>
          <p:nvSpPr>
            <p:cNvPr id="410" name="Google Shape;410;p34"/>
            <p:cNvSpPr txBox="1"/>
            <p:nvPr/>
          </p:nvSpPr>
          <p:spPr>
            <a:xfrm>
              <a:off x="2551706" y="4560313"/>
              <a:ext cx="215222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Adatgazdákkal történő részletes, mező szintű egyeztetés, szerződés és mellékleteinek véglegesítése kb. 1,5-2 év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34"/>
            <p:cNvSpPr txBox="1"/>
            <p:nvPr/>
          </p:nvSpPr>
          <p:spPr>
            <a:xfrm>
              <a:off x="2551705" y="4283314"/>
              <a:ext cx="21339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hu-HU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Adatkérés, az adat beérkezése</a:t>
              </a:r>
              <a:endParaRPr b="1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2" name="Google Shape;412;p34"/>
          <p:cNvGrpSpPr/>
          <p:nvPr/>
        </p:nvGrpSpPr>
        <p:grpSpPr>
          <a:xfrm>
            <a:off x="7109544" y="4071570"/>
            <a:ext cx="3770918" cy="1107996"/>
            <a:chOff x="2551705" y="4283314"/>
            <a:chExt cx="2152229" cy="1107996"/>
          </a:xfrm>
        </p:grpSpPr>
        <p:sp>
          <p:nvSpPr>
            <p:cNvPr id="413" name="Google Shape;413;p34"/>
            <p:cNvSpPr txBox="1"/>
            <p:nvPr/>
          </p:nvSpPr>
          <p:spPr>
            <a:xfrm>
              <a:off x="2551706" y="4560313"/>
              <a:ext cx="2152228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KRTK kutatók számára történő kiajánlás, minikutatások indítása. A fájlok még többször javításra kerülnek. A kutatók a használat során tapasztalt problémákat összegyűjtik. Ez egy iteratív 1-2 éves munka</a:t>
              </a:r>
              <a:endParaRPr/>
            </a:p>
          </p:txBody>
        </p:sp>
        <p:sp>
          <p:nvSpPr>
            <p:cNvPr id="414" name="Google Shape;414;p34"/>
            <p:cNvSpPr txBox="1"/>
            <p:nvPr/>
          </p:nvSpPr>
          <p:spPr>
            <a:xfrm>
              <a:off x="2551705" y="4283314"/>
              <a:ext cx="21339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hu-HU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Kollektív fázis, kutatói visszacsatolás</a:t>
              </a:r>
              <a:endParaRPr b="1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" name="Google Shape;415;p34"/>
          <p:cNvGrpSpPr/>
          <p:nvPr/>
        </p:nvGrpSpPr>
        <p:grpSpPr>
          <a:xfrm>
            <a:off x="2318558" y="5370050"/>
            <a:ext cx="3770916" cy="1569662"/>
            <a:chOff x="2546568" y="4283314"/>
            <a:chExt cx="2152228" cy="941796"/>
          </a:xfrm>
        </p:grpSpPr>
        <p:sp>
          <p:nvSpPr>
            <p:cNvPr id="416" name="Google Shape;416;p34"/>
            <p:cNvSpPr txBox="1"/>
            <p:nvPr/>
          </p:nvSpPr>
          <p:spPr>
            <a:xfrm>
              <a:off x="2546568" y="4504913"/>
              <a:ext cx="2152228" cy="7201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Külső adatforrásokkal történő összevetés, nyilvántartási változások összegyűjtése. Adatkörök feldolgozása külön-külön, spell szintű formátum havi szintre alakítása, kutatási kérdéseknek megfelelő változók és adatkörök kialakítása, majd az egyes adatkörök összeépítése, keresztmetszeti és longitudinális vizsgálatok lefolytatása </a:t>
              </a:r>
              <a:endParaRPr/>
            </a:p>
          </p:txBody>
        </p:sp>
        <p:sp>
          <p:nvSpPr>
            <p:cNvPr id="417" name="Google Shape;417;p34"/>
            <p:cNvSpPr txBox="1"/>
            <p:nvPr/>
          </p:nvSpPr>
          <p:spPr>
            <a:xfrm>
              <a:off x="2551705" y="4283314"/>
              <a:ext cx="2133933" cy="16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hu-HU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Validálás, tisztítás, építés</a:t>
              </a:r>
              <a:endParaRPr b="1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34"/>
          <p:cNvGrpSpPr/>
          <p:nvPr/>
        </p:nvGrpSpPr>
        <p:grpSpPr>
          <a:xfrm>
            <a:off x="7109544" y="5370051"/>
            <a:ext cx="3770918" cy="1292662"/>
            <a:chOff x="2551705" y="4283314"/>
            <a:chExt cx="2152229" cy="1292662"/>
          </a:xfrm>
        </p:grpSpPr>
        <p:sp>
          <p:nvSpPr>
            <p:cNvPr id="419" name="Google Shape;419;p34"/>
            <p:cNvSpPr txBox="1"/>
            <p:nvPr/>
          </p:nvSpPr>
          <p:spPr>
            <a:xfrm>
              <a:off x="2551706" y="4560313"/>
              <a:ext cx="215222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u-HU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visszajelzések összegyűjtése és beépítése után kb. 2 évet követően áll elő az a véglegesnek tekintett teljes adatbázis készlet és dokumentáció melynek használatát már ki tudjuk ajánlani nem KRTK-s kutató/hallgató számára is.</a:t>
              </a:r>
              <a:endParaRPr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34"/>
            <p:cNvSpPr txBox="1"/>
            <p:nvPr/>
          </p:nvSpPr>
          <p:spPr>
            <a:xfrm>
              <a:off x="2551705" y="4283314"/>
              <a:ext cx="21339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hu-HU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Visszajelzések beépítése, adatbázis megnyitása</a:t>
              </a:r>
              <a:endParaRPr b="1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5960" y="37958"/>
            <a:ext cx="1224387" cy="850587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5"/>
          <p:cNvSpPr/>
          <p:nvPr/>
        </p:nvSpPr>
        <p:spPr>
          <a:xfrm>
            <a:off x="1143000" y="2263247"/>
            <a:ext cx="10140696" cy="2766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Mitől más egy kapcsolt adminisztratív panel, mint a hagyományosan rendelkezésre álló adatforrások?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/>
          <p:cNvSpPr/>
          <p:nvPr/>
        </p:nvSpPr>
        <p:spPr>
          <a:xfrm>
            <a:off x="1098434" y="744241"/>
            <a:ext cx="8127862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KSH-MEF:Részletgazdag és panel, de csak 1.5 év a követés negyedévente pontszerűen. Minta elemszám alig 1%-ka egy Adminnak.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Bértarifa:Kiemelkedő adatsor, hosszú idősor, de csak a vállalatok követhetőek az egyének nem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Vállalati Mérlegek:Hosszú idősor, de a vállalati szintnél mélyebbre nem látunk, nincs munkavállalói adat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Egyéb regiszterek önmagukban: részletes nagyszámú információ, de az egyes létállapotok előzményeit és következményeit nem látjuk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5960" y="167974"/>
            <a:ext cx="1224387" cy="85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7"/>
          <p:cNvSpPr/>
          <p:nvPr/>
        </p:nvSpPr>
        <p:spPr>
          <a:xfrm>
            <a:off x="1098434" y="744241"/>
            <a:ext cx="8127862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Előny: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Elemszám kellően nagy (kb. 5 millió ember)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Egyesít több regiszter adatot, így lehetővé válik a folyamatok együttes elemzése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Hosszú, egyéni idősor havi, de akár napi szintű adatokkal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Hátrány: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Hosszas előkészítés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Frissítés korlátossága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Háztartási szint és iskolai végzettség hiánya. Csak azt tartalmazza amiről van nyilvántartás</a:t>
            </a:r>
            <a:endParaRPr/>
          </a:p>
          <a:p>
            <a:pPr indent="-190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5960" y="167974"/>
            <a:ext cx="1224387" cy="85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8"/>
          <p:cNvSpPr/>
          <p:nvPr/>
        </p:nvSpPr>
        <p:spPr>
          <a:xfrm>
            <a:off x="2067407" y="3258841"/>
            <a:ext cx="8130746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Milyen módon közelítsünk az adatokhoz?</a:t>
            </a:r>
            <a:endParaRPr/>
          </a:p>
        </p:txBody>
      </p:sp>
      <p:pic>
        <p:nvPicPr>
          <p:cNvPr id="444" name="Google Shape;44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5960" y="37958"/>
            <a:ext cx="1224387" cy="85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9"/>
          <p:cNvSpPr/>
          <p:nvPr/>
        </p:nvSpPr>
        <p:spPr>
          <a:xfrm>
            <a:off x="1052714" y="323617"/>
            <a:ext cx="8130746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megfigyelhető egység az adminisztratív státuszok változása, tehát vélemények helyett konkrét viselkedések vizsgálhatók.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Legyünk tisztában az adat keletkezésének körülményeivel, nem a kutatásunkra jött létre!!!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Nagy elemszám miatt akár kisebb csoportok vizsgálatára alkalmas, de az adatbázisok belső dinamizmusa, fluktuációja miatt itt is tapasztalhatók minimális eltérések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hu-H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Elemzői döntések nyomán nyerhető ki a kutatási kérdéseknek megfelelő adattartalom. Az elemzéshez használt változókat és azok számítási módját iteratív módon, kvázi menet közben érdemes véglegesíteni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0" name="Google Shape;45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5960" y="167974"/>
            <a:ext cx="1224387" cy="85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0"/>
          <p:cNvSpPr/>
          <p:nvPr/>
        </p:nvSpPr>
        <p:spPr>
          <a:xfrm>
            <a:off x="2067407" y="3258841"/>
            <a:ext cx="813074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Néhány Kutatási példa bemutatása</a:t>
            </a:r>
            <a:endParaRPr/>
          </a:p>
        </p:txBody>
      </p:sp>
      <p:pic>
        <p:nvPicPr>
          <p:cNvPr id="456" name="Google Shape;45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5960" y="37958"/>
            <a:ext cx="1224387" cy="85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1"/>
          <p:cNvSpPr/>
          <p:nvPr/>
        </p:nvSpPr>
        <p:spPr>
          <a:xfrm>
            <a:off x="617837" y="424930"/>
            <a:ext cx="1061033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Mekkora az orvoselvándorlás és visszavándorlás? Varga Júlia (2017), Magyarország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Probléma: a kivándorlási szándékfelmérések és engedély-kiváltások nem mérvadóak, a visszavándorlásról pedig végképp semmit sem mondanak.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Feltevés: ha egy orvos nyomtalanul eltűnik a rendszerből (és nem halt meg), az nagy valószínűséggel külföldön van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1"/>
          <p:cNvSpPr/>
          <p:nvPr/>
        </p:nvSpPr>
        <p:spPr>
          <a:xfrm>
            <a:off x="350106" y="6181636"/>
            <a:ext cx="1122817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Varga, Júlia: Out-migration and attrition of physicians and dentists before and after EU accession (2003 and 2011). The case of Hungary. The European Journal of Health Economics</a:t>
            </a:r>
            <a:endParaRPr/>
          </a:p>
        </p:txBody>
      </p:sp>
      <p:pic>
        <p:nvPicPr>
          <p:cNvPr id="463" name="Google Shape;463;p41"/>
          <p:cNvPicPr preferRelativeResize="0"/>
          <p:nvPr/>
        </p:nvPicPr>
        <p:blipFill rotWithShape="1">
          <a:blip r:embed="rId3">
            <a:alphaModFix/>
          </a:blip>
          <a:srcRect b="43701" l="-270" r="269" t="12874"/>
          <a:stretch/>
        </p:blipFill>
        <p:spPr>
          <a:xfrm>
            <a:off x="2240338" y="3012787"/>
            <a:ext cx="7853065" cy="1918258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1"/>
          <p:cNvSpPr/>
          <p:nvPr/>
        </p:nvSpPr>
        <p:spPr>
          <a:xfrm>
            <a:off x="617837" y="4931045"/>
            <a:ext cx="1061033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Eredmény: 2003 január és 2011 december között a praktizáló orvosok 12%-a hagyta el az országot (az inaktívvá válókat leszámítva 14%). Nagyobb hullámok: 2010 tavasza, 2013 (A, D). 50% visszatért. Ennél is nagyobb veszteséget okozott a belföldi pályaelhagyás.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5" name="Google Shape;46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3932" y="2889934"/>
            <a:ext cx="2073409" cy="1902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/>
          <p:nvPr/>
        </p:nvSpPr>
        <p:spPr>
          <a:xfrm>
            <a:off x="543696" y="358510"/>
            <a:ext cx="11112844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Többet keresnek-e a multiknál dolgozók?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Probléma: a multiknál dolgozók – esetleg – a belföldi cégeknél is többet keresnének. És lehet, hogy az előnyük múlékony, megszűnik, ha átlépnek a belföldi szektorba.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Kulcs: a meg nem figyelt heterogenitást kiszűrő fix hatások használata, hasonló belépők összehasonlítása a hazai szektorban, a külföldiektől érkezettek arányának hatása az „inkumbens” kollégáikra.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Eredmény: A multiknál dolgozók többet keresnek, de nem 112%-kal, hanem csak 25%-kal, ha kontrollálunk a megfigyelhető és meg nem figyelhető tulajdonságaikra. Kilépés után a hazai cégeknél dolgozva is többet keresnek 14%-kal. Egy szórásegységgel több multitól érkezett kolléga 🡪 3%-kal magasabb bér.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Köllő János – Boza István – Balázsi László (2018): Wage Gains from Foreign Ownership – Evidence from Linked Employer-Employee Data, mimeo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986" y="2934587"/>
            <a:ext cx="7852329" cy="1920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7147158" y="2845991"/>
            <a:ext cx="266700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3"/>
          <p:cNvSpPr/>
          <p:nvPr/>
        </p:nvSpPr>
        <p:spPr>
          <a:xfrm>
            <a:off x="568411" y="258630"/>
            <a:ext cx="11005751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Milyen hatást gyakorolnak a kognitív és nem kognitív készségek a munkaerőpiaci kimenetekre? Lindquist &amp; Vestman 2011, Svédország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Probléma: a sikeres munkaerőpiaci karrier maga is fejleszti a ~ készségeket. Korábbi információ kell.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Eredmény: a nem kognitív készségek erősebb szerepet játszanak, különösen a munkaerőpiac „alsóbb” régiójában + (kapcsolódó kutatásból) a szerepük időben rendkívüli mértékben erősödött.</a:t>
            </a:r>
            <a:endParaRPr/>
          </a:p>
        </p:txBody>
      </p:sp>
      <p:sp>
        <p:nvSpPr>
          <p:cNvPr id="478" name="Google Shape;478;p43"/>
          <p:cNvSpPr/>
          <p:nvPr/>
        </p:nvSpPr>
        <p:spPr>
          <a:xfrm>
            <a:off x="280087" y="6165162"/>
            <a:ext cx="113517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Lindqvist, Erik and Roine Vestman, 'The Labor Market Returns to Cognitive and Noncognitive Ability: Evidence from the Swedish Enlistment' in American Economic Journal: Applied Economics, 2011, pages 101-128.</a:t>
            </a:r>
            <a:endParaRPr/>
          </a:p>
        </p:txBody>
      </p:sp>
      <p:pic>
        <p:nvPicPr>
          <p:cNvPr id="479" name="Google Shape;479;p43"/>
          <p:cNvPicPr preferRelativeResize="0"/>
          <p:nvPr/>
        </p:nvPicPr>
        <p:blipFill rotWithShape="1">
          <a:blip r:embed="rId3">
            <a:alphaModFix/>
          </a:blip>
          <a:srcRect b="38290" l="0" r="0" t="9105"/>
          <a:stretch/>
        </p:blipFill>
        <p:spPr>
          <a:xfrm>
            <a:off x="568411" y="2373254"/>
            <a:ext cx="9019998" cy="2669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3"/>
          <p:cNvPicPr preferRelativeResize="0"/>
          <p:nvPr/>
        </p:nvPicPr>
        <p:blipFill rotWithShape="1">
          <a:blip r:embed="rId4">
            <a:alphaModFix/>
          </a:blip>
          <a:srcRect b="13225" l="9101" r="9866" t="5388"/>
          <a:stretch/>
        </p:blipFill>
        <p:spPr>
          <a:xfrm>
            <a:off x="9045147" y="2640984"/>
            <a:ext cx="2232454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4"/>
          <p:cNvSpPr/>
          <p:nvPr/>
        </p:nvSpPr>
        <p:spPr>
          <a:xfrm>
            <a:off x="247134" y="6412233"/>
            <a:ext cx="1112108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INCARCERATION SPILLOVERS IN CRIMINAL AND FAMILY NETWORKS, Manudeep Bhuller, Gordon B. Dahl, Katrine V. Løken, Magne Mogstad, NBER 24878</a:t>
            </a:r>
            <a:endParaRPr/>
          </a:p>
        </p:txBody>
      </p:sp>
      <p:sp>
        <p:nvSpPr>
          <p:cNvPr id="486" name="Google Shape;486;p44"/>
          <p:cNvSpPr/>
          <p:nvPr/>
        </p:nvSpPr>
        <p:spPr>
          <a:xfrm>
            <a:off x="469556" y="401550"/>
            <a:ext cx="10898659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Van-e visszatartó ereje a börtönbüntetésnek az elítélt bűntársaira és rokonaira? Bhuller et al. 2018, Norvégia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Probléma: bűnözésre hajlamosító környezet 🡪 annak, hogy A-t letöltendőre ítélték és társa, B később bűnt követ el, közös oka van 🡪 OLS: pozitív kapcsolat A bebörtönzése és B későbbi bűnelkövetése között 🡪 megfelelő instrumentumra (IV) van szükség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IV: az ítéletet meghozó bíró </a:t>
            </a:r>
            <a:r>
              <a:rPr i="1"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átlagos</a:t>
            </a: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ítélkezési szigora (Kling 1999, Bhuller et al. 2016)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7" name="Google Shape;487;p44"/>
          <p:cNvPicPr preferRelativeResize="0"/>
          <p:nvPr/>
        </p:nvPicPr>
        <p:blipFill rotWithShape="1">
          <a:blip r:embed="rId3">
            <a:alphaModFix/>
          </a:blip>
          <a:srcRect b="41173" l="0" r="0" t="11026"/>
          <a:stretch/>
        </p:blipFill>
        <p:spPr>
          <a:xfrm>
            <a:off x="469556" y="3309409"/>
            <a:ext cx="7935096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4"/>
          <p:cNvSpPr txBox="1"/>
          <p:nvPr/>
        </p:nvSpPr>
        <p:spPr>
          <a:xfrm>
            <a:off x="469556" y="5674020"/>
            <a:ext cx="1033731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Eredmény: tettestársak későbbi bűnelkövetése: -51%., Fiatalabb fiútestvér: - 32%, 4 éves időtávon.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9" name="Google Shape;48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5869" y="3311326"/>
            <a:ext cx="3250817" cy="2131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5"/>
          <p:cNvSpPr/>
          <p:nvPr/>
        </p:nvSpPr>
        <p:spPr>
          <a:xfrm>
            <a:off x="626075" y="638596"/>
            <a:ext cx="11112844" cy="615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Csökkentették-e a csecsemőhalálozást a Perinatális Intenzív Centrumok? Hajdu et al. (2018), Magyarország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Probléma: nem biztos, hogy csökkentették, empirikus kérdés.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Kulcs: a PIC-III hálózat fokozatosan épült ki. Kihasználható információ a PIC elérhetőségének változása.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Eredmény: a csecsemőhalandósági ráta 2011-2015 között e hatás nélkül a ténylegesen megfigyelt érték közel kétszerese lenne. Különösen erős hatás a nagyon kis súllyal születettekre.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Hajdu Tamás, Kézdi Gábor, Szabó Miklós, Szabó-Morvai Ágnes (2018): Az intenzív koraszülött-ellátó rendszer kiépítésének hatása a magyarországi csecsemőhalandóság alakulására, 1970-2015, MTA KTI és SOTE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5" name="Google Shape;495;p45"/>
          <p:cNvPicPr preferRelativeResize="0"/>
          <p:nvPr/>
        </p:nvPicPr>
        <p:blipFill rotWithShape="1">
          <a:blip r:embed="rId3">
            <a:alphaModFix/>
          </a:blip>
          <a:srcRect b="40931" l="0" r="25137" t="11027"/>
          <a:stretch/>
        </p:blipFill>
        <p:spPr>
          <a:xfrm>
            <a:off x="189045" y="2784388"/>
            <a:ext cx="6458327" cy="2331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1052" y="2998573"/>
            <a:ext cx="3612479" cy="1869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6"/>
          <p:cNvSpPr/>
          <p:nvPr/>
        </p:nvSpPr>
        <p:spPr>
          <a:xfrm>
            <a:off x="502506" y="210026"/>
            <a:ext cx="11112844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Hatott-e a kötelező iskolázási kor felemelése (16🡪18) a roma lányok serdülőkori fertilitására? (Adamecz – Scharle 2018)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Probléma: a naptári idő is telik, a fertilitás változása esetleg csak egybeesik a szabályozási változással („akkor, tehát azért”)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Kulcs: a közvetlenül 1991 júniusa előtt illetve után születettekre (nagy valószínűséggel) a 16 illetve 18 éves korhatár vonatkozott.  Ők lényegében azonos korúak, a környezet hasonlósága kontrollokkal biztosítható, ebben viszont erősen különböznek.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Eredmény: </a:t>
            </a:r>
            <a:r>
              <a:rPr lang="hu-H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korhatáremelés 6,8 százalékponttal (26%) csökkentette annak a valószínűségét, hogy egy roma serdülő 18 éves kora betöltése előtt anya lesz. Az emelés az iskolaév során csökkentette a teherbe esés valószínűségét, a nyári es a téli szünetekben nem befolyásolta azt.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Anna Adamecz-Völgyi – Ágota Scharle (2018):  The Effects of Increased Compulsory School Leaving Age on the Teenage Fertility of Roma Women, a Disadvantaged Ethnic Minority, BWP 2018/2.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6"/>
          <p:cNvSpPr/>
          <p:nvPr/>
        </p:nvSpPr>
        <p:spPr>
          <a:xfrm>
            <a:off x="1112109" y="3413907"/>
            <a:ext cx="2817340" cy="50730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Élveszületési adatbázis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6"/>
          <p:cNvSpPr/>
          <p:nvPr/>
        </p:nvSpPr>
        <p:spPr>
          <a:xfrm>
            <a:off x="4539052" y="3413906"/>
            <a:ext cx="2817340" cy="50730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Népszámlálás 2011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6"/>
          <p:cNvSpPr/>
          <p:nvPr/>
        </p:nvSpPr>
        <p:spPr>
          <a:xfrm>
            <a:off x="2903839" y="4142955"/>
            <a:ext cx="2817340" cy="50730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Kapcsolt adatbázis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5" name="Google Shape;505;p46"/>
          <p:cNvCxnSpPr/>
          <p:nvPr/>
        </p:nvCxnSpPr>
        <p:spPr>
          <a:xfrm>
            <a:off x="3122141" y="3921209"/>
            <a:ext cx="576648" cy="22242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06" name="Google Shape;506;p46"/>
          <p:cNvCxnSpPr/>
          <p:nvPr/>
        </p:nvCxnSpPr>
        <p:spPr>
          <a:xfrm flipH="1">
            <a:off x="4761470" y="3921209"/>
            <a:ext cx="494271" cy="22174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507" name="Google Shape;50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8354" y="3049029"/>
            <a:ext cx="1744359" cy="1744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85960" y="37958"/>
            <a:ext cx="1224387" cy="850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7"/>
          <p:cNvPicPr preferRelativeResize="0"/>
          <p:nvPr/>
        </p:nvPicPr>
        <p:blipFill rotWithShape="1">
          <a:blip r:embed="rId4">
            <a:alphaModFix/>
          </a:blip>
          <a:srcRect b="18218" l="8826" r="11228" t="10501"/>
          <a:stretch/>
        </p:blipFill>
        <p:spPr>
          <a:xfrm>
            <a:off x="1975104" y="1212214"/>
            <a:ext cx="6420231" cy="5344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2022-11-02T17:04:51Z</dcterms:created>
  <dc:creator>Péter HEGEDŰS</dc:creator>
</cp:coreProperties>
</file>