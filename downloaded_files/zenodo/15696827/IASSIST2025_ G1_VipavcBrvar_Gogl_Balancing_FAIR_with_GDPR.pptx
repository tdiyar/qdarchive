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9" r:id="rId1"/>
    <p:sldMasterId id="2147483670" r:id="rId2"/>
  </p:sldMasterIdLst>
  <p:notesMasterIdLst>
    <p:notesMasterId r:id="rId1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BE981EC-F35F-43F6-AA45-7884B0E0B6B3}">
  <a:tblStyle styleId="{7BE981EC-F35F-43F6-AA45-7884B0E0B6B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B96CC9F-60A5-4901-8FD4-9F02AEDD8090}" styleName="Table_1">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77"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no-NO"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5f020f19dd_1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5f020f19dd_1_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no-NO" sz="1800">
                <a:latin typeface="Arial"/>
                <a:ea typeface="Arial"/>
                <a:cs typeface="Arial"/>
                <a:sym typeface="Arial"/>
              </a:rPr>
              <a:t>About position we are coming from. One organization before research is taking place, another at the end at the publishing.</a:t>
            </a:r>
            <a:endParaRPr sz="1800">
              <a:latin typeface="Arial"/>
              <a:ea typeface="Arial"/>
              <a:cs typeface="Arial"/>
              <a:sym typeface="Arial"/>
            </a:endParaRPr>
          </a:p>
          <a:p>
            <a:pPr marL="0" lvl="0" indent="0" algn="l" rtl="0">
              <a:spcBef>
                <a:spcPts val="0"/>
              </a:spcBef>
              <a:spcAft>
                <a:spcPts val="0"/>
              </a:spcAft>
              <a:buNone/>
            </a:pPr>
            <a:r>
              <a:rPr lang="no-NO" sz="1600" i="1">
                <a:latin typeface="Arial"/>
                <a:ea typeface="Arial"/>
                <a:cs typeface="Arial"/>
                <a:sym typeface="Arial"/>
              </a:rPr>
              <a:t>Sikt - The Norwegian Agency for Shared Services in Education and Research</a:t>
            </a:r>
            <a:endParaRPr sz="1600" i="1">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200"/>
          </a:p>
        </p:txBody>
      </p:sp>
      <p:sp>
        <p:nvSpPr>
          <p:cNvPr id="99" name="Google Shape;99;g35f020f19dd_1_1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no-NO"/>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5d00b91756_0_7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g35d00b91756_0_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5d00b91756_0_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g35d00b91756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1200"/>
              </a:spcAft>
              <a:buClr>
                <a:schemeClr val="dk1"/>
              </a:buClr>
              <a:buSzPts val="1100"/>
              <a:buFont typeface="Arial"/>
              <a:buNone/>
            </a:pPr>
            <a:endParaRPr/>
          </a:p>
        </p:txBody>
      </p:sp>
      <p:sp>
        <p:nvSpPr>
          <p:cNvPr id="124" name="Google Shape;12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5d00b91756_0_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5d00b91756_0_8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g35d00b91756_0_8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no-NO"/>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5d00b91756_0_1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5d00b91756_0_10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no-NO"/>
              <a:t>Both allow reuse within appropriate constraints: I would almost say “encourage”</a:t>
            </a:r>
            <a:endParaRPr/>
          </a:p>
          <a:p>
            <a:pPr marL="0" lvl="0" indent="0" algn="l" rtl="0">
              <a:lnSpc>
                <a:spcPct val="115000"/>
              </a:lnSpc>
              <a:spcBef>
                <a:spcPts val="1200"/>
              </a:spcBef>
              <a:spcAft>
                <a:spcPts val="0"/>
              </a:spcAft>
              <a:buClr>
                <a:schemeClr val="dk1"/>
              </a:buClr>
              <a:buSzPts val="1100"/>
              <a:buFont typeface="Arial"/>
              <a:buNone/>
            </a:pPr>
            <a:r>
              <a:rPr lang="no-NO"/>
              <a:t>The FAIR principles promote using machine-readable formats to ensure data can be easily found, accessed, interoperated, and reused by both humans and machines. This enhances automatic data processing, integration, and sharing across different systems.</a:t>
            </a:r>
            <a:endParaRPr/>
          </a:p>
          <a:p>
            <a:pPr marL="0" lvl="0" indent="0" algn="l" rtl="0">
              <a:lnSpc>
                <a:spcPct val="115000"/>
              </a:lnSpc>
              <a:spcBef>
                <a:spcPts val="1200"/>
              </a:spcBef>
              <a:spcAft>
                <a:spcPts val="1200"/>
              </a:spcAft>
              <a:buNone/>
            </a:pPr>
            <a:r>
              <a:rPr lang="no-NO"/>
              <a:t>Similarly, the GDPR supports the use of machine-readable formats—such as for data portability—which allows individuals to receive and transfer their personal data in a structured, commonly used, and machine-readable form. This facilitates easier movement and reuse of personal data while maintaining compliance with privacy regulations.</a:t>
            </a:r>
            <a:endParaRPr/>
          </a:p>
        </p:txBody>
      </p:sp>
      <p:sp>
        <p:nvSpPr>
          <p:cNvPr id="141" name="Google Shape;141;g35d00b91756_0_10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no-NO"/>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5d00b91756_0_1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5d00b91756_0_1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br>
              <a:rPr lang="no-NO"/>
            </a:br>
            <a:r>
              <a:rPr lang="no-NO"/>
              <a:t>Data minimisation should be storage limitation.</a:t>
            </a:r>
            <a:endParaRPr/>
          </a:p>
        </p:txBody>
      </p:sp>
      <p:sp>
        <p:nvSpPr>
          <p:cNvPr id="148" name="Google Shape;148;g35d00b91756_0_12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o-NO"/>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5d00b91756_0_1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5d00b91756_0_1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no-NO" sz="1100">
                <a:latin typeface="Arial"/>
                <a:ea typeface="Arial"/>
                <a:cs typeface="Arial"/>
                <a:sym typeface="Arial"/>
              </a:rPr>
              <a:t>A good example of a GDPR metadata schema is the </a:t>
            </a:r>
            <a:r>
              <a:rPr lang="no-NO" sz="1100" b="1">
                <a:latin typeface="Arial"/>
                <a:ea typeface="Arial"/>
                <a:cs typeface="Arial"/>
                <a:sym typeface="Arial"/>
              </a:rPr>
              <a:t>Special Privacy &amp; Security Metadata Schema (SPASMS)</a:t>
            </a:r>
            <a:r>
              <a:rPr lang="no-NO" sz="1100">
                <a:latin typeface="Arial"/>
                <a:ea typeface="Arial"/>
                <a:cs typeface="Arial"/>
                <a:sym typeface="Arial"/>
              </a:rPr>
              <a:t> developed to capture data protection and privacy information in a standardized way. Another widely referenced standard is the </a:t>
            </a:r>
            <a:r>
              <a:rPr lang="no-NO" sz="1100" b="1">
                <a:latin typeface="Arial"/>
                <a:ea typeface="Arial"/>
                <a:cs typeface="Arial"/>
                <a:sym typeface="Arial"/>
              </a:rPr>
              <a:t>DCAT-AP (Data Catalog Vocabulary – Application Profile)</a:t>
            </a:r>
            <a:r>
              <a:rPr lang="no-NO" sz="1100">
                <a:latin typeface="Arial"/>
                <a:ea typeface="Arial"/>
                <a:cs typeface="Arial"/>
                <a:sym typeface="Arial"/>
              </a:rPr>
              <a:t>, which includes extensions for GDPR-related metadata to describe data processing, consent, and access conditions.</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no-NO" sz="1100">
                <a:latin typeface="Arial"/>
                <a:ea typeface="Arial"/>
                <a:cs typeface="Arial"/>
                <a:sym typeface="Arial"/>
              </a:rPr>
              <a:t>For instance, GDPR metadata might include fields like:</a:t>
            </a:r>
            <a:endParaRPr sz="1100">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no-NO" sz="1100" b="1">
                <a:latin typeface="Arial"/>
                <a:ea typeface="Arial"/>
                <a:cs typeface="Arial"/>
                <a:sym typeface="Arial"/>
              </a:rPr>
              <a:t>Data Subject Consent Status</a:t>
            </a:r>
            <a:r>
              <a:rPr lang="no-NO" sz="1100">
                <a:latin typeface="Arial"/>
                <a:ea typeface="Arial"/>
                <a:cs typeface="Arial"/>
                <a:sym typeface="Arial"/>
              </a:rPr>
              <a:t> (e.g., consent given, withdrawn)</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no-NO" sz="1100" b="1">
                <a:latin typeface="Arial"/>
                <a:ea typeface="Arial"/>
                <a:cs typeface="Arial"/>
                <a:sym typeface="Arial"/>
              </a:rPr>
              <a:t>Purpose of Data Processing</a:t>
            </a:r>
            <a:r>
              <a:rPr lang="no-NO" sz="1100">
                <a:latin typeface="Arial"/>
                <a:ea typeface="Arial"/>
                <a:cs typeface="Arial"/>
                <a:sym typeface="Arial"/>
              </a:rPr>
              <a:t> (e.g., research, marketing)</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no-NO" sz="1100" b="1">
                <a:latin typeface="Arial"/>
                <a:ea typeface="Arial"/>
                <a:cs typeface="Arial"/>
                <a:sym typeface="Arial"/>
              </a:rPr>
              <a:t>Data Retention Period</a:t>
            </a:r>
            <a:endParaRPr sz="1100" b="1">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no-NO" sz="1100" b="1">
                <a:latin typeface="Arial"/>
                <a:ea typeface="Arial"/>
                <a:cs typeface="Arial"/>
                <a:sym typeface="Arial"/>
              </a:rPr>
              <a:t>Legal Basis for Processing</a:t>
            </a:r>
            <a:r>
              <a:rPr lang="no-NO" sz="1100">
                <a:latin typeface="Arial"/>
                <a:ea typeface="Arial"/>
                <a:cs typeface="Arial"/>
                <a:sym typeface="Arial"/>
              </a:rPr>
              <a:t> (e.g., consent, legitimate interest)</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no-NO" sz="1100" b="1">
                <a:latin typeface="Arial"/>
                <a:ea typeface="Arial"/>
                <a:cs typeface="Arial"/>
                <a:sym typeface="Arial"/>
              </a:rPr>
              <a:t>Data Controller Contact Information</a:t>
            </a:r>
            <a:endParaRPr sz="1100" b="1">
              <a:latin typeface="Arial"/>
              <a:ea typeface="Arial"/>
              <a:cs typeface="Arial"/>
              <a:sym typeface="Arial"/>
            </a:endParaRPr>
          </a:p>
          <a:p>
            <a:pPr marL="0" lvl="0" indent="0" algn="l" rtl="0">
              <a:lnSpc>
                <a:spcPct val="115000"/>
              </a:lnSpc>
              <a:spcBef>
                <a:spcPts val="1200"/>
              </a:spcBef>
              <a:spcAft>
                <a:spcPts val="0"/>
              </a:spcAft>
              <a:buNone/>
            </a:pPr>
            <a:r>
              <a:rPr lang="no-NO" sz="1100">
                <a:latin typeface="Arial"/>
                <a:ea typeface="Arial"/>
                <a:cs typeface="Arial"/>
                <a:sym typeface="Arial"/>
              </a:rPr>
              <a:t>These metadata elements help organizations track and communicate compliance requirements clearly and consistently.</a:t>
            </a:r>
            <a:endParaRPr sz="1100">
              <a:latin typeface="Arial"/>
              <a:ea typeface="Arial"/>
              <a:cs typeface="Arial"/>
              <a:sym typeface="Arial"/>
            </a:endParaRPr>
          </a:p>
          <a:p>
            <a:pPr marL="0" lvl="0" indent="0" algn="l" rtl="0">
              <a:lnSpc>
                <a:spcPct val="144444"/>
              </a:lnSpc>
              <a:spcBef>
                <a:spcPts val="1500"/>
              </a:spcBef>
              <a:spcAft>
                <a:spcPts val="0"/>
              </a:spcAft>
              <a:buNone/>
            </a:pPr>
            <a:r>
              <a:rPr lang="no-NO" sz="1350">
                <a:solidFill>
                  <a:srgbClr val="001D35"/>
                </a:solidFill>
                <a:latin typeface="Arial"/>
                <a:ea typeface="Arial"/>
                <a:cs typeface="Arial"/>
                <a:sym typeface="Arial"/>
              </a:rPr>
              <a:t>(AI) Key aspects of a hypothetical SPASMS could include:</a:t>
            </a:r>
            <a:endParaRPr sz="1350">
              <a:solidFill>
                <a:srgbClr val="001D35"/>
              </a:solidFill>
              <a:latin typeface="Arial"/>
              <a:ea typeface="Arial"/>
              <a:cs typeface="Arial"/>
              <a:sym typeface="Arial"/>
            </a:endParaRPr>
          </a:p>
          <a:p>
            <a:pPr marL="190500" marR="63500" lvl="0" indent="-228600" algn="l" rtl="0">
              <a:lnSpc>
                <a:spcPct val="137500"/>
              </a:lnSpc>
              <a:spcBef>
                <a:spcPts val="800"/>
              </a:spcBef>
              <a:spcAft>
                <a:spcPts val="0"/>
              </a:spcAft>
              <a:buClr>
                <a:srgbClr val="001D35"/>
              </a:buClr>
              <a:buSzPts val="1200"/>
              <a:buNone/>
            </a:pPr>
            <a:r>
              <a:rPr lang="no-NO" b="1">
                <a:solidFill>
                  <a:srgbClr val="001D35"/>
                </a:solidFill>
                <a:latin typeface="Arial"/>
                <a:ea typeface="Arial"/>
                <a:cs typeface="Arial"/>
                <a:sym typeface="Arial"/>
              </a:rPr>
              <a:t>Data Provenance:</a:t>
            </a:r>
            <a:br>
              <a:rPr lang="no-NO" b="1">
                <a:solidFill>
                  <a:srgbClr val="001D35"/>
                </a:solidFill>
                <a:latin typeface="Arial"/>
                <a:ea typeface="Arial"/>
                <a:cs typeface="Arial"/>
                <a:sym typeface="Arial"/>
              </a:rPr>
            </a:br>
            <a:r>
              <a:rPr lang="no-NO">
                <a:solidFill>
                  <a:srgbClr val="545D7E"/>
                </a:solidFill>
                <a:latin typeface="Arial"/>
                <a:ea typeface="Arial"/>
                <a:cs typeface="Arial"/>
                <a:sym typeface="Arial"/>
              </a:rPr>
              <a:t>Tracking the source, lineage, and history of data, including how it was created, collected, and transformed. </a:t>
            </a:r>
            <a:endParaRPr>
              <a:solidFill>
                <a:srgbClr val="545D7E"/>
              </a:solidFill>
              <a:latin typeface="Arial"/>
              <a:ea typeface="Arial"/>
              <a:cs typeface="Arial"/>
              <a:sym typeface="Arial"/>
            </a:endParaRPr>
          </a:p>
          <a:p>
            <a:pPr marL="190500" marR="63500" lvl="0" indent="-228600" algn="l" rtl="0">
              <a:lnSpc>
                <a:spcPct val="137500"/>
              </a:lnSpc>
              <a:spcBef>
                <a:spcPts val="0"/>
              </a:spcBef>
              <a:spcAft>
                <a:spcPts val="0"/>
              </a:spcAft>
              <a:buClr>
                <a:srgbClr val="001D35"/>
              </a:buClr>
              <a:buSzPts val="1200"/>
              <a:buNone/>
            </a:pPr>
            <a:r>
              <a:rPr lang="no-NO" b="1">
                <a:solidFill>
                  <a:srgbClr val="001D35"/>
                </a:solidFill>
                <a:latin typeface="Arial"/>
                <a:ea typeface="Arial"/>
                <a:cs typeface="Arial"/>
                <a:sym typeface="Arial"/>
              </a:rPr>
              <a:t>Data Sensitivity:</a:t>
            </a:r>
            <a:br>
              <a:rPr lang="no-NO" b="1">
                <a:solidFill>
                  <a:srgbClr val="001D35"/>
                </a:solidFill>
                <a:latin typeface="Arial"/>
                <a:ea typeface="Arial"/>
                <a:cs typeface="Arial"/>
                <a:sym typeface="Arial"/>
              </a:rPr>
            </a:br>
            <a:r>
              <a:rPr lang="no-NO">
                <a:solidFill>
                  <a:srgbClr val="545D7E"/>
                </a:solidFill>
                <a:latin typeface="Arial"/>
                <a:ea typeface="Arial"/>
                <a:cs typeface="Arial"/>
                <a:sym typeface="Arial"/>
              </a:rPr>
              <a:t>Categorizing data based on its sensitivity level, such as Personally Identifiable Information (PII), business-critical data, or proprietary information. </a:t>
            </a:r>
            <a:endParaRPr>
              <a:solidFill>
                <a:srgbClr val="545D7E"/>
              </a:solidFill>
              <a:latin typeface="Arial"/>
              <a:ea typeface="Arial"/>
              <a:cs typeface="Arial"/>
              <a:sym typeface="Arial"/>
            </a:endParaRPr>
          </a:p>
          <a:p>
            <a:pPr marL="190500" marR="63500" lvl="0" indent="-228600" algn="l" rtl="0">
              <a:lnSpc>
                <a:spcPct val="137500"/>
              </a:lnSpc>
              <a:spcBef>
                <a:spcPts val="0"/>
              </a:spcBef>
              <a:spcAft>
                <a:spcPts val="0"/>
              </a:spcAft>
              <a:buClr>
                <a:srgbClr val="001D35"/>
              </a:buClr>
              <a:buSzPts val="1200"/>
              <a:buNone/>
            </a:pPr>
            <a:r>
              <a:rPr lang="no-NO" b="1">
                <a:solidFill>
                  <a:srgbClr val="001D35"/>
                </a:solidFill>
                <a:latin typeface="Arial"/>
                <a:ea typeface="Arial"/>
                <a:cs typeface="Arial"/>
                <a:sym typeface="Arial"/>
              </a:rPr>
              <a:t>Access Control:</a:t>
            </a:r>
            <a:br>
              <a:rPr lang="no-NO" b="1">
                <a:solidFill>
                  <a:srgbClr val="001D35"/>
                </a:solidFill>
                <a:latin typeface="Arial"/>
                <a:ea typeface="Arial"/>
                <a:cs typeface="Arial"/>
                <a:sym typeface="Arial"/>
              </a:rPr>
            </a:br>
            <a:r>
              <a:rPr lang="no-NO">
                <a:solidFill>
                  <a:srgbClr val="545D7E"/>
                </a:solidFill>
                <a:latin typeface="Arial"/>
                <a:ea typeface="Arial"/>
                <a:cs typeface="Arial"/>
                <a:sym typeface="Arial"/>
              </a:rPr>
              <a:t>Defining who has access to specific data, including roles, permissions, and access protocols. </a:t>
            </a:r>
            <a:endParaRPr>
              <a:solidFill>
                <a:srgbClr val="545D7E"/>
              </a:solidFill>
              <a:latin typeface="Arial"/>
              <a:ea typeface="Arial"/>
              <a:cs typeface="Arial"/>
              <a:sym typeface="Arial"/>
            </a:endParaRPr>
          </a:p>
          <a:p>
            <a:pPr marL="190500" marR="63500" lvl="0" indent="-228600" algn="l" rtl="0">
              <a:lnSpc>
                <a:spcPct val="137500"/>
              </a:lnSpc>
              <a:spcBef>
                <a:spcPts val="0"/>
              </a:spcBef>
              <a:spcAft>
                <a:spcPts val="0"/>
              </a:spcAft>
              <a:buClr>
                <a:srgbClr val="001D35"/>
              </a:buClr>
              <a:buSzPts val="1200"/>
              <a:buNone/>
            </a:pPr>
            <a:r>
              <a:rPr lang="no-NO" b="1">
                <a:solidFill>
                  <a:srgbClr val="001D35"/>
                </a:solidFill>
                <a:latin typeface="Arial"/>
                <a:ea typeface="Arial"/>
                <a:cs typeface="Arial"/>
                <a:sym typeface="Arial"/>
              </a:rPr>
              <a:t>Security Measures:</a:t>
            </a:r>
            <a:br>
              <a:rPr lang="no-NO" b="1">
                <a:solidFill>
                  <a:srgbClr val="001D35"/>
                </a:solidFill>
                <a:latin typeface="Arial"/>
                <a:ea typeface="Arial"/>
                <a:cs typeface="Arial"/>
                <a:sym typeface="Arial"/>
              </a:rPr>
            </a:br>
            <a:r>
              <a:rPr lang="no-NO">
                <a:solidFill>
                  <a:srgbClr val="545D7E"/>
                </a:solidFill>
                <a:latin typeface="Arial"/>
                <a:ea typeface="Arial"/>
                <a:cs typeface="Arial"/>
                <a:sym typeface="Arial"/>
              </a:rPr>
              <a:t>Documenting security protocols, encryption methods, access controls, and audit logs used to protect data. </a:t>
            </a:r>
            <a:endParaRPr>
              <a:solidFill>
                <a:srgbClr val="545D7E"/>
              </a:solidFill>
              <a:latin typeface="Arial"/>
              <a:ea typeface="Arial"/>
              <a:cs typeface="Arial"/>
              <a:sym typeface="Arial"/>
            </a:endParaRPr>
          </a:p>
          <a:p>
            <a:pPr marL="457200" lvl="0" indent="-228600" algn="l" rtl="0">
              <a:lnSpc>
                <a:spcPct val="137500"/>
              </a:lnSpc>
              <a:spcBef>
                <a:spcPts val="0"/>
              </a:spcBef>
              <a:spcAft>
                <a:spcPts val="0"/>
              </a:spcAft>
              <a:buClr>
                <a:srgbClr val="001D35"/>
              </a:buClr>
              <a:buSzPts val="1200"/>
              <a:buNone/>
            </a:pPr>
            <a:r>
              <a:rPr lang="no-NO" b="1">
                <a:solidFill>
                  <a:srgbClr val="001D35"/>
                </a:solidFill>
                <a:latin typeface="Arial"/>
                <a:ea typeface="Arial"/>
                <a:cs typeface="Arial"/>
                <a:sym typeface="Arial"/>
              </a:rPr>
              <a:t>Compliance:</a:t>
            </a:r>
            <a:br>
              <a:rPr lang="no-NO" b="1">
                <a:solidFill>
                  <a:srgbClr val="001D35"/>
                </a:solidFill>
                <a:latin typeface="Arial"/>
                <a:ea typeface="Arial"/>
                <a:cs typeface="Arial"/>
                <a:sym typeface="Arial"/>
              </a:rPr>
            </a:br>
            <a:r>
              <a:rPr lang="no-NO">
                <a:solidFill>
                  <a:srgbClr val="545D7E"/>
                </a:solidFill>
                <a:latin typeface="Arial"/>
                <a:ea typeface="Arial"/>
                <a:cs typeface="Arial"/>
                <a:sym typeface="Arial"/>
              </a:rPr>
              <a:t>Tracking data handling practices and compliance with relevant regulations like GDPR, CCPA, or other privacy laws. </a:t>
            </a:r>
            <a:endParaRPr>
              <a:solidFill>
                <a:srgbClr val="545D7E"/>
              </a:solidFill>
              <a:latin typeface="Arial"/>
              <a:ea typeface="Arial"/>
              <a:cs typeface="Arial"/>
              <a:sym typeface="Arial"/>
            </a:endParaRPr>
          </a:p>
          <a:p>
            <a:pPr marL="0" lvl="0" indent="0" algn="l" rtl="0">
              <a:lnSpc>
                <a:spcPct val="115000"/>
              </a:lnSpc>
              <a:spcBef>
                <a:spcPts val="1500"/>
              </a:spcBef>
              <a:spcAft>
                <a:spcPts val="0"/>
              </a:spcAft>
              <a:buNone/>
            </a:pPr>
            <a:endParaRPr/>
          </a:p>
          <a:p>
            <a:pPr marL="0" lvl="0" indent="0" algn="l" rtl="0">
              <a:lnSpc>
                <a:spcPct val="115000"/>
              </a:lnSpc>
              <a:spcBef>
                <a:spcPts val="1200"/>
              </a:spcBef>
              <a:spcAft>
                <a:spcPts val="1200"/>
              </a:spcAft>
              <a:buNone/>
            </a:pPr>
            <a:br>
              <a:rPr lang="no-NO"/>
            </a:br>
            <a:endParaRPr/>
          </a:p>
        </p:txBody>
      </p:sp>
      <p:sp>
        <p:nvSpPr>
          <p:cNvPr id="155" name="Google Shape;155;g35d00b91756_0_1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no-NO"/>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60a373b6a2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60a373b6a2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br>
              <a:rPr lang="no-NO"/>
            </a:br>
            <a:endParaRPr/>
          </a:p>
        </p:txBody>
      </p:sp>
      <p:sp>
        <p:nvSpPr>
          <p:cNvPr id="162" name="Google Shape;162;g360a373b6a2_0_2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no-NO"/>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60a373b6a2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60a373b6a2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br>
              <a:rPr lang="no-NO"/>
            </a:br>
            <a:endParaRPr/>
          </a:p>
        </p:txBody>
      </p:sp>
      <p:sp>
        <p:nvSpPr>
          <p:cNvPr id="170" name="Google Shape;170;g360a373b6a2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no-NO"/>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5fc391cfa1_0_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g35fc391cfa1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tellysbil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470212" y="1122363"/>
            <a:ext cx="9144000" cy="2387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7200"/>
              <a:buFont typeface="Arial"/>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1470212" y="3602038"/>
            <a:ext cx="9144000" cy="165576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6" name="Google Shape;16;p2"/>
          <p:cNvPicPr preferRelativeResize="0"/>
          <p:nvPr/>
        </p:nvPicPr>
        <p:blipFill rotWithShape="1">
          <a:blip r:embed="rId2">
            <a:alphaModFix/>
          </a:blip>
          <a:srcRect/>
          <a:stretch/>
        </p:blipFill>
        <p:spPr>
          <a:xfrm>
            <a:off x="7988387" y="3218688"/>
            <a:ext cx="4211332" cy="3639312"/>
          </a:xfrm>
          <a:prstGeom prst="rect">
            <a:avLst/>
          </a:prstGeom>
          <a:noFill/>
          <a:ln>
            <a:noFill/>
          </a:ln>
        </p:spPr>
      </p:pic>
      <p:pic>
        <p:nvPicPr>
          <p:cNvPr id="17" name="Google Shape;17;p2" title="logo-brezNapisa.png"/>
          <p:cNvPicPr preferRelativeResize="0"/>
          <p:nvPr/>
        </p:nvPicPr>
        <p:blipFill>
          <a:blip r:embed="rId3">
            <a:alphaModFix/>
          </a:blip>
          <a:stretch>
            <a:fillRect/>
          </a:stretch>
        </p:blipFill>
        <p:spPr>
          <a:xfrm>
            <a:off x="1109430" y="6397625"/>
            <a:ext cx="579472" cy="41060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omt" type="blank">
  <p:cSld name="BLANK">
    <p:spTree>
      <p:nvGrpSpPr>
        <p:cNvPr id="1" name="Shape 18"/>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gendefinert oppsett">
  <p:cSld name="Egendefinert oppsett">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1470211" y="1799245"/>
            <a:ext cx="6813176" cy="304291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1" name="Google Shape;21;p4"/>
          <p:cNvPicPr preferRelativeResize="0"/>
          <p:nvPr/>
        </p:nvPicPr>
        <p:blipFill rotWithShape="1">
          <a:blip r:embed="rId2">
            <a:alphaModFix/>
          </a:blip>
          <a:srcRect/>
          <a:stretch/>
        </p:blipFill>
        <p:spPr>
          <a:xfrm>
            <a:off x="7846828" y="3537300"/>
            <a:ext cx="4345171" cy="33207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tel og innhold" type="obj">
  <p:cSld name="OBJECT">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loverskrift" type="secHead">
  <p:cSld name="SECTION_HEADER">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838200" y="1265985"/>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6"/>
          <p:cNvSpPr txBox="1">
            <a:spLocks noGrp="1"/>
          </p:cNvSpPr>
          <p:nvPr>
            <p:ph type="body" idx="1"/>
          </p:nvPr>
        </p:nvSpPr>
        <p:spPr>
          <a:xfrm>
            <a:off x="838200" y="4118722"/>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400"/>
              <a:buNone/>
              <a:defRPr sz="2400">
                <a:solidFill>
                  <a:schemeClr val="lt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o innholdsdeler" type="twoObj">
  <p:cSld name="TWO_OBJECTS">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ammenligning" type="twoTxTwoObj">
  <p:cSld name="TWO_OBJECTS_WITH_TEX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400"/>
              <a:buNone/>
              <a:defRPr sz="2400" b="1"/>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400"/>
              <a:buNone/>
              <a:defRPr sz="2400" b="1"/>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7" name="Google Shape;37;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re tittel" type="titleOnly">
  <p:cSld name="TITLE_ONLY">
    <p:spTree>
      <p:nvGrpSpPr>
        <p:cNvPr id="1" name="Shape 38"/>
        <p:cNvGrpSpPr/>
        <p:nvPr/>
      </p:nvGrpSpPr>
      <p:grpSpPr>
        <a:xfrm>
          <a:off x="0" y="0"/>
          <a:ext cx="0" cy="0"/>
          <a:chOff x="0" y="0"/>
          <a:chExt cx="0" cy="0"/>
        </a:xfrm>
      </p:grpSpPr>
      <p:sp>
        <p:nvSpPr>
          <p:cNvPr id="39" name="Google Shape;39;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nnhold med tekst" type="objTx">
  <p:cSld name="OBJECT_WITH_CAPTION_TEXT">
    <p:spTree>
      <p:nvGrpSpPr>
        <p:cNvPr id="1" name="Shape 40"/>
        <p:cNvGrpSpPr/>
        <p:nvPr/>
      </p:nvGrpSpPr>
      <p:grpSpPr>
        <a:xfrm>
          <a:off x="0" y="0"/>
          <a:ext cx="0" cy="0"/>
          <a:chOff x="0" y="0"/>
          <a:chExt cx="0" cy="0"/>
        </a:xfrm>
      </p:grpSpPr>
      <p:sp>
        <p:nvSpPr>
          <p:cNvPr id="41" name="Google Shape;41;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lt1"/>
              </a:buClr>
              <a:buSzPts val="3200"/>
              <a:buChar char="•"/>
              <a:defRPr sz="3200"/>
            </a:lvl1pPr>
            <a:lvl2pPr marL="914400" lvl="1" indent="-406400" algn="l">
              <a:lnSpc>
                <a:spcPct val="90000"/>
              </a:lnSpc>
              <a:spcBef>
                <a:spcPts val="500"/>
              </a:spcBef>
              <a:spcAft>
                <a:spcPts val="0"/>
              </a:spcAft>
              <a:buClr>
                <a:schemeClr val="lt1"/>
              </a:buClr>
              <a:buSzPts val="2800"/>
              <a:buChar char="•"/>
              <a:defRPr sz="2800"/>
            </a:lvl2pPr>
            <a:lvl3pPr marL="1371600" lvl="2" indent="-381000" algn="l">
              <a:lnSpc>
                <a:spcPct val="90000"/>
              </a:lnSpc>
              <a:spcBef>
                <a:spcPts val="500"/>
              </a:spcBef>
              <a:spcAft>
                <a:spcPts val="0"/>
              </a:spcAft>
              <a:buClr>
                <a:schemeClr val="lt1"/>
              </a:buClr>
              <a:buSzPts val="2400"/>
              <a:buChar char="•"/>
              <a:defRPr sz="2400"/>
            </a:lvl3pPr>
            <a:lvl4pPr marL="1828800" lvl="3" indent="-355600" algn="l">
              <a:lnSpc>
                <a:spcPct val="90000"/>
              </a:lnSpc>
              <a:spcBef>
                <a:spcPts val="500"/>
              </a:spcBef>
              <a:spcAft>
                <a:spcPts val="0"/>
              </a:spcAft>
              <a:buClr>
                <a:schemeClr val="lt1"/>
              </a:buClr>
              <a:buSzPts val="2000"/>
              <a:buChar char="•"/>
              <a:defRPr sz="2000"/>
            </a:lvl4pPr>
            <a:lvl5pPr marL="2286000" lvl="4" indent="-355600" algn="l">
              <a:lnSpc>
                <a:spcPct val="90000"/>
              </a:lnSpc>
              <a:spcBef>
                <a:spcPts val="500"/>
              </a:spcBef>
              <a:spcAft>
                <a:spcPts val="0"/>
              </a:spcAft>
              <a:buClr>
                <a:schemeClr val="lt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3" name="Google Shape;43;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lde med tekst" type="picTx">
  <p:cSld name="PICTURE_WITH_CAPTION_TEXT">
    <p:spTree>
      <p:nvGrpSpPr>
        <p:cNvPr id="1" name="Shape 44"/>
        <p:cNvGrpSpPr/>
        <p:nvPr/>
      </p:nvGrpSpPr>
      <p:grpSpPr>
        <a:xfrm>
          <a:off x="0" y="0"/>
          <a:ext cx="0" cy="0"/>
          <a:chOff x="0" y="0"/>
          <a:chExt cx="0" cy="0"/>
        </a:xfrm>
      </p:grpSpPr>
      <p:sp>
        <p:nvSpPr>
          <p:cNvPr id="45" name="Google Shape;45;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1"/>
          <p:cNvSpPr>
            <a:spLocks noGrp="1"/>
          </p:cNvSpPr>
          <p:nvPr>
            <p:ph type="pic" idx="2"/>
          </p:nvPr>
        </p:nvSpPr>
        <p:spPr>
          <a:xfrm>
            <a:off x="5183188" y="987425"/>
            <a:ext cx="6172200" cy="4873625"/>
          </a:xfrm>
          <a:prstGeom prst="rect">
            <a:avLst/>
          </a:prstGeom>
          <a:noFill/>
          <a:ln>
            <a:noFill/>
          </a:ln>
        </p:spPr>
      </p:sp>
      <p:sp>
        <p:nvSpPr>
          <p:cNvPr id="47" name="Google Shape;47;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omt">
  <p:cSld name="Tomt">
    <p:spTree>
      <p:nvGrpSpPr>
        <p:cNvPr id="1" name="Shape 52"/>
        <p:cNvGrpSpPr/>
        <p:nvPr/>
      </p:nvGrpSpPr>
      <p:grpSpPr>
        <a:xfrm>
          <a:off x="0" y="0"/>
          <a:ext cx="0" cy="0"/>
          <a:chOff x="0" y="0"/>
          <a:chExt cx="0" cy="0"/>
        </a:xfrm>
      </p:grpSpPr>
      <p:pic>
        <p:nvPicPr>
          <p:cNvPr id="53" name="Google Shape;53;p13" title="logo-brezNapisa.png"/>
          <p:cNvPicPr preferRelativeResize="0"/>
          <p:nvPr/>
        </p:nvPicPr>
        <p:blipFill>
          <a:blip r:embed="rId2">
            <a:alphaModFix/>
          </a:blip>
          <a:stretch>
            <a:fillRect/>
          </a:stretch>
        </p:blipFill>
        <p:spPr>
          <a:xfrm>
            <a:off x="1109430" y="6397625"/>
            <a:ext cx="579472" cy="410601"/>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o innholdsdeler" type="twoObj">
  <p:cSld name="TWO_OBJECTS">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58" name="Google Shape;58;p14" title="logo-brezNapisa.png"/>
          <p:cNvPicPr preferRelativeResize="0"/>
          <p:nvPr/>
        </p:nvPicPr>
        <p:blipFill>
          <a:blip r:embed="rId2">
            <a:alphaModFix/>
          </a:blip>
          <a:stretch>
            <a:fillRect/>
          </a:stretch>
        </p:blipFill>
        <p:spPr>
          <a:xfrm>
            <a:off x="1109430" y="6397625"/>
            <a:ext cx="579472" cy="410601"/>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tel og innhold" type="obj">
  <p:cSld name="OBJECT">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62" name="Google Shape;62;p15" title="logo-brezNapisa.png"/>
          <p:cNvPicPr preferRelativeResize="0"/>
          <p:nvPr/>
        </p:nvPicPr>
        <p:blipFill>
          <a:blip r:embed="rId2">
            <a:alphaModFix/>
          </a:blip>
          <a:stretch>
            <a:fillRect/>
          </a:stretch>
        </p:blipFill>
        <p:spPr>
          <a:xfrm>
            <a:off x="1109430" y="6397625"/>
            <a:ext cx="579472" cy="41060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om">
  <p:cSld name="Tom">
    <p:bg>
      <p:bgPr>
        <a:solidFill>
          <a:schemeClr val="lt1"/>
        </a:solidFill>
        <a:effectLst/>
      </p:bgPr>
    </p:bg>
    <p:spTree>
      <p:nvGrpSpPr>
        <p:cNvPr id="1" name="Shape 63"/>
        <p:cNvGrpSpPr/>
        <p:nvPr/>
      </p:nvGrpSpPr>
      <p:grpSpPr>
        <a:xfrm>
          <a:off x="0" y="0"/>
          <a:ext cx="0" cy="0"/>
          <a:chOff x="0" y="0"/>
          <a:chExt cx="0" cy="0"/>
        </a:xfrm>
      </p:grpSpPr>
      <p:sp>
        <p:nvSpPr>
          <p:cNvPr id="64" name="Google Shape;64;p16"/>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950">
                <a:solidFill>
                  <a:schemeClr val="dk1"/>
                </a:solidFill>
                <a:latin typeface="Calibri"/>
                <a:ea typeface="Calibri"/>
                <a:cs typeface="Calibri"/>
                <a:sym typeface="Calibri"/>
              </a:defRPr>
            </a:lvl1pPr>
            <a:lvl2pPr marL="0" marR="0" lvl="1" indent="0" algn="l" rtl="0">
              <a:spcBef>
                <a:spcPts val="0"/>
              </a:spcBef>
              <a:buNone/>
              <a:defRPr sz="950">
                <a:solidFill>
                  <a:schemeClr val="dk1"/>
                </a:solidFill>
                <a:latin typeface="Calibri"/>
                <a:ea typeface="Calibri"/>
                <a:cs typeface="Calibri"/>
                <a:sym typeface="Calibri"/>
              </a:defRPr>
            </a:lvl2pPr>
            <a:lvl3pPr marL="0" marR="0" lvl="2" indent="0" algn="l" rtl="0">
              <a:spcBef>
                <a:spcPts val="0"/>
              </a:spcBef>
              <a:buNone/>
              <a:defRPr sz="950">
                <a:solidFill>
                  <a:schemeClr val="dk1"/>
                </a:solidFill>
                <a:latin typeface="Calibri"/>
                <a:ea typeface="Calibri"/>
                <a:cs typeface="Calibri"/>
                <a:sym typeface="Calibri"/>
              </a:defRPr>
            </a:lvl3pPr>
            <a:lvl4pPr marL="0" marR="0" lvl="3" indent="0" algn="l" rtl="0">
              <a:spcBef>
                <a:spcPts val="0"/>
              </a:spcBef>
              <a:buNone/>
              <a:defRPr sz="950">
                <a:solidFill>
                  <a:schemeClr val="dk1"/>
                </a:solidFill>
                <a:latin typeface="Calibri"/>
                <a:ea typeface="Calibri"/>
                <a:cs typeface="Calibri"/>
                <a:sym typeface="Calibri"/>
              </a:defRPr>
            </a:lvl4pPr>
            <a:lvl5pPr marL="0" marR="0" lvl="4" indent="0" algn="l" rtl="0">
              <a:spcBef>
                <a:spcPts val="0"/>
              </a:spcBef>
              <a:buNone/>
              <a:defRPr sz="950">
                <a:solidFill>
                  <a:schemeClr val="dk1"/>
                </a:solidFill>
                <a:latin typeface="Calibri"/>
                <a:ea typeface="Calibri"/>
                <a:cs typeface="Calibri"/>
                <a:sym typeface="Calibri"/>
              </a:defRPr>
            </a:lvl5pPr>
            <a:lvl6pPr marL="0" marR="0" lvl="5" indent="0" algn="l" rtl="0">
              <a:spcBef>
                <a:spcPts val="0"/>
              </a:spcBef>
              <a:buNone/>
              <a:defRPr sz="950">
                <a:solidFill>
                  <a:schemeClr val="dk1"/>
                </a:solidFill>
                <a:latin typeface="Calibri"/>
                <a:ea typeface="Calibri"/>
                <a:cs typeface="Calibri"/>
                <a:sym typeface="Calibri"/>
              </a:defRPr>
            </a:lvl6pPr>
            <a:lvl7pPr marL="0" marR="0" lvl="6" indent="0" algn="l" rtl="0">
              <a:spcBef>
                <a:spcPts val="0"/>
              </a:spcBef>
              <a:buNone/>
              <a:defRPr sz="950">
                <a:solidFill>
                  <a:schemeClr val="dk1"/>
                </a:solidFill>
                <a:latin typeface="Calibri"/>
                <a:ea typeface="Calibri"/>
                <a:cs typeface="Calibri"/>
                <a:sym typeface="Calibri"/>
              </a:defRPr>
            </a:lvl7pPr>
            <a:lvl8pPr marL="0" marR="0" lvl="7" indent="0" algn="l" rtl="0">
              <a:spcBef>
                <a:spcPts val="0"/>
              </a:spcBef>
              <a:buNone/>
              <a:defRPr sz="950">
                <a:solidFill>
                  <a:schemeClr val="dk1"/>
                </a:solidFill>
                <a:latin typeface="Calibri"/>
                <a:ea typeface="Calibri"/>
                <a:cs typeface="Calibri"/>
                <a:sym typeface="Calibri"/>
              </a:defRPr>
            </a:lvl8pPr>
            <a:lvl9pPr marL="0" marR="0" lvl="8" indent="0" algn="l" rtl="0">
              <a:spcBef>
                <a:spcPts val="0"/>
              </a:spcBef>
              <a:buNone/>
              <a:defRPr sz="95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no-NO"/>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Logo">
  <p:cSld name="Logo">
    <p:spTree>
      <p:nvGrpSpPr>
        <p:cNvPr id="1" name="Shape 65"/>
        <p:cNvGrpSpPr/>
        <p:nvPr/>
      </p:nvGrpSpPr>
      <p:grpSpPr>
        <a:xfrm>
          <a:off x="0" y="0"/>
          <a:ext cx="0" cy="0"/>
          <a:chOff x="0" y="0"/>
          <a:chExt cx="0" cy="0"/>
        </a:xfrm>
      </p:grpSpPr>
      <p:sp>
        <p:nvSpPr>
          <p:cNvPr id="66" name="Google Shape;66;p17"/>
          <p:cNvSpPr/>
          <p:nvPr/>
        </p:nvSpPr>
        <p:spPr>
          <a:xfrm>
            <a:off x="139337" y="182880"/>
            <a:ext cx="1314995" cy="36576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1">
              <a:solidFill>
                <a:schemeClr val="lt1"/>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tellysbilde" type="title">
  <p:cSld name="TITLE">
    <p:spTree>
      <p:nvGrpSpPr>
        <p:cNvPr id="1" name="Shape 67"/>
        <p:cNvGrpSpPr/>
        <p:nvPr/>
      </p:nvGrpSpPr>
      <p:grpSpPr>
        <a:xfrm>
          <a:off x="0" y="0"/>
          <a:ext cx="0" cy="0"/>
          <a:chOff x="0" y="0"/>
          <a:chExt cx="0" cy="0"/>
        </a:xfrm>
      </p:grpSpPr>
      <p:sp>
        <p:nvSpPr>
          <p:cNvPr id="68" name="Google Shape;68;p1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eloverskrift" type="secHead">
  <p:cSld name="SECTION_HEADER">
    <p:spTree>
      <p:nvGrpSpPr>
        <p:cNvPr id="1" name="Shape 70"/>
        <p:cNvGrpSpPr/>
        <p:nvPr/>
      </p:nvGrpSpPr>
      <p:grpSpPr>
        <a:xfrm>
          <a:off x="0" y="0"/>
          <a:ext cx="0" cy="0"/>
          <a:chOff x="0" y="0"/>
          <a:chExt cx="0" cy="0"/>
        </a:xfrm>
      </p:grpSpPr>
      <p:sp>
        <p:nvSpPr>
          <p:cNvPr id="71" name="Google Shape;71;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2400"/>
              <a:buNone/>
              <a:defRPr sz="2400">
                <a:solidFill>
                  <a:srgbClr val="888888"/>
                </a:solidFill>
              </a:defRPr>
            </a:lvl1pPr>
            <a:lvl2pPr marL="914400" lvl="1" indent="-228600" algn="l">
              <a:lnSpc>
                <a:spcPct val="90000"/>
              </a:lnSpc>
              <a:spcBef>
                <a:spcPts val="500"/>
              </a:spcBef>
              <a:spcAft>
                <a:spcPts val="0"/>
              </a:spcAft>
              <a:buSzPts val="2000"/>
              <a:buNone/>
              <a:defRPr sz="2000">
                <a:solidFill>
                  <a:srgbClr val="888888"/>
                </a:solidFill>
              </a:defRPr>
            </a:lvl2pPr>
            <a:lvl3pPr marL="1371600" lvl="2" indent="-228600" algn="l">
              <a:lnSpc>
                <a:spcPct val="90000"/>
              </a:lnSpc>
              <a:spcBef>
                <a:spcPts val="500"/>
              </a:spcBef>
              <a:spcAft>
                <a:spcPts val="0"/>
              </a:spcAft>
              <a:buSzPts val="1800"/>
              <a:buNone/>
              <a:defRPr sz="1800">
                <a:solidFill>
                  <a:srgbClr val="888888"/>
                </a:solidFill>
              </a:defRPr>
            </a:lvl3pPr>
            <a:lvl4pPr marL="1828800" lvl="3" indent="-228600" algn="l">
              <a:lnSpc>
                <a:spcPct val="90000"/>
              </a:lnSpc>
              <a:spcBef>
                <a:spcPts val="500"/>
              </a:spcBef>
              <a:spcAft>
                <a:spcPts val="0"/>
              </a:spcAft>
              <a:buSzPts val="1600"/>
              <a:buNone/>
              <a:defRPr sz="1600">
                <a:solidFill>
                  <a:srgbClr val="888888"/>
                </a:solidFill>
              </a:defRPr>
            </a:lvl4pPr>
            <a:lvl5pPr marL="2286000" lvl="4" indent="-228600" algn="l">
              <a:lnSpc>
                <a:spcPct val="90000"/>
              </a:lnSpc>
              <a:spcBef>
                <a:spcPts val="500"/>
              </a:spcBef>
              <a:spcAft>
                <a:spcPts val="0"/>
              </a:spcAft>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ammenligning" type="twoTxTwoObj">
  <p:cSld name="TWO_OBJECTS_WITH_TEXT">
    <p:spTree>
      <p:nvGrpSpPr>
        <p:cNvPr id="1" name="Shape 73"/>
        <p:cNvGrpSpPr/>
        <p:nvPr/>
      </p:nvGrpSpPr>
      <p:grpSpPr>
        <a:xfrm>
          <a:off x="0" y="0"/>
          <a:ext cx="0" cy="0"/>
          <a:chOff x="0" y="0"/>
          <a:chExt cx="0" cy="0"/>
        </a:xfrm>
      </p:grpSpPr>
      <p:sp>
        <p:nvSpPr>
          <p:cNvPr id="74" name="Google Shape;74;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SzPts val="2400"/>
              <a:buNone/>
              <a:defRPr sz="2400" b="1"/>
            </a:lvl1pPr>
            <a:lvl2pPr marL="914400" lvl="1" indent="-228600" algn="l">
              <a:lnSpc>
                <a:spcPct val="90000"/>
              </a:lnSpc>
              <a:spcBef>
                <a:spcPts val="500"/>
              </a:spcBef>
              <a:spcAft>
                <a:spcPts val="0"/>
              </a:spcAft>
              <a:buSzPts val="2000"/>
              <a:buNone/>
              <a:defRPr sz="2000" b="1"/>
            </a:lvl2pPr>
            <a:lvl3pPr marL="1371600" lvl="2" indent="-228600" algn="l">
              <a:lnSpc>
                <a:spcPct val="90000"/>
              </a:lnSpc>
              <a:spcBef>
                <a:spcPts val="500"/>
              </a:spcBef>
              <a:spcAft>
                <a:spcPts val="0"/>
              </a:spcAft>
              <a:buSzPts val="1800"/>
              <a:buNone/>
              <a:defRPr sz="1800" b="1"/>
            </a:lvl3pPr>
            <a:lvl4pPr marL="1828800" lvl="3" indent="-228600" algn="l">
              <a:lnSpc>
                <a:spcPct val="90000"/>
              </a:lnSpc>
              <a:spcBef>
                <a:spcPts val="500"/>
              </a:spcBef>
              <a:spcAft>
                <a:spcPts val="0"/>
              </a:spcAft>
              <a:buSzPts val="1600"/>
              <a:buNone/>
              <a:defRPr sz="1600" b="1"/>
            </a:lvl4pPr>
            <a:lvl5pPr marL="2286000" lvl="4" indent="-228600" algn="l">
              <a:lnSpc>
                <a:spcPct val="90000"/>
              </a:lnSpc>
              <a:spcBef>
                <a:spcPts val="500"/>
              </a:spcBef>
              <a:spcAft>
                <a:spcPts val="0"/>
              </a:spcAft>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6" name="Google Shape;76;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SzPts val="2400"/>
              <a:buNone/>
              <a:defRPr sz="2400" b="1"/>
            </a:lvl1pPr>
            <a:lvl2pPr marL="914400" lvl="1" indent="-228600" algn="l">
              <a:lnSpc>
                <a:spcPct val="90000"/>
              </a:lnSpc>
              <a:spcBef>
                <a:spcPts val="500"/>
              </a:spcBef>
              <a:spcAft>
                <a:spcPts val="0"/>
              </a:spcAft>
              <a:buSzPts val="2000"/>
              <a:buNone/>
              <a:defRPr sz="2000" b="1"/>
            </a:lvl2pPr>
            <a:lvl3pPr marL="1371600" lvl="2" indent="-228600" algn="l">
              <a:lnSpc>
                <a:spcPct val="90000"/>
              </a:lnSpc>
              <a:spcBef>
                <a:spcPts val="500"/>
              </a:spcBef>
              <a:spcAft>
                <a:spcPts val="0"/>
              </a:spcAft>
              <a:buSzPts val="1800"/>
              <a:buNone/>
              <a:defRPr sz="1800" b="1"/>
            </a:lvl3pPr>
            <a:lvl4pPr marL="1828800" lvl="3" indent="-228600" algn="l">
              <a:lnSpc>
                <a:spcPct val="90000"/>
              </a:lnSpc>
              <a:spcBef>
                <a:spcPts val="500"/>
              </a:spcBef>
              <a:spcAft>
                <a:spcPts val="0"/>
              </a:spcAft>
              <a:buSzPts val="1600"/>
              <a:buNone/>
              <a:defRPr sz="1600" b="1"/>
            </a:lvl4pPr>
            <a:lvl5pPr marL="2286000" lvl="4" indent="-228600" algn="l">
              <a:lnSpc>
                <a:spcPct val="90000"/>
              </a:lnSpc>
              <a:spcBef>
                <a:spcPts val="500"/>
              </a:spcBef>
              <a:spcAft>
                <a:spcPts val="0"/>
              </a:spcAft>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8" name="Google Shape;78;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re tittel" type="titleOnly">
  <p:cSld name="TITLE_ONLY">
    <p:spTree>
      <p:nvGrpSpPr>
        <p:cNvPr id="1" name="Shape 79"/>
        <p:cNvGrpSpPr/>
        <p:nvPr/>
      </p:nvGrpSpPr>
      <p:grpSpPr>
        <a:xfrm>
          <a:off x="0" y="0"/>
          <a:ext cx="0" cy="0"/>
          <a:chOff x="0" y="0"/>
          <a:chExt cx="0" cy="0"/>
        </a:xfrm>
      </p:grpSpPr>
      <p:sp>
        <p:nvSpPr>
          <p:cNvPr id="80" name="Google Shape;80;p21"/>
          <p:cNvSpPr txBox="1">
            <a:spLocks noGrp="1"/>
          </p:cNvSpPr>
          <p:nvPr>
            <p:ph type="title"/>
          </p:nvPr>
        </p:nvSpPr>
        <p:spPr>
          <a:xfrm>
            <a:off x="747889" y="2766218"/>
            <a:ext cx="10515600"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nnhold med tekst" type="objTx">
  <p:cSld name="OBJECT_WITH_CAPTION_TEXT">
    <p:spTree>
      <p:nvGrpSpPr>
        <p:cNvPr id="1" name="Shape 81"/>
        <p:cNvGrpSpPr/>
        <p:nvPr/>
      </p:nvGrpSpPr>
      <p:grpSpPr>
        <a:xfrm>
          <a:off x="0" y="0"/>
          <a:ext cx="0" cy="0"/>
          <a:chOff x="0" y="0"/>
          <a:chExt cx="0" cy="0"/>
        </a:xfrm>
      </p:grpSpPr>
      <p:sp>
        <p:nvSpPr>
          <p:cNvPr id="82" name="Google Shape;82;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SzPts val="3200"/>
              <a:buChar char="•"/>
              <a:defRPr sz="3200"/>
            </a:lvl1pPr>
            <a:lvl2pPr marL="914400" lvl="1" indent="-406400" algn="l">
              <a:lnSpc>
                <a:spcPct val="90000"/>
              </a:lnSpc>
              <a:spcBef>
                <a:spcPts val="500"/>
              </a:spcBef>
              <a:spcAft>
                <a:spcPts val="0"/>
              </a:spcAft>
              <a:buSzPts val="2800"/>
              <a:buChar char="•"/>
              <a:defRPr sz="2800"/>
            </a:lvl2pPr>
            <a:lvl3pPr marL="1371600" lvl="2" indent="-381000" algn="l">
              <a:lnSpc>
                <a:spcPct val="90000"/>
              </a:lnSpc>
              <a:spcBef>
                <a:spcPts val="500"/>
              </a:spcBef>
              <a:spcAft>
                <a:spcPts val="0"/>
              </a:spcAft>
              <a:buSzPts val="2400"/>
              <a:buChar char="•"/>
              <a:defRPr sz="2400"/>
            </a:lvl3pPr>
            <a:lvl4pPr marL="1828800" lvl="3" indent="-355600" algn="l">
              <a:lnSpc>
                <a:spcPct val="90000"/>
              </a:lnSpc>
              <a:spcBef>
                <a:spcPts val="500"/>
              </a:spcBef>
              <a:spcAft>
                <a:spcPts val="0"/>
              </a:spcAft>
              <a:buSzPts val="2000"/>
              <a:buChar char="•"/>
              <a:defRPr sz="2000"/>
            </a:lvl4pPr>
            <a:lvl5pPr marL="2286000" lvl="4" indent="-355600" algn="l">
              <a:lnSpc>
                <a:spcPct val="90000"/>
              </a:lnSpc>
              <a:spcBef>
                <a:spcPts val="500"/>
              </a:spcBef>
              <a:spcAft>
                <a:spcPts val="0"/>
              </a:spcAft>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84" name="Google Shape;84;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600"/>
              <a:buNone/>
              <a:defRPr sz="1600"/>
            </a:lvl1pPr>
            <a:lvl2pPr marL="914400" lvl="1" indent="-228600" algn="l">
              <a:lnSpc>
                <a:spcPct val="90000"/>
              </a:lnSpc>
              <a:spcBef>
                <a:spcPts val="500"/>
              </a:spcBef>
              <a:spcAft>
                <a:spcPts val="0"/>
              </a:spcAft>
              <a:buSzPts val="1400"/>
              <a:buNone/>
              <a:defRPr sz="1400"/>
            </a:lvl2pPr>
            <a:lvl3pPr marL="1371600" lvl="2" indent="-228600" algn="l">
              <a:lnSpc>
                <a:spcPct val="90000"/>
              </a:lnSpc>
              <a:spcBef>
                <a:spcPts val="500"/>
              </a:spcBef>
              <a:spcAft>
                <a:spcPts val="0"/>
              </a:spcAft>
              <a:buSzPts val="1200"/>
              <a:buNone/>
              <a:defRPr sz="1200"/>
            </a:lvl3pPr>
            <a:lvl4pPr marL="1828800" lvl="3" indent="-228600" algn="l">
              <a:lnSpc>
                <a:spcPct val="90000"/>
              </a:lnSpc>
              <a:spcBef>
                <a:spcPts val="500"/>
              </a:spcBef>
              <a:spcAft>
                <a:spcPts val="0"/>
              </a:spcAft>
              <a:buSzPts val="1000"/>
              <a:buNone/>
              <a:defRPr sz="1000"/>
            </a:lvl4pPr>
            <a:lvl5pPr marL="2286000" lvl="4" indent="-228600" algn="l">
              <a:lnSpc>
                <a:spcPct val="90000"/>
              </a:lnSpc>
              <a:spcBef>
                <a:spcPts val="500"/>
              </a:spcBef>
              <a:spcAft>
                <a:spcPts val="0"/>
              </a:spcAft>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lde med tekst" type="picTx">
  <p:cSld name="PICTURE_WITH_CAPTION_TEXT">
    <p:spTree>
      <p:nvGrpSpPr>
        <p:cNvPr id="1" name="Shape 85"/>
        <p:cNvGrpSpPr/>
        <p:nvPr/>
      </p:nvGrpSpPr>
      <p:grpSpPr>
        <a:xfrm>
          <a:off x="0" y="0"/>
          <a:ext cx="0" cy="0"/>
          <a:chOff x="0" y="0"/>
          <a:chExt cx="0" cy="0"/>
        </a:xfrm>
      </p:grpSpPr>
      <p:sp>
        <p:nvSpPr>
          <p:cNvPr id="86" name="Google Shape;86;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23"/>
          <p:cNvSpPr>
            <a:spLocks noGrp="1"/>
          </p:cNvSpPr>
          <p:nvPr>
            <p:ph type="pic" idx="2"/>
          </p:nvPr>
        </p:nvSpPr>
        <p:spPr>
          <a:xfrm>
            <a:off x="5183188" y="987425"/>
            <a:ext cx="6172200" cy="4873625"/>
          </a:xfrm>
          <a:prstGeom prst="rect">
            <a:avLst/>
          </a:prstGeom>
          <a:noFill/>
          <a:ln>
            <a:noFill/>
          </a:ln>
        </p:spPr>
      </p:sp>
      <p:sp>
        <p:nvSpPr>
          <p:cNvPr id="88" name="Google Shape;88;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600"/>
              <a:buNone/>
              <a:defRPr sz="1600"/>
            </a:lvl1pPr>
            <a:lvl2pPr marL="914400" lvl="1" indent="-228600" algn="l">
              <a:lnSpc>
                <a:spcPct val="90000"/>
              </a:lnSpc>
              <a:spcBef>
                <a:spcPts val="500"/>
              </a:spcBef>
              <a:spcAft>
                <a:spcPts val="0"/>
              </a:spcAft>
              <a:buSzPts val="1400"/>
              <a:buNone/>
              <a:defRPr sz="1400"/>
            </a:lvl2pPr>
            <a:lvl3pPr marL="1371600" lvl="2" indent="-228600" algn="l">
              <a:lnSpc>
                <a:spcPct val="90000"/>
              </a:lnSpc>
              <a:spcBef>
                <a:spcPts val="500"/>
              </a:spcBef>
              <a:spcAft>
                <a:spcPts val="0"/>
              </a:spcAft>
              <a:buSzPts val="1200"/>
              <a:buNone/>
              <a:defRPr sz="1200"/>
            </a:lvl3pPr>
            <a:lvl4pPr marL="1828800" lvl="3" indent="-228600" algn="l">
              <a:lnSpc>
                <a:spcPct val="90000"/>
              </a:lnSpc>
              <a:spcBef>
                <a:spcPts val="500"/>
              </a:spcBef>
              <a:spcAft>
                <a:spcPts val="0"/>
              </a:spcAft>
              <a:buSzPts val="1000"/>
              <a:buNone/>
              <a:defRPr sz="1000"/>
            </a:lvl4pPr>
            <a:lvl5pPr marL="2286000" lvl="4" indent="-228600" algn="l">
              <a:lnSpc>
                <a:spcPct val="90000"/>
              </a:lnSpc>
              <a:spcBef>
                <a:spcPts val="500"/>
              </a:spcBef>
              <a:spcAft>
                <a:spcPts val="0"/>
              </a:spcAft>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5.pn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0035"/>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400"/>
              <a:buFont typeface="Arial"/>
              <a:buNone/>
              <a:defRPr sz="4400" b="0"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2" name="Google Shape;12;p1" descr="Et bilde som inneholder tekst, utklipp&#10;&#10;Automatisk generert beskrivelse"/>
          <p:cNvPicPr preferRelativeResize="0"/>
          <p:nvPr/>
        </p:nvPicPr>
        <p:blipFill rotWithShape="1">
          <a:blip r:embed="rId12">
            <a:alphaModFix/>
          </a:blip>
          <a:srcRect/>
          <a:stretch/>
        </p:blipFill>
        <p:spPr>
          <a:xfrm>
            <a:off x="225110" y="6492875"/>
            <a:ext cx="760311" cy="20275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
        <p:cNvGrpSpPr/>
        <p:nvPr/>
      </p:nvGrpSpPr>
      <p:grpSpPr>
        <a:xfrm>
          <a:off x="0" y="0"/>
          <a:ext cx="0" cy="0"/>
          <a:chOff x="0" y="0"/>
          <a:chExt cx="0" cy="0"/>
        </a:xfrm>
      </p:grpSpPr>
      <p:sp>
        <p:nvSpPr>
          <p:cNvPr id="49" name="Google Shape;49;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0" name="Google Shape;50;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2"/>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accent2"/>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accent2"/>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accent2"/>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accent2"/>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51" name="Google Shape;51;p12"/>
          <p:cNvPicPr preferRelativeResize="0"/>
          <p:nvPr/>
        </p:nvPicPr>
        <p:blipFill rotWithShape="1">
          <a:blip r:embed="rId13">
            <a:alphaModFix/>
          </a:blip>
          <a:srcRect/>
          <a:stretch/>
        </p:blipFill>
        <p:spPr>
          <a:xfrm>
            <a:off x="223441" y="6472997"/>
            <a:ext cx="800290" cy="21341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hyperlink" Target="https://dmeg.cessda.eu/" TargetMode="External"/><Relationship Id="rId5"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hyperlink" Target="https://doi.org/10.5281/zenodo.10064667" TargetMode="External"/><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hyperlink" Target="https://doi.org/10.1038/sdata.2016.18" TargetMode="External"/><Relationship Id="rId4" Type="http://schemas.openxmlformats.org/officeDocument/2006/relationships/hyperlink" Target="https://www.go-fair.org/fair-principles/"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4"/>
          <p:cNvSpPr txBox="1">
            <a:spLocks noGrp="1"/>
          </p:cNvSpPr>
          <p:nvPr>
            <p:ph type="ctrTitle"/>
          </p:nvPr>
        </p:nvSpPr>
        <p:spPr>
          <a:xfrm>
            <a:off x="1470200" y="1122372"/>
            <a:ext cx="9144000" cy="17928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lt1"/>
              </a:buClr>
              <a:buSzPts val="7200"/>
              <a:buFont typeface="Arial"/>
              <a:buNone/>
            </a:pPr>
            <a:r>
              <a:rPr lang="no-NO" sz="3700"/>
              <a:t>Balancing FAIR Data Principles with GDPR Compliance: </a:t>
            </a:r>
            <a:endParaRPr sz="3700"/>
          </a:p>
          <a:p>
            <a:pPr marL="0" lvl="0" indent="0" algn="ctr" rtl="0">
              <a:lnSpc>
                <a:spcPct val="90000"/>
              </a:lnSpc>
              <a:spcBef>
                <a:spcPts val="0"/>
              </a:spcBef>
              <a:spcAft>
                <a:spcPts val="0"/>
              </a:spcAft>
              <a:buClr>
                <a:schemeClr val="lt1"/>
              </a:buClr>
              <a:buSzPts val="7200"/>
              <a:buFont typeface="Arial"/>
              <a:buNone/>
            </a:pPr>
            <a:r>
              <a:rPr lang="no-NO" sz="3700"/>
              <a:t>A Guide for Researchers</a:t>
            </a:r>
            <a:endParaRPr sz="3700"/>
          </a:p>
        </p:txBody>
      </p:sp>
      <p:sp>
        <p:nvSpPr>
          <p:cNvPr id="94" name="Google Shape;94;p24"/>
          <p:cNvSpPr txBox="1">
            <a:spLocks noGrp="1"/>
          </p:cNvSpPr>
          <p:nvPr>
            <p:ph type="subTitle" idx="1"/>
          </p:nvPr>
        </p:nvSpPr>
        <p:spPr>
          <a:xfrm>
            <a:off x="1150100" y="3463700"/>
            <a:ext cx="9784200" cy="2880300"/>
          </a:xfrm>
          <a:prstGeom prst="rect">
            <a:avLst/>
          </a:prstGeom>
          <a:noFill/>
          <a:ln>
            <a:noFill/>
          </a:ln>
        </p:spPr>
        <p:txBody>
          <a:bodyPr spcFirstLastPara="1" wrap="square" lIns="91425" tIns="45700" rIns="91425" bIns="45700" anchor="t" anchorCtr="0">
            <a:normAutofit fontScale="55000" lnSpcReduction="20000"/>
          </a:bodyPr>
          <a:lstStyle/>
          <a:p>
            <a:pPr marL="0" lvl="0" indent="0" algn="l" rtl="0">
              <a:lnSpc>
                <a:spcPct val="100000"/>
              </a:lnSpc>
              <a:spcBef>
                <a:spcPts val="0"/>
              </a:spcBef>
              <a:spcAft>
                <a:spcPts val="0"/>
              </a:spcAft>
              <a:buClr>
                <a:schemeClr val="lt1"/>
              </a:buClr>
              <a:buSzPct val="61830"/>
              <a:buNone/>
            </a:pPr>
            <a:r>
              <a:rPr lang="no-NO" sz="3881"/>
              <a:t>Irena Vipavc Brvar</a:t>
            </a:r>
            <a:endParaRPr sz="3250"/>
          </a:p>
          <a:p>
            <a:pPr marL="0" lvl="0" indent="0" algn="l" rtl="0">
              <a:lnSpc>
                <a:spcPct val="100000"/>
              </a:lnSpc>
              <a:spcBef>
                <a:spcPts val="0"/>
              </a:spcBef>
              <a:spcAft>
                <a:spcPts val="0"/>
              </a:spcAft>
              <a:buClr>
                <a:schemeClr val="lt1"/>
              </a:buClr>
              <a:buSzPct val="73846"/>
              <a:buNone/>
            </a:pPr>
            <a:r>
              <a:rPr lang="no-NO" sz="3250"/>
              <a:t>Slovenian Social Science Data Archives</a:t>
            </a:r>
            <a:br>
              <a:rPr lang="no-NO" sz="3250"/>
            </a:br>
            <a:endParaRPr sz="3250"/>
          </a:p>
          <a:p>
            <a:pPr marL="0" lvl="0" indent="0" algn="l" rtl="0">
              <a:lnSpc>
                <a:spcPct val="100000"/>
              </a:lnSpc>
              <a:spcBef>
                <a:spcPts val="0"/>
              </a:spcBef>
              <a:spcAft>
                <a:spcPts val="0"/>
              </a:spcAft>
              <a:buClr>
                <a:schemeClr val="lt1"/>
              </a:buClr>
              <a:buSzPct val="62465"/>
              <a:buNone/>
            </a:pPr>
            <a:r>
              <a:rPr lang="no-NO" sz="3842"/>
              <a:t>Simon Gogl</a:t>
            </a:r>
            <a:endParaRPr sz="3250"/>
          </a:p>
          <a:p>
            <a:pPr marL="0" lvl="0" indent="0" algn="l" rtl="0">
              <a:lnSpc>
                <a:spcPct val="100000"/>
              </a:lnSpc>
              <a:spcBef>
                <a:spcPts val="0"/>
              </a:spcBef>
              <a:spcAft>
                <a:spcPts val="0"/>
              </a:spcAft>
              <a:buClr>
                <a:schemeClr val="lt1"/>
              </a:buClr>
              <a:buSzPct val="73846"/>
              <a:buNone/>
            </a:pPr>
            <a:r>
              <a:rPr lang="no-NO" sz="3250"/>
              <a:t>Sikt</a:t>
            </a:r>
            <a:endParaRPr sz="3250"/>
          </a:p>
          <a:p>
            <a:pPr marL="0" lvl="0" indent="0" algn="l" rtl="0">
              <a:lnSpc>
                <a:spcPct val="90000"/>
              </a:lnSpc>
              <a:spcBef>
                <a:spcPts val="0"/>
              </a:spcBef>
              <a:spcAft>
                <a:spcPts val="0"/>
              </a:spcAft>
              <a:buClr>
                <a:schemeClr val="lt1"/>
              </a:buClr>
              <a:buSzPct val="100000"/>
              <a:buNone/>
            </a:pPr>
            <a:endParaRPr/>
          </a:p>
          <a:p>
            <a:pPr marL="0" lvl="0" indent="0" algn="l" rtl="0">
              <a:lnSpc>
                <a:spcPct val="90000"/>
              </a:lnSpc>
              <a:spcBef>
                <a:spcPts val="0"/>
              </a:spcBef>
              <a:spcAft>
                <a:spcPts val="0"/>
              </a:spcAft>
              <a:buClr>
                <a:schemeClr val="lt1"/>
              </a:buClr>
              <a:buSzPct val="100000"/>
              <a:buNone/>
            </a:pPr>
            <a:endParaRPr/>
          </a:p>
          <a:p>
            <a:pPr marL="0" lvl="0" indent="0" algn="l" rtl="0">
              <a:lnSpc>
                <a:spcPct val="90000"/>
              </a:lnSpc>
              <a:spcBef>
                <a:spcPts val="0"/>
              </a:spcBef>
              <a:spcAft>
                <a:spcPts val="0"/>
              </a:spcAft>
              <a:buClr>
                <a:schemeClr val="lt1"/>
              </a:buClr>
              <a:buSzPct val="100000"/>
              <a:buNone/>
            </a:pPr>
            <a:endParaRPr/>
          </a:p>
          <a:p>
            <a:pPr marL="0" lvl="0" indent="0" algn="l" rtl="0">
              <a:lnSpc>
                <a:spcPct val="90000"/>
              </a:lnSpc>
              <a:spcBef>
                <a:spcPts val="0"/>
              </a:spcBef>
              <a:spcAft>
                <a:spcPts val="0"/>
              </a:spcAft>
              <a:buClr>
                <a:schemeClr val="lt1"/>
              </a:buClr>
              <a:buSzPct val="84672"/>
              <a:buNone/>
            </a:pPr>
            <a:endParaRPr sz="2834"/>
          </a:p>
          <a:p>
            <a:pPr marL="0" lvl="0" indent="0" algn="l" rtl="0">
              <a:lnSpc>
                <a:spcPct val="90000"/>
              </a:lnSpc>
              <a:spcBef>
                <a:spcPts val="0"/>
              </a:spcBef>
              <a:spcAft>
                <a:spcPts val="0"/>
              </a:spcAft>
              <a:buClr>
                <a:schemeClr val="lt1"/>
              </a:buClr>
              <a:buSzPct val="74681"/>
              <a:buNone/>
            </a:pPr>
            <a:r>
              <a:rPr lang="no-NO" sz="3213"/>
              <a:t>3-6 June 2025 </a:t>
            </a:r>
            <a:endParaRPr sz="3213"/>
          </a:p>
          <a:p>
            <a:pPr marL="0" lvl="0" indent="0" algn="l" rtl="0">
              <a:lnSpc>
                <a:spcPct val="90000"/>
              </a:lnSpc>
              <a:spcBef>
                <a:spcPts val="1000"/>
              </a:spcBef>
              <a:spcAft>
                <a:spcPts val="0"/>
              </a:spcAft>
              <a:buClr>
                <a:schemeClr val="lt1"/>
              </a:buClr>
              <a:buSzPct val="74681"/>
              <a:buNone/>
            </a:pPr>
            <a:r>
              <a:rPr lang="no-NO" sz="3213"/>
              <a:t>IASSIST 2025, Bristol, UK</a:t>
            </a:r>
            <a:endParaRPr sz="3213"/>
          </a:p>
          <a:p>
            <a:pPr marL="0" lvl="0" indent="0" algn="l" rtl="0">
              <a:lnSpc>
                <a:spcPct val="90000"/>
              </a:lnSpc>
              <a:spcBef>
                <a:spcPts val="1000"/>
              </a:spcBef>
              <a:spcAft>
                <a:spcPts val="0"/>
              </a:spcAft>
              <a:buClr>
                <a:schemeClr val="lt1"/>
              </a:buClr>
              <a:buSzPct val="100000"/>
              <a:buNone/>
            </a:pPr>
            <a:endParaRPr/>
          </a:p>
        </p:txBody>
      </p:sp>
      <p:pic>
        <p:nvPicPr>
          <p:cNvPr id="95" name="Google Shape;95;p24"/>
          <p:cNvPicPr preferRelativeResize="0"/>
          <p:nvPr/>
        </p:nvPicPr>
        <p:blipFill>
          <a:blip r:embed="rId3">
            <a:alphaModFix/>
          </a:blip>
          <a:stretch>
            <a:fillRect/>
          </a:stretch>
        </p:blipFill>
        <p:spPr>
          <a:xfrm>
            <a:off x="10181124" y="6397624"/>
            <a:ext cx="790775" cy="276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101" name="Google Shape;101;p25"/>
          <p:cNvPicPr preferRelativeResize="0"/>
          <p:nvPr/>
        </p:nvPicPr>
        <p:blipFill>
          <a:blip r:embed="rId3">
            <a:alphaModFix/>
          </a:blip>
          <a:stretch>
            <a:fillRect/>
          </a:stretch>
        </p:blipFill>
        <p:spPr>
          <a:xfrm>
            <a:off x="3283025" y="1319228"/>
            <a:ext cx="5282600" cy="5131974"/>
          </a:xfrm>
          <a:prstGeom prst="rect">
            <a:avLst/>
          </a:prstGeom>
          <a:noFill/>
          <a:ln>
            <a:noFill/>
          </a:ln>
        </p:spPr>
      </p:pic>
      <p:sp>
        <p:nvSpPr>
          <p:cNvPr id="102" name="Google Shape;102;p25"/>
          <p:cNvSpPr txBox="1"/>
          <p:nvPr/>
        </p:nvSpPr>
        <p:spPr>
          <a:xfrm>
            <a:off x="624300" y="495750"/>
            <a:ext cx="4195500" cy="48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no-NO" sz="2800">
                <a:solidFill>
                  <a:schemeClr val="dk1"/>
                </a:solidFill>
              </a:rPr>
              <a:t>Data Lifecycle model</a:t>
            </a:r>
            <a:endParaRPr sz="2800">
              <a:solidFill>
                <a:schemeClr val="dk1"/>
              </a:solidFill>
            </a:endParaRPr>
          </a:p>
        </p:txBody>
      </p:sp>
      <p:pic>
        <p:nvPicPr>
          <p:cNvPr id="103" name="Google Shape;103;p25" title="logo-brezNapisa.png"/>
          <p:cNvPicPr preferRelativeResize="0"/>
          <p:nvPr/>
        </p:nvPicPr>
        <p:blipFill>
          <a:blip r:embed="rId4">
            <a:alphaModFix/>
          </a:blip>
          <a:stretch>
            <a:fillRect/>
          </a:stretch>
        </p:blipFill>
        <p:spPr>
          <a:xfrm>
            <a:off x="2235245" y="3707700"/>
            <a:ext cx="973625" cy="689876"/>
          </a:xfrm>
          <a:prstGeom prst="rect">
            <a:avLst/>
          </a:prstGeom>
          <a:noFill/>
          <a:ln>
            <a:noFill/>
          </a:ln>
        </p:spPr>
      </p:pic>
      <p:pic>
        <p:nvPicPr>
          <p:cNvPr id="104" name="Google Shape;104;p25"/>
          <p:cNvPicPr preferRelativeResize="0"/>
          <p:nvPr/>
        </p:nvPicPr>
        <p:blipFill>
          <a:blip r:embed="rId5">
            <a:alphaModFix/>
          </a:blip>
          <a:stretch>
            <a:fillRect/>
          </a:stretch>
        </p:blipFill>
        <p:spPr>
          <a:xfrm>
            <a:off x="6527500" y="1071850"/>
            <a:ext cx="1589750" cy="424601"/>
          </a:xfrm>
          <a:prstGeom prst="rect">
            <a:avLst/>
          </a:prstGeom>
          <a:noFill/>
          <a:ln>
            <a:noFill/>
          </a:ln>
        </p:spPr>
      </p:pic>
      <p:sp>
        <p:nvSpPr>
          <p:cNvPr id="105" name="Google Shape;105;p25"/>
          <p:cNvSpPr txBox="1"/>
          <p:nvPr/>
        </p:nvSpPr>
        <p:spPr>
          <a:xfrm>
            <a:off x="8795125" y="5793050"/>
            <a:ext cx="3000000" cy="86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no-NO" sz="1100">
                <a:solidFill>
                  <a:schemeClr val="dk1"/>
                </a:solidFill>
              </a:rPr>
              <a:t>CESSDA Training Team (2017 - 2022). </a:t>
            </a:r>
            <a:r>
              <a:rPr lang="no-NO" sz="1100" i="1">
                <a:solidFill>
                  <a:schemeClr val="dk1"/>
                </a:solidFill>
              </a:rPr>
              <a:t>CESSDA Data Management Expert Guide.</a:t>
            </a:r>
            <a:r>
              <a:rPr lang="no-NO" sz="1100">
                <a:solidFill>
                  <a:schemeClr val="dk1"/>
                </a:solidFill>
              </a:rPr>
              <a:t> Bergen, Norway: CESSDA ERIC. Retrieved from</a:t>
            </a:r>
            <a:r>
              <a:rPr lang="no-NO" sz="1100">
                <a:solidFill>
                  <a:schemeClr val="dk1"/>
                </a:solidFill>
                <a:uFill>
                  <a:noFill/>
                </a:uFill>
                <a:hlinkClick r:id="rId6">
                  <a:extLst>
                    <a:ext uri="{A12FA001-AC4F-418D-AE19-62706E023703}">
                      <ahyp:hlinkClr xmlns:ahyp="http://schemas.microsoft.com/office/drawing/2018/hyperlinkcolor" val="tx"/>
                    </a:ext>
                  </a:extLst>
                </a:hlinkClick>
              </a:rPr>
              <a:t> </a:t>
            </a:r>
            <a:r>
              <a:rPr lang="no-NO" sz="1100" u="sng">
                <a:solidFill>
                  <a:schemeClr val="hlink"/>
                </a:solidFill>
                <a:hlinkClick r:id="rId6"/>
              </a:rPr>
              <a:t>https://dmeg.cessda.eu/</a:t>
            </a:r>
            <a:endParaRPr/>
          </a:p>
        </p:txBody>
      </p:sp>
      <p:pic>
        <p:nvPicPr>
          <p:cNvPr id="106" name="Google Shape;106;p25"/>
          <p:cNvPicPr preferRelativeResize="0"/>
          <p:nvPr/>
        </p:nvPicPr>
        <p:blipFill>
          <a:blip r:embed="rId7">
            <a:alphaModFix/>
          </a:blip>
          <a:stretch>
            <a:fillRect/>
          </a:stretch>
        </p:blipFill>
        <p:spPr>
          <a:xfrm>
            <a:off x="7779275" y="6184001"/>
            <a:ext cx="973625" cy="342574"/>
          </a:xfrm>
          <a:prstGeom prst="rect">
            <a:avLst/>
          </a:prstGeom>
          <a:noFill/>
          <a:ln>
            <a:noFill/>
          </a:ln>
        </p:spPr>
      </p:pic>
      <p:pic>
        <p:nvPicPr>
          <p:cNvPr id="107" name="Google Shape;107;p25"/>
          <p:cNvPicPr preferRelativeResize="0"/>
          <p:nvPr/>
        </p:nvPicPr>
        <p:blipFill>
          <a:blip r:embed="rId8">
            <a:alphaModFix/>
          </a:blip>
          <a:stretch>
            <a:fillRect/>
          </a:stretch>
        </p:blipFill>
        <p:spPr>
          <a:xfrm>
            <a:off x="844877" y="1108575"/>
            <a:ext cx="2166922" cy="689875"/>
          </a:xfrm>
          <a:prstGeom prst="rect">
            <a:avLst/>
          </a:prstGeom>
          <a:noFill/>
          <a:ln>
            <a:noFill/>
          </a:ln>
        </p:spPr>
      </p:pic>
      <p:pic>
        <p:nvPicPr>
          <p:cNvPr id="108" name="Google Shape;108;p25"/>
          <p:cNvPicPr preferRelativeResize="0"/>
          <p:nvPr/>
        </p:nvPicPr>
        <p:blipFill>
          <a:blip r:embed="rId9">
            <a:alphaModFix/>
          </a:blip>
          <a:stretch>
            <a:fillRect/>
          </a:stretch>
        </p:blipFill>
        <p:spPr>
          <a:xfrm>
            <a:off x="8795134" y="5063962"/>
            <a:ext cx="2661801" cy="72908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no-NO"/>
              <a:t>Principles and / or legal obligations</a:t>
            </a:r>
            <a:endParaRPr/>
          </a:p>
        </p:txBody>
      </p:sp>
      <p:sp>
        <p:nvSpPr>
          <p:cNvPr id="114" name="Google Shape;114;p26"/>
          <p:cNvSpPr txBox="1">
            <a:spLocks noGrp="1"/>
          </p:cNvSpPr>
          <p:nvPr>
            <p:ph type="body" idx="1"/>
          </p:nvPr>
        </p:nvSpPr>
        <p:spPr>
          <a:xfrm>
            <a:off x="884350" y="1616925"/>
            <a:ext cx="10054800" cy="46206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0"/>
              </a:spcBef>
              <a:spcAft>
                <a:spcPts val="0"/>
              </a:spcAft>
              <a:buSzPts val="1100"/>
              <a:buNone/>
            </a:pPr>
            <a:r>
              <a:rPr lang="no-NO" sz="2100"/>
              <a:t>The FAIR principles are not directly part of the GDPR, but they are often used in conjunction with it, particularly when dealing with research data and health data.</a:t>
            </a:r>
            <a:endParaRPr sz="2100"/>
          </a:p>
          <a:p>
            <a:pPr marL="0" lvl="0" indent="0" algn="l" rtl="0">
              <a:lnSpc>
                <a:spcPct val="115000"/>
              </a:lnSpc>
              <a:spcBef>
                <a:spcPts val="0"/>
              </a:spcBef>
              <a:spcAft>
                <a:spcPts val="0"/>
              </a:spcAft>
              <a:buClr>
                <a:schemeClr val="dk1"/>
              </a:buClr>
              <a:buSzPts val="1100"/>
              <a:buFont typeface="Arial"/>
              <a:buNone/>
            </a:pPr>
            <a:endParaRPr sz="1200"/>
          </a:p>
          <a:p>
            <a:pPr marL="0" lvl="0" indent="0" algn="l" rtl="0">
              <a:lnSpc>
                <a:spcPct val="115000"/>
              </a:lnSpc>
              <a:spcBef>
                <a:spcPts val="1200"/>
              </a:spcBef>
              <a:spcAft>
                <a:spcPts val="0"/>
              </a:spcAft>
              <a:buSzPts val="1100"/>
              <a:buNone/>
            </a:pPr>
            <a:r>
              <a:rPr lang="no-NO" sz="2100"/>
              <a:t>The </a:t>
            </a:r>
            <a:r>
              <a:rPr lang="no-NO" sz="2100" b="1"/>
              <a:t>GDPR (General Data Protection Regulation)</a:t>
            </a:r>
            <a:r>
              <a:rPr lang="no-NO" sz="2100"/>
              <a:t> and the </a:t>
            </a:r>
            <a:r>
              <a:rPr lang="no-NO" sz="2100" b="1"/>
              <a:t>FAIR data principles</a:t>
            </a:r>
            <a:r>
              <a:rPr lang="no-NO" sz="2100"/>
              <a:t> both relate to data governance, but they come from different domains with distinct goals:</a:t>
            </a:r>
            <a:endParaRPr sz="2100"/>
          </a:p>
          <a:p>
            <a:pPr marL="457200" lvl="0" indent="-361950" algn="l" rtl="0">
              <a:lnSpc>
                <a:spcPct val="115000"/>
              </a:lnSpc>
              <a:spcBef>
                <a:spcPts val="1200"/>
              </a:spcBef>
              <a:spcAft>
                <a:spcPts val="0"/>
              </a:spcAft>
              <a:buClr>
                <a:schemeClr val="dk1"/>
              </a:buClr>
              <a:buSzPts val="2100"/>
              <a:buChar char="●"/>
            </a:pPr>
            <a:r>
              <a:rPr lang="no-NO" sz="2100" b="1"/>
              <a:t>GDPR</a:t>
            </a:r>
            <a:r>
              <a:rPr lang="no-NO" sz="2100"/>
              <a:t> is a legal framework aimed at protecting personal data and privacy of individuals in the EU.</a:t>
            </a:r>
            <a:br>
              <a:rPr lang="no-NO" sz="2100"/>
            </a:br>
            <a:endParaRPr sz="2100"/>
          </a:p>
          <a:p>
            <a:pPr marL="457200" lvl="0" indent="-361950" algn="l" rtl="0">
              <a:lnSpc>
                <a:spcPct val="115000"/>
              </a:lnSpc>
              <a:spcBef>
                <a:spcPts val="0"/>
              </a:spcBef>
              <a:spcAft>
                <a:spcPts val="0"/>
              </a:spcAft>
              <a:buClr>
                <a:schemeClr val="dk1"/>
              </a:buClr>
              <a:buSzPts val="2100"/>
              <a:buChar char="●"/>
            </a:pPr>
            <a:r>
              <a:rPr lang="no-NO" sz="2100" b="1"/>
              <a:t>FAIR principles</a:t>
            </a:r>
            <a:r>
              <a:rPr lang="no-NO" sz="2100"/>
              <a:t> are a set of guidelines to ensure data is </a:t>
            </a:r>
            <a:r>
              <a:rPr lang="no-NO" sz="2100" b="1"/>
              <a:t>Findable, Accessible, Interoperable, and Reusable</a:t>
            </a:r>
            <a:r>
              <a:rPr lang="no-NO" sz="2100"/>
              <a:t>—mainly within scientific and research contexts.</a:t>
            </a:r>
            <a:endParaRPr sz="268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7"/>
          <p:cNvSpPr txBox="1">
            <a:spLocks noGrp="1"/>
          </p:cNvSpPr>
          <p:nvPr>
            <p:ph type="title"/>
          </p:nvPr>
        </p:nvSpPr>
        <p:spPr>
          <a:xfrm>
            <a:off x="647000" y="365125"/>
            <a:ext cx="107067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no-NO"/>
              <a:t>FAIR principles</a:t>
            </a:r>
            <a:endParaRPr/>
          </a:p>
        </p:txBody>
      </p:sp>
      <p:sp>
        <p:nvSpPr>
          <p:cNvPr id="120" name="Google Shape;120;p27"/>
          <p:cNvSpPr txBox="1"/>
          <p:nvPr/>
        </p:nvSpPr>
        <p:spPr>
          <a:xfrm>
            <a:off x="9223000" y="6350000"/>
            <a:ext cx="1201800" cy="3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no-NO" u="sng">
                <a:solidFill>
                  <a:schemeClr val="hlink"/>
                </a:solidFill>
                <a:hlinkClick r:id="rId3"/>
              </a:rPr>
              <a:t>Source</a:t>
            </a:r>
            <a:endParaRPr sz="2400">
              <a:solidFill>
                <a:schemeClr val="dk1"/>
              </a:solidFill>
            </a:endParaRPr>
          </a:p>
        </p:txBody>
      </p:sp>
      <p:sp>
        <p:nvSpPr>
          <p:cNvPr id="121" name="Google Shape;121;p27"/>
          <p:cNvSpPr txBox="1">
            <a:spLocks noGrp="1"/>
          </p:cNvSpPr>
          <p:nvPr>
            <p:ph type="body" idx="1"/>
          </p:nvPr>
        </p:nvSpPr>
        <p:spPr>
          <a:xfrm>
            <a:off x="647000" y="1364825"/>
            <a:ext cx="10884000" cy="5199300"/>
          </a:xfrm>
          <a:prstGeom prst="rect">
            <a:avLst/>
          </a:prstGeom>
          <a:noFill/>
          <a:ln>
            <a:noFill/>
          </a:ln>
        </p:spPr>
        <p:txBody>
          <a:bodyPr spcFirstLastPara="1" wrap="square" lIns="91425" tIns="45700" rIns="91425" bIns="45700" anchor="t" anchorCtr="0">
            <a:normAutofit fontScale="70000" lnSpcReduction="10000"/>
          </a:bodyPr>
          <a:lstStyle/>
          <a:p>
            <a:pPr marL="0" lvl="0" indent="0" algn="l" rtl="0">
              <a:lnSpc>
                <a:spcPct val="115000"/>
              </a:lnSpc>
              <a:spcBef>
                <a:spcPts val="1000"/>
              </a:spcBef>
              <a:spcAft>
                <a:spcPts val="0"/>
              </a:spcAft>
              <a:buClr>
                <a:schemeClr val="dk1"/>
              </a:buClr>
              <a:buSzPct val="36806"/>
              <a:buFont typeface="Arial"/>
              <a:buNone/>
            </a:pPr>
            <a:r>
              <a:rPr lang="no-NO" sz="2988"/>
              <a:t>An article published in Nature in 2016*, describing the basic principles which should be followed for sharing research data in sciences of all kinds.</a:t>
            </a:r>
            <a:endParaRPr sz="2988"/>
          </a:p>
          <a:p>
            <a:pPr marL="0" lvl="0" indent="0" algn="l" rtl="0">
              <a:lnSpc>
                <a:spcPct val="115000"/>
              </a:lnSpc>
              <a:spcBef>
                <a:spcPts val="1000"/>
              </a:spcBef>
              <a:spcAft>
                <a:spcPts val="0"/>
              </a:spcAft>
              <a:buClr>
                <a:schemeClr val="dk1"/>
              </a:buClr>
              <a:buSzPct val="36806"/>
              <a:buFont typeface="Arial"/>
              <a:buNone/>
            </a:pPr>
            <a:r>
              <a:rPr lang="no-NO" sz="2988">
                <a:solidFill>
                  <a:srgbClr val="FF0000"/>
                </a:solidFill>
              </a:rPr>
              <a:t>Findable:</a:t>
            </a:r>
            <a:r>
              <a:rPr lang="no-NO" sz="2988"/>
              <a:t> the first step in (re)using data is to find them. Metadata and data should be easy to find for both humans and computers. Machine-readable metadata are essential for automatic discovery of datasets and services.</a:t>
            </a:r>
            <a:endParaRPr sz="2988"/>
          </a:p>
          <a:p>
            <a:pPr marL="0" lvl="0" indent="0" algn="l" rtl="0">
              <a:lnSpc>
                <a:spcPct val="115000"/>
              </a:lnSpc>
              <a:spcBef>
                <a:spcPts val="1000"/>
              </a:spcBef>
              <a:spcAft>
                <a:spcPts val="0"/>
              </a:spcAft>
              <a:buClr>
                <a:schemeClr val="dk1"/>
              </a:buClr>
              <a:buSzPct val="36806"/>
              <a:buFont typeface="Arial"/>
              <a:buNone/>
            </a:pPr>
            <a:r>
              <a:rPr lang="no-NO" sz="2988">
                <a:solidFill>
                  <a:srgbClr val="FF0000"/>
                </a:solidFill>
              </a:rPr>
              <a:t>Accessible:</a:t>
            </a:r>
            <a:r>
              <a:rPr lang="no-NO" sz="2988"/>
              <a:t> Once users find the required data, they need to know how they can be accessed, possibly including authentication and authorisation.</a:t>
            </a:r>
            <a:endParaRPr sz="2988"/>
          </a:p>
          <a:p>
            <a:pPr marL="0" lvl="0" indent="0" algn="l" rtl="0">
              <a:lnSpc>
                <a:spcPct val="115000"/>
              </a:lnSpc>
              <a:spcBef>
                <a:spcPts val="1000"/>
              </a:spcBef>
              <a:spcAft>
                <a:spcPts val="0"/>
              </a:spcAft>
              <a:buClr>
                <a:schemeClr val="dk1"/>
              </a:buClr>
              <a:buSzPct val="36806"/>
              <a:buFont typeface="Arial"/>
              <a:buNone/>
            </a:pPr>
            <a:r>
              <a:rPr lang="no-NO" sz="2988">
                <a:solidFill>
                  <a:srgbClr val="FF0000"/>
                </a:solidFill>
              </a:rPr>
              <a:t>Interoperable</a:t>
            </a:r>
            <a:r>
              <a:rPr lang="no-NO" sz="2988"/>
              <a:t>: The data usually need to be integrated with other data. In addition, the data need to interoperate with applications or workflows for analysis, storage, and processing.</a:t>
            </a:r>
            <a:endParaRPr sz="2988"/>
          </a:p>
          <a:p>
            <a:pPr marL="0" lvl="0" indent="0" algn="l" rtl="0">
              <a:lnSpc>
                <a:spcPct val="115000"/>
              </a:lnSpc>
              <a:spcBef>
                <a:spcPts val="1000"/>
              </a:spcBef>
              <a:spcAft>
                <a:spcPts val="0"/>
              </a:spcAft>
              <a:buClr>
                <a:schemeClr val="dk1"/>
              </a:buClr>
              <a:buSzPct val="36806"/>
              <a:buFont typeface="Arial"/>
              <a:buNone/>
            </a:pPr>
            <a:r>
              <a:rPr lang="no-NO" sz="2988">
                <a:solidFill>
                  <a:srgbClr val="FF0000"/>
                </a:solidFill>
              </a:rPr>
              <a:t>Re-usable</a:t>
            </a:r>
            <a:r>
              <a:rPr lang="no-NO" sz="2988"/>
              <a:t>: The ultimate goal of FAIR is to optimise the reuse of data. To achieve this, metadata and data should be well-described so that they can be replicated and/or combined in different settings.</a:t>
            </a:r>
            <a:endParaRPr sz="2588">
              <a:solidFill>
                <a:srgbClr val="1B3E57"/>
              </a:solidFill>
            </a:endParaRPr>
          </a:p>
          <a:p>
            <a:pPr marL="0" lvl="0" indent="0" algn="l" rtl="0">
              <a:lnSpc>
                <a:spcPct val="115000"/>
              </a:lnSpc>
              <a:spcBef>
                <a:spcPts val="0"/>
              </a:spcBef>
              <a:spcAft>
                <a:spcPts val="0"/>
              </a:spcAft>
              <a:buClr>
                <a:schemeClr val="dk1"/>
              </a:buClr>
              <a:buSzPct val="83333"/>
              <a:buFont typeface="Arial"/>
              <a:buNone/>
            </a:pPr>
            <a:r>
              <a:rPr lang="no-NO" sz="1320" u="sng">
                <a:solidFill>
                  <a:schemeClr val="hlink"/>
                </a:solidFill>
                <a:hlinkClick r:id="rId4"/>
              </a:rPr>
              <a:t>https://www.go-fair.org/fair-principles/</a:t>
            </a:r>
            <a:endParaRPr sz="1320" u="sng">
              <a:solidFill>
                <a:schemeClr val="hlink"/>
              </a:solidFill>
            </a:endParaRPr>
          </a:p>
          <a:p>
            <a:pPr marL="0" lvl="0" indent="0" algn="l" rtl="0">
              <a:lnSpc>
                <a:spcPct val="115000"/>
              </a:lnSpc>
              <a:spcBef>
                <a:spcPts val="0"/>
              </a:spcBef>
              <a:spcAft>
                <a:spcPts val="0"/>
              </a:spcAft>
              <a:buSzPct val="78571"/>
              <a:buNone/>
            </a:pPr>
            <a:r>
              <a:rPr lang="no-NO" sz="1400"/>
              <a:t>* Wilkinson MD, Dumontier M, Aalbersberg IJJ, Appleton G, Axton M, Baak A et al. The FAIR Guiding Principles for scientific data management and stewardship. Scientific Data. 2016;3. 160018.</a:t>
            </a:r>
            <a:r>
              <a:rPr lang="no-NO" sz="1400">
                <a:uFill>
                  <a:noFill/>
                </a:uFill>
                <a:hlinkClick r:id="rId5"/>
              </a:rPr>
              <a:t> </a:t>
            </a:r>
            <a:r>
              <a:rPr lang="no-NO" sz="1400" u="sng">
                <a:solidFill>
                  <a:schemeClr val="hlink"/>
                </a:solidFill>
                <a:hlinkClick r:id="rId5"/>
              </a:rPr>
              <a:t>https://doi.org/10.1038/sdata.2016.18</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8"/>
          <p:cNvSpPr/>
          <p:nvPr/>
        </p:nvSpPr>
        <p:spPr>
          <a:xfrm>
            <a:off x="987350" y="375500"/>
            <a:ext cx="10050600" cy="5869800"/>
          </a:xfrm>
          <a:prstGeom prst="roundRect">
            <a:avLst>
              <a:gd name="adj" fmla="val 16667"/>
            </a:avLst>
          </a:prstGeom>
          <a:solidFill>
            <a:srgbClr val="B4B0FB"/>
          </a:solidFill>
          <a:ln w="12700" cap="flat" cmpd="sng">
            <a:solidFill>
              <a:srgbClr val="B4B0F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 name="Google Shape;127;p28"/>
          <p:cNvSpPr txBox="1"/>
          <p:nvPr/>
        </p:nvSpPr>
        <p:spPr>
          <a:xfrm>
            <a:off x="1595450" y="474350"/>
            <a:ext cx="28263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no-NO" sz="2800">
                <a:solidFill>
                  <a:schemeClr val="dk1"/>
                </a:solidFill>
              </a:rPr>
              <a:t>GDPR principles</a:t>
            </a:r>
            <a:endParaRPr sz="2800">
              <a:solidFill>
                <a:schemeClr val="dk1"/>
              </a:solidFill>
            </a:endParaRPr>
          </a:p>
        </p:txBody>
      </p:sp>
      <p:sp>
        <p:nvSpPr>
          <p:cNvPr id="128" name="Google Shape;128;p28"/>
          <p:cNvSpPr txBox="1"/>
          <p:nvPr/>
        </p:nvSpPr>
        <p:spPr>
          <a:xfrm>
            <a:off x="7637400" y="474350"/>
            <a:ext cx="28263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800">
              <a:solidFill>
                <a:schemeClr val="dk1"/>
              </a:solidFill>
            </a:endParaRPr>
          </a:p>
        </p:txBody>
      </p:sp>
      <p:sp>
        <p:nvSpPr>
          <p:cNvPr id="129" name="Google Shape;129;p28"/>
          <p:cNvSpPr txBox="1"/>
          <p:nvPr/>
        </p:nvSpPr>
        <p:spPr>
          <a:xfrm>
            <a:off x="1106775" y="1185825"/>
            <a:ext cx="9615000" cy="42789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no-NO" sz="1800" b="1">
                <a:solidFill>
                  <a:schemeClr val="dk1"/>
                </a:solidFill>
              </a:rPr>
              <a:t>Lawfulness, fairness, transparency</a:t>
            </a:r>
            <a:r>
              <a:rPr lang="no-NO" sz="1800">
                <a:solidFill>
                  <a:schemeClr val="dk1"/>
                </a:solidFill>
              </a:rPr>
              <a:t>: Be open about what you are doing, and make sure that you follow applicable national laws and regulations</a:t>
            </a:r>
            <a:br>
              <a:rPr lang="no-NO" sz="1800">
                <a:solidFill>
                  <a:schemeClr val="dk1"/>
                </a:solidFill>
              </a:rPr>
            </a:br>
            <a:endParaRPr sz="1800">
              <a:solidFill>
                <a:schemeClr val="dk1"/>
              </a:solidFill>
            </a:endParaRPr>
          </a:p>
          <a:p>
            <a:pPr marL="457200" lvl="0" indent="-342900" algn="l" rtl="0">
              <a:spcBef>
                <a:spcPts val="0"/>
              </a:spcBef>
              <a:spcAft>
                <a:spcPts val="0"/>
              </a:spcAft>
              <a:buClr>
                <a:schemeClr val="dk1"/>
              </a:buClr>
              <a:buSzPts val="1800"/>
              <a:buChar char="●"/>
            </a:pPr>
            <a:r>
              <a:rPr lang="no-NO" sz="1800" b="1">
                <a:solidFill>
                  <a:schemeClr val="dk1"/>
                </a:solidFill>
              </a:rPr>
              <a:t>Purpose limitation</a:t>
            </a:r>
            <a:r>
              <a:rPr lang="no-NO" sz="1800">
                <a:solidFill>
                  <a:schemeClr val="dk1"/>
                </a:solidFill>
              </a:rPr>
              <a:t>: Define a specific purpose for the processing of personal data. The GDPR acknowledges it is not always possible to fully identify the purpose at the time of data collection </a:t>
            </a:r>
            <a:br>
              <a:rPr lang="no-NO" sz="1800">
                <a:solidFill>
                  <a:schemeClr val="dk1"/>
                </a:solidFill>
              </a:rPr>
            </a:br>
            <a:endParaRPr sz="1800">
              <a:solidFill>
                <a:schemeClr val="dk1"/>
              </a:solidFill>
            </a:endParaRPr>
          </a:p>
          <a:p>
            <a:pPr marL="457200" lvl="0" indent="-342900" algn="l" rtl="0">
              <a:spcBef>
                <a:spcPts val="0"/>
              </a:spcBef>
              <a:spcAft>
                <a:spcPts val="0"/>
              </a:spcAft>
              <a:buClr>
                <a:schemeClr val="dk1"/>
              </a:buClr>
              <a:buSzPts val="1800"/>
              <a:buChar char="●"/>
            </a:pPr>
            <a:r>
              <a:rPr lang="no-NO" sz="1800" b="1">
                <a:solidFill>
                  <a:schemeClr val="dk1"/>
                </a:solidFill>
              </a:rPr>
              <a:t>Data minimisation</a:t>
            </a:r>
            <a:r>
              <a:rPr lang="no-NO" sz="1800">
                <a:solidFill>
                  <a:schemeClr val="dk1"/>
                </a:solidFill>
              </a:rPr>
              <a:t>: Only collect as much personal data as needed for the purpose</a:t>
            </a:r>
            <a:br>
              <a:rPr lang="no-NO" sz="1800">
                <a:solidFill>
                  <a:schemeClr val="dk1"/>
                </a:solidFill>
              </a:rPr>
            </a:br>
            <a:endParaRPr sz="1800">
              <a:solidFill>
                <a:schemeClr val="dk1"/>
              </a:solidFill>
            </a:endParaRPr>
          </a:p>
          <a:p>
            <a:pPr marL="457200" lvl="0" indent="-342900" algn="l" rtl="0">
              <a:spcBef>
                <a:spcPts val="0"/>
              </a:spcBef>
              <a:spcAft>
                <a:spcPts val="0"/>
              </a:spcAft>
              <a:buClr>
                <a:schemeClr val="dk1"/>
              </a:buClr>
              <a:buSzPts val="1800"/>
              <a:buChar char="●"/>
            </a:pPr>
            <a:r>
              <a:rPr lang="no-NO" sz="1800" b="1">
                <a:solidFill>
                  <a:schemeClr val="dk1"/>
                </a:solidFill>
              </a:rPr>
              <a:t>Accuracy</a:t>
            </a:r>
            <a:r>
              <a:rPr lang="no-NO" sz="1800">
                <a:solidFill>
                  <a:schemeClr val="dk1"/>
                </a:solidFill>
              </a:rPr>
              <a:t>: Personal data should be accurate</a:t>
            </a:r>
            <a:br>
              <a:rPr lang="no-NO" sz="1800">
                <a:solidFill>
                  <a:schemeClr val="dk1"/>
                </a:solidFill>
              </a:rPr>
            </a:br>
            <a:endParaRPr sz="1800">
              <a:solidFill>
                <a:schemeClr val="dk1"/>
              </a:solidFill>
            </a:endParaRPr>
          </a:p>
          <a:p>
            <a:pPr marL="457200" lvl="0" indent="-342900" algn="l" rtl="0">
              <a:spcBef>
                <a:spcPts val="0"/>
              </a:spcBef>
              <a:spcAft>
                <a:spcPts val="0"/>
              </a:spcAft>
              <a:buClr>
                <a:schemeClr val="dk1"/>
              </a:buClr>
              <a:buSzPts val="1800"/>
              <a:buChar char="●"/>
            </a:pPr>
            <a:r>
              <a:rPr lang="no-NO" sz="1800" b="1">
                <a:solidFill>
                  <a:schemeClr val="dk1"/>
                </a:solidFill>
              </a:rPr>
              <a:t>Storage limitation</a:t>
            </a:r>
            <a:r>
              <a:rPr lang="no-NO" sz="1800">
                <a:solidFill>
                  <a:schemeClr val="dk1"/>
                </a:solidFill>
              </a:rPr>
              <a:t>: Only keep personal data as long as necessary for the purpose</a:t>
            </a:r>
            <a:br>
              <a:rPr lang="no-NO" sz="1800">
                <a:solidFill>
                  <a:schemeClr val="dk1"/>
                </a:solidFill>
              </a:rPr>
            </a:br>
            <a:endParaRPr sz="1800">
              <a:solidFill>
                <a:schemeClr val="dk1"/>
              </a:solidFill>
            </a:endParaRPr>
          </a:p>
          <a:p>
            <a:pPr marL="457200" lvl="0" indent="-342900" algn="l" rtl="0">
              <a:spcBef>
                <a:spcPts val="0"/>
              </a:spcBef>
              <a:spcAft>
                <a:spcPts val="0"/>
              </a:spcAft>
              <a:buClr>
                <a:schemeClr val="dk1"/>
              </a:buClr>
              <a:buSzPts val="1800"/>
              <a:buChar char="●"/>
            </a:pPr>
            <a:r>
              <a:rPr lang="no-NO" sz="1800" b="1">
                <a:solidFill>
                  <a:schemeClr val="dk1"/>
                </a:solidFill>
              </a:rPr>
              <a:t>Integrity and confidentiality</a:t>
            </a:r>
            <a:r>
              <a:rPr lang="no-NO" sz="1800">
                <a:solidFill>
                  <a:schemeClr val="dk1"/>
                </a:solidFill>
              </a:rPr>
              <a:t>: Ensure that the data is safe</a:t>
            </a:r>
            <a:endParaRPr sz="1800">
              <a:solidFill>
                <a:schemeClr val="dk1"/>
              </a:solidFill>
            </a:endParaRPr>
          </a:p>
        </p:txBody>
      </p:sp>
      <p:sp>
        <p:nvSpPr>
          <p:cNvPr id="130" name="Google Shape;130;p28"/>
          <p:cNvSpPr txBox="1"/>
          <p:nvPr/>
        </p:nvSpPr>
        <p:spPr>
          <a:xfrm>
            <a:off x="1762650" y="6245300"/>
            <a:ext cx="7502700" cy="27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no-NO" sz="900">
                <a:solidFill>
                  <a:schemeClr val="dk1"/>
                </a:solidFill>
                <a:highlight>
                  <a:schemeClr val="lt1"/>
                </a:highlight>
              </a:rPr>
              <a:t>Source: Art. 5 of the GPDR: https://gdpr-info.eu/art-5-gdpr/ </a:t>
            </a:r>
            <a:endParaRPr sz="900">
              <a:solidFill>
                <a:schemeClr val="dk1"/>
              </a:solidFill>
              <a:highlight>
                <a:schemeClr val="lt1"/>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9"/>
          <p:cNvSpPr txBox="1">
            <a:spLocks noGrp="1"/>
          </p:cNvSpPr>
          <p:nvPr>
            <p:ph type="title"/>
          </p:nvPr>
        </p:nvSpPr>
        <p:spPr>
          <a:xfrm>
            <a:off x="838200" y="22100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no-NO"/>
              <a:t>Linking</a:t>
            </a:r>
            <a:endParaRPr/>
          </a:p>
        </p:txBody>
      </p:sp>
      <p:graphicFrame>
        <p:nvGraphicFramePr>
          <p:cNvPr id="137" name="Google Shape;137;p29"/>
          <p:cNvGraphicFramePr/>
          <p:nvPr/>
        </p:nvGraphicFramePr>
        <p:xfrm>
          <a:off x="265800" y="1436425"/>
          <a:ext cx="11423000" cy="4989545"/>
        </p:xfrm>
        <a:graphic>
          <a:graphicData uri="http://schemas.openxmlformats.org/drawingml/2006/table">
            <a:tbl>
              <a:tblPr>
                <a:noFill/>
                <a:tableStyleId>{7BE981EC-F35F-43F6-AA45-7884B0E0B6B3}</a:tableStyleId>
              </a:tblPr>
              <a:tblGrid>
                <a:gridCol w="1507900">
                  <a:extLst>
                    <a:ext uri="{9D8B030D-6E8A-4147-A177-3AD203B41FA5}">
                      <a16:colId xmlns:a16="http://schemas.microsoft.com/office/drawing/2014/main" val="20000"/>
                    </a:ext>
                  </a:extLst>
                </a:gridCol>
                <a:gridCol w="3389800">
                  <a:extLst>
                    <a:ext uri="{9D8B030D-6E8A-4147-A177-3AD203B41FA5}">
                      <a16:colId xmlns:a16="http://schemas.microsoft.com/office/drawing/2014/main" val="20001"/>
                    </a:ext>
                  </a:extLst>
                </a:gridCol>
                <a:gridCol w="3355900">
                  <a:extLst>
                    <a:ext uri="{9D8B030D-6E8A-4147-A177-3AD203B41FA5}">
                      <a16:colId xmlns:a16="http://schemas.microsoft.com/office/drawing/2014/main" val="20002"/>
                    </a:ext>
                  </a:extLst>
                </a:gridCol>
                <a:gridCol w="3169400">
                  <a:extLst>
                    <a:ext uri="{9D8B030D-6E8A-4147-A177-3AD203B41FA5}">
                      <a16:colId xmlns:a16="http://schemas.microsoft.com/office/drawing/2014/main" val="20003"/>
                    </a:ext>
                  </a:extLst>
                </a:gridCol>
              </a:tblGrid>
              <a:tr h="562875">
                <a:tc>
                  <a:txBody>
                    <a:bodyPr/>
                    <a:lstStyle/>
                    <a:p>
                      <a:pPr marL="0" lvl="0" indent="0" algn="ctr" rtl="0">
                        <a:lnSpc>
                          <a:spcPct val="115000"/>
                        </a:lnSpc>
                        <a:spcBef>
                          <a:spcPts val="0"/>
                        </a:spcBef>
                        <a:spcAft>
                          <a:spcPts val="0"/>
                        </a:spcAft>
                        <a:buNone/>
                      </a:pPr>
                      <a:r>
                        <a:rPr lang="no-NO" sz="1700" b="1"/>
                        <a:t>Aspect</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chemeClr val="accent3"/>
                    </a:solidFill>
                  </a:tcPr>
                </a:tc>
                <a:tc>
                  <a:txBody>
                    <a:bodyPr/>
                    <a:lstStyle/>
                    <a:p>
                      <a:pPr marL="0" lvl="0" indent="0" algn="ctr" rtl="0">
                        <a:lnSpc>
                          <a:spcPct val="115000"/>
                        </a:lnSpc>
                        <a:spcBef>
                          <a:spcPts val="0"/>
                        </a:spcBef>
                        <a:spcAft>
                          <a:spcPts val="0"/>
                        </a:spcAft>
                        <a:buNone/>
                      </a:pPr>
                      <a:r>
                        <a:rPr lang="no-NO" sz="1700" b="1"/>
                        <a:t>GDPR</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chemeClr val="accent3"/>
                    </a:solidFill>
                  </a:tcPr>
                </a:tc>
                <a:tc>
                  <a:txBody>
                    <a:bodyPr/>
                    <a:lstStyle/>
                    <a:p>
                      <a:pPr marL="0" lvl="0" indent="0" algn="ctr" rtl="0">
                        <a:lnSpc>
                          <a:spcPct val="115000"/>
                        </a:lnSpc>
                        <a:spcBef>
                          <a:spcPts val="0"/>
                        </a:spcBef>
                        <a:spcAft>
                          <a:spcPts val="0"/>
                        </a:spcAft>
                        <a:buNone/>
                      </a:pPr>
                      <a:r>
                        <a:rPr lang="no-NO" sz="1700" b="1"/>
                        <a:t>FAIR Principles</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chemeClr val="accent3"/>
                    </a:solidFill>
                  </a:tcPr>
                </a:tc>
                <a:tc>
                  <a:txBody>
                    <a:bodyPr/>
                    <a:lstStyle/>
                    <a:p>
                      <a:pPr marL="0" lvl="0" indent="0" algn="ctr" rtl="0">
                        <a:lnSpc>
                          <a:spcPct val="115000"/>
                        </a:lnSpc>
                        <a:spcBef>
                          <a:spcPts val="0"/>
                        </a:spcBef>
                        <a:spcAft>
                          <a:spcPts val="0"/>
                        </a:spcAft>
                        <a:buNone/>
                      </a:pPr>
                      <a:r>
                        <a:rPr lang="no-NO" sz="1700" b="1"/>
                        <a:t>Link</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chemeClr val="accent3"/>
                    </a:solidFill>
                  </a:tcPr>
                </a:tc>
                <a:extLst>
                  <a:ext uri="{0D108BD9-81ED-4DB2-BD59-A6C34878D82A}">
                    <a16:rowId xmlns:a16="http://schemas.microsoft.com/office/drawing/2014/main" val="10000"/>
                  </a:ext>
                </a:extLst>
              </a:tr>
              <a:tr h="720100">
                <a:tc>
                  <a:txBody>
                    <a:bodyPr/>
                    <a:lstStyle/>
                    <a:p>
                      <a:pPr marL="0" lvl="0" indent="0" algn="l" rtl="0">
                        <a:lnSpc>
                          <a:spcPct val="115000"/>
                        </a:lnSpc>
                        <a:spcBef>
                          <a:spcPts val="0"/>
                        </a:spcBef>
                        <a:spcAft>
                          <a:spcPts val="0"/>
                        </a:spcAft>
                        <a:buNone/>
                      </a:pPr>
                      <a:r>
                        <a:rPr lang="no-NO" sz="1700" b="1"/>
                        <a:t>Purpose</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chemeClr val="accent3"/>
                    </a:solidFill>
                  </a:tcPr>
                </a:tc>
                <a:tc>
                  <a:txBody>
                    <a:bodyPr/>
                    <a:lstStyle/>
                    <a:p>
                      <a:pPr marL="0" lvl="0" indent="0" algn="l" rtl="0">
                        <a:lnSpc>
                          <a:spcPct val="115000"/>
                        </a:lnSpc>
                        <a:spcBef>
                          <a:spcPts val="0"/>
                        </a:spcBef>
                        <a:spcAft>
                          <a:spcPts val="0"/>
                        </a:spcAft>
                        <a:buNone/>
                      </a:pPr>
                      <a:r>
                        <a:rPr lang="no-NO" sz="1700"/>
                        <a:t>Protect individuals’ personal data</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no-NO" sz="1700"/>
                        <a:t>Enable efficient data reuse and sharing</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no-NO" sz="1700"/>
                        <a:t>Both promote responsible data stewardship</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720100">
                <a:tc>
                  <a:txBody>
                    <a:bodyPr/>
                    <a:lstStyle/>
                    <a:p>
                      <a:pPr marL="0" lvl="0" indent="0" algn="l" rtl="0">
                        <a:lnSpc>
                          <a:spcPct val="115000"/>
                        </a:lnSpc>
                        <a:spcBef>
                          <a:spcPts val="0"/>
                        </a:spcBef>
                        <a:spcAft>
                          <a:spcPts val="0"/>
                        </a:spcAft>
                        <a:buNone/>
                      </a:pPr>
                      <a:r>
                        <a:rPr lang="no-NO" sz="1700" b="1"/>
                        <a:t>Data Scope</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chemeClr val="accent3"/>
                    </a:solidFill>
                  </a:tcPr>
                </a:tc>
                <a:tc>
                  <a:txBody>
                    <a:bodyPr/>
                    <a:lstStyle/>
                    <a:p>
                      <a:pPr marL="0" lvl="0" indent="0" algn="l" rtl="0">
                        <a:lnSpc>
                          <a:spcPct val="115000"/>
                        </a:lnSpc>
                        <a:spcBef>
                          <a:spcPts val="0"/>
                        </a:spcBef>
                        <a:spcAft>
                          <a:spcPts val="0"/>
                        </a:spcAft>
                        <a:buNone/>
                      </a:pPr>
                      <a:r>
                        <a:rPr lang="no-NO" sz="1700"/>
                        <a:t>Personal data (e.g., names, emails, identifiers)</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no-NO" sz="1700"/>
                        <a:t>Any data, including non-personal scientific data</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no-NO" sz="1700">
                          <a:highlight>
                            <a:schemeClr val="lt1"/>
                          </a:highlight>
                        </a:rPr>
                        <a:t>FAIR may include personal data, so must comply with GDPR</a:t>
                      </a:r>
                      <a:endParaRPr sz="1700">
                        <a:highlight>
                          <a:schemeClr val="lt1"/>
                        </a:highlight>
                      </a:endParaRPr>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720100">
                <a:tc>
                  <a:txBody>
                    <a:bodyPr/>
                    <a:lstStyle/>
                    <a:p>
                      <a:pPr marL="0" lvl="0" indent="0" algn="l" rtl="0">
                        <a:lnSpc>
                          <a:spcPct val="115000"/>
                        </a:lnSpc>
                        <a:spcBef>
                          <a:spcPts val="0"/>
                        </a:spcBef>
                        <a:spcAft>
                          <a:spcPts val="0"/>
                        </a:spcAft>
                        <a:buNone/>
                      </a:pPr>
                      <a:r>
                        <a:rPr lang="no-NO" sz="1700" b="1"/>
                        <a:t>Data Accessibility</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chemeClr val="accent3"/>
                    </a:solidFill>
                  </a:tcPr>
                </a:tc>
                <a:tc>
                  <a:txBody>
                    <a:bodyPr/>
                    <a:lstStyle/>
                    <a:p>
                      <a:pPr marL="0" lvl="0" indent="0" algn="l" rtl="0">
                        <a:lnSpc>
                          <a:spcPct val="115000"/>
                        </a:lnSpc>
                        <a:spcBef>
                          <a:spcPts val="0"/>
                        </a:spcBef>
                        <a:spcAft>
                          <a:spcPts val="0"/>
                        </a:spcAft>
                        <a:buNone/>
                      </a:pPr>
                      <a:r>
                        <a:rPr lang="no-NO" sz="1700"/>
                        <a:t>Only with lawful basis and privacy safeguards</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no-NO" sz="1700"/>
                        <a:t>As open and accessible as possible</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no-NO" sz="1700"/>
                        <a:t>FAIR must balance accessibility with GDPR’s restrictions</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720100">
                <a:tc>
                  <a:txBody>
                    <a:bodyPr/>
                    <a:lstStyle/>
                    <a:p>
                      <a:pPr marL="0" lvl="0" indent="0" algn="l" rtl="0">
                        <a:lnSpc>
                          <a:spcPct val="115000"/>
                        </a:lnSpc>
                        <a:spcBef>
                          <a:spcPts val="0"/>
                        </a:spcBef>
                        <a:spcAft>
                          <a:spcPts val="0"/>
                        </a:spcAft>
                        <a:buNone/>
                      </a:pPr>
                      <a:r>
                        <a:rPr lang="no-NO" sz="1700" b="1"/>
                        <a:t>Data Reuse</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chemeClr val="accent3"/>
                    </a:solidFill>
                  </a:tcPr>
                </a:tc>
                <a:tc>
                  <a:txBody>
                    <a:bodyPr/>
                    <a:lstStyle/>
                    <a:p>
                      <a:pPr marL="0" lvl="0" indent="0" algn="l" rtl="0">
                        <a:lnSpc>
                          <a:spcPct val="115000"/>
                        </a:lnSpc>
                        <a:spcBef>
                          <a:spcPts val="0"/>
                        </a:spcBef>
                        <a:spcAft>
                          <a:spcPts val="0"/>
                        </a:spcAft>
                        <a:buNone/>
                      </a:pPr>
                      <a:r>
                        <a:rPr lang="no-NO" sz="1700"/>
                        <a:t>Requires purpose limitation and data minimization</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no-NO" sz="1700"/>
                        <a:t>Encourages broad reuse with rich metadata</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no-NO" sz="1700"/>
                        <a:t>GDPR-compliant reuse must include legal/ethical considerations</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720100">
                <a:tc>
                  <a:txBody>
                    <a:bodyPr/>
                    <a:lstStyle/>
                    <a:p>
                      <a:pPr marL="0" lvl="0" indent="0" algn="l" rtl="0">
                        <a:lnSpc>
                          <a:spcPct val="115000"/>
                        </a:lnSpc>
                        <a:spcBef>
                          <a:spcPts val="0"/>
                        </a:spcBef>
                        <a:spcAft>
                          <a:spcPts val="0"/>
                        </a:spcAft>
                        <a:buNone/>
                      </a:pPr>
                      <a:r>
                        <a:rPr lang="no-NO" sz="1700" b="1"/>
                        <a:t>Metadata &amp; Provenance</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chemeClr val="accent3"/>
                    </a:solidFill>
                  </a:tcPr>
                </a:tc>
                <a:tc>
                  <a:txBody>
                    <a:bodyPr/>
                    <a:lstStyle/>
                    <a:p>
                      <a:pPr marL="0" lvl="0" indent="0" algn="l" rtl="0">
                        <a:lnSpc>
                          <a:spcPct val="115000"/>
                        </a:lnSpc>
                        <a:spcBef>
                          <a:spcPts val="0"/>
                        </a:spcBef>
                        <a:spcAft>
                          <a:spcPts val="0"/>
                        </a:spcAft>
                        <a:buNone/>
                      </a:pPr>
                      <a:r>
                        <a:rPr lang="no-NO" sz="1700"/>
                        <a:t>Encouraged for accountability and consent tracking</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no-NO" sz="1700"/>
                        <a:t>Central to being Findable and Reusable</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no-NO" sz="1700"/>
                        <a:t>Shared emphasis on data traceability and transparency</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fontScale="90000"/>
          </a:bodyPr>
          <a:lstStyle/>
          <a:p>
            <a:pPr marL="0" lvl="0" indent="0" algn="l" rtl="0">
              <a:lnSpc>
                <a:spcPct val="115000"/>
              </a:lnSpc>
              <a:spcBef>
                <a:spcPts val="1400"/>
              </a:spcBef>
              <a:spcAft>
                <a:spcPts val="400"/>
              </a:spcAft>
              <a:buClr>
                <a:schemeClr val="dk1"/>
              </a:buClr>
              <a:buSzPts val="990"/>
              <a:buFont typeface="Arial"/>
              <a:buNone/>
            </a:pPr>
            <a:r>
              <a:rPr lang="no-NO"/>
              <a:t>Synergies – Where GDPR and FAIR Align</a:t>
            </a:r>
            <a:endParaRPr/>
          </a:p>
        </p:txBody>
      </p:sp>
      <p:graphicFrame>
        <p:nvGraphicFramePr>
          <p:cNvPr id="144" name="Google Shape;144;p30"/>
          <p:cNvGraphicFramePr/>
          <p:nvPr/>
        </p:nvGraphicFramePr>
        <p:xfrm>
          <a:off x="610175" y="1398550"/>
          <a:ext cx="10592175" cy="5348880"/>
        </p:xfrm>
        <a:graphic>
          <a:graphicData uri="http://schemas.openxmlformats.org/drawingml/2006/table">
            <a:tbl>
              <a:tblPr>
                <a:noFill/>
                <a:tableStyleId>{8B96CC9F-60A5-4901-8FD4-9F02AEDD8090}</a:tableStyleId>
              </a:tblPr>
              <a:tblGrid>
                <a:gridCol w="2343850">
                  <a:extLst>
                    <a:ext uri="{9D8B030D-6E8A-4147-A177-3AD203B41FA5}">
                      <a16:colId xmlns:a16="http://schemas.microsoft.com/office/drawing/2014/main" val="20000"/>
                    </a:ext>
                  </a:extLst>
                </a:gridCol>
                <a:gridCol w="8248325">
                  <a:extLst>
                    <a:ext uri="{9D8B030D-6E8A-4147-A177-3AD203B41FA5}">
                      <a16:colId xmlns:a16="http://schemas.microsoft.com/office/drawing/2014/main" val="20001"/>
                    </a:ext>
                  </a:extLst>
                </a:gridCol>
              </a:tblGrid>
              <a:tr h="441825">
                <a:tc>
                  <a:txBody>
                    <a:bodyPr/>
                    <a:lstStyle/>
                    <a:p>
                      <a:pPr marL="0" lvl="0" indent="0" algn="ctr" rtl="0">
                        <a:lnSpc>
                          <a:spcPct val="115000"/>
                        </a:lnSpc>
                        <a:spcBef>
                          <a:spcPts val="0"/>
                        </a:spcBef>
                        <a:spcAft>
                          <a:spcPts val="0"/>
                        </a:spcAft>
                        <a:buNone/>
                      </a:pPr>
                      <a:r>
                        <a:rPr lang="no-NO" sz="1700" b="1"/>
                        <a:t>Area</a:t>
                      </a:r>
                      <a:endParaRPr sz="1700"/>
                    </a:p>
                  </a:txBody>
                  <a:tcPr marL="63500" marR="63500" marT="63500" marB="63500">
                    <a:solidFill>
                      <a:schemeClr val="accent3"/>
                    </a:solidFill>
                  </a:tcPr>
                </a:tc>
                <a:tc>
                  <a:txBody>
                    <a:bodyPr/>
                    <a:lstStyle/>
                    <a:p>
                      <a:pPr marL="0" lvl="0" indent="0" algn="ctr" rtl="0">
                        <a:lnSpc>
                          <a:spcPct val="115000"/>
                        </a:lnSpc>
                        <a:spcBef>
                          <a:spcPts val="0"/>
                        </a:spcBef>
                        <a:spcAft>
                          <a:spcPts val="0"/>
                        </a:spcAft>
                        <a:buNone/>
                      </a:pPr>
                      <a:r>
                        <a:rPr lang="no-NO" sz="1700" b="1"/>
                        <a:t>Explanation</a:t>
                      </a:r>
                      <a:endParaRPr sz="1700"/>
                    </a:p>
                  </a:txBody>
                  <a:tcPr marL="63500" marR="63500" marT="63500" marB="63500">
                    <a:solidFill>
                      <a:schemeClr val="accent3"/>
                    </a:solidFill>
                  </a:tcPr>
                </a:tc>
                <a:extLst>
                  <a:ext uri="{0D108BD9-81ED-4DB2-BD59-A6C34878D82A}">
                    <a16:rowId xmlns:a16="http://schemas.microsoft.com/office/drawing/2014/main" val="10000"/>
                  </a:ext>
                </a:extLst>
              </a:tr>
              <a:tr h="972025">
                <a:tc>
                  <a:txBody>
                    <a:bodyPr/>
                    <a:lstStyle/>
                    <a:p>
                      <a:pPr marL="0" lvl="0" indent="0" algn="l" rtl="0">
                        <a:lnSpc>
                          <a:spcPct val="115000"/>
                        </a:lnSpc>
                        <a:spcBef>
                          <a:spcPts val="0"/>
                        </a:spcBef>
                        <a:spcAft>
                          <a:spcPts val="0"/>
                        </a:spcAft>
                        <a:buNone/>
                      </a:pPr>
                      <a:r>
                        <a:rPr lang="no-NO" sz="1700" b="1"/>
                        <a:t>Metadata &amp; Provenance</a:t>
                      </a:r>
                      <a:endParaRPr sz="1700"/>
                    </a:p>
                  </a:txBody>
                  <a:tcPr marL="63500" marR="63500" marT="63500" marB="63500">
                    <a:solidFill>
                      <a:schemeClr val="accent3"/>
                    </a:solidFill>
                  </a:tcPr>
                </a:tc>
                <a:tc>
                  <a:txBody>
                    <a:bodyPr/>
                    <a:lstStyle/>
                    <a:p>
                      <a:pPr marL="0" lvl="0" indent="0" algn="l" rtl="0">
                        <a:lnSpc>
                          <a:spcPct val="115000"/>
                        </a:lnSpc>
                        <a:spcBef>
                          <a:spcPts val="0"/>
                        </a:spcBef>
                        <a:spcAft>
                          <a:spcPts val="0"/>
                        </a:spcAft>
                        <a:buNone/>
                      </a:pPr>
                      <a:r>
                        <a:rPr lang="no-NO" sz="1700"/>
                        <a:t>FAIR requires detailed metadata for data discovery and reuse. GDPR encourages metadata to document consent, data origin, and processing purposes. Both promote traceability and accountability.</a:t>
                      </a:r>
                      <a:endParaRPr sz="1700"/>
                    </a:p>
                  </a:txBody>
                  <a:tcPr marL="63500" marR="63500" marT="63500" marB="63500"/>
                </a:tc>
                <a:extLst>
                  <a:ext uri="{0D108BD9-81ED-4DB2-BD59-A6C34878D82A}">
                    <a16:rowId xmlns:a16="http://schemas.microsoft.com/office/drawing/2014/main" val="10001"/>
                  </a:ext>
                </a:extLst>
              </a:tr>
              <a:tr h="972025">
                <a:tc>
                  <a:txBody>
                    <a:bodyPr/>
                    <a:lstStyle/>
                    <a:p>
                      <a:pPr marL="0" lvl="0" indent="0" algn="l" rtl="0">
                        <a:lnSpc>
                          <a:spcPct val="115000"/>
                        </a:lnSpc>
                        <a:spcBef>
                          <a:spcPts val="0"/>
                        </a:spcBef>
                        <a:spcAft>
                          <a:spcPts val="0"/>
                        </a:spcAft>
                        <a:buNone/>
                      </a:pPr>
                      <a:r>
                        <a:rPr lang="no-NO" sz="1700" b="1"/>
                        <a:t>Transparency</a:t>
                      </a:r>
                      <a:endParaRPr sz="1700"/>
                    </a:p>
                  </a:txBody>
                  <a:tcPr marL="63500" marR="63500" marT="63500" marB="63500">
                    <a:solidFill>
                      <a:schemeClr val="accent3"/>
                    </a:solidFill>
                  </a:tcPr>
                </a:tc>
                <a:tc>
                  <a:txBody>
                    <a:bodyPr/>
                    <a:lstStyle/>
                    <a:p>
                      <a:pPr marL="0" lvl="0" indent="0" algn="l" rtl="0">
                        <a:lnSpc>
                          <a:spcPct val="115000"/>
                        </a:lnSpc>
                        <a:spcBef>
                          <a:spcPts val="0"/>
                        </a:spcBef>
                        <a:spcAft>
                          <a:spcPts val="0"/>
                        </a:spcAft>
                        <a:buNone/>
                      </a:pPr>
                      <a:r>
                        <a:rPr lang="no-NO" sz="1700"/>
                        <a:t>FAIR promotes open, well-documented data. GDPR requires transparency about how personal data is collected and used. Shared commitment to clarity.</a:t>
                      </a:r>
                      <a:endParaRPr sz="1700"/>
                    </a:p>
                  </a:txBody>
                  <a:tcPr marL="63500" marR="63500" marT="63500" marB="63500"/>
                </a:tc>
                <a:extLst>
                  <a:ext uri="{0D108BD9-81ED-4DB2-BD59-A6C34878D82A}">
                    <a16:rowId xmlns:a16="http://schemas.microsoft.com/office/drawing/2014/main" val="10002"/>
                  </a:ext>
                </a:extLst>
              </a:tr>
              <a:tr h="972025">
                <a:tc>
                  <a:txBody>
                    <a:bodyPr/>
                    <a:lstStyle/>
                    <a:p>
                      <a:pPr marL="0" lvl="0" indent="0" algn="l" rtl="0">
                        <a:lnSpc>
                          <a:spcPct val="115000"/>
                        </a:lnSpc>
                        <a:spcBef>
                          <a:spcPts val="0"/>
                        </a:spcBef>
                        <a:spcAft>
                          <a:spcPts val="0"/>
                        </a:spcAft>
                        <a:buNone/>
                      </a:pPr>
                      <a:r>
                        <a:rPr lang="no-NO" sz="1700" b="1"/>
                        <a:t>Data Stewardship</a:t>
                      </a:r>
                      <a:endParaRPr sz="1700"/>
                    </a:p>
                  </a:txBody>
                  <a:tcPr marL="63500" marR="63500" marT="63500" marB="63500">
                    <a:solidFill>
                      <a:schemeClr val="accent3"/>
                    </a:solidFill>
                  </a:tcPr>
                </a:tc>
                <a:tc>
                  <a:txBody>
                    <a:bodyPr/>
                    <a:lstStyle/>
                    <a:p>
                      <a:pPr marL="0" lvl="0" indent="0" algn="l" rtl="0">
                        <a:lnSpc>
                          <a:spcPct val="115000"/>
                        </a:lnSpc>
                        <a:spcBef>
                          <a:spcPts val="0"/>
                        </a:spcBef>
                        <a:spcAft>
                          <a:spcPts val="0"/>
                        </a:spcAft>
                        <a:buNone/>
                      </a:pPr>
                      <a:r>
                        <a:rPr lang="no-NO" sz="1700"/>
                        <a:t>FAIR principles push for sustainable data management. GDPR emphasizes responsible handling of personal data. Both frameworks drive the professionalization of data management.</a:t>
                      </a:r>
                      <a:endParaRPr sz="1700"/>
                    </a:p>
                  </a:txBody>
                  <a:tcPr marL="63500" marR="63500" marT="63500" marB="63500"/>
                </a:tc>
                <a:extLst>
                  <a:ext uri="{0D108BD9-81ED-4DB2-BD59-A6C34878D82A}">
                    <a16:rowId xmlns:a16="http://schemas.microsoft.com/office/drawing/2014/main" val="10003"/>
                  </a:ext>
                </a:extLst>
              </a:tr>
              <a:tr h="972025">
                <a:tc>
                  <a:txBody>
                    <a:bodyPr/>
                    <a:lstStyle/>
                    <a:p>
                      <a:pPr marL="0" lvl="0" indent="0" algn="l" rtl="0">
                        <a:lnSpc>
                          <a:spcPct val="115000"/>
                        </a:lnSpc>
                        <a:spcBef>
                          <a:spcPts val="0"/>
                        </a:spcBef>
                        <a:spcAft>
                          <a:spcPts val="0"/>
                        </a:spcAft>
                        <a:buNone/>
                      </a:pPr>
                      <a:r>
                        <a:rPr lang="no-NO" sz="1700" b="1"/>
                        <a:t>Machine-Readability</a:t>
                      </a:r>
                      <a:endParaRPr sz="1700"/>
                    </a:p>
                  </a:txBody>
                  <a:tcPr marL="63500" marR="63500" marT="63500" marB="63500">
                    <a:solidFill>
                      <a:schemeClr val="accent3"/>
                    </a:solidFill>
                  </a:tcPr>
                </a:tc>
                <a:tc>
                  <a:txBody>
                    <a:bodyPr/>
                    <a:lstStyle/>
                    <a:p>
                      <a:pPr marL="0" lvl="0" indent="0" algn="l" rtl="0">
                        <a:lnSpc>
                          <a:spcPct val="115000"/>
                        </a:lnSpc>
                        <a:spcBef>
                          <a:spcPts val="0"/>
                        </a:spcBef>
                        <a:spcAft>
                          <a:spcPts val="0"/>
                        </a:spcAft>
                        <a:buNone/>
                      </a:pPr>
                      <a:r>
                        <a:rPr lang="no-NO" sz="1700"/>
                        <a:t>FAIR encourages machine-readable formats for interoperability and reuse. GDPR supports machine-readable formats (e.g. for data portability).</a:t>
                      </a:r>
                      <a:endParaRPr sz="1700"/>
                    </a:p>
                  </a:txBody>
                  <a:tcPr marL="63500" marR="63500" marT="63500" marB="63500"/>
                </a:tc>
                <a:extLst>
                  <a:ext uri="{0D108BD9-81ED-4DB2-BD59-A6C34878D82A}">
                    <a16:rowId xmlns:a16="http://schemas.microsoft.com/office/drawing/2014/main" val="10004"/>
                  </a:ext>
                </a:extLst>
              </a:tr>
              <a:tr h="972025">
                <a:tc>
                  <a:txBody>
                    <a:bodyPr/>
                    <a:lstStyle/>
                    <a:p>
                      <a:pPr marL="0" lvl="0" indent="0" algn="l" rtl="0">
                        <a:lnSpc>
                          <a:spcPct val="115000"/>
                        </a:lnSpc>
                        <a:spcBef>
                          <a:spcPts val="0"/>
                        </a:spcBef>
                        <a:spcAft>
                          <a:spcPts val="0"/>
                        </a:spcAft>
                        <a:buNone/>
                      </a:pPr>
                      <a:r>
                        <a:rPr lang="no-NO" sz="1700" b="1"/>
                        <a:t>Reusability with Conditions</a:t>
                      </a:r>
                      <a:endParaRPr sz="1700"/>
                    </a:p>
                  </a:txBody>
                  <a:tcPr marL="63500" marR="63500" marT="63500" marB="63500">
                    <a:solidFill>
                      <a:schemeClr val="accent3"/>
                    </a:solidFill>
                  </a:tcPr>
                </a:tc>
                <a:tc>
                  <a:txBody>
                    <a:bodyPr/>
                    <a:lstStyle/>
                    <a:p>
                      <a:pPr marL="0" lvl="0" indent="0" algn="l" rtl="0">
                        <a:lnSpc>
                          <a:spcPct val="115000"/>
                        </a:lnSpc>
                        <a:spcBef>
                          <a:spcPts val="0"/>
                        </a:spcBef>
                        <a:spcAft>
                          <a:spcPts val="0"/>
                        </a:spcAft>
                        <a:buNone/>
                      </a:pPr>
                      <a:r>
                        <a:rPr lang="no-NO" sz="1700"/>
                        <a:t>FAIR allows reuse “as open as possible, as closed as necessary.” GDPR mandates limitations for personal data. Both allow reuse within appropriate constraints.</a:t>
                      </a:r>
                      <a:endParaRPr sz="1700"/>
                    </a:p>
                  </a:txBody>
                  <a:tcPr marL="63500" marR="63500" marT="63500" marB="63500"/>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3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fontScale="90000"/>
          </a:bodyPr>
          <a:lstStyle/>
          <a:p>
            <a:pPr marL="0" lvl="0" indent="0" algn="l" rtl="0">
              <a:lnSpc>
                <a:spcPct val="115000"/>
              </a:lnSpc>
              <a:spcBef>
                <a:spcPts val="1400"/>
              </a:spcBef>
              <a:spcAft>
                <a:spcPts val="400"/>
              </a:spcAft>
              <a:buNone/>
            </a:pPr>
            <a:r>
              <a:rPr lang="no-NO"/>
              <a:t>Tensions – Where GDPR and FAIR Conflict</a:t>
            </a:r>
            <a:endParaRPr/>
          </a:p>
        </p:txBody>
      </p:sp>
      <p:graphicFrame>
        <p:nvGraphicFramePr>
          <p:cNvPr id="151" name="Google Shape;151;p31"/>
          <p:cNvGraphicFramePr/>
          <p:nvPr/>
        </p:nvGraphicFramePr>
        <p:xfrm>
          <a:off x="610175" y="1398550"/>
          <a:ext cx="11041475" cy="4567250"/>
        </p:xfrm>
        <a:graphic>
          <a:graphicData uri="http://schemas.openxmlformats.org/drawingml/2006/table">
            <a:tbl>
              <a:tblPr>
                <a:noFill/>
                <a:tableStyleId>{8B96CC9F-60A5-4901-8FD4-9F02AEDD8090}</a:tableStyleId>
              </a:tblPr>
              <a:tblGrid>
                <a:gridCol w="2443275">
                  <a:extLst>
                    <a:ext uri="{9D8B030D-6E8A-4147-A177-3AD203B41FA5}">
                      <a16:colId xmlns:a16="http://schemas.microsoft.com/office/drawing/2014/main" val="20000"/>
                    </a:ext>
                  </a:extLst>
                </a:gridCol>
                <a:gridCol w="8598200">
                  <a:extLst>
                    <a:ext uri="{9D8B030D-6E8A-4147-A177-3AD203B41FA5}">
                      <a16:colId xmlns:a16="http://schemas.microsoft.com/office/drawing/2014/main" val="20001"/>
                    </a:ext>
                  </a:extLst>
                </a:gridCol>
              </a:tblGrid>
              <a:tr h="466050">
                <a:tc>
                  <a:txBody>
                    <a:bodyPr/>
                    <a:lstStyle/>
                    <a:p>
                      <a:pPr marL="0" lvl="0" indent="0" algn="ctr" rtl="0">
                        <a:lnSpc>
                          <a:spcPct val="115000"/>
                        </a:lnSpc>
                        <a:spcBef>
                          <a:spcPts val="0"/>
                        </a:spcBef>
                        <a:spcAft>
                          <a:spcPts val="0"/>
                        </a:spcAft>
                        <a:buNone/>
                      </a:pPr>
                      <a:r>
                        <a:rPr lang="no-NO" sz="1700" b="1"/>
                        <a:t>Area</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chemeClr val="accent3"/>
                    </a:solidFill>
                  </a:tcPr>
                </a:tc>
                <a:tc>
                  <a:txBody>
                    <a:bodyPr/>
                    <a:lstStyle/>
                    <a:p>
                      <a:pPr marL="0" lvl="0" indent="0" algn="ctr" rtl="0">
                        <a:lnSpc>
                          <a:spcPct val="115000"/>
                        </a:lnSpc>
                        <a:spcBef>
                          <a:spcPts val="0"/>
                        </a:spcBef>
                        <a:spcAft>
                          <a:spcPts val="0"/>
                        </a:spcAft>
                        <a:buNone/>
                      </a:pPr>
                      <a:r>
                        <a:rPr lang="no-NO" sz="1700" b="1"/>
                        <a:t>Explanation</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chemeClr val="accent3"/>
                    </a:solidFill>
                  </a:tcPr>
                </a:tc>
                <a:extLst>
                  <a:ext uri="{0D108BD9-81ED-4DB2-BD59-A6C34878D82A}">
                    <a16:rowId xmlns:a16="http://schemas.microsoft.com/office/drawing/2014/main" val="10000"/>
                  </a:ext>
                </a:extLst>
              </a:tr>
              <a:tr h="1025300">
                <a:tc>
                  <a:txBody>
                    <a:bodyPr/>
                    <a:lstStyle/>
                    <a:p>
                      <a:pPr marL="0" lvl="0" indent="0" algn="l" rtl="0">
                        <a:lnSpc>
                          <a:spcPct val="115000"/>
                        </a:lnSpc>
                        <a:spcBef>
                          <a:spcPts val="0"/>
                        </a:spcBef>
                        <a:spcAft>
                          <a:spcPts val="0"/>
                        </a:spcAft>
                        <a:buNone/>
                      </a:pPr>
                      <a:r>
                        <a:rPr lang="no-NO" sz="1700" b="1"/>
                        <a:t>Open Access vs. Privacy</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chemeClr val="accent3"/>
                    </a:solidFill>
                  </a:tcPr>
                </a:tc>
                <a:tc>
                  <a:txBody>
                    <a:bodyPr/>
                    <a:lstStyle/>
                    <a:p>
                      <a:pPr marL="0" lvl="0" indent="0" algn="l" rtl="0">
                        <a:lnSpc>
                          <a:spcPct val="115000"/>
                        </a:lnSpc>
                        <a:spcBef>
                          <a:spcPts val="0"/>
                        </a:spcBef>
                        <a:spcAft>
                          <a:spcPts val="0"/>
                        </a:spcAft>
                        <a:buNone/>
                      </a:pPr>
                      <a:r>
                        <a:rPr lang="no-NO" sz="1700"/>
                        <a:t>FAIR encourages open access to data. GDPR restricts access to personal data without legal basis and consent. This is the biggest point of conflict.</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025300">
                <a:tc>
                  <a:txBody>
                    <a:bodyPr/>
                    <a:lstStyle/>
                    <a:p>
                      <a:pPr marL="0" lvl="0" indent="0" algn="l" rtl="0">
                        <a:lnSpc>
                          <a:spcPct val="115000"/>
                        </a:lnSpc>
                        <a:spcBef>
                          <a:spcPts val="0"/>
                        </a:spcBef>
                        <a:spcAft>
                          <a:spcPts val="0"/>
                        </a:spcAft>
                        <a:buNone/>
                      </a:pPr>
                      <a:r>
                        <a:rPr lang="no-NO" sz="1700" b="1"/>
                        <a:t>Findability vs. Anonymity</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chemeClr val="accent3"/>
                    </a:solidFill>
                  </a:tcPr>
                </a:tc>
                <a:tc>
                  <a:txBody>
                    <a:bodyPr/>
                    <a:lstStyle/>
                    <a:p>
                      <a:pPr marL="0" lvl="0" indent="0" algn="l" rtl="0">
                        <a:lnSpc>
                          <a:spcPct val="115000"/>
                        </a:lnSpc>
                        <a:spcBef>
                          <a:spcPts val="0"/>
                        </a:spcBef>
                        <a:spcAft>
                          <a:spcPts val="0"/>
                        </a:spcAft>
                        <a:buNone/>
                      </a:pPr>
                      <a:r>
                        <a:rPr lang="no-NO" sz="1700"/>
                        <a:t>Making data easily findable can risk re-identification, especially with rich metadata. GDPR requires minimizing risks of personal data exposure.</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025300">
                <a:tc>
                  <a:txBody>
                    <a:bodyPr/>
                    <a:lstStyle/>
                    <a:p>
                      <a:pPr marL="0" lvl="0" indent="0" algn="l" rtl="0">
                        <a:lnSpc>
                          <a:spcPct val="115000"/>
                        </a:lnSpc>
                        <a:spcBef>
                          <a:spcPts val="0"/>
                        </a:spcBef>
                        <a:spcAft>
                          <a:spcPts val="0"/>
                        </a:spcAft>
                        <a:buNone/>
                      </a:pPr>
                      <a:r>
                        <a:rPr lang="no-NO" sz="1700" b="1"/>
                        <a:t>Metadata Sensitivity</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chemeClr val="accent3"/>
                    </a:solidFill>
                  </a:tcPr>
                </a:tc>
                <a:tc>
                  <a:txBody>
                    <a:bodyPr/>
                    <a:lstStyle/>
                    <a:p>
                      <a:pPr marL="0" lvl="0" indent="0" algn="l" rtl="0">
                        <a:lnSpc>
                          <a:spcPct val="115000"/>
                        </a:lnSpc>
                        <a:spcBef>
                          <a:spcPts val="0"/>
                        </a:spcBef>
                        <a:spcAft>
                          <a:spcPts val="0"/>
                        </a:spcAft>
                        <a:buNone/>
                      </a:pPr>
                      <a:r>
                        <a:rPr lang="no-NO" sz="1700"/>
                        <a:t>Metadata in FAIR may inadvertently reveal personal data or identifiers (e.g., through dataset descriptions or provenance records).</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025300">
                <a:tc>
                  <a:txBody>
                    <a:bodyPr/>
                    <a:lstStyle/>
                    <a:p>
                      <a:pPr marL="0" lvl="0" indent="0" algn="l" rtl="0">
                        <a:lnSpc>
                          <a:spcPct val="115000"/>
                        </a:lnSpc>
                        <a:spcBef>
                          <a:spcPts val="0"/>
                        </a:spcBef>
                        <a:spcAft>
                          <a:spcPts val="0"/>
                        </a:spcAft>
                        <a:buNone/>
                      </a:pPr>
                      <a:r>
                        <a:rPr lang="no-NO" sz="1700" b="1"/>
                        <a:t>Long-term Storage vs. Storage limitation</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chemeClr val="accent3"/>
                    </a:solidFill>
                  </a:tcPr>
                </a:tc>
                <a:tc>
                  <a:txBody>
                    <a:bodyPr/>
                    <a:lstStyle/>
                    <a:p>
                      <a:pPr marL="0" lvl="0" indent="0" algn="l" rtl="0">
                        <a:lnSpc>
                          <a:spcPct val="115000"/>
                        </a:lnSpc>
                        <a:spcBef>
                          <a:spcPts val="0"/>
                        </a:spcBef>
                        <a:spcAft>
                          <a:spcPts val="0"/>
                        </a:spcAft>
                        <a:buNone/>
                      </a:pPr>
                      <a:r>
                        <a:rPr lang="no-NO" sz="1700"/>
                        <a:t>FAIR supports long-term data retention for future reuse. GDPR requires not storing personal data longer than necessary.</a:t>
                      </a:r>
                      <a:endParaRPr sz="1700"/>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2"/>
          <p:cNvSpPr txBox="1">
            <a:spLocks noGrp="1"/>
          </p:cNvSpPr>
          <p:nvPr>
            <p:ph type="title"/>
          </p:nvPr>
        </p:nvSpPr>
        <p:spPr>
          <a:xfrm>
            <a:off x="746760" y="-81915"/>
            <a:ext cx="10515600" cy="1325700"/>
          </a:xfrm>
          <a:prstGeom prst="rect">
            <a:avLst/>
          </a:prstGeom>
        </p:spPr>
        <p:txBody>
          <a:bodyPr spcFirstLastPara="1" wrap="square" lIns="91425" tIns="45700" rIns="91425" bIns="45700" anchor="ctr" anchorCtr="0">
            <a:normAutofit fontScale="90000"/>
          </a:bodyPr>
          <a:lstStyle/>
          <a:p>
            <a:pPr marL="0" lvl="0" indent="0" algn="l" rtl="0">
              <a:lnSpc>
                <a:spcPct val="115000"/>
              </a:lnSpc>
              <a:spcBef>
                <a:spcPts val="1400"/>
              </a:spcBef>
              <a:spcAft>
                <a:spcPts val="400"/>
              </a:spcAft>
              <a:buClr>
                <a:schemeClr val="dk1"/>
              </a:buClr>
              <a:buSzPts val="990"/>
              <a:buFont typeface="Arial"/>
              <a:buNone/>
            </a:pPr>
            <a:r>
              <a:rPr lang="no-NO" dirty="0"/>
              <a:t>Resolving the Tensions: A step-by-step guide</a:t>
            </a:r>
            <a:endParaRPr dirty="0"/>
          </a:p>
        </p:txBody>
      </p:sp>
      <p:sp>
        <p:nvSpPr>
          <p:cNvPr id="158" name="Google Shape;158;p32"/>
          <p:cNvSpPr txBox="1">
            <a:spLocks noGrp="1"/>
          </p:cNvSpPr>
          <p:nvPr>
            <p:ph type="body" idx="1"/>
          </p:nvPr>
        </p:nvSpPr>
        <p:spPr>
          <a:xfrm>
            <a:off x="284480" y="809625"/>
            <a:ext cx="11907520" cy="4351200"/>
          </a:xfrm>
          <a:prstGeom prst="rect">
            <a:avLst/>
          </a:prstGeom>
        </p:spPr>
        <p:txBody>
          <a:bodyPr spcFirstLastPara="1" wrap="square" lIns="91425" tIns="45700" rIns="91425" bIns="45700" anchor="t" anchorCtr="0">
            <a:noAutofit/>
          </a:bodyPr>
          <a:lstStyle/>
          <a:p>
            <a:pPr marL="457200" lvl="0" indent="-325755" algn="l" rtl="0">
              <a:lnSpc>
                <a:spcPct val="115000"/>
              </a:lnSpc>
              <a:spcBef>
                <a:spcPts val="1200"/>
              </a:spcBef>
              <a:spcAft>
                <a:spcPts val="0"/>
              </a:spcAft>
              <a:buClr>
                <a:schemeClr val="dk1"/>
              </a:buClr>
              <a:buSzPct val="100000"/>
              <a:buAutoNum type="arabicPeriod"/>
            </a:pPr>
            <a:r>
              <a:rPr lang="no-NO" sz="1800" b="1" dirty="0"/>
              <a:t>Know your data: </a:t>
            </a:r>
            <a:r>
              <a:rPr lang="no-NO" sz="1800" dirty="0"/>
              <a:t>Assess the degree of sensitivity and whether (parts of) the data are regulated by national law. This can be done in a Data Protection Impact Assessment (DPIA). Consult your DPO.</a:t>
            </a:r>
            <a:r>
              <a:rPr lang="no-NO" sz="1800" b="1" dirty="0"/>
              <a:t> </a:t>
            </a:r>
            <a:br>
              <a:rPr lang="no-NO" sz="1800" b="1" dirty="0"/>
            </a:br>
            <a:endParaRPr sz="1000" b="1" dirty="0"/>
          </a:p>
          <a:p>
            <a:pPr marL="457200" lvl="0" indent="-325755" algn="l" rtl="0">
              <a:lnSpc>
                <a:spcPct val="115000"/>
              </a:lnSpc>
              <a:spcBef>
                <a:spcPts val="0"/>
              </a:spcBef>
              <a:spcAft>
                <a:spcPts val="0"/>
              </a:spcAft>
              <a:buClr>
                <a:schemeClr val="dk1"/>
              </a:buClr>
              <a:buSzPct val="100000"/>
              <a:buAutoNum type="arabicPeriod"/>
            </a:pPr>
            <a:r>
              <a:rPr lang="no-NO" sz="1800" b="1" dirty="0"/>
              <a:t>Can data easily be anonymized, pseudonymized, or will this be impossible?</a:t>
            </a:r>
            <a:r>
              <a:rPr lang="no-NO" sz="1800" dirty="0"/>
              <a:t> Minimize the amount and sensitivity of personal data published, while maintaining a dataset that actually contains useful information.</a:t>
            </a:r>
            <a:br>
              <a:rPr lang="no-NO" sz="1800" dirty="0"/>
            </a:br>
            <a:endParaRPr sz="1000" dirty="0"/>
          </a:p>
          <a:p>
            <a:pPr marL="457200" lvl="0" indent="-325755" algn="l" rtl="0">
              <a:lnSpc>
                <a:spcPct val="115000"/>
              </a:lnSpc>
              <a:spcBef>
                <a:spcPts val="0"/>
              </a:spcBef>
              <a:spcAft>
                <a:spcPts val="0"/>
              </a:spcAft>
              <a:buClr>
                <a:schemeClr val="dk1"/>
              </a:buClr>
              <a:buSzPct val="100000"/>
              <a:buAutoNum type="arabicPeriod"/>
            </a:pPr>
            <a:r>
              <a:rPr lang="no-NO" sz="1800" b="1" dirty="0"/>
              <a:t>Think FAIR from the start!</a:t>
            </a:r>
            <a:r>
              <a:rPr lang="no-NO" sz="1800" dirty="0"/>
              <a:t> Check where the data could be archived/published and what the requirements are to ensure F, A, I and R. Include data use licenses and access controls in metadata.</a:t>
            </a:r>
            <a:br>
              <a:rPr lang="no-NO" sz="1800" dirty="0"/>
            </a:br>
            <a:endParaRPr sz="1000" dirty="0"/>
          </a:p>
          <a:p>
            <a:pPr marL="457200" lvl="0" indent="-325755" algn="l" rtl="0">
              <a:lnSpc>
                <a:spcPct val="115000"/>
              </a:lnSpc>
              <a:spcBef>
                <a:spcPts val="0"/>
              </a:spcBef>
              <a:spcAft>
                <a:spcPts val="0"/>
              </a:spcAft>
              <a:buClr>
                <a:schemeClr val="dk1"/>
              </a:buClr>
              <a:buSzPct val="100000"/>
              <a:buAutoNum type="arabicPeriod"/>
            </a:pPr>
            <a:r>
              <a:rPr lang="no-NO" sz="1800" b="1" dirty="0"/>
              <a:t>Draft your participant information letter: </a:t>
            </a:r>
            <a:r>
              <a:rPr lang="no-NO" sz="1800" dirty="0"/>
              <a:t>Make sure that descriptions of purpose, duration of processing, contact information, future data access and re-use cover the entire lifecycle of the data. Consult your research support.</a:t>
            </a:r>
            <a:br>
              <a:rPr lang="no-NO" sz="1800" dirty="0"/>
            </a:br>
            <a:endParaRPr sz="1000" dirty="0"/>
          </a:p>
          <a:p>
            <a:pPr marL="457200" lvl="0" indent="-325755" algn="l" rtl="0">
              <a:lnSpc>
                <a:spcPct val="115000"/>
              </a:lnSpc>
              <a:spcBef>
                <a:spcPts val="0"/>
              </a:spcBef>
              <a:spcAft>
                <a:spcPts val="0"/>
              </a:spcAft>
              <a:buClr>
                <a:schemeClr val="dk1"/>
              </a:buClr>
              <a:buSzPct val="100000"/>
              <a:buAutoNum type="arabicPeriod"/>
            </a:pPr>
            <a:r>
              <a:rPr lang="no-NO" sz="1800" b="1" dirty="0"/>
              <a:t>Use controlled vocabularies and standards</a:t>
            </a:r>
            <a:r>
              <a:rPr lang="no-NO" sz="1800" dirty="0"/>
              <a:t> that integrate both FAIR and legal compliance requirements (e.g., GDPR metadata concepts, DDI metadata standard).</a:t>
            </a:r>
            <a:br>
              <a:rPr lang="no-NO" sz="1800" dirty="0"/>
            </a:br>
            <a:endParaRPr sz="1000" dirty="0"/>
          </a:p>
          <a:p>
            <a:pPr marL="457200" lvl="0" indent="-325755" algn="l" rtl="0">
              <a:lnSpc>
                <a:spcPct val="115000"/>
              </a:lnSpc>
              <a:spcBef>
                <a:spcPts val="0"/>
              </a:spcBef>
              <a:spcAft>
                <a:spcPts val="0"/>
              </a:spcAft>
              <a:buClr>
                <a:schemeClr val="dk1"/>
              </a:buClr>
              <a:buSzPct val="100000"/>
              <a:buAutoNum type="arabicPeriod"/>
            </a:pPr>
            <a:r>
              <a:rPr lang="no-NO" sz="1800" b="1" dirty="0"/>
              <a:t>Know where your data is, and keep it safe! </a:t>
            </a:r>
            <a:r>
              <a:rPr lang="no-NO" sz="1800" dirty="0"/>
              <a:t>Build in data governance processes to evaluate FAIR compliance in light of legal and ethical obligation. Use Data Management Plans and agreements such as Data Processor Agreements to ensure control over the data .</a:t>
            </a:r>
            <a:endParaRPr sz="1800" dirty="0">
              <a:highlight>
                <a:srgbClr val="FFFF00"/>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3"/>
          <p:cNvSpPr txBox="1">
            <a:spLocks noGrp="1"/>
          </p:cNvSpPr>
          <p:nvPr>
            <p:ph type="title"/>
          </p:nvPr>
        </p:nvSpPr>
        <p:spPr>
          <a:xfrm>
            <a:off x="838200" y="182250"/>
            <a:ext cx="10515600" cy="1325700"/>
          </a:xfrm>
          <a:prstGeom prst="rect">
            <a:avLst/>
          </a:prstGeom>
        </p:spPr>
        <p:txBody>
          <a:bodyPr spcFirstLastPara="1" wrap="square" lIns="91425" tIns="45700" rIns="91425" bIns="45700" anchor="ctr" anchorCtr="0">
            <a:normAutofit fontScale="90000"/>
          </a:bodyPr>
          <a:lstStyle/>
          <a:p>
            <a:pPr marL="0" lvl="0" indent="0" algn="l" rtl="0">
              <a:lnSpc>
                <a:spcPct val="115000"/>
              </a:lnSpc>
              <a:spcBef>
                <a:spcPts val="1400"/>
              </a:spcBef>
              <a:spcAft>
                <a:spcPts val="400"/>
              </a:spcAft>
              <a:buClr>
                <a:schemeClr val="dk1"/>
              </a:buClr>
              <a:buSzPts val="990"/>
              <a:buFont typeface="Arial"/>
              <a:buNone/>
            </a:pPr>
            <a:r>
              <a:rPr lang="no-NO"/>
              <a:t>Resolving the Tensions: Practical Strategies</a:t>
            </a:r>
            <a:endParaRPr/>
          </a:p>
        </p:txBody>
      </p:sp>
      <p:sp>
        <p:nvSpPr>
          <p:cNvPr id="165" name="Google Shape;165;p33"/>
          <p:cNvSpPr txBox="1">
            <a:spLocks noGrp="1"/>
          </p:cNvSpPr>
          <p:nvPr>
            <p:ph type="body" idx="1"/>
          </p:nvPr>
        </p:nvSpPr>
        <p:spPr>
          <a:xfrm>
            <a:off x="813600" y="1172170"/>
            <a:ext cx="10564800" cy="990600"/>
          </a:xfrm>
          <a:prstGeom prst="rect">
            <a:avLst/>
          </a:prstGeom>
        </p:spPr>
        <p:txBody>
          <a:bodyPr spcFirstLastPara="1" wrap="square" lIns="91425" tIns="45700" rIns="91425" bIns="45700" anchor="t" anchorCtr="0">
            <a:normAutofit fontScale="25000" lnSpcReduction="20000"/>
          </a:bodyPr>
          <a:lstStyle/>
          <a:p>
            <a:pPr marL="0" lvl="0" indent="0" algn="l" rtl="0">
              <a:lnSpc>
                <a:spcPct val="115000"/>
              </a:lnSpc>
              <a:spcBef>
                <a:spcPts val="1200"/>
              </a:spcBef>
              <a:spcAft>
                <a:spcPts val="0"/>
              </a:spcAft>
              <a:buNone/>
            </a:pPr>
            <a:r>
              <a:rPr lang="no-NO" sz="6600" b="1" dirty="0"/>
              <a:t>Case I:</a:t>
            </a:r>
            <a:endParaRPr sz="6600" b="1" dirty="0"/>
          </a:p>
          <a:p>
            <a:pPr marL="0" lvl="0" indent="0" algn="l" rtl="0">
              <a:lnSpc>
                <a:spcPct val="115000"/>
              </a:lnSpc>
              <a:spcBef>
                <a:spcPts val="1200"/>
              </a:spcBef>
              <a:spcAft>
                <a:spcPts val="0"/>
              </a:spcAft>
              <a:buNone/>
            </a:pPr>
            <a:r>
              <a:rPr lang="no-NO" sz="6600" dirty="0"/>
              <a:t>Large survey on political opinions, large amount of demographic and background variables, special categories of personal data, adult participants </a:t>
            </a:r>
            <a:endParaRPr sz="6600" dirty="0"/>
          </a:p>
          <a:p>
            <a:pPr marL="457200" lvl="0" indent="0" algn="l" rtl="0">
              <a:lnSpc>
                <a:spcPct val="115000"/>
              </a:lnSpc>
              <a:spcBef>
                <a:spcPts val="1200"/>
              </a:spcBef>
              <a:spcAft>
                <a:spcPts val="0"/>
              </a:spcAft>
              <a:buNone/>
            </a:pPr>
            <a:endParaRPr sz="1800" dirty="0"/>
          </a:p>
          <a:p>
            <a:pPr marL="457200" lvl="0" indent="0" algn="l" rtl="0">
              <a:lnSpc>
                <a:spcPct val="115000"/>
              </a:lnSpc>
              <a:spcBef>
                <a:spcPts val="1200"/>
              </a:spcBef>
              <a:spcAft>
                <a:spcPts val="1200"/>
              </a:spcAft>
              <a:buNone/>
            </a:pPr>
            <a:r>
              <a:rPr lang="no-NO" sz="1800" b="1" dirty="0"/>
              <a:t> </a:t>
            </a:r>
            <a:endParaRPr sz="1800" b="1" dirty="0"/>
          </a:p>
        </p:txBody>
      </p:sp>
      <p:graphicFrame>
        <p:nvGraphicFramePr>
          <p:cNvPr id="166" name="Google Shape;166;p33"/>
          <p:cNvGraphicFramePr/>
          <p:nvPr/>
        </p:nvGraphicFramePr>
        <p:xfrm>
          <a:off x="449038" y="2400825"/>
          <a:ext cx="11293925" cy="3890603"/>
        </p:xfrm>
        <a:graphic>
          <a:graphicData uri="http://schemas.openxmlformats.org/drawingml/2006/table">
            <a:tbl>
              <a:tblPr>
                <a:noFill/>
                <a:tableStyleId>{8B96CC9F-60A5-4901-8FD4-9F02AEDD8090}</a:tableStyleId>
              </a:tblPr>
              <a:tblGrid>
                <a:gridCol w="2121100">
                  <a:extLst>
                    <a:ext uri="{9D8B030D-6E8A-4147-A177-3AD203B41FA5}">
                      <a16:colId xmlns:a16="http://schemas.microsoft.com/office/drawing/2014/main" val="20000"/>
                    </a:ext>
                  </a:extLst>
                </a:gridCol>
                <a:gridCol w="9172825">
                  <a:extLst>
                    <a:ext uri="{9D8B030D-6E8A-4147-A177-3AD203B41FA5}">
                      <a16:colId xmlns:a16="http://schemas.microsoft.com/office/drawing/2014/main" val="20001"/>
                    </a:ext>
                  </a:extLst>
                </a:gridCol>
              </a:tblGrid>
              <a:tr h="0">
                <a:tc>
                  <a:txBody>
                    <a:bodyPr/>
                    <a:lstStyle/>
                    <a:p>
                      <a:pPr marL="0" lvl="0" indent="0" algn="ctr" rtl="0">
                        <a:lnSpc>
                          <a:spcPct val="115000"/>
                        </a:lnSpc>
                        <a:spcBef>
                          <a:spcPts val="0"/>
                        </a:spcBef>
                        <a:spcAft>
                          <a:spcPts val="0"/>
                        </a:spcAft>
                        <a:buNone/>
                      </a:pPr>
                      <a:endParaRPr sz="400"/>
                    </a:p>
                  </a:txBody>
                  <a:tcPr marL="63500" marR="63500" marT="63500" marB="63500">
                    <a:solidFill>
                      <a:schemeClr val="accent3"/>
                    </a:solidFill>
                  </a:tcPr>
                </a:tc>
                <a:tc>
                  <a:txBody>
                    <a:bodyPr/>
                    <a:lstStyle/>
                    <a:p>
                      <a:pPr marL="0" lvl="0" indent="0" algn="ctr" rtl="0">
                        <a:lnSpc>
                          <a:spcPct val="115000"/>
                        </a:lnSpc>
                        <a:spcBef>
                          <a:spcPts val="0"/>
                        </a:spcBef>
                        <a:spcAft>
                          <a:spcPts val="0"/>
                        </a:spcAft>
                        <a:buNone/>
                      </a:pPr>
                      <a:endParaRPr sz="400"/>
                    </a:p>
                  </a:txBody>
                  <a:tcPr marL="63500" marR="63500" marT="63500" marB="63500">
                    <a:solidFill>
                      <a:schemeClr val="accent3"/>
                    </a:solidFill>
                  </a:tcPr>
                </a:tc>
                <a:extLst>
                  <a:ext uri="{0D108BD9-81ED-4DB2-BD59-A6C34878D82A}">
                    <a16:rowId xmlns:a16="http://schemas.microsoft.com/office/drawing/2014/main" val="10000"/>
                  </a:ext>
                </a:extLst>
              </a:tr>
              <a:tr h="819250">
                <a:tc>
                  <a:txBody>
                    <a:bodyPr/>
                    <a:lstStyle/>
                    <a:p>
                      <a:pPr marL="0" lvl="0" indent="0" algn="l" rtl="0">
                        <a:lnSpc>
                          <a:spcPct val="115000"/>
                        </a:lnSpc>
                        <a:spcBef>
                          <a:spcPts val="0"/>
                        </a:spcBef>
                        <a:spcAft>
                          <a:spcPts val="0"/>
                        </a:spcAft>
                        <a:buNone/>
                      </a:pPr>
                      <a:r>
                        <a:rPr lang="no-NO" b="1"/>
                        <a:t>Know your data</a:t>
                      </a:r>
                      <a:endParaRPr/>
                    </a:p>
                  </a:txBody>
                  <a:tcPr marL="63500" marR="63500" marT="63500" marB="63500">
                    <a:solidFill>
                      <a:schemeClr val="accent3"/>
                    </a:solidFill>
                  </a:tcPr>
                </a:tc>
                <a:tc>
                  <a:txBody>
                    <a:bodyPr/>
                    <a:lstStyle/>
                    <a:p>
                      <a:pPr marL="0" lvl="0" indent="0" algn="l" rtl="0">
                        <a:lnSpc>
                          <a:spcPct val="115000"/>
                        </a:lnSpc>
                        <a:spcBef>
                          <a:spcPts val="0"/>
                        </a:spcBef>
                        <a:spcAft>
                          <a:spcPts val="0"/>
                        </a:spcAft>
                        <a:buNone/>
                      </a:pPr>
                      <a:r>
                        <a:rPr lang="no-NO" sz="1600" dirty="0"/>
                        <a:t>Relatively high degree of sensitivity. Unintended exposure of personal data would involve a high risk for the rights and freedoms of the participants. </a:t>
                      </a:r>
                      <a:r>
                        <a:rPr lang="no-NO" sz="1600" dirty="0">
                          <a:solidFill>
                            <a:schemeClr val="dk1"/>
                          </a:solidFill>
                        </a:rPr>
                        <a:t>Discuss your plans for publication and re-use early in the process with your research support and/or Data Protection Officer. Assess risks, if necessary in a DPIA.</a:t>
                      </a:r>
                      <a:endParaRPr sz="1600" dirty="0"/>
                    </a:p>
                  </a:txBody>
                  <a:tcPr marL="63500" marR="63500" marT="63500" marB="63500"/>
                </a:tc>
                <a:extLst>
                  <a:ext uri="{0D108BD9-81ED-4DB2-BD59-A6C34878D82A}">
                    <a16:rowId xmlns:a16="http://schemas.microsoft.com/office/drawing/2014/main" val="10001"/>
                  </a:ext>
                </a:extLst>
              </a:tr>
              <a:tr h="586025">
                <a:tc>
                  <a:txBody>
                    <a:bodyPr/>
                    <a:lstStyle/>
                    <a:p>
                      <a:pPr marL="0" lvl="0" indent="0" algn="l" rtl="0">
                        <a:lnSpc>
                          <a:spcPct val="115000"/>
                        </a:lnSpc>
                        <a:spcBef>
                          <a:spcPts val="0"/>
                        </a:spcBef>
                        <a:spcAft>
                          <a:spcPts val="0"/>
                        </a:spcAft>
                        <a:buNone/>
                      </a:pPr>
                      <a:r>
                        <a:rPr lang="no-NO" b="1"/>
                        <a:t>Anonymisation</a:t>
                      </a:r>
                      <a:endParaRPr/>
                    </a:p>
                  </a:txBody>
                  <a:tcPr marL="63500" marR="63500" marT="63500" marB="63500">
                    <a:solidFill>
                      <a:schemeClr val="accent3"/>
                    </a:solidFill>
                  </a:tcPr>
                </a:tc>
                <a:tc>
                  <a:txBody>
                    <a:bodyPr/>
                    <a:lstStyle/>
                    <a:p>
                      <a:pPr marL="0" marR="191999" lvl="0" indent="0" algn="l" rtl="0">
                        <a:lnSpc>
                          <a:spcPct val="115000"/>
                        </a:lnSpc>
                        <a:spcBef>
                          <a:spcPts val="0"/>
                        </a:spcBef>
                        <a:spcAft>
                          <a:spcPts val="0"/>
                        </a:spcAft>
                        <a:buNone/>
                      </a:pPr>
                      <a:r>
                        <a:rPr lang="no-NO" sz="1600"/>
                        <a:t>Anonymisation techniques can be applied without compromising data quality too much. Minimal risk of re-identification after anonymization</a:t>
                      </a:r>
                      <a:endParaRPr sz="1600"/>
                    </a:p>
                  </a:txBody>
                  <a:tcPr marL="63500" marR="63500" marT="63500" marB="63500"/>
                </a:tc>
                <a:extLst>
                  <a:ext uri="{0D108BD9-81ED-4DB2-BD59-A6C34878D82A}">
                    <a16:rowId xmlns:a16="http://schemas.microsoft.com/office/drawing/2014/main" val="10002"/>
                  </a:ext>
                </a:extLst>
              </a:tr>
              <a:tr h="581300">
                <a:tc>
                  <a:txBody>
                    <a:bodyPr/>
                    <a:lstStyle/>
                    <a:p>
                      <a:pPr marL="0" lvl="0" indent="0" algn="l" rtl="0">
                        <a:lnSpc>
                          <a:spcPct val="115000"/>
                        </a:lnSpc>
                        <a:spcBef>
                          <a:spcPts val="0"/>
                        </a:spcBef>
                        <a:spcAft>
                          <a:spcPts val="0"/>
                        </a:spcAft>
                        <a:buNone/>
                      </a:pPr>
                      <a:r>
                        <a:rPr lang="no-NO" b="1"/>
                        <a:t>FAIR</a:t>
                      </a:r>
                      <a:endParaRPr/>
                    </a:p>
                  </a:txBody>
                  <a:tcPr marL="63500" marR="63500" marT="63500" marB="63500">
                    <a:solidFill>
                      <a:schemeClr val="accent3"/>
                    </a:solidFill>
                  </a:tcPr>
                </a:tc>
                <a:tc>
                  <a:txBody>
                    <a:bodyPr/>
                    <a:lstStyle/>
                    <a:p>
                      <a:pPr marL="0" lvl="0" indent="0" algn="l" rtl="0">
                        <a:spcBef>
                          <a:spcPts val="0"/>
                        </a:spcBef>
                        <a:spcAft>
                          <a:spcPts val="0"/>
                        </a:spcAft>
                        <a:buNone/>
                      </a:pPr>
                      <a:r>
                        <a:rPr lang="no-NO" sz="1600"/>
                        <a:t>Make the data findable and interoperable: Strike a balance between rich metadata and anonymity. Make the data accessible and re-usable: Clear licensing and rules on access controls.   </a:t>
                      </a:r>
                      <a:endParaRPr sz="1600"/>
                    </a:p>
                  </a:txBody>
                  <a:tcPr marL="63500" marR="63500" marT="63500" marB="63500"/>
                </a:tc>
                <a:extLst>
                  <a:ext uri="{0D108BD9-81ED-4DB2-BD59-A6C34878D82A}">
                    <a16:rowId xmlns:a16="http://schemas.microsoft.com/office/drawing/2014/main" val="10003"/>
                  </a:ext>
                </a:extLst>
              </a:tr>
              <a:tr h="581300">
                <a:tc>
                  <a:txBody>
                    <a:bodyPr/>
                    <a:lstStyle/>
                    <a:p>
                      <a:pPr marL="0" lvl="0" indent="0" algn="l" rtl="0">
                        <a:lnSpc>
                          <a:spcPct val="115000"/>
                        </a:lnSpc>
                        <a:spcBef>
                          <a:spcPts val="0"/>
                        </a:spcBef>
                        <a:spcAft>
                          <a:spcPts val="0"/>
                        </a:spcAft>
                        <a:buNone/>
                      </a:pPr>
                      <a:r>
                        <a:rPr lang="no-NO" b="1"/>
                        <a:t>Information</a:t>
                      </a:r>
                      <a:endParaRPr/>
                    </a:p>
                  </a:txBody>
                  <a:tcPr marL="63500" marR="63500" marT="63500" marB="63500">
                    <a:solidFill>
                      <a:schemeClr val="accent3"/>
                    </a:solidFill>
                  </a:tcPr>
                </a:tc>
                <a:tc>
                  <a:txBody>
                    <a:bodyPr/>
                    <a:lstStyle/>
                    <a:p>
                      <a:pPr marL="0" lvl="0" indent="0" algn="l" rtl="0">
                        <a:spcBef>
                          <a:spcPts val="0"/>
                        </a:spcBef>
                        <a:spcAft>
                          <a:spcPts val="0"/>
                        </a:spcAft>
                        <a:buNone/>
                      </a:pPr>
                      <a:r>
                        <a:rPr lang="no-NO" sz="1600"/>
                        <a:t>Inform your participants about the publication, but let them know that the final dataset will be anonymised and no longer subject to GDPR (e.g., deletion no longer possible)</a:t>
                      </a:r>
                      <a:endParaRPr sz="1600"/>
                    </a:p>
                  </a:txBody>
                  <a:tcPr marL="63500" marR="63500" marT="63500" marB="63500"/>
                </a:tc>
                <a:extLst>
                  <a:ext uri="{0D108BD9-81ED-4DB2-BD59-A6C34878D82A}">
                    <a16:rowId xmlns:a16="http://schemas.microsoft.com/office/drawing/2014/main" val="10004"/>
                  </a:ext>
                </a:extLst>
              </a:tr>
              <a:tr h="581300">
                <a:tc>
                  <a:txBody>
                    <a:bodyPr/>
                    <a:lstStyle/>
                    <a:p>
                      <a:pPr marL="0" lvl="0" indent="0" algn="l" rtl="0">
                        <a:lnSpc>
                          <a:spcPct val="115000"/>
                        </a:lnSpc>
                        <a:spcBef>
                          <a:spcPts val="0"/>
                        </a:spcBef>
                        <a:spcAft>
                          <a:spcPts val="0"/>
                        </a:spcAft>
                        <a:buNone/>
                      </a:pPr>
                      <a:r>
                        <a:rPr lang="no-NO" b="1"/>
                        <a:t>Know where the data is</a:t>
                      </a:r>
                      <a:endParaRPr/>
                    </a:p>
                  </a:txBody>
                  <a:tcPr marL="63500" marR="63500" marT="63500" marB="63500">
                    <a:solidFill>
                      <a:schemeClr val="accent3"/>
                    </a:solidFill>
                  </a:tcPr>
                </a:tc>
                <a:tc>
                  <a:txBody>
                    <a:bodyPr/>
                    <a:lstStyle/>
                    <a:p>
                      <a:pPr marL="0" lvl="0" indent="0" algn="l" rtl="0">
                        <a:spcBef>
                          <a:spcPts val="0"/>
                        </a:spcBef>
                        <a:spcAft>
                          <a:spcPts val="0"/>
                        </a:spcAft>
                        <a:buNone/>
                      </a:pPr>
                      <a:r>
                        <a:rPr lang="no-NO" sz="1600" dirty="0"/>
                        <a:t>Clear and detailed Data Processor Agreements with survey agencies. Ensure secure data storage </a:t>
                      </a:r>
                      <a:endParaRPr sz="1600" dirty="0"/>
                    </a:p>
                  </a:txBody>
                  <a:tcPr marL="63500" marR="63500" marT="63500" marB="63500"/>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4"/>
          <p:cNvSpPr txBox="1">
            <a:spLocks noGrp="1"/>
          </p:cNvSpPr>
          <p:nvPr>
            <p:ph type="title"/>
          </p:nvPr>
        </p:nvSpPr>
        <p:spPr>
          <a:xfrm>
            <a:off x="838200" y="78325"/>
            <a:ext cx="10515600" cy="1325700"/>
          </a:xfrm>
          <a:prstGeom prst="rect">
            <a:avLst/>
          </a:prstGeom>
        </p:spPr>
        <p:txBody>
          <a:bodyPr spcFirstLastPara="1" wrap="square" lIns="91425" tIns="45700" rIns="91425" bIns="45700" anchor="ctr" anchorCtr="0">
            <a:normAutofit fontScale="90000"/>
          </a:bodyPr>
          <a:lstStyle/>
          <a:p>
            <a:pPr marL="0" lvl="0" indent="0" algn="l" rtl="0">
              <a:lnSpc>
                <a:spcPct val="115000"/>
              </a:lnSpc>
              <a:spcBef>
                <a:spcPts val="1400"/>
              </a:spcBef>
              <a:spcAft>
                <a:spcPts val="400"/>
              </a:spcAft>
              <a:buClr>
                <a:schemeClr val="dk1"/>
              </a:buClr>
              <a:buSzPts val="990"/>
              <a:buFont typeface="Arial"/>
              <a:buNone/>
            </a:pPr>
            <a:r>
              <a:rPr lang="no-NO" dirty="0"/>
              <a:t>Resolving the Tensions: Practical Strategies</a:t>
            </a:r>
            <a:endParaRPr dirty="0"/>
          </a:p>
        </p:txBody>
      </p:sp>
      <p:sp>
        <p:nvSpPr>
          <p:cNvPr id="173" name="Google Shape;173;p34"/>
          <p:cNvSpPr txBox="1">
            <a:spLocks noGrp="1"/>
          </p:cNvSpPr>
          <p:nvPr>
            <p:ph type="body" idx="1"/>
          </p:nvPr>
        </p:nvSpPr>
        <p:spPr>
          <a:xfrm>
            <a:off x="701575" y="1074380"/>
            <a:ext cx="10564800" cy="990600"/>
          </a:xfrm>
          <a:prstGeom prst="rect">
            <a:avLst/>
          </a:prstGeom>
        </p:spPr>
        <p:txBody>
          <a:bodyPr spcFirstLastPara="1" wrap="square" lIns="91425" tIns="45700" rIns="91425" bIns="45700" anchor="t" anchorCtr="0">
            <a:normAutofit fontScale="25000" lnSpcReduction="20000"/>
          </a:bodyPr>
          <a:lstStyle/>
          <a:p>
            <a:pPr marL="0" lvl="0" indent="0" algn="l" rtl="0">
              <a:lnSpc>
                <a:spcPct val="115000"/>
              </a:lnSpc>
              <a:spcBef>
                <a:spcPts val="1200"/>
              </a:spcBef>
              <a:spcAft>
                <a:spcPts val="0"/>
              </a:spcAft>
              <a:buNone/>
            </a:pPr>
            <a:r>
              <a:rPr lang="no-NO" sz="6600" b="1" dirty="0"/>
              <a:t>Case II:</a:t>
            </a:r>
            <a:endParaRPr sz="6600" b="1" dirty="0"/>
          </a:p>
          <a:p>
            <a:pPr marL="0" lvl="0" indent="0" algn="l" rtl="0">
              <a:lnSpc>
                <a:spcPct val="115000"/>
              </a:lnSpc>
              <a:spcBef>
                <a:spcPts val="1200"/>
              </a:spcBef>
              <a:spcAft>
                <a:spcPts val="0"/>
              </a:spcAft>
              <a:buNone/>
            </a:pPr>
            <a:r>
              <a:rPr lang="no-NO" sz="6600" dirty="0"/>
              <a:t>Qualitative research, interviews with public officials. Topic is not particularly sensitive, but anonymization is difficult.</a:t>
            </a:r>
            <a:endParaRPr sz="6600" dirty="0"/>
          </a:p>
          <a:p>
            <a:pPr marL="457200" lvl="0" indent="0" algn="l" rtl="0">
              <a:lnSpc>
                <a:spcPct val="115000"/>
              </a:lnSpc>
              <a:spcBef>
                <a:spcPts val="1200"/>
              </a:spcBef>
              <a:spcAft>
                <a:spcPts val="0"/>
              </a:spcAft>
              <a:buNone/>
            </a:pPr>
            <a:endParaRPr sz="1800" dirty="0"/>
          </a:p>
          <a:p>
            <a:pPr marL="457200" lvl="0" indent="0" algn="l" rtl="0">
              <a:lnSpc>
                <a:spcPct val="115000"/>
              </a:lnSpc>
              <a:spcBef>
                <a:spcPts val="1200"/>
              </a:spcBef>
              <a:spcAft>
                <a:spcPts val="1200"/>
              </a:spcAft>
              <a:buNone/>
            </a:pPr>
            <a:r>
              <a:rPr lang="no-NO" sz="1800" b="1" dirty="0"/>
              <a:t> </a:t>
            </a:r>
            <a:endParaRPr sz="1800" b="1" dirty="0"/>
          </a:p>
        </p:txBody>
      </p:sp>
      <p:graphicFrame>
        <p:nvGraphicFramePr>
          <p:cNvPr id="174" name="Google Shape;174;p34"/>
          <p:cNvGraphicFramePr/>
          <p:nvPr>
            <p:extLst>
              <p:ext uri="{D42A27DB-BD31-4B8C-83A1-F6EECF244321}">
                <p14:modId xmlns:p14="http://schemas.microsoft.com/office/powerpoint/2010/main" val="3006773811"/>
              </p:ext>
            </p:extLst>
          </p:nvPr>
        </p:nvGraphicFramePr>
        <p:xfrm>
          <a:off x="741680" y="2237700"/>
          <a:ext cx="10706370" cy="3925989"/>
        </p:xfrm>
        <a:graphic>
          <a:graphicData uri="http://schemas.openxmlformats.org/drawingml/2006/table">
            <a:tbl>
              <a:tblPr>
                <a:noFill/>
                <a:tableStyleId>{8B96CC9F-60A5-4901-8FD4-9F02AEDD8090}</a:tableStyleId>
              </a:tblPr>
              <a:tblGrid>
                <a:gridCol w="2196395">
                  <a:extLst>
                    <a:ext uri="{9D8B030D-6E8A-4147-A177-3AD203B41FA5}">
                      <a16:colId xmlns:a16="http://schemas.microsoft.com/office/drawing/2014/main" val="20000"/>
                    </a:ext>
                  </a:extLst>
                </a:gridCol>
                <a:gridCol w="8509975">
                  <a:extLst>
                    <a:ext uri="{9D8B030D-6E8A-4147-A177-3AD203B41FA5}">
                      <a16:colId xmlns:a16="http://schemas.microsoft.com/office/drawing/2014/main" val="20001"/>
                    </a:ext>
                  </a:extLst>
                </a:gridCol>
              </a:tblGrid>
              <a:tr h="179250">
                <a:tc>
                  <a:txBody>
                    <a:bodyPr/>
                    <a:lstStyle/>
                    <a:p>
                      <a:pPr marL="0" lvl="0" indent="0" algn="ctr" rtl="0">
                        <a:lnSpc>
                          <a:spcPct val="115000"/>
                        </a:lnSpc>
                        <a:spcBef>
                          <a:spcPts val="0"/>
                        </a:spcBef>
                        <a:spcAft>
                          <a:spcPts val="0"/>
                        </a:spcAft>
                        <a:buNone/>
                      </a:pPr>
                      <a:endParaRPr sz="500"/>
                    </a:p>
                  </a:txBody>
                  <a:tcPr marL="63500" marR="63500" marT="63500" marB="63500">
                    <a:solidFill>
                      <a:schemeClr val="accent3"/>
                    </a:solidFill>
                  </a:tcPr>
                </a:tc>
                <a:tc>
                  <a:txBody>
                    <a:bodyPr/>
                    <a:lstStyle/>
                    <a:p>
                      <a:pPr marL="0" lvl="0" indent="0" algn="ctr" rtl="0">
                        <a:lnSpc>
                          <a:spcPct val="115000"/>
                        </a:lnSpc>
                        <a:spcBef>
                          <a:spcPts val="0"/>
                        </a:spcBef>
                        <a:spcAft>
                          <a:spcPts val="0"/>
                        </a:spcAft>
                        <a:buNone/>
                      </a:pPr>
                      <a:endParaRPr sz="900"/>
                    </a:p>
                  </a:txBody>
                  <a:tcPr marL="63500" marR="63500" marT="63500" marB="63500">
                    <a:solidFill>
                      <a:schemeClr val="accent3"/>
                    </a:solidFill>
                  </a:tcPr>
                </a:tc>
                <a:extLst>
                  <a:ext uri="{0D108BD9-81ED-4DB2-BD59-A6C34878D82A}">
                    <a16:rowId xmlns:a16="http://schemas.microsoft.com/office/drawing/2014/main" val="10000"/>
                  </a:ext>
                </a:extLst>
              </a:tr>
              <a:tr h="617275">
                <a:tc>
                  <a:txBody>
                    <a:bodyPr/>
                    <a:lstStyle/>
                    <a:p>
                      <a:pPr marL="0" lvl="0" indent="0" algn="l" rtl="0">
                        <a:lnSpc>
                          <a:spcPct val="115000"/>
                        </a:lnSpc>
                        <a:spcBef>
                          <a:spcPts val="0"/>
                        </a:spcBef>
                        <a:spcAft>
                          <a:spcPts val="0"/>
                        </a:spcAft>
                        <a:buNone/>
                      </a:pPr>
                      <a:r>
                        <a:rPr lang="no-NO" b="1"/>
                        <a:t>Know your data</a:t>
                      </a:r>
                      <a:endParaRPr/>
                    </a:p>
                  </a:txBody>
                  <a:tcPr marL="63500" marR="63500" marT="63500" marB="63500">
                    <a:solidFill>
                      <a:schemeClr val="accent3"/>
                    </a:solidFill>
                  </a:tcPr>
                </a:tc>
                <a:tc>
                  <a:txBody>
                    <a:bodyPr/>
                    <a:lstStyle/>
                    <a:p>
                      <a:pPr marL="0" lvl="0" indent="0" algn="l" rtl="0">
                        <a:lnSpc>
                          <a:spcPct val="115000"/>
                        </a:lnSpc>
                        <a:spcBef>
                          <a:spcPts val="0"/>
                        </a:spcBef>
                        <a:spcAft>
                          <a:spcPts val="0"/>
                        </a:spcAft>
                        <a:buNone/>
                      </a:pPr>
                      <a:r>
                        <a:rPr lang="no-NO" sz="1600"/>
                        <a:t>Relatively low degree of sensitivity. </a:t>
                      </a:r>
                      <a:endParaRPr sz="1600"/>
                    </a:p>
                  </a:txBody>
                  <a:tcPr marL="63500" marR="63500" marT="63500" marB="63500"/>
                </a:tc>
                <a:extLst>
                  <a:ext uri="{0D108BD9-81ED-4DB2-BD59-A6C34878D82A}">
                    <a16:rowId xmlns:a16="http://schemas.microsoft.com/office/drawing/2014/main" val="10001"/>
                  </a:ext>
                </a:extLst>
              </a:tr>
              <a:tr h="617275">
                <a:tc>
                  <a:txBody>
                    <a:bodyPr/>
                    <a:lstStyle/>
                    <a:p>
                      <a:pPr marL="0" lvl="0" indent="0" algn="l" rtl="0">
                        <a:lnSpc>
                          <a:spcPct val="115000"/>
                        </a:lnSpc>
                        <a:spcBef>
                          <a:spcPts val="0"/>
                        </a:spcBef>
                        <a:spcAft>
                          <a:spcPts val="0"/>
                        </a:spcAft>
                        <a:buNone/>
                      </a:pPr>
                      <a:r>
                        <a:rPr lang="no-NO" b="1"/>
                        <a:t>Anonymisation</a:t>
                      </a:r>
                      <a:endParaRPr/>
                    </a:p>
                  </a:txBody>
                  <a:tcPr marL="63500" marR="63500" marT="63500" marB="63500">
                    <a:solidFill>
                      <a:schemeClr val="accent3"/>
                    </a:solidFill>
                  </a:tcPr>
                </a:tc>
                <a:tc>
                  <a:txBody>
                    <a:bodyPr/>
                    <a:lstStyle/>
                    <a:p>
                      <a:pPr marL="0" lvl="0" indent="0" algn="l" rtl="0">
                        <a:lnSpc>
                          <a:spcPct val="115000"/>
                        </a:lnSpc>
                        <a:spcBef>
                          <a:spcPts val="0"/>
                        </a:spcBef>
                        <a:spcAft>
                          <a:spcPts val="0"/>
                        </a:spcAft>
                        <a:buNone/>
                      </a:pPr>
                      <a:r>
                        <a:rPr lang="no-NO" sz="1600" dirty="0"/>
                        <a:t>Anonymization difficult due to the topic and position of the respondents. Anonymization would significantly reduce the re-use value of the material. Can pseudonymization reduce some of the risk?</a:t>
                      </a:r>
                      <a:endParaRPr sz="1600" dirty="0"/>
                    </a:p>
                  </a:txBody>
                  <a:tcPr marL="63500" marR="63500" marT="63500" marB="63500"/>
                </a:tc>
                <a:extLst>
                  <a:ext uri="{0D108BD9-81ED-4DB2-BD59-A6C34878D82A}">
                    <a16:rowId xmlns:a16="http://schemas.microsoft.com/office/drawing/2014/main" val="10002"/>
                  </a:ext>
                </a:extLst>
              </a:tr>
              <a:tr h="617275">
                <a:tc>
                  <a:txBody>
                    <a:bodyPr/>
                    <a:lstStyle/>
                    <a:p>
                      <a:pPr marL="0" lvl="0" indent="0" algn="l" rtl="0">
                        <a:lnSpc>
                          <a:spcPct val="115000"/>
                        </a:lnSpc>
                        <a:spcBef>
                          <a:spcPts val="0"/>
                        </a:spcBef>
                        <a:spcAft>
                          <a:spcPts val="0"/>
                        </a:spcAft>
                        <a:buNone/>
                      </a:pPr>
                      <a:r>
                        <a:rPr lang="no-NO" b="1"/>
                        <a:t>FAIR</a:t>
                      </a:r>
                      <a:endParaRPr/>
                    </a:p>
                  </a:txBody>
                  <a:tcPr marL="63500" marR="63500" marT="63500" marB="63500">
                    <a:solidFill>
                      <a:schemeClr val="accent3"/>
                    </a:solidFill>
                  </a:tcPr>
                </a:tc>
                <a:tc>
                  <a:txBody>
                    <a:bodyPr/>
                    <a:lstStyle/>
                    <a:p>
                      <a:pPr marL="0" lvl="0" indent="0" algn="l" rtl="0">
                        <a:spcBef>
                          <a:spcPts val="0"/>
                        </a:spcBef>
                        <a:spcAft>
                          <a:spcPts val="0"/>
                        </a:spcAft>
                        <a:buClr>
                          <a:schemeClr val="dk1"/>
                        </a:buClr>
                        <a:buSzPts val="1100"/>
                        <a:buFont typeface="Arial"/>
                        <a:buNone/>
                      </a:pPr>
                      <a:r>
                        <a:rPr lang="no-NO" sz="1600">
                          <a:solidFill>
                            <a:schemeClr val="dk1"/>
                          </a:solidFill>
                        </a:rPr>
                        <a:t>Make the data findable and interoperable: Strike a balance between rich metadata and anonymity. Make the data accessible and re-usable: Clear licensing. Access controls particularly important for identifying material. Track and document re-use.   </a:t>
                      </a:r>
                      <a:endParaRPr sz="1600"/>
                    </a:p>
                  </a:txBody>
                  <a:tcPr marL="63500" marR="63500" marT="63500" marB="63500"/>
                </a:tc>
                <a:extLst>
                  <a:ext uri="{0D108BD9-81ED-4DB2-BD59-A6C34878D82A}">
                    <a16:rowId xmlns:a16="http://schemas.microsoft.com/office/drawing/2014/main" val="10003"/>
                  </a:ext>
                </a:extLst>
              </a:tr>
              <a:tr h="617275">
                <a:tc>
                  <a:txBody>
                    <a:bodyPr/>
                    <a:lstStyle/>
                    <a:p>
                      <a:pPr marL="0" lvl="0" indent="0" algn="l" rtl="0">
                        <a:lnSpc>
                          <a:spcPct val="115000"/>
                        </a:lnSpc>
                        <a:spcBef>
                          <a:spcPts val="0"/>
                        </a:spcBef>
                        <a:spcAft>
                          <a:spcPts val="0"/>
                        </a:spcAft>
                        <a:buNone/>
                      </a:pPr>
                      <a:r>
                        <a:rPr lang="no-NO" b="1"/>
                        <a:t>Information</a:t>
                      </a:r>
                      <a:endParaRPr/>
                    </a:p>
                  </a:txBody>
                  <a:tcPr marL="63500" marR="63500" marT="63500" marB="63500">
                    <a:solidFill>
                      <a:schemeClr val="accent3"/>
                    </a:solidFill>
                  </a:tcPr>
                </a:tc>
                <a:tc>
                  <a:txBody>
                    <a:bodyPr/>
                    <a:lstStyle/>
                    <a:p>
                      <a:pPr marL="0" lvl="0" indent="0" algn="l" rtl="0">
                        <a:spcBef>
                          <a:spcPts val="0"/>
                        </a:spcBef>
                        <a:spcAft>
                          <a:spcPts val="0"/>
                        </a:spcAft>
                        <a:buNone/>
                      </a:pPr>
                      <a:r>
                        <a:rPr lang="no-NO" sz="1600"/>
                        <a:t>Good information about the possibility to be identified in the material. Gather consent for publication!</a:t>
                      </a:r>
                      <a:endParaRPr sz="1600"/>
                    </a:p>
                  </a:txBody>
                  <a:tcPr marL="63500" marR="63500" marT="63500" marB="63500"/>
                </a:tc>
                <a:extLst>
                  <a:ext uri="{0D108BD9-81ED-4DB2-BD59-A6C34878D82A}">
                    <a16:rowId xmlns:a16="http://schemas.microsoft.com/office/drawing/2014/main" val="10004"/>
                  </a:ext>
                </a:extLst>
              </a:tr>
              <a:tr h="617275">
                <a:tc>
                  <a:txBody>
                    <a:bodyPr/>
                    <a:lstStyle/>
                    <a:p>
                      <a:pPr marL="0" lvl="0" indent="0" algn="l" rtl="0">
                        <a:lnSpc>
                          <a:spcPct val="115000"/>
                        </a:lnSpc>
                        <a:spcBef>
                          <a:spcPts val="0"/>
                        </a:spcBef>
                        <a:spcAft>
                          <a:spcPts val="0"/>
                        </a:spcAft>
                        <a:buNone/>
                      </a:pPr>
                      <a:r>
                        <a:rPr lang="no-NO" b="1" dirty="0"/>
                        <a:t>Know where the data is</a:t>
                      </a:r>
                      <a:endParaRPr dirty="0"/>
                    </a:p>
                  </a:txBody>
                  <a:tcPr marL="63500" marR="63500" marT="63500" marB="63500">
                    <a:solidFill>
                      <a:schemeClr val="accent3"/>
                    </a:solidFill>
                  </a:tcPr>
                </a:tc>
                <a:tc>
                  <a:txBody>
                    <a:bodyPr/>
                    <a:lstStyle/>
                    <a:p>
                      <a:pPr marL="0" lvl="0" indent="0" algn="l" rtl="0">
                        <a:spcBef>
                          <a:spcPts val="0"/>
                        </a:spcBef>
                        <a:spcAft>
                          <a:spcPts val="0"/>
                        </a:spcAft>
                        <a:buNone/>
                      </a:pPr>
                      <a:r>
                        <a:rPr lang="no-NO" sz="1600" dirty="0"/>
                        <a:t>The data is subject to GDPR during its entire lifecycle. Facilitate and monitor requests by data subjects. Ensure integrity and confidentiality.  </a:t>
                      </a:r>
                      <a:endParaRPr sz="1600" dirty="0"/>
                    </a:p>
                  </a:txBody>
                  <a:tcPr marL="63500" marR="63500" marT="63500" marB="63500"/>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5"/>
          <p:cNvSpPr txBox="1">
            <a:spLocks noGrp="1"/>
          </p:cNvSpPr>
          <p:nvPr>
            <p:ph type="ctrTitle"/>
          </p:nvPr>
        </p:nvSpPr>
        <p:spPr>
          <a:xfrm>
            <a:off x="1524000" y="610747"/>
            <a:ext cx="9144000" cy="17928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lt1"/>
              </a:buClr>
              <a:buSzPts val="7200"/>
              <a:buFont typeface="Arial"/>
              <a:buNone/>
            </a:pPr>
            <a:r>
              <a:rPr lang="no-NO" sz="3100"/>
              <a:t>Balancing FAIR Data Principles with GDPR Compliance: </a:t>
            </a:r>
            <a:endParaRPr sz="3100"/>
          </a:p>
          <a:p>
            <a:pPr marL="0" lvl="0" indent="0" algn="ctr" rtl="0">
              <a:lnSpc>
                <a:spcPct val="90000"/>
              </a:lnSpc>
              <a:spcBef>
                <a:spcPts val="0"/>
              </a:spcBef>
              <a:spcAft>
                <a:spcPts val="0"/>
              </a:spcAft>
              <a:buClr>
                <a:schemeClr val="lt1"/>
              </a:buClr>
              <a:buSzPts val="7200"/>
              <a:buFont typeface="Arial"/>
              <a:buNone/>
            </a:pPr>
            <a:r>
              <a:rPr lang="no-NO" sz="3100"/>
              <a:t>A Guide for Researchers</a:t>
            </a:r>
            <a:endParaRPr sz="3100"/>
          </a:p>
        </p:txBody>
      </p:sp>
      <p:sp>
        <p:nvSpPr>
          <p:cNvPr id="180" name="Google Shape;180;p35"/>
          <p:cNvSpPr txBox="1">
            <a:spLocks noGrp="1"/>
          </p:cNvSpPr>
          <p:nvPr>
            <p:ph type="ctrTitle"/>
          </p:nvPr>
        </p:nvSpPr>
        <p:spPr>
          <a:xfrm>
            <a:off x="1643750" y="2276272"/>
            <a:ext cx="9144000" cy="17928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lt1"/>
              </a:buClr>
              <a:buSzPts val="7200"/>
              <a:buFont typeface="Arial"/>
              <a:buNone/>
            </a:pPr>
            <a:r>
              <a:rPr lang="no-NO" sz="3700"/>
              <a:t>Thank you!</a:t>
            </a:r>
            <a:endParaRPr sz="3700"/>
          </a:p>
        </p:txBody>
      </p:sp>
      <p:sp>
        <p:nvSpPr>
          <p:cNvPr id="181" name="Google Shape;181;p35"/>
          <p:cNvSpPr txBox="1">
            <a:spLocks noGrp="1"/>
          </p:cNvSpPr>
          <p:nvPr>
            <p:ph type="subTitle" idx="1"/>
          </p:nvPr>
        </p:nvSpPr>
        <p:spPr>
          <a:xfrm>
            <a:off x="1128350" y="5029838"/>
            <a:ext cx="9784200" cy="722700"/>
          </a:xfrm>
          <a:prstGeom prst="rect">
            <a:avLst/>
          </a:prstGeom>
          <a:noFill/>
          <a:ln>
            <a:noFill/>
          </a:ln>
        </p:spPr>
        <p:txBody>
          <a:bodyPr spcFirstLastPara="1" wrap="square" lIns="91425" tIns="45700" rIns="91425" bIns="45700" anchor="t" anchorCtr="0">
            <a:normAutofit fontScale="25000" lnSpcReduction="20000"/>
          </a:bodyPr>
          <a:lstStyle/>
          <a:p>
            <a:pPr marL="0" lvl="0" indent="0" algn="ctr" rtl="0">
              <a:lnSpc>
                <a:spcPct val="100000"/>
              </a:lnSpc>
              <a:spcBef>
                <a:spcPts val="0"/>
              </a:spcBef>
              <a:spcAft>
                <a:spcPts val="0"/>
              </a:spcAft>
              <a:buClr>
                <a:schemeClr val="lt1"/>
              </a:buClr>
              <a:buSzPct val="38206"/>
              <a:buNone/>
            </a:pPr>
            <a:r>
              <a:rPr lang="no-NO" sz="6281"/>
              <a:t>Irena Vipavc Brvar</a:t>
            </a:r>
            <a:r>
              <a:rPr lang="no-NO" sz="5650"/>
              <a:t> [irena.vipavc@fdv.uni-lj.si]</a:t>
            </a:r>
            <a:endParaRPr sz="5650"/>
          </a:p>
          <a:p>
            <a:pPr marL="0" lvl="0" indent="0" algn="ctr" rtl="0">
              <a:lnSpc>
                <a:spcPct val="100000"/>
              </a:lnSpc>
              <a:spcBef>
                <a:spcPts val="0"/>
              </a:spcBef>
              <a:spcAft>
                <a:spcPts val="0"/>
              </a:spcAft>
              <a:buClr>
                <a:schemeClr val="lt1"/>
              </a:buClr>
              <a:buSzPct val="38448"/>
              <a:buNone/>
            </a:pPr>
            <a:r>
              <a:rPr lang="no-NO" sz="6242"/>
              <a:t>Simon Gogl</a:t>
            </a:r>
            <a:r>
              <a:rPr lang="no-NO" sz="5650"/>
              <a:t> [simon.gogl@sikt.no]</a:t>
            </a:r>
            <a:endParaRPr sz="5650"/>
          </a:p>
          <a:p>
            <a:pPr marL="0" lvl="0" indent="0" algn="l" rtl="0">
              <a:lnSpc>
                <a:spcPct val="100000"/>
              </a:lnSpc>
              <a:spcBef>
                <a:spcPts val="0"/>
              </a:spcBef>
              <a:spcAft>
                <a:spcPts val="0"/>
              </a:spcAft>
              <a:buClr>
                <a:schemeClr val="lt1"/>
              </a:buClr>
              <a:buSzPct val="73846"/>
              <a:buNone/>
            </a:pPr>
            <a:endParaRPr sz="3250"/>
          </a:p>
          <a:p>
            <a:pPr marL="0" lvl="0" indent="0" algn="l" rtl="0">
              <a:lnSpc>
                <a:spcPct val="90000"/>
              </a:lnSpc>
              <a:spcBef>
                <a:spcPts val="0"/>
              </a:spcBef>
              <a:spcAft>
                <a:spcPts val="0"/>
              </a:spcAft>
              <a:buClr>
                <a:schemeClr val="lt1"/>
              </a:buClr>
              <a:buSzPct val="100000"/>
              <a:buNone/>
            </a:pPr>
            <a:endParaRPr/>
          </a:p>
          <a:p>
            <a:pPr marL="0" lvl="0" indent="0" algn="l" rtl="0">
              <a:lnSpc>
                <a:spcPct val="90000"/>
              </a:lnSpc>
              <a:spcBef>
                <a:spcPts val="1000"/>
              </a:spcBef>
              <a:spcAft>
                <a:spcPts val="0"/>
              </a:spcAft>
              <a:buClr>
                <a:schemeClr val="lt1"/>
              </a:buClr>
              <a:buSzPct val="74681"/>
              <a:buNone/>
            </a:pPr>
            <a:endParaRPr sz="3213"/>
          </a:p>
          <a:p>
            <a:pPr marL="0" lvl="0" indent="0" algn="l" rtl="0">
              <a:lnSpc>
                <a:spcPct val="90000"/>
              </a:lnSpc>
              <a:spcBef>
                <a:spcPts val="1000"/>
              </a:spcBef>
              <a:spcAft>
                <a:spcPts val="0"/>
              </a:spcAft>
              <a:buClr>
                <a:schemeClr val="lt1"/>
              </a:buClr>
              <a:buSzPct val="100000"/>
              <a:buNone/>
            </a:pPr>
            <a:endParaRPr/>
          </a:p>
        </p:txBody>
      </p:sp>
    </p:spTree>
  </p:cSld>
  <p:clrMapOvr>
    <a:masterClrMapping/>
  </p:clrMapOvr>
</p:sld>
</file>

<file path=ppt/theme/theme1.xml><?xml version="1.0" encoding="utf-8"?>
<a:theme xmlns:a="http://schemas.openxmlformats.org/drawingml/2006/main" name="Egendefinert utforming">
  <a:themeElements>
    <a:clrScheme name="Egendefinert 1">
      <a:dk1>
        <a:srgbClr val="000000"/>
      </a:dk1>
      <a:lt1>
        <a:srgbClr val="FFFFFF"/>
      </a:lt1>
      <a:dk2>
        <a:srgbClr val="44546A"/>
      </a:dk2>
      <a:lt2>
        <a:srgbClr val="E7E6E6"/>
      </a:lt2>
      <a:accent1>
        <a:srgbClr val="0D0034"/>
      </a:accent1>
      <a:accent2>
        <a:srgbClr val="6D4BFA"/>
      </a:accent2>
      <a:accent3>
        <a:srgbClr val="B4B0FA"/>
      </a:accent3>
      <a:accent4>
        <a:srgbClr val="F2F1FC"/>
      </a:accent4>
      <a:accent5>
        <a:srgbClr val="0DBB82"/>
      </a:accent5>
      <a:accent6>
        <a:srgbClr val="A2E3BE"/>
      </a:accent6>
      <a:hlink>
        <a:srgbClr val="6D4BFA"/>
      </a:hlink>
      <a:folHlink>
        <a:srgbClr val="FF946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tema">
  <a:themeElements>
    <a:clrScheme name="Egendefinert 1">
      <a:dk1>
        <a:srgbClr val="000000"/>
      </a:dk1>
      <a:lt1>
        <a:srgbClr val="FFFFFF"/>
      </a:lt1>
      <a:dk2>
        <a:srgbClr val="44546A"/>
      </a:dk2>
      <a:lt2>
        <a:srgbClr val="E7E6E6"/>
      </a:lt2>
      <a:accent1>
        <a:srgbClr val="0D0034"/>
      </a:accent1>
      <a:accent2>
        <a:srgbClr val="6D4BFA"/>
      </a:accent2>
      <a:accent3>
        <a:srgbClr val="B4B0FA"/>
      </a:accent3>
      <a:accent4>
        <a:srgbClr val="F2F1FC"/>
      </a:accent4>
      <a:accent5>
        <a:srgbClr val="0DBB82"/>
      </a:accent5>
      <a:accent6>
        <a:srgbClr val="A2E3BE"/>
      </a:accent6>
      <a:hlink>
        <a:srgbClr val="6D4BFA"/>
      </a:hlink>
      <a:folHlink>
        <a:srgbClr val="FF946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1977</Words>
  <Application>Microsoft Office PowerPoint</Application>
  <PresentationFormat>Widescreen</PresentationFormat>
  <Paragraphs>161</Paragraphs>
  <Slides>12</Slides>
  <Notes>12</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12</vt:i4>
      </vt:variant>
    </vt:vector>
  </HeadingPairs>
  <TitlesOfParts>
    <vt:vector size="16" baseType="lpstr">
      <vt:lpstr>Arial</vt:lpstr>
      <vt:lpstr>Calibri</vt:lpstr>
      <vt:lpstr>Egendefinert utforming</vt:lpstr>
      <vt:lpstr>Office-tema</vt:lpstr>
      <vt:lpstr>Balancing FAIR Data Principles with GDPR Compliance:  A Guide for Researchers</vt:lpstr>
      <vt:lpstr>PowerPoint Presentation</vt:lpstr>
      <vt:lpstr>Principles and / or legal obligations</vt:lpstr>
      <vt:lpstr>FAIR principles</vt:lpstr>
      <vt:lpstr>PowerPoint Presentation</vt:lpstr>
      <vt:lpstr>Linking</vt:lpstr>
      <vt:lpstr>Synergies – Where GDPR and FAIR Align</vt:lpstr>
      <vt:lpstr>Tensions – Where GDPR and FAIR Conflict</vt:lpstr>
      <vt:lpstr>Resolving the Tensions: A step-by-step guide</vt:lpstr>
      <vt:lpstr>Resolving the Tensions: Practical Strategies</vt:lpstr>
      <vt:lpstr>Resolving the Tensions: Practical Strategies</vt:lpstr>
      <vt:lpstr>Balancing FAIR Data Principles with GDPR Compliance:  A Guide for Researchers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Vipavc Brvar, Irena</cp:lastModifiedBy>
  <cp:revision>1</cp:revision>
  <dcterms:modified xsi:type="dcterms:W3CDTF">2025-06-02T21:17:17Z</dcterms:modified>
</cp:coreProperties>
</file>