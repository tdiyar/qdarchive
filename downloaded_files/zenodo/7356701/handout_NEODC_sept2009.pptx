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"/>
  </p:notesMasterIdLst>
  <p:handoutMasterIdLst>
    <p:handoutMasterId r:id="rId4"/>
  </p:handoutMasterIdLst>
  <p:sldIdLst>
    <p:sldId id="343" r:id="rId2"/>
  </p:sldIdLst>
  <p:sldSz cx="21602700" cy="30603825"/>
  <p:notesSz cx="9867900" cy="6718300"/>
  <p:defaultTextStyle>
    <a:defPPr>
      <a:defRPr lang="en-GB"/>
    </a:defPPr>
    <a:lvl1pPr algn="l" rtl="0" fontAlgn="base">
      <a:lnSpc>
        <a:spcPct val="120000"/>
      </a:lnSpc>
      <a:spcBef>
        <a:spcPct val="0"/>
      </a:spcBef>
      <a:spcAft>
        <a:spcPct val="0"/>
      </a:spcAft>
      <a:defRPr sz="2800" kern="1200">
        <a:solidFill>
          <a:srgbClr val="660066"/>
        </a:solidFill>
        <a:latin typeface="Tahoma" pitchFamily="34" charset="0"/>
        <a:ea typeface="+mn-ea"/>
        <a:cs typeface="+mn-cs"/>
      </a:defRPr>
    </a:lvl1pPr>
    <a:lvl2pPr marL="457200" algn="l" rtl="0" fontAlgn="base">
      <a:lnSpc>
        <a:spcPct val="120000"/>
      </a:lnSpc>
      <a:spcBef>
        <a:spcPct val="0"/>
      </a:spcBef>
      <a:spcAft>
        <a:spcPct val="0"/>
      </a:spcAft>
      <a:defRPr sz="2800" kern="1200">
        <a:solidFill>
          <a:srgbClr val="660066"/>
        </a:solidFill>
        <a:latin typeface="Tahoma" pitchFamily="34" charset="0"/>
        <a:ea typeface="+mn-ea"/>
        <a:cs typeface="+mn-cs"/>
      </a:defRPr>
    </a:lvl2pPr>
    <a:lvl3pPr marL="914400" algn="l" rtl="0" fontAlgn="base">
      <a:lnSpc>
        <a:spcPct val="120000"/>
      </a:lnSpc>
      <a:spcBef>
        <a:spcPct val="0"/>
      </a:spcBef>
      <a:spcAft>
        <a:spcPct val="0"/>
      </a:spcAft>
      <a:defRPr sz="2800" kern="1200">
        <a:solidFill>
          <a:srgbClr val="660066"/>
        </a:solidFill>
        <a:latin typeface="Tahoma" pitchFamily="34" charset="0"/>
        <a:ea typeface="+mn-ea"/>
        <a:cs typeface="+mn-cs"/>
      </a:defRPr>
    </a:lvl3pPr>
    <a:lvl4pPr marL="1371600" algn="l" rtl="0" fontAlgn="base">
      <a:lnSpc>
        <a:spcPct val="120000"/>
      </a:lnSpc>
      <a:spcBef>
        <a:spcPct val="0"/>
      </a:spcBef>
      <a:spcAft>
        <a:spcPct val="0"/>
      </a:spcAft>
      <a:defRPr sz="2800" kern="1200">
        <a:solidFill>
          <a:srgbClr val="660066"/>
        </a:solidFill>
        <a:latin typeface="Tahoma" pitchFamily="34" charset="0"/>
        <a:ea typeface="+mn-ea"/>
        <a:cs typeface="+mn-cs"/>
      </a:defRPr>
    </a:lvl4pPr>
    <a:lvl5pPr marL="1828800" algn="l" rtl="0" fontAlgn="base">
      <a:lnSpc>
        <a:spcPct val="120000"/>
      </a:lnSpc>
      <a:spcBef>
        <a:spcPct val="0"/>
      </a:spcBef>
      <a:spcAft>
        <a:spcPct val="0"/>
      </a:spcAft>
      <a:defRPr sz="2800" kern="1200">
        <a:solidFill>
          <a:srgbClr val="660066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rgbClr val="660066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rgbClr val="660066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rgbClr val="660066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rgbClr val="660066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7575C8"/>
    <a:srgbClr val="660066"/>
    <a:srgbClr val="000000"/>
    <a:srgbClr val="FF0000"/>
    <a:srgbClr val="777777"/>
    <a:srgbClr val="DDDDDD"/>
    <a:srgbClr val="99CC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589" autoAdjust="0"/>
  </p:normalViewPr>
  <p:slideViewPr>
    <p:cSldViewPr snapToObjects="1">
      <p:cViewPr varScale="1">
        <p:scale>
          <a:sx n="23" d="100"/>
          <a:sy n="23" d="100"/>
        </p:scale>
        <p:origin x="-2148" y="-174"/>
      </p:cViewPr>
      <p:guideLst>
        <p:guide orient="horz" pos="9639"/>
        <p:guide pos="68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2" d="100"/>
          <a:sy n="72" d="100"/>
        </p:scale>
        <p:origin x="-1194" y="-90"/>
      </p:cViewPr>
      <p:guideLst>
        <p:guide orient="horz" pos="2115"/>
        <p:guide pos="3108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1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5" tIns="47952" rIns="95905" bIns="47952" numCol="1" anchor="t" anchorCtr="0" compatLnSpc="1">
            <a:prstTxWarp prst="textNoShape">
              <a:avLst/>
            </a:prstTxWarp>
          </a:bodyPr>
          <a:lstStyle>
            <a:lvl1pPr defTabSz="958850">
              <a:lnSpc>
                <a:spcPct val="100000"/>
              </a:lnSpc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1175" y="0"/>
            <a:ext cx="42751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5" tIns="47952" rIns="95905" bIns="47952" numCol="1" anchor="t" anchorCtr="0" compatLnSpc="1">
            <a:prstTxWarp prst="textNoShape">
              <a:avLst/>
            </a:prstTxWarp>
          </a:bodyPr>
          <a:lstStyle>
            <a:lvl1pPr algn="r" defTabSz="958850">
              <a:lnSpc>
                <a:spcPct val="100000"/>
              </a:lnSpc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80163"/>
            <a:ext cx="42751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5" tIns="47952" rIns="95905" bIns="47952" numCol="1" anchor="b" anchorCtr="0" compatLnSpc="1">
            <a:prstTxWarp prst="textNoShape">
              <a:avLst/>
            </a:prstTxWarp>
          </a:bodyPr>
          <a:lstStyle>
            <a:lvl1pPr defTabSz="958850">
              <a:lnSpc>
                <a:spcPct val="100000"/>
              </a:lnSpc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1175" y="6380163"/>
            <a:ext cx="42751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5" tIns="47952" rIns="95905" bIns="47952" numCol="1" anchor="b" anchorCtr="0" compatLnSpc="1">
            <a:prstTxWarp prst="textNoShape">
              <a:avLst/>
            </a:prstTxWarp>
          </a:bodyPr>
          <a:lstStyle>
            <a:lvl1pPr algn="r" defTabSz="958850">
              <a:lnSpc>
                <a:spcPct val="100000"/>
              </a:lnSpc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fld id="{7014F398-AA16-4091-9868-48D5D24C33D4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1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5" tIns="47952" rIns="95905" bIns="47952" numCol="1" anchor="t" anchorCtr="0" compatLnSpc="1">
            <a:prstTxWarp prst="textNoShape">
              <a:avLst/>
            </a:prstTxWarp>
          </a:bodyPr>
          <a:lstStyle>
            <a:lvl1pPr defTabSz="958850">
              <a:lnSpc>
                <a:spcPct val="100000"/>
              </a:lnSpc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1175" y="0"/>
            <a:ext cx="42751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5" tIns="47952" rIns="95905" bIns="47952" numCol="1" anchor="t" anchorCtr="0" compatLnSpc="1">
            <a:prstTxWarp prst="textNoShape">
              <a:avLst/>
            </a:prstTxWarp>
          </a:bodyPr>
          <a:lstStyle>
            <a:lvl1pPr algn="r" defTabSz="958850">
              <a:lnSpc>
                <a:spcPct val="100000"/>
              </a:lnSpc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10752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4046538" y="503238"/>
            <a:ext cx="1779587" cy="25193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75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7425" y="3190875"/>
            <a:ext cx="7893050" cy="302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5" tIns="47952" rIns="95905" bIns="47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75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80163"/>
            <a:ext cx="42751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5" tIns="47952" rIns="95905" bIns="47952" numCol="1" anchor="b" anchorCtr="0" compatLnSpc="1">
            <a:prstTxWarp prst="textNoShape">
              <a:avLst/>
            </a:prstTxWarp>
          </a:bodyPr>
          <a:lstStyle>
            <a:lvl1pPr defTabSz="958850">
              <a:lnSpc>
                <a:spcPct val="100000"/>
              </a:lnSpc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1075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1175" y="6380163"/>
            <a:ext cx="42751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5" tIns="47952" rIns="95905" bIns="47952" numCol="1" anchor="b" anchorCtr="0" compatLnSpc="1">
            <a:prstTxWarp prst="textNoShape">
              <a:avLst/>
            </a:prstTxWarp>
          </a:bodyPr>
          <a:lstStyle>
            <a:lvl1pPr algn="r" defTabSz="958850">
              <a:lnSpc>
                <a:spcPct val="100000"/>
              </a:lnSpc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fld id="{5121ABDD-D4E9-49DB-9E90-4ECD2A215469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620838" y="8912225"/>
            <a:ext cx="18361025" cy="6389688"/>
          </a:xfrm>
          <a:solidFill>
            <a:schemeClr val="bg1">
              <a:alpha val="25000"/>
            </a:schemeClr>
          </a:solidFill>
        </p:spPr>
        <p:txBody>
          <a:bodyPr anchor="b" anchorCtr="1"/>
          <a:lstStyle>
            <a:lvl1pPr>
              <a:defRPr sz="133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3240088" y="17341850"/>
            <a:ext cx="15122525" cy="7821613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miter lim="800000"/>
            <a:headEnd/>
            <a:tailEnd/>
          </a:ln>
        </p:spPr>
        <p:txBody>
          <a:bodyPr vert="horz" wrap="square" lIns="411480" tIns="205740" rIns="411480" bIns="205740" numCol="1" anchor="t" anchorCtr="0" compatLnSpc="1">
            <a:prstTxWarp prst="textNoShape">
              <a:avLst/>
            </a:prstTxWarp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9220" name="Freeform 4"/>
          <p:cNvSpPr>
            <a:spLocks/>
          </p:cNvSpPr>
          <p:nvPr/>
        </p:nvSpPr>
        <p:spPr bwMode="auto">
          <a:xfrm>
            <a:off x="674688" y="12511088"/>
            <a:ext cx="4762" cy="13544550"/>
          </a:xfrm>
          <a:custGeom>
            <a:avLst/>
            <a:gdLst>
              <a:gd name="T0" fmla="*/ 0 h 1912"/>
              <a:gd name="T1" fmla="*/ 6 h 1912"/>
              <a:gd name="T2" fmla="*/ 6 h 1912"/>
              <a:gd name="T3" fmla="*/ 60 h 1912"/>
              <a:gd name="T4" fmla="*/ 1912 h 1912"/>
              <a:gd name="T5" fmla="*/ 1912 h 1912"/>
              <a:gd name="T6" fmla="*/ 0 h 1912"/>
              <a:gd name="T7" fmla="*/ 0 h 191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  <a:cxn ang="0">
                <a:pos x="0" y="T6"/>
              </a:cxn>
              <a:cxn ang="0">
                <a:pos x="0" y="T7"/>
              </a:cxn>
            </a:cxnLst>
            <a:rect l="0" t="0" r="r" b="b"/>
            <a:pathLst>
              <a:path h="1912">
                <a:moveTo>
                  <a:pt x="0" y="0"/>
                </a:moveTo>
                <a:lnTo>
                  <a:pt x="0" y="6"/>
                </a:ln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191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380288" y="27868563"/>
            <a:ext cx="6842125" cy="212566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411480" tIns="205740" rIns="411480" bIns="205740" numCol="1" anchor="b" anchorCtr="0" compatLnSpc="1">
            <a:prstTxWarp prst="textNoShape">
              <a:avLst/>
            </a:prstTxWarp>
          </a:bodyPr>
          <a:lstStyle>
            <a:lvl1pPr algn="ctr" defTabSz="4114800">
              <a:lnSpc>
                <a:spcPct val="100000"/>
              </a:lnSpc>
              <a:defRPr sz="63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481300" y="27868563"/>
            <a:ext cx="5041900" cy="212566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411480" tIns="205740" rIns="411480" bIns="205740" numCol="1" anchor="b" anchorCtr="0" compatLnSpc="1">
            <a:prstTxWarp prst="textNoShape">
              <a:avLst/>
            </a:prstTxWarp>
          </a:bodyPr>
          <a:lstStyle>
            <a:lvl1pPr algn="r" defTabSz="4114800">
              <a:lnSpc>
                <a:spcPct val="100000"/>
              </a:lnSpc>
              <a:defRPr sz="63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fld id="{FB29AA52-3505-434D-B2F3-676080360C8D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1079500" y="27868563"/>
            <a:ext cx="5041900" cy="212566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411480" tIns="205740" rIns="411480" bIns="205740" numCol="1" anchor="b" anchorCtr="0" compatLnSpc="1">
            <a:prstTxWarp prst="textNoShape">
              <a:avLst/>
            </a:prstTxWarp>
          </a:bodyPr>
          <a:lstStyle>
            <a:lvl1pPr defTabSz="4114800">
              <a:lnSpc>
                <a:spcPct val="100000"/>
              </a:lnSpc>
              <a:defRPr sz="63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0" y="7140575"/>
            <a:ext cx="19443700" cy="201977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6563" y="19665950"/>
            <a:ext cx="18362612" cy="607853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6563" y="12971463"/>
            <a:ext cx="18362612" cy="66944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500" y="7140575"/>
            <a:ext cx="9645650" cy="201977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77550" y="7140575"/>
            <a:ext cx="9645650" cy="201977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0" y="1225550"/>
            <a:ext cx="19443700" cy="5100638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9500" y="6850063"/>
            <a:ext cx="9545638" cy="2855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9500" y="9705975"/>
            <a:ext cx="9545638" cy="176323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74388" y="6850063"/>
            <a:ext cx="9548812" cy="2855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74388" y="9705975"/>
            <a:ext cx="9548812" cy="176323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0" y="1219200"/>
            <a:ext cx="7107238" cy="51847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5500" y="1219200"/>
            <a:ext cx="12077700" cy="2611913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9500" y="6403975"/>
            <a:ext cx="7107238" cy="20934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3863" y="21423313"/>
            <a:ext cx="12961937" cy="25288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33863" y="2735263"/>
            <a:ext cx="12961937" cy="1836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3863" y="23952200"/>
            <a:ext cx="12961937" cy="35909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9500" y="7140575"/>
            <a:ext cx="19443700" cy="201977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662275" y="339725"/>
            <a:ext cx="4860925" cy="269986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9500" y="339725"/>
            <a:ext cx="14430375" cy="269986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060700" y="339725"/>
            <a:ext cx="15481300" cy="13684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9500" y="7140575"/>
            <a:ext cx="9645650" cy="100218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10877550" y="7140575"/>
            <a:ext cx="9645650" cy="100218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079500" y="17314863"/>
            <a:ext cx="9645650" cy="100234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77550" y="17314863"/>
            <a:ext cx="9645650" cy="100234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>
            <a:duotone>
              <a:schemeClr val="bg1"/>
              <a:srgbClr val="FFFFFF"/>
            </a:duotone>
          </a:blip>
          <a:srcRect/>
          <a:stretch>
            <a:fillRect r="-8888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6" name="Rectangle 14"/>
          <p:cNvSpPr>
            <a:spLocks noChangeArrowheads="1"/>
          </p:cNvSpPr>
          <p:nvPr userDrawn="1"/>
        </p:nvSpPr>
        <p:spPr bwMode="auto">
          <a:xfrm>
            <a:off x="0" y="1879600"/>
            <a:ext cx="21602700" cy="27249438"/>
          </a:xfrm>
          <a:prstGeom prst="rect">
            <a:avLst/>
          </a:prstGeom>
          <a:solidFill>
            <a:schemeClr val="bg1">
              <a:alpha val="30000"/>
            </a:schemeClr>
          </a:solidFill>
          <a:ln w="9525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0" y="0"/>
            <a:ext cx="21602700" cy="1879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0" y="29129038"/>
            <a:ext cx="21602700" cy="1474787"/>
          </a:xfrm>
          <a:prstGeom prst="rect">
            <a:avLst/>
          </a:prstGeom>
          <a:solidFill>
            <a:srgbClr val="FFFFFF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60700" y="339725"/>
            <a:ext cx="15481300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11480" tIns="205740" rIns="411480" bIns="20574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5329238" y="29343350"/>
            <a:ext cx="16055975" cy="102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11480" tIns="205740" rIns="411480" bIns="205740">
            <a:spAutoFit/>
          </a:bodyPr>
          <a:lstStyle/>
          <a:p>
            <a:pPr algn="ctr" defTabSz="4114800">
              <a:lnSpc>
                <a:spcPct val="100000"/>
              </a:lnSpc>
              <a:spcBef>
                <a:spcPct val="50000"/>
              </a:spcBef>
            </a:pPr>
            <a:r>
              <a:rPr lang="en-GB" sz="4000" b="1">
                <a:solidFill>
                  <a:schemeClr val="bg1"/>
                </a:solidFill>
              </a:rPr>
              <a:t>Email: neodc@rl.ac.uk</a:t>
            </a:r>
            <a:r>
              <a:rPr lang="en-GB" sz="4000" b="1"/>
              <a:t>       Web: www.neodc.rl.ac.uk</a:t>
            </a:r>
          </a:p>
        </p:txBody>
      </p:sp>
      <p:pic>
        <p:nvPicPr>
          <p:cNvPr id="8207" name="Picture 15" descr="neodc_logo_huge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7691100" y="219075"/>
            <a:ext cx="3911600" cy="1489075"/>
          </a:xfrm>
          <a:prstGeom prst="rect">
            <a:avLst/>
          </a:prstGeom>
          <a:noFill/>
        </p:spPr>
      </p:pic>
      <p:pic>
        <p:nvPicPr>
          <p:cNvPr id="8208" name="Picture 16" descr="nerclogo150"/>
          <p:cNvPicPr>
            <a:picLocks noChangeAspect="1" noChangeArrowheads="1"/>
          </p:cNvPicPr>
          <p:nvPr userDrawn="1"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14313" y="284163"/>
            <a:ext cx="4033837" cy="1263650"/>
          </a:xfrm>
          <a:prstGeom prst="rect">
            <a:avLst/>
          </a:prstGeom>
          <a:noFill/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txStyles>
    <p:titleStyle>
      <a:lvl1pPr algn="ctr" defTabSz="4114800" rtl="0" fontAlgn="base">
        <a:spcBef>
          <a:spcPct val="0"/>
        </a:spcBef>
        <a:spcAft>
          <a:spcPct val="0"/>
        </a:spcAft>
        <a:defRPr sz="8000">
          <a:solidFill>
            <a:srgbClr val="660066"/>
          </a:solidFill>
          <a:latin typeface="+mj-lt"/>
          <a:ea typeface="+mj-ea"/>
          <a:cs typeface="+mj-cs"/>
        </a:defRPr>
      </a:lvl1pPr>
      <a:lvl2pPr algn="ctr" defTabSz="4114800" rtl="0" fontAlgn="base">
        <a:spcBef>
          <a:spcPct val="0"/>
        </a:spcBef>
        <a:spcAft>
          <a:spcPct val="0"/>
        </a:spcAft>
        <a:defRPr sz="8000">
          <a:solidFill>
            <a:srgbClr val="660066"/>
          </a:solidFill>
          <a:latin typeface="Tahoma" pitchFamily="34" charset="0"/>
        </a:defRPr>
      </a:lvl2pPr>
      <a:lvl3pPr algn="ctr" defTabSz="4114800" rtl="0" fontAlgn="base">
        <a:spcBef>
          <a:spcPct val="0"/>
        </a:spcBef>
        <a:spcAft>
          <a:spcPct val="0"/>
        </a:spcAft>
        <a:defRPr sz="8000">
          <a:solidFill>
            <a:srgbClr val="660066"/>
          </a:solidFill>
          <a:latin typeface="Tahoma" pitchFamily="34" charset="0"/>
        </a:defRPr>
      </a:lvl3pPr>
      <a:lvl4pPr algn="ctr" defTabSz="4114800" rtl="0" fontAlgn="base">
        <a:spcBef>
          <a:spcPct val="0"/>
        </a:spcBef>
        <a:spcAft>
          <a:spcPct val="0"/>
        </a:spcAft>
        <a:defRPr sz="8000">
          <a:solidFill>
            <a:srgbClr val="660066"/>
          </a:solidFill>
          <a:latin typeface="Tahoma" pitchFamily="34" charset="0"/>
        </a:defRPr>
      </a:lvl4pPr>
      <a:lvl5pPr algn="ctr" defTabSz="4114800" rtl="0" fontAlgn="base">
        <a:spcBef>
          <a:spcPct val="0"/>
        </a:spcBef>
        <a:spcAft>
          <a:spcPct val="0"/>
        </a:spcAft>
        <a:defRPr sz="8000">
          <a:solidFill>
            <a:srgbClr val="660066"/>
          </a:solidFill>
          <a:latin typeface="Tahoma" pitchFamily="34" charset="0"/>
        </a:defRPr>
      </a:lvl5pPr>
      <a:lvl6pPr marL="457200" algn="ctr" defTabSz="4114800" rtl="0" fontAlgn="base">
        <a:spcBef>
          <a:spcPct val="0"/>
        </a:spcBef>
        <a:spcAft>
          <a:spcPct val="0"/>
        </a:spcAft>
        <a:defRPr sz="8000">
          <a:solidFill>
            <a:srgbClr val="660066"/>
          </a:solidFill>
          <a:latin typeface="Tahoma" pitchFamily="34" charset="0"/>
        </a:defRPr>
      </a:lvl6pPr>
      <a:lvl7pPr marL="914400" algn="ctr" defTabSz="4114800" rtl="0" fontAlgn="base">
        <a:spcBef>
          <a:spcPct val="0"/>
        </a:spcBef>
        <a:spcAft>
          <a:spcPct val="0"/>
        </a:spcAft>
        <a:defRPr sz="8000">
          <a:solidFill>
            <a:srgbClr val="660066"/>
          </a:solidFill>
          <a:latin typeface="Tahoma" pitchFamily="34" charset="0"/>
        </a:defRPr>
      </a:lvl7pPr>
      <a:lvl8pPr marL="1371600" algn="ctr" defTabSz="4114800" rtl="0" fontAlgn="base">
        <a:spcBef>
          <a:spcPct val="0"/>
        </a:spcBef>
        <a:spcAft>
          <a:spcPct val="0"/>
        </a:spcAft>
        <a:defRPr sz="8000">
          <a:solidFill>
            <a:srgbClr val="660066"/>
          </a:solidFill>
          <a:latin typeface="Tahoma" pitchFamily="34" charset="0"/>
        </a:defRPr>
      </a:lvl8pPr>
      <a:lvl9pPr marL="1828800" algn="ctr" defTabSz="4114800" rtl="0" fontAlgn="base">
        <a:spcBef>
          <a:spcPct val="0"/>
        </a:spcBef>
        <a:spcAft>
          <a:spcPct val="0"/>
        </a:spcAft>
        <a:defRPr sz="8000">
          <a:solidFill>
            <a:srgbClr val="660066"/>
          </a:solidFill>
          <a:latin typeface="Tahoma" pitchFamily="34" charset="0"/>
        </a:defRPr>
      </a:lvl9pPr>
    </p:titleStyle>
    <p:bodyStyle>
      <a:lvl1pPr marL="1543050" indent="-1543050" algn="l" defTabSz="4114800" rtl="0" fontAlgn="base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14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3343275" indent="-1285875" algn="l" defTabSz="4114800" rtl="0" fontAlgn="base">
        <a:spcBef>
          <a:spcPct val="20000"/>
        </a:spcBef>
        <a:spcAft>
          <a:spcPct val="0"/>
        </a:spcAft>
        <a:buFont typeface="Tahoma" pitchFamily="34" charset="0"/>
        <a:buChar char="–"/>
        <a:defRPr sz="12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5143500" indent="-1028700" algn="l" defTabSz="4114800" rtl="0" fontAlgn="base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10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7200900" indent="-1028700" algn="l" defTabSz="4114800" rtl="0" fontAlgn="base">
        <a:spcBef>
          <a:spcPct val="20000"/>
        </a:spcBef>
        <a:spcAft>
          <a:spcPct val="0"/>
        </a:spcAft>
        <a:buFont typeface="Tahoma" pitchFamily="34" charset="0"/>
        <a:buChar char="–"/>
        <a:defRPr sz="9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9258300" indent="-1028700" algn="l" defTabSz="4114800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9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9715500" indent="-1028700" algn="l" defTabSz="4114800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9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10172700" indent="-1028700" algn="l" defTabSz="4114800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9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10629900" indent="-1028700" algn="l" defTabSz="4114800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9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11087100" indent="-1028700" algn="l" defTabSz="4114800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9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5.jpeg"/><Relationship Id="rId7" Type="http://schemas.openxmlformats.org/officeDocument/2006/relationships/hyperlink" Target="http://www.neodc.rl.ac.uk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10" Type="http://schemas.openxmlformats.org/officeDocument/2006/relationships/image" Target="../media/image11.jpeg"/><Relationship Id="rId4" Type="http://schemas.openxmlformats.org/officeDocument/2006/relationships/image" Target="../media/image6.jpe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25" name="Rectangle 301"/>
          <p:cNvSpPr>
            <a:spLocks noChangeArrowheads="1"/>
          </p:cNvSpPr>
          <p:nvPr/>
        </p:nvSpPr>
        <p:spPr bwMode="auto">
          <a:xfrm>
            <a:off x="595313" y="2413000"/>
            <a:ext cx="19854862" cy="123110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542925" indent="-542925" defTabSz="4114800"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SzPct val="120000"/>
              <a:tabLst>
                <a:tab pos="457200" algn="l"/>
              </a:tabLst>
            </a:pPr>
            <a:r>
              <a:rPr lang="en-GB" sz="6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NEODC Data Archive</a:t>
            </a:r>
            <a:endParaRPr lang="en-GB" sz="6600" b="1" dirty="0">
              <a:solidFill>
                <a:schemeClr val="tx1"/>
              </a:solidFill>
            </a:endParaRPr>
          </a:p>
          <a:p>
            <a:pPr marL="542925" indent="-542925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None/>
              <a:tabLst>
                <a:tab pos="457200" algn="l"/>
              </a:tabLst>
            </a:pPr>
            <a:r>
              <a:rPr lang="en-GB" sz="3200" b="1" dirty="0">
                <a:solidFill>
                  <a:schemeClr val="tx1"/>
                </a:solidFill>
              </a:rPr>
              <a:t>NEODC datasets are available for free download to registered users:</a:t>
            </a:r>
          </a:p>
          <a:p>
            <a:pPr marL="893763" lvl="1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Char char=""/>
              <a:tabLst>
                <a:tab pos="457200" algn="l"/>
              </a:tabLst>
            </a:pPr>
            <a:r>
              <a:rPr lang="en-GB" sz="3200" b="1" dirty="0">
                <a:solidFill>
                  <a:schemeClr val="tx1"/>
                </a:solidFill>
              </a:rPr>
              <a:t> Airborne:</a:t>
            </a:r>
          </a:p>
          <a:p>
            <a:pPr marL="1073150" lvl="2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None/>
              <a:tabLst>
                <a:tab pos="457200" algn="l"/>
              </a:tabLst>
            </a:pPr>
            <a:r>
              <a:rPr lang="en-GB" sz="3200" b="1" dirty="0">
                <a:solidFill>
                  <a:schemeClr val="tx1"/>
                </a:solidFill>
              </a:rPr>
              <a:t>	Remote sensing data &amp; aerial photography from the NERC ARSF</a:t>
            </a:r>
          </a:p>
          <a:p>
            <a:pPr marL="1073150" lvl="2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None/>
              <a:tabLst>
                <a:tab pos="457200" algn="l"/>
              </a:tabLst>
            </a:pPr>
            <a:r>
              <a:rPr lang="en-GB" sz="3200" b="1" dirty="0">
                <a:solidFill>
                  <a:schemeClr val="tx1"/>
                </a:solidFill>
              </a:rPr>
              <a:t>	</a:t>
            </a:r>
            <a:r>
              <a:rPr lang="en-GB" sz="3200" b="1" dirty="0" err="1">
                <a:solidFill>
                  <a:schemeClr val="tx1"/>
                </a:solidFill>
              </a:rPr>
              <a:t>NEXTMap</a:t>
            </a:r>
            <a:r>
              <a:rPr lang="en-GB" sz="3200" b="1" dirty="0">
                <a:solidFill>
                  <a:schemeClr val="tx1"/>
                </a:solidFill>
              </a:rPr>
              <a:t> Britain digital elevation data</a:t>
            </a:r>
          </a:p>
          <a:p>
            <a:pPr marL="893763" lvl="1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Char char=""/>
              <a:tabLst>
                <a:tab pos="457200" algn="l"/>
              </a:tabLst>
            </a:pPr>
            <a:r>
              <a:rPr lang="en-GB" sz="3200" b="1" dirty="0">
                <a:solidFill>
                  <a:schemeClr val="tx1"/>
                </a:solidFill>
              </a:rPr>
              <a:t> Satellite:</a:t>
            </a:r>
          </a:p>
          <a:p>
            <a:pPr lvl="3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None/>
              <a:tabLst>
                <a:tab pos="457200" algn="l"/>
              </a:tabLst>
            </a:pPr>
            <a:r>
              <a:rPr lang="en-GB" sz="3200" b="1" dirty="0">
                <a:solidFill>
                  <a:schemeClr val="tx1"/>
                </a:solidFill>
              </a:rPr>
              <a:t> 	LANDSAT, </a:t>
            </a:r>
            <a:r>
              <a:rPr lang="en-GB" sz="3200" b="1" dirty="0" err="1">
                <a:solidFill>
                  <a:schemeClr val="tx1"/>
                </a:solidFill>
              </a:rPr>
              <a:t>Envisat</a:t>
            </a:r>
            <a:r>
              <a:rPr lang="en-GB" sz="3200" b="1" dirty="0">
                <a:solidFill>
                  <a:schemeClr val="tx1"/>
                </a:solidFill>
              </a:rPr>
              <a:t> MERIS, SCIAMACHY, </a:t>
            </a:r>
            <a:r>
              <a:rPr lang="en-GB" sz="3200" b="1" dirty="0" smtClean="0">
                <a:solidFill>
                  <a:schemeClr val="tx1"/>
                </a:solidFill>
              </a:rPr>
              <a:t>MIPAS</a:t>
            </a:r>
            <a:br>
              <a:rPr lang="en-GB" sz="3200" b="1" dirty="0" smtClean="0">
                <a:solidFill>
                  <a:schemeClr val="tx1"/>
                </a:solidFill>
              </a:rPr>
            </a:br>
            <a:r>
              <a:rPr lang="en-GB" sz="3200" b="1" dirty="0" smtClean="0">
                <a:solidFill>
                  <a:schemeClr val="tx1"/>
                </a:solidFill>
              </a:rPr>
              <a:t>	</a:t>
            </a:r>
            <a:r>
              <a:rPr lang="en-GB" sz="3200" b="1" dirty="0" err="1" smtClean="0">
                <a:solidFill>
                  <a:schemeClr val="tx1"/>
                </a:solidFill>
              </a:rPr>
              <a:t>MetOp</a:t>
            </a:r>
            <a:r>
              <a:rPr lang="en-GB" sz="3200" b="1" dirty="0" smtClean="0">
                <a:solidFill>
                  <a:schemeClr val="tx1"/>
                </a:solidFill>
              </a:rPr>
              <a:t> IASI, GOME-2, AVHRR-3</a:t>
            </a:r>
            <a:endParaRPr lang="en-GB" sz="3200" b="1" dirty="0">
              <a:solidFill>
                <a:schemeClr val="tx1"/>
              </a:solidFill>
            </a:endParaRPr>
          </a:p>
          <a:p>
            <a:pPr marL="893763" lvl="1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None/>
              <a:tabLst>
                <a:tab pos="457200" algn="l"/>
              </a:tabLst>
            </a:pPr>
            <a:r>
              <a:rPr lang="en-GB" sz="3200" b="1" dirty="0">
                <a:solidFill>
                  <a:schemeClr val="tx1"/>
                </a:solidFill>
              </a:rPr>
              <a:t>	Derived EO datasets: MERIS MTCI, AVHRR FASIR</a:t>
            </a:r>
          </a:p>
          <a:p>
            <a:pPr marL="893763" lvl="1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None/>
              <a:tabLst>
                <a:tab pos="457200" algn="l"/>
              </a:tabLst>
            </a:pPr>
            <a:r>
              <a:rPr lang="en-GB" sz="3200" b="1" dirty="0">
                <a:solidFill>
                  <a:schemeClr val="tx1"/>
                </a:solidFill>
              </a:rPr>
              <a:t>	 (A)ATSR data </a:t>
            </a:r>
            <a:r>
              <a:rPr lang="en-GB" sz="3200" b="1">
                <a:solidFill>
                  <a:schemeClr val="tx1"/>
                </a:solidFill>
              </a:rPr>
              <a:t>– </a:t>
            </a:r>
            <a:r>
              <a:rPr lang="en-GB" sz="3200" b="1" smtClean="0">
                <a:solidFill>
                  <a:schemeClr val="tx1"/>
                </a:solidFill>
              </a:rPr>
              <a:t>17 </a:t>
            </a:r>
            <a:r>
              <a:rPr lang="en-GB" sz="3200" b="1" dirty="0">
                <a:solidFill>
                  <a:schemeClr val="tx1"/>
                </a:solidFill>
              </a:rPr>
              <a:t>years of global Sea Surface Temperature</a:t>
            </a:r>
          </a:p>
          <a:p>
            <a:pPr marL="893763" lvl="1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Char char=""/>
              <a:tabLst>
                <a:tab pos="457200" algn="l"/>
              </a:tabLst>
            </a:pPr>
            <a:r>
              <a:rPr lang="en-GB" sz="3200" b="1" dirty="0">
                <a:solidFill>
                  <a:schemeClr val="tx1"/>
                </a:solidFill>
              </a:rPr>
              <a:t> Campaigns: </a:t>
            </a:r>
          </a:p>
          <a:p>
            <a:pPr lvl="3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None/>
              <a:tabLst>
                <a:tab pos="457200" algn="l"/>
              </a:tabLst>
            </a:pPr>
            <a:r>
              <a:rPr lang="en-GB" sz="3200" b="1" dirty="0">
                <a:solidFill>
                  <a:schemeClr val="tx1"/>
                </a:solidFill>
              </a:rPr>
              <a:t>	SHAC 2000 SAR and </a:t>
            </a:r>
            <a:r>
              <a:rPr lang="en-GB" sz="3200" b="1" dirty="0" err="1">
                <a:solidFill>
                  <a:schemeClr val="tx1"/>
                </a:solidFill>
              </a:rPr>
              <a:t>Hyperspectral</a:t>
            </a:r>
            <a:r>
              <a:rPr lang="en-GB" sz="3200" b="1" dirty="0">
                <a:solidFill>
                  <a:schemeClr val="tx1"/>
                </a:solidFill>
              </a:rPr>
              <a:t> Airborne Campaign</a:t>
            </a:r>
          </a:p>
          <a:p>
            <a:pPr lvl="3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None/>
              <a:tabLst>
                <a:tab pos="457200" algn="l"/>
              </a:tabLst>
            </a:pPr>
            <a:r>
              <a:rPr lang="en-GB" sz="3200" b="1" dirty="0">
                <a:solidFill>
                  <a:schemeClr val="tx1"/>
                </a:solidFill>
              </a:rPr>
              <a:t>	NCAVEO 2006 field experiment</a:t>
            </a:r>
          </a:p>
          <a:p>
            <a:pPr lvl="4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Char char=""/>
              <a:tabLst>
                <a:tab pos="457200" algn="l"/>
              </a:tabLst>
            </a:pPr>
            <a:endParaRPr lang="en-GB" sz="3600" b="1" dirty="0">
              <a:solidFill>
                <a:schemeClr val="tx1"/>
              </a:solidFill>
            </a:endParaRPr>
          </a:p>
          <a:p>
            <a:pPr marL="542925" indent="-542925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Char char=""/>
              <a:tabLst>
                <a:tab pos="457200" algn="l"/>
              </a:tabLst>
            </a:pPr>
            <a:endParaRPr lang="en-GB" sz="3600" b="1" dirty="0">
              <a:solidFill>
                <a:schemeClr val="tx1"/>
              </a:solidFill>
            </a:endParaRPr>
          </a:p>
          <a:p>
            <a:pPr marL="893763" lvl="1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None/>
              <a:tabLst>
                <a:tab pos="457200" algn="l"/>
              </a:tabLst>
            </a:pPr>
            <a:endParaRPr lang="en-GB" sz="4000" b="1" dirty="0">
              <a:solidFill>
                <a:schemeClr val="tx1"/>
              </a:solidFill>
            </a:endParaRPr>
          </a:p>
        </p:txBody>
      </p:sp>
      <p:pic>
        <p:nvPicPr>
          <p:cNvPr id="231735" name="Picture 311" descr="STFC_RAL_logo"/>
          <p:cNvPicPr>
            <a:picLocks noChangeAspect="1" noChangeArrowheads="1"/>
          </p:cNvPicPr>
          <p:nvPr/>
        </p:nvPicPr>
        <p:blipFill>
          <a:blip r:embed="rId3" cstate="print"/>
          <a:srcRect t="8824" b="8922"/>
          <a:stretch>
            <a:fillRect/>
          </a:stretch>
        </p:blipFill>
        <p:spPr bwMode="auto">
          <a:xfrm>
            <a:off x="0" y="29198888"/>
            <a:ext cx="6286500" cy="1331912"/>
          </a:xfrm>
          <a:prstGeom prst="rect">
            <a:avLst/>
          </a:prstGeom>
          <a:noFill/>
        </p:spPr>
      </p:pic>
      <p:sp>
        <p:nvSpPr>
          <p:cNvPr id="231426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6669088" y="252413"/>
            <a:ext cx="11045825" cy="1368425"/>
          </a:xfrm>
        </p:spPr>
        <p:txBody>
          <a:bodyPr/>
          <a:lstStyle/>
          <a:p>
            <a:r>
              <a:rPr lang="en-GB" sz="6000" b="1"/>
              <a:t>NERC Earth Observation </a:t>
            </a:r>
            <a:br>
              <a:rPr lang="en-GB" sz="6000" b="1"/>
            </a:br>
            <a:r>
              <a:rPr lang="en-GB" sz="6000" b="1"/>
              <a:t>Data Centre</a:t>
            </a:r>
          </a:p>
        </p:txBody>
      </p:sp>
      <p:pic>
        <p:nvPicPr>
          <p:cNvPr id="231764" name="Picture 340" descr="zoom0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33338" y="12360328"/>
            <a:ext cx="6945313" cy="6886575"/>
          </a:xfrm>
          <a:noFill/>
          <a:ln>
            <a:miter lim="800000"/>
            <a:headEnd/>
            <a:tailEnd/>
          </a:ln>
        </p:spPr>
      </p:pic>
      <p:pic>
        <p:nvPicPr>
          <p:cNvPr id="231769" name="Picture 345" descr="MTCI_FCR_20070701_000000_20070731_235959_L3_V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 cstate="print"/>
          <a:srcRect b="15204"/>
          <a:stretch>
            <a:fillRect/>
          </a:stretch>
        </p:blipFill>
        <p:spPr bwMode="auto">
          <a:xfrm>
            <a:off x="12463463" y="12392078"/>
            <a:ext cx="9105900" cy="6016625"/>
          </a:xfrm>
          <a:noFill/>
          <a:ln>
            <a:miter lim="800000"/>
            <a:headEnd/>
            <a:tailEnd/>
          </a:ln>
        </p:spPr>
      </p:pic>
      <p:pic>
        <p:nvPicPr>
          <p:cNvPr id="231771" name="Picture 347" descr="ATS_MET_3Q_20060701_20060801_22658_23101_441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496800" y="18391240"/>
            <a:ext cx="9105900" cy="4554538"/>
          </a:xfrm>
          <a:noFill/>
          <a:ln>
            <a:miter lim="800000"/>
            <a:headEnd/>
            <a:tailEnd/>
          </a:ln>
        </p:spPr>
      </p:pic>
      <p:sp>
        <p:nvSpPr>
          <p:cNvPr id="231510" name="Rectangle 86"/>
          <p:cNvSpPr>
            <a:spLocks noChangeArrowheads="1"/>
          </p:cNvSpPr>
          <p:nvPr/>
        </p:nvSpPr>
        <p:spPr bwMode="auto">
          <a:xfrm>
            <a:off x="431800" y="4887913"/>
            <a:ext cx="4846638" cy="59039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1514" name="Rectangle 90"/>
          <p:cNvSpPr>
            <a:spLocks noChangeArrowheads="1"/>
          </p:cNvSpPr>
          <p:nvPr/>
        </p:nvSpPr>
        <p:spPr bwMode="auto">
          <a:xfrm>
            <a:off x="920750" y="21880513"/>
            <a:ext cx="5561013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07323" tIns="203662" rIns="407323" bIns="203662" anchor="ctr"/>
          <a:lstStyle/>
          <a:p>
            <a:endParaRPr lang="en-US" sz="800"/>
          </a:p>
        </p:txBody>
      </p:sp>
      <p:sp>
        <p:nvSpPr>
          <p:cNvPr id="231515" name="Rectangle 91"/>
          <p:cNvSpPr>
            <a:spLocks noChangeArrowheads="1"/>
          </p:cNvSpPr>
          <p:nvPr/>
        </p:nvSpPr>
        <p:spPr bwMode="auto">
          <a:xfrm>
            <a:off x="414338" y="12160250"/>
            <a:ext cx="6254750" cy="105854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1516" name="Rectangle 92"/>
          <p:cNvSpPr>
            <a:spLocks noChangeArrowheads="1"/>
          </p:cNvSpPr>
          <p:nvPr/>
        </p:nvSpPr>
        <p:spPr bwMode="auto">
          <a:xfrm>
            <a:off x="469900" y="21917025"/>
            <a:ext cx="6199188" cy="61928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1517" name="Rectangle 93"/>
          <p:cNvSpPr>
            <a:spLocks noChangeArrowheads="1"/>
          </p:cNvSpPr>
          <p:nvPr/>
        </p:nvSpPr>
        <p:spPr bwMode="auto">
          <a:xfrm>
            <a:off x="446088" y="22690138"/>
            <a:ext cx="6537325" cy="747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07323" tIns="203662" rIns="407323" bIns="203662" anchor="ctr"/>
          <a:lstStyle/>
          <a:p>
            <a:endParaRPr lang="en-US" sz="1300"/>
          </a:p>
        </p:txBody>
      </p:sp>
      <p:sp>
        <p:nvSpPr>
          <p:cNvPr id="231533" name="Rectangle 109"/>
          <p:cNvSpPr>
            <a:spLocks noChangeArrowheads="1"/>
          </p:cNvSpPr>
          <p:nvPr/>
        </p:nvSpPr>
        <p:spPr bwMode="auto">
          <a:xfrm>
            <a:off x="7494588" y="26606500"/>
            <a:ext cx="6613525" cy="33115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1669" name="Rectangle 245"/>
          <p:cNvSpPr>
            <a:spLocks noChangeArrowheads="1"/>
          </p:cNvSpPr>
          <p:nvPr/>
        </p:nvSpPr>
        <p:spPr bwMode="auto">
          <a:xfrm>
            <a:off x="0" y="0"/>
            <a:ext cx="216027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407323" tIns="203662" rIns="407323" bIns="203662" anchor="ctr">
            <a:spAutoFit/>
          </a:bodyPr>
          <a:lstStyle/>
          <a:p>
            <a:endParaRPr lang="en-GB"/>
          </a:p>
        </p:txBody>
      </p:sp>
      <p:sp>
        <p:nvSpPr>
          <p:cNvPr id="231749" name="Rectangle 325"/>
          <p:cNvSpPr>
            <a:spLocks noChangeArrowheads="1"/>
          </p:cNvSpPr>
          <p:nvPr/>
        </p:nvSpPr>
        <p:spPr bwMode="auto">
          <a:xfrm>
            <a:off x="593725" y="23337937"/>
            <a:ext cx="20286663" cy="62515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542925" indent="-542925" defTabSz="4114800"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SzPct val="120000"/>
              <a:tabLst>
                <a:tab pos="457200" algn="l"/>
              </a:tabLst>
            </a:pPr>
            <a:r>
              <a:rPr lang="en-GB" sz="6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NEODC Services</a:t>
            </a:r>
            <a:endParaRPr lang="en-GB" sz="6600" b="1" dirty="0">
              <a:solidFill>
                <a:schemeClr val="tx1"/>
              </a:solidFill>
            </a:endParaRPr>
          </a:p>
          <a:p>
            <a:pPr marL="542925" indent="-542925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Char char=""/>
              <a:tabLst>
                <a:tab pos="457200" algn="l"/>
              </a:tabLst>
            </a:pPr>
            <a:r>
              <a:rPr lang="en-GB" sz="3200" b="1" dirty="0">
                <a:solidFill>
                  <a:schemeClr val="tx1"/>
                </a:solidFill>
              </a:rPr>
              <a:t>Data management support for the National Centre for Earth Observation and the wider community of EO data users</a:t>
            </a:r>
          </a:p>
          <a:p>
            <a:pPr marL="542925" indent="-542925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Char char=""/>
              <a:tabLst>
                <a:tab pos="457200" algn="l"/>
              </a:tabLst>
            </a:pPr>
            <a:r>
              <a:rPr lang="en-GB" sz="3200" b="1" dirty="0">
                <a:solidFill>
                  <a:schemeClr val="tx1"/>
                </a:solidFill>
              </a:rPr>
              <a:t>Register, search the catalogue and request access to data on  </a:t>
            </a:r>
            <a:r>
              <a:rPr lang="en-GB" sz="3200" b="1" dirty="0">
                <a:solidFill>
                  <a:schemeClr val="tx1"/>
                </a:solidFill>
                <a:hlinkClick r:id="rId7"/>
              </a:rPr>
              <a:t>www.neodc.rl.ac.uk</a:t>
            </a:r>
            <a:endParaRPr lang="en-GB" sz="3200" b="1" dirty="0">
              <a:solidFill>
                <a:schemeClr val="tx1"/>
              </a:solidFill>
            </a:endParaRPr>
          </a:p>
          <a:p>
            <a:pPr marL="542925" indent="-542925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Char char=""/>
              <a:tabLst>
                <a:tab pos="457200" algn="l"/>
              </a:tabLst>
            </a:pPr>
            <a:r>
              <a:rPr lang="en-GB" sz="3200" b="1" dirty="0">
                <a:solidFill>
                  <a:schemeClr val="tx1"/>
                </a:solidFill>
              </a:rPr>
              <a:t>Web services for on-line data manipulation</a:t>
            </a:r>
          </a:p>
          <a:p>
            <a:pPr marL="542925" indent="-542925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Char char=""/>
              <a:tabLst>
                <a:tab pos="457200" algn="l"/>
              </a:tabLst>
            </a:pPr>
            <a:r>
              <a:rPr lang="en-GB" sz="3200" b="1" dirty="0">
                <a:solidFill>
                  <a:schemeClr val="tx1"/>
                </a:solidFill>
              </a:rPr>
              <a:t>We welcome email enquiries : neodc@rl.ac.uk</a:t>
            </a:r>
          </a:p>
          <a:p>
            <a:pPr marL="542925" indent="-542925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Char char=""/>
              <a:tabLst>
                <a:tab pos="457200" algn="l"/>
              </a:tabLst>
            </a:pPr>
            <a:endParaRPr lang="en-GB" sz="3600" b="1" dirty="0">
              <a:solidFill>
                <a:schemeClr val="tx1"/>
              </a:solidFill>
            </a:endParaRPr>
          </a:p>
          <a:p>
            <a:pPr marL="893763" lvl="1" defTabSz="4114800">
              <a:lnSpc>
                <a:spcPct val="100000"/>
              </a:lnSpc>
              <a:spcBef>
                <a:spcPct val="50000"/>
              </a:spcBef>
              <a:buClr>
                <a:schemeClr val="hlink"/>
              </a:buClr>
              <a:buFont typeface="Wingdings 2" pitchFamily="18" charset="2"/>
              <a:buNone/>
              <a:tabLst>
                <a:tab pos="457200" algn="l"/>
              </a:tabLst>
            </a:pPr>
            <a:endParaRPr lang="en-GB" sz="4000" b="1" dirty="0">
              <a:solidFill>
                <a:schemeClr val="tx1"/>
              </a:solidFill>
            </a:endParaRPr>
          </a:p>
        </p:txBody>
      </p:sp>
      <p:sp>
        <p:nvSpPr>
          <p:cNvPr id="231760" name="AutoShape 336"/>
          <p:cNvSpPr>
            <a:spLocks noChangeArrowheads="1"/>
          </p:cNvSpPr>
          <p:nvPr/>
        </p:nvSpPr>
        <p:spPr bwMode="auto">
          <a:xfrm>
            <a:off x="10344150" y="26404970"/>
            <a:ext cx="1249363" cy="827088"/>
          </a:xfrm>
          <a:prstGeom prst="irregularSeal1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4071938">
              <a:lnSpc>
                <a:spcPct val="100000"/>
              </a:lnSpc>
            </a:pPr>
            <a:r>
              <a:rPr lang="en-GB" sz="2400" b="1" dirty="0">
                <a:latin typeface="Arial" charset="0"/>
              </a:rPr>
              <a:t>NEW</a:t>
            </a:r>
          </a:p>
        </p:txBody>
      </p:sp>
      <p:pic>
        <p:nvPicPr>
          <p:cNvPr id="231783" name="Picture 359" descr="nceo_logo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6675" y="117475"/>
            <a:ext cx="6219825" cy="1590675"/>
          </a:xfrm>
          <a:noFill/>
          <a:ln>
            <a:miter lim="800000"/>
            <a:headEnd/>
            <a:tailEnd/>
          </a:ln>
        </p:spPr>
      </p:pic>
      <p:pic>
        <p:nvPicPr>
          <p:cNvPr id="231790" name="Picture 366"/>
          <p:cNvPicPr>
            <a:picLocks noChangeAspect="1" noChangeArrowheads="1"/>
          </p:cNvPicPr>
          <p:nvPr/>
        </p:nvPicPr>
        <p:blipFill>
          <a:blip r:embed="rId9" cstate="print"/>
          <a:srcRect l="14326" t="44679" r="3436" b="783"/>
          <a:stretch>
            <a:fillRect/>
          </a:stretch>
        </p:blipFill>
        <p:spPr bwMode="auto">
          <a:xfrm>
            <a:off x="-33338" y="19110378"/>
            <a:ext cx="6945313" cy="3835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231794" name="Text Box 370"/>
          <p:cNvSpPr txBox="1">
            <a:spLocks noChangeArrowheads="1"/>
          </p:cNvSpPr>
          <p:nvPr/>
        </p:nvSpPr>
        <p:spPr bwMode="auto">
          <a:xfrm>
            <a:off x="0" y="22631454"/>
            <a:ext cx="504666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108000" tIns="108000" rIns="108000" bIns="108000"/>
          <a:lstStyle/>
          <a:p>
            <a:pPr>
              <a:lnSpc>
                <a:spcPct val="100000"/>
              </a:lnSpc>
            </a:pPr>
            <a:r>
              <a:rPr lang="en-GB" sz="1600">
                <a:solidFill>
                  <a:schemeClr val="tx1"/>
                </a:solidFill>
              </a:rPr>
              <a:t>ARSF ATM, NERC</a:t>
            </a:r>
          </a:p>
        </p:txBody>
      </p:sp>
      <p:sp>
        <p:nvSpPr>
          <p:cNvPr id="231795" name="Text Box 371"/>
          <p:cNvSpPr txBox="1">
            <a:spLocks noChangeArrowheads="1"/>
          </p:cNvSpPr>
          <p:nvPr/>
        </p:nvSpPr>
        <p:spPr bwMode="auto">
          <a:xfrm>
            <a:off x="66675" y="18630926"/>
            <a:ext cx="504666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108000" tIns="108000" rIns="108000" bIns="108000"/>
          <a:lstStyle/>
          <a:p>
            <a:pPr>
              <a:lnSpc>
                <a:spcPct val="100000"/>
              </a:lnSpc>
            </a:pPr>
            <a:r>
              <a:rPr lang="en-GB" sz="1600">
                <a:solidFill>
                  <a:schemeClr val="tx1"/>
                </a:solidFill>
              </a:rPr>
              <a:t>ARSF aerial photograph, NERC</a:t>
            </a:r>
          </a:p>
        </p:txBody>
      </p:sp>
      <p:sp>
        <p:nvSpPr>
          <p:cNvPr id="231797" name="Text Box 373"/>
          <p:cNvSpPr txBox="1">
            <a:spLocks noChangeArrowheads="1"/>
          </p:cNvSpPr>
          <p:nvPr/>
        </p:nvSpPr>
        <p:spPr bwMode="auto">
          <a:xfrm>
            <a:off x="18932525" y="17916546"/>
            <a:ext cx="504666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108000" tIns="108000" rIns="108000" bIns="108000"/>
          <a:lstStyle/>
          <a:p>
            <a:pPr>
              <a:lnSpc>
                <a:spcPct val="100000"/>
              </a:lnSpc>
            </a:pPr>
            <a:r>
              <a:rPr lang="en-GB" sz="1600" dirty="0">
                <a:solidFill>
                  <a:schemeClr val="tx1"/>
                </a:solidFill>
              </a:rPr>
              <a:t>MERIS MTCI, ESA/</a:t>
            </a:r>
            <a:r>
              <a:rPr lang="en-GB" sz="1600" dirty="0" err="1">
                <a:solidFill>
                  <a:schemeClr val="tx1"/>
                </a:solidFill>
              </a:rPr>
              <a:t>Infoterra</a:t>
            </a: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231798" name="Picture 374" descr="UK_AATSR_jabolins"/>
          <p:cNvPicPr>
            <a:picLocks noChangeAspect="1" noChangeArrowheads="1"/>
          </p:cNvPicPr>
          <p:nvPr/>
        </p:nvPicPr>
        <p:blipFill>
          <a:blip r:embed="rId10" cstate="print"/>
          <a:srcRect t="21570" b="9178"/>
          <a:stretch>
            <a:fillRect/>
          </a:stretch>
        </p:blipFill>
        <p:spPr bwMode="auto">
          <a:xfrm>
            <a:off x="6908800" y="12360328"/>
            <a:ext cx="5588000" cy="10585450"/>
          </a:xfrm>
          <a:prstGeom prst="rect">
            <a:avLst/>
          </a:prstGeom>
          <a:noFill/>
        </p:spPr>
      </p:pic>
      <p:sp>
        <p:nvSpPr>
          <p:cNvPr id="231799" name="Text Box 375"/>
          <p:cNvSpPr txBox="1">
            <a:spLocks noChangeArrowheads="1"/>
          </p:cNvSpPr>
          <p:nvPr/>
        </p:nvSpPr>
        <p:spPr bwMode="auto">
          <a:xfrm>
            <a:off x="17570450" y="22345702"/>
            <a:ext cx="504666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108000" tIns="108000" rIns="108000" bIns="108000"/>
          <a:lstStyle/>
          <a:p>
            <a:pPr>
              <a:lnSpc>
                <a:spcPct val="100000"/>
              </a:lnSpc>
            </a:pPr>
            <a:r>
              <a:rPr lang="en-GB" sz="1600" dirty="0">
                <a:solidFill>
                  <a:schemeClr val="tx1"/>
                </a:solidFill>
              </a:rPr>
              <a:t>AATSR Global SST, STFC/</a:t>
            </a:r>
            <a:r>
              <a:rPr lang="en-GB" sz="1600" dirty="0" err="1">
                <a:solidFill>
                  <a:schemeClr val="tx1"/>
                </a:solidFill>
              </a:rPr>
              <a:t>Defra</a:t>
            </a:r>
            <a:r>
              <a:rPr lang="en-GB" sz="1600" dirty="0">
                <a:solidFill>
                  <a:schemeClr val="tx1"/>
                </a:solidFill>
              </a:rPr>
              <a:t>/ESA/NERC</a:t>
            </a:r>
          </a:p>
        </p:txBody>
      </p:sp>
      <p:sp>
        <p:nvSpPr>
          <p:cNvPr id="231796" name="Text Box 372"/>
          <p:cNvSpPr txBox="1">
            <a:spLocks noChangeArrowheads="1"/>
          </p:cNvSpPr>
          <p:nvPr/>
        </p:nvSpPr>
        <p:spPr bwMode="auto">
          <a:xfrm>
            <a:off x="6913563" y="22417140"/>
            <a:ext cx="504666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108000" tIns="108000" rIns="108000" bIns="108000"/>
          <a:lstStyle/>
          <a:p>
            <a:pPr>
              <a:lnSpc>
                <a:spcPct val="100000"/>
              </a:lnSpc>
            </a:pPr>
            <a:r>
              <a:rPr lang="en-GB" sz="1600">
                <a:solidFill>
                  <a:schemeClr val="tx1"/>
                </a:solidFill>
              </a:rPr>
              <a:t>AATSR, STFC/Defra/ESA/NERC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ODC-EOEG05">
  <a:themeElements>
    <a:clrScheme name="NEODC-EOEG05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NEODC-EOEG05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>
            <a:alpha val="60001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407323" tIns="203662" rIns="407323" bIns="203662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0" i="0" u="none" strike="noStrike" cap="none" normalizeH="0" baseline="0" smtClean="0">
            <a:ln>
              <a:noFill/>
            </a:ln>
            <a:solidFill>
              <a:srgbClr val="660066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>
            <a:alpha val="60001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407323" tIns="203662" rIns="407323" bIns="203662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2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0" i="0" u="none" strike="noStrike" cap="none" normalizeH="0" baseline="0" smtClean="0">
            <a:ln>
              <a:noFill/>
            </a:ln>
            <a:solidFill>
              <a:srgbClr val="660066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NEODC-EOEG05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ODC-EOEG05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ODC-EOEG05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ODC-EOEG05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ODC-EOEG05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ODC-EOEG05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ODC-EOEG05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ODC-EOEG05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Y:\CEDAR\neodc\NEODC-EOEG05.ppt</Template>
  <TotalTime>4880</TotalTime>
  <Words>86</Words>
  <Application>Microsoft Office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Tahoma</vt:lpstr>
      <vt:lpstr>Wingdings</vt:lpstr>
      <vt:lpstr>Wingdings 2</vt:lpstr>
      <vt:lpstr>NEODC-EOEG05</vt:lpstr>
      <vt:lpstr>NERC Earth Observation  Data Centre</vt:lpstr>
    </vt:vector>
  </TitlesOfParts>
  <Company>CCLRC Rutherford Appleton Laboratory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NEODC Report to EOEG May 2005</dc:title>
  <dc:creator>Bryan Lawrence</dc:creator>
  <cp:lastModifiedBy>Authorised User</cp:lastModifiedBy>
  <cp:revision>129</cp:revision>
  <dcterms:created xsi:type="dcterms:W3CDTF">2005-05-11T14:42:42Z</dcterms:created>
  <dcterms:modified xsi:type="dcterms:W3CDTF">2009-08-14T16:19:03Z</dcterms:modified>
</cp:coreProperties>
</file>