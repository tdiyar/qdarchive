
<file path=[Content_Types].xml><?xml version="1.0" encoding="utf-8"?>
<Types xmlns="http://schemas.openxmlformats.org/package/2006/content-types">
  <Default ContentType="image/jpeg" Extension="jpg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22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5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23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8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  <p:sldId id="267" r:id="rId16"/>
    <p:sldId id="268" r:id="rId17"/>
    <p:sldId id="269" r:id="rId18"/>
    <p:sldId id="270" r:id="rId19"/>
    <p:sldId id="271" r:id="rId20"/>
    <p:sldId id="272" r:id="rId21"/>
    <p:sldId id="273" r:id="rId22"/>
    <p:sldId id="274" r:id="rId23"/>
    <p:sldId id="275" r:id="rId24"/>
    <p:sldId id="276" r:id="rId25"/>
    <p:sldId id="277" r:id="rId26"/>
    <p:sldId id="278" r:id="rId27"/>
    <p:sldId id="279" r:id="rId28"/>
    <p:sldId id="280" r:id="rId29"/>
    <p:sldId id="281" r:id="rId30"/>
  </p:sldIdLst>
  <p:sldSz cy="6858000" cx="12192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r:id="rId31" roundtripDataSignature="AMtx7milmRLnzccXcFyr+B4T2ptHeyqJ2A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6.xml"/><Relationship Id="rId22" Type="http://schemas.openxmlformats.org/officeDocument/2006/relationships/slide" Target="slides/slide18.xml"/><Relationship Id="rId21" Type="http://schemas.openxmlformats.org/officeDocument/2006/relationships/slide" Target="slides/slide17.xml"/><Relationship Id="rId24" Type="http://schemas.openxmlformats.org/officeDocument/2006/relationships/slide" Target="slides/slide20.xml"/><Relationship Id="rId23" Type="http://schemas.openxmlformats.org/officeDocument/2006/relationships/slide" Target="slides/slide19.xml"/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schemas.openxmlformats.org/officeDocument/2006/relationships/slide" Target="slides/slide5.xml"/><Relationship Id="rId26" Type="http://schemas.openxmlformats.org/officeDocument/2006/relationships/slide" Target="slides/slide22.xml"/><Relationship Id="rId25" Type="http://schemas.openxmlformats.org/officeDocument/2006/relationships/slide" Target="slides/slide21.xml"/><Relationship Id="rId28" Type="http://schemas.openxmlformats.org/officeDocument/2006/relationships/slide" Target="slides/slide24.xml"/><Relationship Id="rId27" Type="http://schemas.openxmlformats.org/officeDocument/2006/relationships/slide" Target="slides/slide23.xml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29" Type="http://schemas.openxmlformats.org/officeDocument/2006/relationships/slide" Target="slides/slide25.xml"/><Relationship Id="rId7" Type="http://schemas.openxmlformats.org/officeDocument/2006/relationships/slide" Target="slides/slide3.xml"/><Relationship Id="rId8" Type="http://schemas.openxmlformats.org/officeDocument/2006/relationships/slide" Target="slides/slide4.xml"/><Relationship Id="rId31" Type="http://customschemas.google.com/relationships/presentationmetadata" Target="metadata"/><Relationship Id="rId30" Type="http://schemas.openxmlformats.org/officeDocument/2006/relationships/slide" Target="slides/slide26.xml"/><Relationship Id="rId11" Type="http://schemas.openxmlformats.org/officeDocument/2006/relationships/slide" Target="slides/slide7.xml"/><Relationship Id="rId10" Type="http://schemas.openxmlformats.org/officeDocument/2006/relationships/slide" Target="slides/slide6.xml"/><Relationship Id="rId13" Type="http://schemas.openxmlformats.org/officeDocument/2006/relationships/slide" Target="slides/slide9.xml"/><Relationship Id="rId12" Type="http://schemas.openxmlformats.org/officeDocument/2006/relationships/slide" Target="slides/slide8.xml"/><Relationship Id="rId15" Type="http://schemas.openxmlformats.org/officeDocument/2006/relationships/slide" Target="slides/slide11.xml"/><Relationship Id="rId14" Type="http://schemas.openxmlformats.org/officeDocument/2006/relationships/slide" Target="slides/slide10.xml"/><Relationship Id="rId17" Type="http://schemas.openxmlformats.org/officeDocument/2006/relationships/slide" Target="slides/slide13.xml"/><Relationship Id="rId16" Type="http://schemas.openxmlformats.org/officeDocument/2006/relationships/slide" Target="slides/slide12.xml"/><Relationship Id="rId19" Type="http://schemas.openxmlformats.org/officeDocument/2006/relationships/slide" Target="slides/slide15.xml"/><Relationship Id="rId18" Type="http://schemas.openxmlformats.org/officeDocument/2006/relationships/slide" Target="slides/slide14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8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84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93" name="Google Shape;93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00" name="Google Shape;100;p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g35c30861a88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06" name="Google Shape;106;g35c30861a88_0_0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12" name="Google Shape;112;p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6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18" name="Google Shape;118;p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2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g2d26813d73c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24" name="Google Shape;124;g2d26813d73c_0_0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g35b706e2200_0_0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0" name="Google Shape;130;g35b706e2200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5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g35b706e2200_0_9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7" name="Google Shape;137;g35b706e2200_0_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2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g35b706e2200_0_15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44" name="Google Shape;144;g35b706e2200_0_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9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50;p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51" name="Google Shape;151;p12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5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g3669fddb008_0_16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57" name="Google Shape;157;g3669fddb008_0_161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8" name="Google Shape;158;g3669fddb008_0_161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de-CH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6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Google Shape;167;g3669fddb008_0_18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8" name="Google Shape;168;g3669fddb008_0_1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5" name="Shape 1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Google Shape;176;g3669fddb008_0_28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77" name="Google Shape;177;g3669fddb008_0_288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2" name="Shape 1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" name="Google Shape;183;g3669fddb008_0_29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84" name="Google Shape;184;g3669fddb008_0_294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9" name="Shape 1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" name="Google Shape;190;g3669fddb008_0_13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1" name="Google Shape;191;g3669fddb008_0_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6" name="Shape 1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7" name="Google Shape;197;g3669fddb008_0_38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8" name="Google Shape;198;g3669fddb008_0_3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3" name="Shape 2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" name="Google Shape;204;g3669fddb008_0_8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5" name="Google Shape;205;g3669fddb008_0_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9" name="Shape 2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0" name="Google Shape;210;g3669fddb008_0_43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1" name="Google Shape;211;g3669fddb008_0_4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5" name="Shape 2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6" name="Google Shape;216;g3669fddb008_0_33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7" name="Google Shape;217;g3669fddb008_0_3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3" name="Shape 2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4" name="Google Shape;224;g3669fddb008_0_6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25" name="Google Shape;225;g3669fddb008_0_64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0" name="Shape 2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1" name="Google Shape;231;g3669fddb008_0_7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32" name="Google Shape;232;g3669fddb008_0_70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7" name="Shape 2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8" name="Google Shape;238;g3669fddb008_0_375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9" name="Google Shape;239;g3669fddb008_0_37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8" name="Shape 2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9" name="Google Shape;249;g3669fddb008_0_46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50" name="Google Shape;250;g3669fddb008_0_460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5" name="Shape 2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" name="Google Shape;256;g3669fddb008_0_46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57" name="Google Shape;257;g3669fddb008_0_466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2" name="Shape 2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3" name="Google Shape;263;g3669fddb008_0_0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64" name="Google Shape;264;g3669fddb008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8" name="Shape 2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9" name="Google Shape;269;g3669fddb008_0_284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70" name="Google Shape;270;g3669fddb008_0_28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tel og innhold" type="obj">
  <p:cSld name="OBJECT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14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14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4" name="Google Shape;14;p14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" name="Google Shape;15;p14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6" name="Google Shape;16;p14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de-CH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tellysbilde" type="title">
  <p:cSld name="TITLE"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15"/>
          <p:cNvSpPr txBox="1"/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15"/>
          <p:cNvSpPr txBox="1"/>
          <p:nvPr>
            <p:ph idx="1" type="subTitle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/>
        </p:txBody>
      </p:sp>
      <p:sp>
        <p:nvSpPr>
          <p:cNvPr id="20" name="Google Shape;20;p15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" name="Google Shape;21;p15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" name="Google Shape;22;p15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de-CH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loverskrift" type="secHead">
  <p:cSld name="SECTION_HEADER">
    <p:spTree>
      <p:nvGrpSpPr>
        <p:cNvPr id="23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16"/>
          <p:cNvSpPr txBox="1"/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16"/>
          <p:cNvSpPr txBox="1"/>
          <p:nvPr>
            <p:ph idx="1" type="body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 sz="2400">
                <a:solidFill>
                  <a:srgbClr val="888888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26" name="Google Shape;26;p16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7" name="Google Shape;27;p16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8" name="Google Shape;28;p16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de-CH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o innholdsdeler" type="twoObj">
  <p:cSld name="TWO_OBJECTS"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17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17"/>
          <p:cNvSpPr txBox="1"/>
          <p:nvPr>
            <p:ph idx="1" type="body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2" name="Google Shape;32;p17"/>
          <p:cNvSpPr txBox="1"/>
          <p:nvPr>
            <p:ph idx="2" type="body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3" name="Google Shape;33;p17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4" name="Google Shape;34;p17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17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de-CH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ammenligning" type="twoTxTwoObj">
  <p:cSld name="TWO_OBJECTS_WITH_TEXT"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18"/>
          <p:cNvSpPr txBox="1"/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18"/>
          <p:cNvSpPr txBox="1"/>
          <p:nvPr>
            <p:ph idx="1" type="body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39" name="Google Shape;39;p18"/>
          <p:cNvSpPr txBox="1"/>
          <p:nvPr>
            <p:ph idx="2" type="body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0" name="Google Shape;40;p18"/>
          <p:cNvSpPr txBox="1"/>
          <p:nvPr>
            <p:ph idx="3" type="body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1" name="Google Shape;41;p18"/>
          <p:cNvSpPr txBox="1"/>
          <p:nvPr>
            <p:ph idx="4" type="body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2" name="Google Shape;42;p18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3" name="Google Shape;43;p18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4" name="Google Shape;44;p18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de-CH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are tittel" type="titleOnly">
  <p:cSld name="TITLE_ONLY"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19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19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19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9" name="Google Shape;49;p19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de-CH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omt" type="blank">
  <p:cSld name="BLANK"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20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20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20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de-CH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nnhold med tekst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21"/>
          <p:cNvSpPr txBox="1"/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21"/>
          <p:cNvSpPr txBox="1"/>
          <p:nvPr>
            <p:ph idx="1" type="body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indent="-3810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indent="-355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indent="-355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7" name="Google Shape;57;p21"/>
          <p:cNvSpPr txBox="1"/>
          <p:nvPr>
            <p:ph idx="2" type="body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58" name="Google Shape;58;p21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21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21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de-CH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lde med tekst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22"/>
          <p:cNvSpPr txBox="1"/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22"/>
          <p:cNvSpPr/>
          <p:nvPr>
            <p:ph idx="2" type="pic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22"/>
          <p:cNvSpPr txBox="1"/>
          <p:nvPr>
            <p:ph idx="1" type="body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65" name="Google Shape;65;p22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22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22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de-CH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Loddrett tekst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23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23"/>
          <p:cNvSpPr txBox="1"/>
          <p:nvPr>
            <p:ph idx="1" type="body"/>
          </p:nvPr>
        </p:nvSpPr>
        <p:spPr>
          <a:xfrm rot="5400000">
            <a:off x="3920331" y="-1256506"/>
            <a:ext cx="4351338" cy="105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23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23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23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de-CH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Loddrett tittel og tekst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24"/>
          <p:cNvSpPr txBox="1"/>
          <p:nvPr>
            <p:ph type="title"/>
          </p:nvPr>
        </p:nvSpPr>
        <p:spPr>
          <a:xfrm rot="5400000">
            <a:off x="7133431" y="1956594"/>
            <a:ext cx="5811838" cy="2628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24"/>
          <p:cNvSpPr txBox="1"/>
          <p:nvPr>
            <p:ph idx="1" type="body"/>
          </p:nvPr>
        </p:nvSpPr>
        <p:spPr>
          <a:xfrm rot="5400000">
            <a:off x="1799431" y="-596106"/>
            <a:ext cx="5811838" cy="7734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24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24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24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de-CH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 2">
  <p:cSld name="Two Content 2">
    <p:bg>
      <p:bgPr>
        <a:solidFill>
          <a:schemeClr val="lt1"/>
        </a:solidFill>
      </p:bgPr>
    </p:bg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g3669fddb008_0_265"/>
          <p:cNvSpPr txBox="1"/>
          <p:nvPr>
            <p:ph type="title"/>
          </p:nvPr>
        </p:nvSpPr>
        <p:spPr>
          <a:xfrm>
            <a:off x="1341120" y="558801"/>
            <a:ext cx="9953400" cy="17808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grpSp>
        <p:nvGrpSpPr>
          <p:cNvPr id="82" name="Google Shape;82;g3669fddb008_0_265"/>
          <p:cNvGrpSpPr/>
          <p:nvPr/>
        </p:nvGrpSpPr>
        <p:grpSpPr>
          <a:xfrm>
            <a:off x="4430080" y="0"/>
            <a:ext cx="7762199" cy="2754939"/>
            <a:chOff x="7334400" y="0"/>
            <a:chExt cx="4857750" cy="1724100"/>
          </a:xfrm>
        </p:grpSpPr>
        <p:cxnSp>
          <p:nvCxnSpPr>
            <p:cNvPr id="83" name="Google Shape;83;g3669fddb008_0_265"/>
            <p:cNvCxnSpPr/>
            <p:nvPr/>
          </p:nvCxnSpPr>
          <p:spPr>
            <a:xfrm rot="10800000">
              <a:off x="7334400" y="0"/>
              <a:ext cx="4857600" cy="76200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84" name="Google Shape;84;g3669fddb008_0_265"/>
            <p:cNvCxnSpPr/>
            <p:nvPr/>
          </p:nvCxnSpPr>
          <p:spPr>
            <a:xfrm>
              <a:off x="11487150" y="0"/>
              <a:ext cx="705000" cy="172410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</p:grpSp>
      <p:sp>
        <p:nvSpPr>
          <p:cNvPr id="85" name="Google Shape;85;g3669fddb008_0_265"/>
          <p:cNvSpPr txBox="1"/>
          <p:nvPr>
            <p:ph idx="1" type="body"/>
          </p:nvPr>
        </p:nvSpPr>
        <p:spPr>
          <a:xfrm>
            <a:off x="1341120" y="2960877"/>
            <a:ext cx="2722800" cy="351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86" name="Google Shape;86;g3669fddb008_0_265"/>
          <p:cNvSpPr txBox="1"/>
          <p:nvPr>
            <p:ph idx="2" type="body"/>
          </p:nvPr>
        </p:nvSpPr>
        <p:spPr>
          <a:xfrm>
            <a:off x="1341120" y="3392035"/>
            <a:ext cx="2722800" cy="2907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0">
            <a:normAutofit/>
          </a:bodyPr>
          <a:lstStyle>
            <a:lvl1pPr indent="-342900" lvl="0" marL="4572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AutoNum type="arabicPeriod"/>
              <a:defRPr b="0" sz="1800"/>
            </a:lvl1pPr>
            <a:lvl2pPr indent="-342900" lvl="1" marL="9144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AutoNum type="alphaLcPeriod"/>
              <a:defRPr sz="1800"/>
            </a:lvl2pPr>
            <a:lvl3pPr indent="-342900" lvl="2" marL="1371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AutoNum type="arabicParenR"/>
              <a:defRPr sz="1800"/>
            </a:lvl3pPr>
            <a:lvl4pPr indent="-342900" lvl="3" marL="18288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AutoNum type="alphaLcParenR"/>
              <a:defRPr sz="1800"/>
            </a:lvl4pPr>
            <a:lvl5pPr indent="-342900" lvl="4" marL="22860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AutoNum type="romanLcPeriod"/>
              <a:defRPr sz="1800"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87" name="Google Shape;87;g3669fddb008_0_265"/>
          <p:cNvSpPr txBox="1"/>
          <p:nvPr>
            <p:ph idx="3" type="body"/>
          </p:nvPr>
        </p:nvSpPr>
        <p:spPr>
          <a:xfrm>
            <a:off x="4754881" y="2960877"/>
            <a:ext cx="5517000" cy="351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88" name="Google Shape;88;g3669fddb008_0_265"/>
          <p:cNvSpPr txBox="1"/>
          <p:nvPr>
            <p:ph idx="4" type="body"/>
          </p:nvPr>
        </p:nvSpPr>
        <p:spPr>
          <a:xfrm>
            <a:off x="4754881" y="3324859"/>
            <a:ext cx="5506800" cy="3031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0" sz="1800"/>
            </a:lvl1pPr>
            <a:lvl2pPr indent="-342900" lvl="1" marL="9144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/>
            </a:lvl2pPr>
            <a:lvl3pPr indent="-342900" lvl="2" marL="1371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/>
            </a:lvl3pPr>
            <a:lvl4pPr indent="-342900" lvl="3" marL="18288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/>
            </a:lvl4pPr>
            <a:lvl5pPr indent="-342900" lvl="4" marL="22860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89" name="Google Shape;89;g3669fddb008_0_265"/>
          <p:cNvSpPr txBox="1"/>
          <p:nvPr>
            <p:ph idx="11" type="ftr"/>
          </p:nvPr>
        </p:nvSpPr>
        <p:spPr>
          <a:xfrm>
            <a:off x="1333500" y="6356349"/>
            <a:ext cx="38193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900"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0" name="Google Shape;90;g3669fddb008_0_265"/>
          <p:cNvSpPr txBox="1"/>
          <p:nvPr>
            <p:ph idx="12" type="sldNum"/>
          </p:nvPr>
        </p:nvSpPr>
        <p:spPr>
          <a:xfrm>
            <a:off x="10373350" y="6356349"/>
            <a:ext cx="987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de-CH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3" Type="http://schemas.openxmlformats.org/officeDocument/2006/relationships/theme" Target="../theme/theme1.xml"/><Relationship Id="rId12" Type="http://schemas.openxmlformats.org/officeDocument/2006/relationships/slideLayout" Target="../slideLayouts/slideLayout12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3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" name="Google Shape;7;p13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13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13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13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de-CH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9.jp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hyperlink" Target="https://www.suub.uni-bremen.de/home-english/" TargetMode="External"/><Relationship Id="rId4" Type="http://schemas.openxmlformats.org/officeDocument/2006/relationships/hyperlink" Target="https://www.qualiservice.org/en/" TargetMode="Externa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hyperlink" Target="https://zenodo.org/records/13829422/files/Scientific%20Work%20Plan%202024-2026%20v1.0.pdf?download=1" TargetMode="External"/><Relationship Id="rId4" Type="http://schemas.openxmlformats.org/officeDocument/2006/relationships/hyperlink" Target="https://zenodo.org/records/11463891/files/DDI%20Alliance%20Strategic%20Plan,%202024-2027.pdf?download=1" TargetMode="Externa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1.xml"/><Relationship Id="rId3" Type="http://schemas.openxmlformats.org/officeDocument/2006/relationships/hyperlink" Target="https://docs.google.com/spreadsheets/d/1b390D4CpPXqtqi7-e5GhrvWdHbNEG697/edit?usp=sharing&amp;ouid=102757977752490519555&amp;rtpof=true&amp;sd=true" TargetMode="External"/><Relationship Id="rId4" Type="http://schemas.openxmlformats.org/officeDocument/2006/relationships/hyperlink" Target="https://docs.google.com/presentation/d/1pKxFWQCNodaefQO2nsiig7R-6pltxd6V/edit?usp=sharing&amp;ouid=109649937952024881421&amp;rtpof=true&amp;sd=true" TargetMode="Externa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Relationship Id="rId3" Type="http://schemas.openxmlformats.org/officeDocument/2006/relationships/hyperlink" Target="https://docs.google.com/presentation/d/16RQ4GTSg-4qN7cf1EdkueCsBJoOBEatx/edit?usp=sharing&amp;ouid=109649937952024881421&amp;rtpof=true&amp;sd=true" TargetMode="External"/><Relationship Id="rId4" Type="http://schemas.openxmlformats.org/officeDocument/2006/relationships/hyperlink" Target="https://ddialliance.org/" TargetMode="External"/><Relationship Id="rId5" Type="http://schemas.openxmlformats.org/officeDocument/2006/relationships/hyperlink" Target="https://ddialliance.org/" TargetMode="External"/><Relationship Id="rId6" Type="http://schemas.openxmlformats.org/officeDocument/2006/relationships/hyperlink" Target="http://docs.ddialliance.org/" TargetMode="External"/><Relationship Id="rId7" Type="http://schemas.openxmlformats.org/officeDocument/2006/relationships/image" Target="../media/image1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1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Relationship Id="rId3" Type="http://schemas.openxmlformats.org/officeDocument/2006/relationships/hyperlink" Target="https://docs.google.com/presentation/d/13DOXHCmxsuqPIoKLJIDZ1q4p-YTkTm9_/edit?usp=sharing&amp;ouid=109649937952024881421&amp;rtpof=true&amp;sd=true" TargetMode="External"/><Relationship Id="rId4" Type="http://schemas.openxmlformats.org/officeDocument/2006/relationships/image" Target="../media/image8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Relationship Id="rId3" Type="http://schemas.openxmlformats.org/officeDocument/2006/relationships/hyperlink" Target="https://docs.google.com/presentation/d/1115EedjWrnxwevGVnmEan0tlHatgQVQ4/edit?usp=sharing&amp;ouid=109649937952024881421&amp;rtpof=true&amp;sd=true" TargetMode="External"/><Relationship Id="rId4" Type="http://schemas.openxmlformats.org/officeDocument/2006/relationships/hyperlink" Target="https://codata.org/initiatives/data-skills/ddi-training-webinars/" TargetMode="External"/><Relationship Id="rId5" Type="http://schemas.openxmlformats.org/officeDocument/2006/relationships/hyperlink" Target="https://codata.org/initiatives/data-skills/ddi-training-webinars/questions-and-survey-instruments-in-ddi-maximizing-the-value-of-your-metadata/" TargetMode="External"/><Relationship Id="rId6" Type="http://schemas.openxmlformats.org/officeDocument/2006/relationships/hyperlink" Target="https://zenodo.org/records/11200285" TargetMode="External"/><Relationship Id="rId7" Type="http://schemas.openxmlformats.org/officeDocument/2006/relationships/image" Target="../media/image7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Relationship Id="rId3" Type="http://schemas.openxmlformats.org/officeDocument/2006/relationships/hyperlink" Target="https://drive.google.com/file/d/1cMl4WVIYkKO7t33lGrI1gveGJrPYl2yR/view?usp=sharing" TargetMode="External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Relationship Id="rId3" Type="http://schemas.openxmlformats.org/officeDocument/2006/relationships/hyperlink" Target="https://docs.google.com/presentation/d/1sZ6sSKQCimQxIXpn11Yw8YgKAC2TTlmX/edit?usp=sharing&amp;ouid=109649937952024881421&amp;rtpof=true&amp;sd=true" TargetMode="External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Relationship Id="rId3" Type="http://schemas.openxmlformats.org/officeDocument/2006/relationships/hyperlink" Target="https://docs.google.com/presentation/d/1l2-ErpFn6cqM4kMFbvKi6x2qYNceC6u6/edit?usp=sharing&amp;ouid=109649937952024881421&amp;rtpof=true&amp;sd=true" TargetMode="External"/><Relationship Id="rId4" Type="http://schemas.openxmlformats.org/officeDocument/2006/relationships/hyperlink" Target="https://www.w3.org/2017/dxwg/wiki/Main_Page" TargetMode="External"/><Relationship Id="rId5" Type="http://schemas.openxmlformats.org/officeDocument/2006/relationships/image" Target="../media/image1.png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1.png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1.png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Relationship Id="rId3" Type="http://schemas.openxmlformats.org/officeDocument/2006/relationships/hyperlink" Target="https://docs.google.com/presentation/d/1zy-K3I6b1aLUT9PH4nfzOBwqmKD6xC3-/edit?usp=sharing&amp;ouid=109649937952024881421&amp;rtpof=true&amp;sd=true" TargetMode="External"/><Relationship Id="rId4" Type="http://schemas.openxmlformats.org/officeDocument/2006/relationships/image" Target="../media/image10.png"/><Relationship Id="rId5" Type="http://schemas.openxmlformats.org/officeDocument/2006/relationships/image" Target="../media/image3.png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Relationship Id="rId3" Type="http://schemas.openxmlformats.org/officeDocument/2006/relationships/hyperlink" Target="https://docs.google.com/presentation/d/1ux6BQLZtx_m3OBaJwi1S1kiGhFUutj6P/edit?usp=sharing&amp;ouid=109649937952024881421&amp;rtpof=true&amp;sd=true" TargetMode="External"/><Relationship Id="rId4" Type="http://schemas.openxmlformats.org/officeDocument/2006/relationships/image" Target="../media/image1.png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Relationship Id="rId3" Type="http://schemas.openxmlformats.org/officeDocument/2006/relationships/image" Target="../media/image1.png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Relationship Id="rId3" Type="http://schemas.openxmlformats.org/officeDocument/2006/relationships/hyperlink" Target="mailto:hilde.orten@sikt.no" TargetMode="External"/><Relationship Id="rId4" Type="http://schemas.openxmlformats.org/officeDocument/2006/relationships/hyperlink" Target="mailto:dbell@essex.ac.uk" TargetMode="External"/><Relationship Id="rId5" Type="http://schemas.openxmlformats.org/officeDocument/2006/relationships/hyperlink" Target="https://zenodo.org/records/15497241" TargetMode="Externa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1"/>
          <p:cNvSpPr txBox="1"/>
          <p:nvPr>
            <p:ph type="title"/>
          </p:nvPr>
        </p:nvSpPr>
        <p:spPr>
          <a:xfrm>
            <a:off x="687456" y="1435652"/>
            <a:ext cx="10515600" cy="180450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 fontScale="90000"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None/>
            </a:pPr>
            <a:r>
              <a:rPr lang="de-CH"/>
              <a:t>Scientific Board and Working Group Highlights</a:t>
            </a:r>
            <a:endParaRPr/>
          </a:p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33333"/>
              <a:buFont typeface="Calibri"/>
              <a:buNone/>
            </a:pPr>
            <a:r>
              <a:rPr lang="de-CH"/>
              <a:t>Report 2024/2025</a:t>
            </a:r>
            <a:br>
              <a:rPr lang="de-CH"/>
            </a:br>
            <a:br>
              <a:rPr lang="de-CH"/>
            </a:br>
            <a:endParaRPr sz="3300"/>
          </a:p>
        </p:txBody>
      </p:sp>
      <p:sp>
        <p:nvSpPr>
          <p:cNvPr id="96" name="Google Shape;96;p1"/>
          <p:cNvSpPr/>
          <p:nvPr/>
        </p:nvSpPr>
        <p:spPr>
          <a:xfrm>
            <a:off x="1688925" y="2601144"/>
            <a:ext cx="9144000" cy="1655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marR="0" rt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20"/>
              <a:buFont typeface="Arial"/>
              <a:buNone/>
            </a:pPr>
            <a:r>
              <a:t/>
            </a:r>
            <a:endParaRPr b="0" i="0" sz="22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8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220"/>
              <a:buFont typeface="Arial"/>
              <a:buNone/>
            </a:pPr>
            <a:r>
              <a:rPr b="0" i="0" lang="de-CH" sz="222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Hilde Orten and Darren Bell, Co-chair of the DDI Alliance Scientific Board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8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220"/>
              <a:buFont typeface="Arial"/>
              <a:buNone/>
            </a:pPr>
            <a:r>
              <a:t/>
            </a:r>
            <a:endParaRPr b="0" i="0" sz="22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8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220"/>
              <a:buFont typeface="Arial"/>
              <a:buNone/>
            </a:pPr>
            <a:r>
              <a:rPr b="0" i="0" lang="de-CH" sz="222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DDI Alliance Annual Meeting of </a:t>
            </a:r>
            <a:r>
              <a:rPr lang="de-CH" sz="222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Members</a:t>
            </a:r>
            <a:endParaRPr b="0" i="0" sz="22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8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220"/>
              <a:buFont typeface="Arial"/>
              <a:buNone/>
            </a:pPr>
            <a:r>
              <a:t/>
            </a:r>
            <a:endParaRPr b="0" i="0" sz="22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8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220"/>
              <a:buFont typeface="Arial"/>
              <a:buNone/>
            </a:pPr>
            <a:r>
              <a:rPr b="0" i="0" lang="de-CH" sz="222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Virtual meeting 2025-0</a:t>
            </a:r>
            <a:r>
              <a:rPr lang="de-CH" sz="222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6</a:t>
            </a:r>
            <a:r>
              <a:rPr b="0" i="0" lang="de-CH" sz="222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-</a:t>
            </a:r>
            <a:r>
              <a:rPr lang="de-CH" sz="222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10</a:t>
            </a:r>
            <a:endParaRPr b="0" i="0" sz="22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97" name="Google Shape;97;p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411124" y="4976949"/>
            <a:ext cx="5524902" cy="14272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2"/>
          <p:cNvSpPr txBox="1"/>
          <p:nvPr>
            <p:ph type="title"/>
          </p:nvPr>
        </p:nvSpPr>
        <p:spPr>
          <a:xfrm>
            <a:off x="618300" y="0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de-CH" sz="3600"/>
              <a:t>Members of the Scientific Board</a:t>
            </a:r>
            <a:endParaRPr sz="3600"/>
          </a:p>
        </p:txBody>
      </p:sp>
      <p:sp>
        <p:nvSpPr>
          <p:cNvPr id="103" name="Google Shape;103;p2"/>
          <p:cNvSpPr txBox="1"/>
          <p:nvPr>
            <p:ph idx="1" type="body"/>
          </p:nvPr>
        </p:nvSpPr>
        <p:spPr>
          <a:xfrm>
            <a:off x="618300" y="1140675"/>
            <a:ext cx="11103300" cy="5552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191816" lvl="0" marL="22860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</a:pPr>
            <a:r>
              <a:rPr b="1" lang="de-CH" sz="1800"/>
              <a:t>Chair (2021- 2025, 2025 - 2029. Vice chair 2021 - 2023, chair 2023 - 2025)</a:t>
            </a:r>
            <a:endParaRPr sz="1800"/>
          </a:p>
          <a:p>
            <a:pPr indent="-342945" lvl="1" marL="91440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</a:pPr>
            <a:r>
              <a:rPr lang="de-CH" sz="1800"/>
              <a:t>Hilde Orten, Sikt - Norwegian Agency for Shared Services in Education and Research</a:t>
            </a:r>
            <a:endParaRPr sz="1800"/>
          </a:p>
          <a:p>
            <a:pPr indent="-191816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</a:pPr>
            <a:r>
              <a:rPr b="1" lang="de-CH" sz="1800"/>
              <a:t>Vice Chair (2021-2027. Vice chair from 2023)</a:t>
            </a:r>
            <a:r>
              <a:rPr lang="de-CH" sz="1800"/>
              <a:t> </a:t>
            </a:r>
            <a:endParaRPr sz="1800"/>
          </a:p>
          <a:p>
            <a:pPr indent="-342947" lvl="1" marL="9144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</a:pPr>
            <a:r>
              <a:rPr lang="de-CH" sz="1800"/>
              <a:t>Darren Bell, UK Data Service</a:t>
            </a:r>
            <a:endParaRPr sz="1800"/>
          </a:p>
          <a:p>
            <a:pPr indent="-191816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</a:pPr>
            <a:r>
              <a:rPr b="1" lang="de-CH" sz="1800"/>
              <a:t>Members</a:t>
            </a:r>
            <a:endParaRPr sz="1800"/>
          </a:p>
          <a:p>
            <a:pPr indent="-342945" lvl="1" marL="9144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</a:pPr>
            <a:r>
              <a:rPr lang="de-CH" sz="1800"/>
              <a:t>Flavio Rizzolo, Statistics Canada, </a:t>
            </a:r>
            <a:r>
              <a:rPr b="1" lang="de-CH" sz="1800"/>
              <a:t>2021-2025</a:t>
            </a:r>
            <a:endParaRPr b="1" sz="1800"/>
          </a:p>
          <a:p>
            <a:pPr indent="-342945" lvl="1" marL="9144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</a:pPr>
            <a:r>
              <a:rPr lang="de-CH" sz="1800"/>
              <a:t>Ingo Barkow, University of Applied Sciences of the Grisons, </a:t>
            </a:r>
            <a:r>
              <a:rPr b="1" lang="de-CH" sz="1800"/>
              <a:t>2021-2025</a:t>
            </a:r>
            <a:endParaRPr b="1" sz="1800"/>
          </a:p>
          <a:p>
            <a:pPr indent="-342945" lvl="1" marL="9144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</a:pPr>
            <a:r>
              <a:rPr lang="de-CH" sz="1800"/>
              <a:t>Simon Hodson, CODATA, </a:t>
            </a:r>
            <a:r>
              <a:rPr b="1" lang="de-CH" sz="1800"/>
              <a:t>2021-2025, 2025 - 2029</a:t>
            </a:r>
            <a:r>
              <a:rPr lang="de-CH" sz="1800"/>
              <a:t>	</a:t>
            </a:r>
            <a:endParaRPr sz="1800"/>
          </a:p>
          <a:p>
            <a:pPr indent="-342945" lvl="1" marL="9144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</a:pPr>
            <a:r>
              <a:rPr lang="de-CH" sz="1800"/>
              <a:t>Wolfgang Zenk-Möltgen, GESIS - Leibniz Institute for the Social Sciences, </a:t>
            </a:r>
            <a:r>
              <a:rPr b="1" lang="de-CH" sz="1800"/>
              <a:t>2021-2027</a:t>
            </a:r>
            <a:endParaRPr b="1" sz="1800"/>
          </a:p>
          <a:p>
            <a:pPr indent="-342945" lvl="1" marL="9144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</a:pPr>
            <a:r>
              <a:rPr lang="de-CH" sz="1800"/>
              <a:t>Jared Lyle, ICPSR, DDI Alliance Executive Director, ex officio, </a:t>
            </a:r>
            <a:r>
              <a:rPr b="1" lang="de-CH" sz="1800"/>
              <a:t>2021-present</a:t>
            </a:r>
            <a:endParaRPr b="1" sz="1800"/>
          </a:p>
          <a:p>
            <a:pPr indent="-342945" lvl="1" marL="9144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</a:pPr>
            <a:r>
              <a:rPr lang="de-CH" sz="1800"/>
              <a:t>Wendy Thomas, Minnesota Population Center, Technical Committee Chair, ex officio, </a:t>
            </a:r>
            <a:r>
              <a:rPr b="1" lang="de-CH" sz="1800"/>
              <a:t>2021-present</a:t>
            </a:r>
            <a:endParaRPr b="1" sz="1800"/>
          </a:p>
          <a:p>
            <a:pPr indent="-342945" lvl="1" marL="9144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1800"/>
              <a:buChar char="•"/>
            </a:pPr>
            <a:r>
              <a:rPr lang="de-CH" sz="1800"/>
              <a:t>Dan Smith, Colectica, </a:t>
            </a:r>
            <a:r>
              <a:rPr b="1" lang="de-CH" sz="1800"/>
              <a:t>2023 - 2027</a:t>
            </a:r>
            <a:endParaRPr b="1" sz="1800"/>
          </a:p>
          <a:p>
            <a:pPr indent="-191816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</a:pPr>
            <a:r>
              <a:rPr b="1" lang="de-CH" sz="1800"/>
              <a:t>Welcoming new members starting July</a:t>
            </a:r>
            <a:endParaRPr b="1" sz="1800"/>
          </a:p>
          <a:p>
            <a:pPr indent="-213398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</a:pPr>
            <a:r>
              <a:rPr lang="de-CH" sz="1800"/>
              <a:t>Amber Leahey, Borealis and ScholarsPortal</a:t>
            </a:r>
            <a:endParaRPr b="1" sz="1800"/>
          </a:p>
          <a:p>
            <a:pPr indent="-213398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</a:pPr>
            <a:r>
              <a:rPr lang="de-CH" sz="1800"/>
              <a:t>Noemi Betancort, </a:t>
            </a:r>
            <a:r>
              <a:rPr lang="de-CH" sz="1800" u="sng">
                <a:solidFill>
                  <a:schemeClr val="hlink"/>
                </a:solidFill>
                <a:hlinkClick r:id="rId3"/>
              </a:rPr>
              <a:t>SuUB Library in Bremen</a:t>
            </a:r>
            <a:r>
              <a:rPr lang="de-CH" sz="1800">
                <a:highlight>
                  <a:srgbClr val="FFFFFF"/>
                </a:highlight>
              </a:rPr>
              <a:t> and the Research Data Center </a:t>
            </a:r>
            <a:r>
              <a:rPr lang="de-CH" sz="1800" u="sng">
                <a:solidFill>
                  <a:schemeClr val="hlink"/>
                </a:solidFill>
                <a:hlinkClick r:id="rId4"/>
              </a:rPr>
              <a:t>Qualiservice</a:t>
            </a:r>
            <a:endParaRPr b="1" sz="1800"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t/>
            </a:r>
            <a:endParaRPr sz="180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g35c30861a88_0_0"/>
          <p:cNvSpPr txBox="1"/>
          <p:nvPr>
            <p:ph type="title"/>
          </p:nvPr>
        </p:nvSpPr>
        <p:spPr>
          <a:xfrm>
            <a:off x="735049" y="253375"/>
            <a:ext cx="11010000" cy="132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</a:pPr>
            <a:r>
              <a:rPr lang="de-CH" sz="4000"/>
              <a:t>Contacts </a:t>
            </a:r>
            <a:endParaRPr sz="4000"/>
          </a:p>
        </p:txBody>
      </p:sp>
      <p:sp>
        <p:nvSpPr>
          <p:cNvPr id="109" name="Google Shape;109;g35c30861a88_0_0"/>
          <p:cNvSpPr txBox="1"/>
          <p:nvPr>
            <p:ph idx="1" type="body"/>
          </p:nvPr>
        </p:nvSpPr>
        <p:spPr>
          <a:xfrm>
            <a:off x="735055" y="1579084"/>
            <a:ext cx="10515600" cy="4890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32500" lnSpcReduction="20000"/>
          </a:bodyPr>
          <a:lstStyle/>
          <a:p>
            <a:pPr indent="0" lvl="0" marL="9144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ct val="327271"/>
              <a:buNone/>
            </a:pPr>
            <a:r>
              <a:t/>
            </a:r>
            <a:endParaRPr sz="2200"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27195"/>
              <a:buNone/>
            </a:pPr>
            <a:r>
              <a:rPr lang="de-CH" sz="8087"/>
              <a:t>W3C Contact: Darren Bell</a:t>
            </a:r>
            <a:endParaRPr sz="8087"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27199"/>
              <a:buNone/>
            </a:pPr>
            <a:r>
              <a:t/>
            </a:r>
            <a:endParaRPr sz="8087"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27195"/>
              <a:buNone/>
            </a:pPr>
            <a:r>
              <a:rPr lang="de-CH" sz="8087"/>
              <a:t>ISO TC46/SC4 contact: Dan Gillman</a:t>
            </a:r>
            <a:endParaRPr sz="8087"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27199"/>
              <a:buNone/>
            </a:pPr>
            <a:r>
              <a:t/>
            </a:r>
            <a:endParaRPr sz="8087"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27195"/>
              <a:buNone/>
            </a:pPr>
            <a:r>
              <a:rPr lang="de-CH" sz="8087"/>
              <a:t>UNECE contact: Flavio Rizzolo, Arofan Gregory</a:t>
            </a:r>
            <a:endParaRPr sz="8087"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52380"/>
              <a:buNone/>
            </a:pPr>
            <a:r>
              <a:t/>
            </a:r>
            <a:endParaRPr sz="4200"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52380"/>
              <a:buNone/>
            </a:pPr>
            <a:r>
              <a:t/>
            </a:r>
            <a:endParaRPr sz="4200"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47619"/>
              <a:buNone/>
            </a:pPr>
            <a:r>
              <a:t/>
            </a:r>
            <a:endParaRPr b="1" sz="4200"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t/>
            </a:r>
            <a:endParaRPr b="1" sz="2000"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t/>
            </a:r>
            <a:endParaRPr sz="2200"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t/>
            </a:r>
            <a:endParaRPr sz="2200"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t/>
            </a:r>
            <a:endParaRPr sz="2200"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t/>
            </a:r>
            <a:endParaRPr sz="2200"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t/>
            </a:r>
            <a:endParaRPr sz="2200"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t/>
            </a:r>
            <a:endParaRPr b="1" sz="2200"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t/>
            </a:r>
            <a:endParaRPr sz="220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7"/>
          <p:cNvSpPr txBox="1"/>
          <p:nvPr>
            <p:ph type="title"/>
          </p:nvPr>
        </p:nvSpPr>
        <p:spPr>
          <a:xfrm>
            <a:off x="475025" y="119325"/>
            <a:ext cx="11717100" cy="132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de-CH" sz="3600"/>
              <a:t>Committees and working groups under the Scientific Board</a:t>
            </a:r>
            <a:r>
              <a:rPr lang="de-CH"/>
              <a:t> </a:t>
            </a:r>
            <a:endParaRPr/>
          </a:p>
        </p:txBody>
      </p:sp>
      <p:sp>
        <p:nvSpPr>
          <p:cNvPr id="115" name="Google Shape;115;p7"/>
          <p:cNvSpPr txBox="1"/>
          <p:nvPr>
            <p:ph idx="1" type="body"/>
          </p:nvPr>
        </p:nvSpPr>
        <p:spPr>
          <a:xfrm>
            <a:off x="572375" y="1197625"/>
            <a:ext cx="10150200" cy="5596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t/>
            </a:r>
            <a:endParaRPr sz="2400"/>
          </a:p>
          <a:p>
            <a:pPr indent="-381000" lvl="0" marL="45720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2400"/>
              <a:buFont typeface="Calibri"/>
              <a:buChar char="•"/>
            </a:pPr>
            <a:r>
              <a:rPr lang="de-CH" sz="2400">
                <a:highlight>
                  <a:schemeClr val="lt1"/>
                </a:highlight>
              </a:rPr>
              <a:t>Technical Committee (also had important technical governance responsibilities)</a:t>
            </a:r>
            <a:endParaRPr sz="2400">
              <a:highlight>
                <a:schemeClr val="lt1"/>
              </a:highlight>
            </a:endParaRPr>
          </a:p>
          <a:p>
            <a:pPr indent="-381000" lvl="0" marL="45720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2400"/>
              <a:buFont typeface="Calibri"/>
              <a:buChar char="•"/>
            </a:pPr>
            <a:r>
              <a:rPr lang="de-CH" sz="2400">
                <a:highlight>
                  <a:schemeClr val="lt1"/>
                </a:highlight>
              </a:rPr>
              <a:t>Training Working Group</a:t>
            </a:r>
            <a:endParaRPr sz="2400">
              <a:highlight>
                <a:schemeClr val="lt1"/>
              </a:highlight>
            </a:endParaRPr>
          </a:p>
          <a:p>
            <a:pPr indent="-381000" lvl="0" marL="457200" rtl="0" algn="l">
              <a:lnSpc>
                <a:spcPct val="115421"/>
              </a:lnSpc>
              <a:spcBef>
                <a:spcPts val="0"/>
              </a:spcBef>
              <a:spcAft>
                <a:spcPts val="0"/>
              </a:spcAft>
              <a:buSzPts val="2400"/>
              <a:buFont typeface="Calibri"/>
              <a:buChar char="•"/>
            </a:pPr>
            <a:r>
              <a:rPr lang="de-CH" sz="2400">
                <a:highlight>
                  <a:schemeClr val="lt1"/>
                </a:highlight>
              </a:rPr>
              <a:t>Controlled Vocabularies Working Group</a:t>
            </a:r>
            <a:endParaRPr sz="2400">
              <a:highlight>
                <a:schemeClr val="lt1"/>
              </a:highlight>
            </a:endParaRPr>
          </a:p>
          <a:p>
            <a:pPr indent="-381000" lvl="0" marL="45720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2400"/>
              <a:buFont typeface="Calibri"/>
              <a:buChar char="•"/>
            </a:pPr>
            <a:r>
              <a:rPr lang="de-CH" sz="2400">
                <a:highlight>
                  <a:schemeClr val="lt1"/>
                </a:highlight>
              </a:rPr>
              <a:t>Cross Domain Integration (CDI) Working Group</a:t>
            </a:r>
            <a:endParaRPr sz="2400">
              <a:highlight>
                <a:schemeClr val="lt1"/>
              </a:highlight>
            </a:endParaRPr>
          </a:p>
          <a:p>
            <a:pPr indent="-381000" lvl="0" marL="457200" rtl="0" algn="l">
              <a:lnSpc>
                <a:spcPct val="115421"/>
              </a:lnSpc>
              <a:spcBef>
                <a:spcPts val="0"/>
              </a:spcBef>
              <a:spcAft>
                <a:spcPts val="0"/>
              </a:spcAft>
              <a:buSzPts val="2400"/>
              <a:buFont typeface="Calibri"/>
              <a:buChar char="•"/>
            </a:pPr>
            <a:r>
              <a:rPr lang="de-CH" sz="2400">
                <a:highlight>
                  <a:schemeClr val="lt1"/>
                </a:highlight>
              </a:rPr>
              <a:t>DDI Developers Group</a:t>
            </a:r>
            <a:endParaRPr sz="2400">
              <a:highlight>
                <a:schemeClr val="lt1"/>
              </a:highlight>
            </a:endParaRPr>
          </a:p>
          <a:p>
            <a:pPr indent="-381000" lvl="0" marL="457200" rtl="0" algn="l">
              <a:lnSpc>
                <a:spcPct val="115421"/>
              </a:lnSpc>
              <a:spcBef>
                <a:spcPts val="0"/>
              </a:spcBef>
              <a:spcAft>
                <a:spcPts val="0"/>
              </a:spcAft>
              <a:buSzPts val="2400"/>
              <a:buFont typeface="Calibri"/>
              <a:buChar char="•"/>
            </a:pPr>
            <a:r>
              <a:rPr lang="de-CH" sz="2400">
                <a:highlight>
                  <a:schemeClr val="lt1"/>
                </a:highlight>
              </a:rPr>
              <a:t>Structured Data Transformation Language (SDTL) Working Group</a:t>
            </a:r>
            <a:endParaRPr sz="2400">
              <a:highlight>
                <a:schemeClr val="lt1"/>
              </a:highlight>
            </a:endParaRPr>
          </a:p>
          <a:p>
            <a:pPr indent="-381000" lvl="0" marL="457200" rtl="0" algn="l">
              <a:lnSpc>
                <a:spcPct val="115421"/>
              </a:lnSpc>
              <a:spcBef>
                <a:spcPts val="0"/>
              </a:spcBef>
              <a:spcAft>
                <a:spcPts val="0"/>
              </a:spcAft>
              <a:buSzPts val="2400"/>
              <a:buFont typeface="Calibri"/>
              <a:buChar char="•"/>
            </a:pPr>
            <a:r>
              <a:rPr lang="de-CH" sz="2400"/>
              <a:t>RDF Equivalence Working Group</a:t>
            </a:r>
            <a:endParaRPr sz="2400"/>
          </a:p>
          <a:p>
            <a:pPr indent="-381000" lvl="0" marL="4572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400"/>
              <a:buFont typeface="Calibri"/>
              <a:buChar char="•"/>
            </a:pPr>
            <a:r>
              <a:rPr lang="de-CH" sz="2400"/>
              <a:t>Questions and Questionnaires Working Group</a:t>
            </a:r>
            <a:endParaRPr sz="2400"/>
          </a:p>
          <a:p>
            <a:pPr indent="0" lvl="0" marL="4572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sz="2400"/>
          </a:p>
          <a:p>
            <a:pPr indent="-381000" lvl="0" marL="45720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2400"/>
              <a:buFont typeface="Calibri"/>
              <a:buChar char="•"/>
            </a:pPr>
            <a:r>
              <a:rPr lang="de-CH" sz="2400">
                <a:highlight>
                  <a:schemeClr val="lt1"/>
                </a:highlight>
              </a:rPr>
              <a:t>XKOS - Extended Knowledge Organization System Working Group</a:t>
            </a:r>
            <a:endParaRPr sz="2400">
              <a:highlight>
                <a:schemeClr val="lt1"/>
              </a:highlight>
            </a:endParaRPr>
          </a:p>
          <a:p>
            <a:pPr indent="-381000" lvl="0" marL="457200" rtl="0" algn="l">
              <a:lnSpc>
                <a:spcPct val="115421"/>
              </a:lnSpc>
              <a:spcBef>
                <a:spcPts val="0"/>
              </a:spcBef>
              <a:spcAft>
                <a:spcPts val="0"/>
              </a:spcAft>
              <a:buSzPts val="2400"/>
              <a:buFont typeface="Calibri"/>
              <a:buChar char="•"/>
            </a:pPr>
            <a:r>
              <a:rPr lang="de-CH" sz="2400">
                <a:highlight>
                  <a:schemeClr val="lt1"/>
                </a:highlight>
              </a:rPr>
              <a:t>Glossary Working Group</a:t>
            </a:r>
            <a:endParaRPr sz="2400">
              <a:highlight>
                <a:schemeClr val="lt1"/>
              </a:highlight>
            </a:endParaRPr>
          </a:p>
          <a:p>
            <a:pPr indent="-381000" lvl="0" marL="457200" rtl="0" algn="l">
              <a:lnSpc>
                <a:spcPct val="115421"/>
              </a:lnSpc>
              <a:spcBef>
                <a:spcPts val="0"/>
              </a:spcBef>
              <a:spcAft>
                <a:spcPts val="0"/>
              </a:spcAft>
              <a:buSzPts val="2400"/>
              <a:buChar char="•"/>
            </a:pPr>
            <a:r>
              <a:rPr lang="de-CH" sz="2400">
                <a:highlight>
                  <a:schemeClr val="lt1"/>
                </a:highlight>
              </a:rPr>
              <a:t>Temporary group focusing on ISO certification for DDI</a:t>
            </a:r>
            <a:endParaRPr sz="2400">
              <a:highlight>
                <a:schemeClr val="lt1"/>
              </a:highlight>
            </a:endParaRPr>
          </a:p>
          <a:p>
            <a:pPr indent="0" lvl="0" marL="0" rtl="0" algn="l">
              <a:lnSpc>
                <a:spcPct val="115421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sz="2400">
              <a:highlight>
                <a:schemeClr val="lt1"/>
              </a:highlight>
            </a:endParaRPr>
          </a:p>
          <a:p>
            <a:pPr indent="0" lvl="0" marL="4572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sz="2400"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t/>
            </a:r>
            <a:endParaRPr sz="2400"/>
          </a:p>
          <a:p>
            <a:pPr indent="0" lvl="0" marL="4572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sz="2400"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sz="2400"/>
          </a:p>
          <a:p>
            <a:pPr indent="0" lvl="0" marL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 sz="2400">
              <a:solidFill>
                <a:srgbClr val="007682"/>
              </a:solidFill>
              <a:highlight>
                <a:srgbClr val="FFFFFF"/>
              </a:highlight>
            </a:endParaRPr>
          </a:p>
          <a:p>
            <a:pPr indent="0" lvl="0" marL="0" rtl="0" algn="l">
              <a:lnSpc>
                <a:spcPct val="115421"/>
              </a:lnSpc>
              <a:spcBef>
                <a:spcPts val="150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 sz="2400">
              <a:solidFill>
                <a:srgbClr val="007682"/>
              </a:solidFill>
              <a:highlight>
                <a:srgbClr val="FFFFFF"/>
              </a:highlight>
            </a:endParaRPr>
          </a:p>
          <a:p>
            <a:pPr indent="0" lvl="0" marL="0" rtl="0" algn="l">
              <a:lnSpc>
                <a:spcPct val="115421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2400">
              <a:solidFill>
                <a:srgbClr val="007682"/>
              </a:solidFill>
              <a:highlight>
                <a:srgbClr val="FFFFFF"/>
              </a:highlight>
            </a:endParaRPr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sz="2400"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sz="2400"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sz="2400"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sz="240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p5"/>
          <p:cNvSpPr txBox="1"/>
          <p:nvPr>
            <p:ph type="title"/>
          </p:nvPr>
        </p:nvSpPr>
        <p:spPr>
          <a:xfrm>
            <a:off x="735049" y="253375"/>
            <a:ext cx="11010000" cy="132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</a:pPr>
            <a:r>
              <a:rPr lang="de-CH" sz="4000"/>
              <a:t>Activities of the Scientific Board in the past year </a:t>
            </a:r>
            <a:endParaRPr sz="4000"/>
          </a:p>
        </p:txBody>
      </p:sp>
      <p:sp>
        <p:nvSpPr>
          <p:cNvPr id="121" name="Google Shape;121;p5"/>
          <p:cNvSpPr txBox="1"/>
          <p:nvPr>
            <p:ph idx="1" type="body"/>
          </p:nvPr>
        </p:nvSpPr>
        <p:spPr>
          <a:xfrm>
            <a:off x="735055" y="1676834"/>
            <a:ext cx="10515600" cy="4890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25000" lnSpcReduction="20000"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</a:pPr>
            <a:r>
              <a:rPr lang="de-CH" sz="12800"/>
              <a:t>Meetings and events</a:t>
            </a:r>
            <a:endParaRPr sz="12800"/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t/>
            </a:r>
            <a:endParaRPr sz="3200"/>
          </a:p>
          <a:p>
            <a:pPr indent="-381000" lvl="0" marL="4572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ct val="100000"/>
              <a:buChar char="•"/>
            </a:pPr>
            <a:r>
              <a:rPr lang="de-CH" sz="9600"/>
              <a:t>Virtual SB meetings</a:t>
            </a:r>
            <a:endParaRPr sz="9600"/>
          </a:p>
          <a:p>
            <a:pPr indent="-355600" lvl="1" marL="9144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ct val="100000"/>
              <a:buChar char="•"/>
            </a:pPr>
            <a:r>
              <a:rPr lang="de-CH" sz="8000"/>
              <a:t>Monthly. Meetings in between those as needed</a:t>
            </a:r>
            <a:endParaRPr sz="8000"/>
          </a:p>
          <a:p>
            <a:pPr indent="0" lvl="0" marL="9144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ct val="90000"/>
              <a:buNone/>
            </a:pPr>
            <a:r>
              <a:t/>
            </a:r>
            <a:endParaRPr sz="8000"/>
          </a:p>
          <a:p>
            <a:pPr indent="-381000" lvl="0" marL="4572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ct val="100000"/>
              <a:buChar char="•"/>
            </a:pPr>
            <a:r>
              <a:rPr lang="de-CH" sz="9600"/>
              <a:t>EB/SB coordination calls</a:t>
            </a:r>
            <a:endParaRPr sz="9600"/>
          </a:p>
          <a:p>
            <a:pPr indent="-355600" lvl="1" marL="9144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ct val="100000"/>
              <a:buChar char="•"/>
            </a:pPr>
            <a:r>
              <a:rPr lang="de-CH" sz="8000"/>
              <a:t>Quarterly. Led by Jared Lyle, DDI Alliance Executive Director</a:t>
            </a:r>
            <a:endParaRPr sz="8000"/>
          </a:p>
          <a:p>
            <a:pPr indent="0" lvl="0" marL="9144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ct val="90000"/>
              <a:buNone/>
            </a:pPr>
            <a:r>
              <a:t/>
            </a:r>
            <a:endParaRPr sz="8000"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84615"/>
              <a:buNone/>
            </a:pPr>
            <a:r>
              <a:t/>
            </a:r>
            <a:endParaRPr sz="2600"/>
          </a:p>
          <a:p>
            <a:pPr indent="-381000" lvl="0" marL="4572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ct val="100000"/>
              <a:buChar char="•"/>
            </a:pPr>
            <a:r>
              <a:rPr lang="de-CH" sz="9600"/>
              <a:t>Physical Scientific Board meeting</a:t>
            </a:r>
            <a:endParaRPr sz="9600"/>
          </a:p>
          <a:p>
            <a:pPr indent="-355600" lvl="1" marL="9144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de-CH" sz="8000"/>
              <a:t>Chur 2 December 2024</a:t>
            </a:r>
            <a:endParaRPr sz="8000"/>
          </a:p>
          <a:p>
            <a:pPr indent="0" lvl="0" marL="9144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ct val="90000"/>
              <a:buNone/>
            </a:pPr>
            <a:r>
              <a:t/>
            </a:r>
            <a:endParaRPr sz="8000"/>
          </a:p>
          <a:p>
            <a:pPr indent="-381000" lvl="0" marL="4572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ct val="100000"/>
              <a:buChar char="•"/>
            </a:pPr>
            <a:r>
              <a:rPr lang="de-CH" sz="9600"/>
              <a:t>Scientific Board Working Group contact meetings with Working Groups</a:t>
            </a:r>
            <a:endParaRPr sz="9600"/>
          </a:p>
          <a:p>
            <a:pPr indent="0" lvl="0" marL="4572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ct val="75000"/>
              <a:buNone/>
            </a:pPr>
            <a:r>
              <a:t/>
            </a:r>
            <a:endParaRPr sz="9600"/>
          </a:p>
          <a:p>
            <a:pPr indent="-381000" lvl="0" marL="4572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ct val="100000"/>
              <a:buChar char="•"/>
            </a:pPr>
            <a:r>
              <a:rPr lang="de-CH" sz="9600"/>
              <a:t>Event with DDI Alliance Executive Director, the EB and SB together at EDDI 2024</a:t>
            </a:r>
            <a:endParaRPr sz="9600"/>
          </a:p>
          <a:p>
            <a:pPr indent="0" lvl="0" marL="9144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ct val="90000"/>
              <a:buNone/>
            </a:pPr>
            <a:r>
              <a:t/>
            </a:r>
            <a:endParaRPr i="1" sz="8000">
              <a:highlight>
                <a:srgbClr val="FFFFFF"/>
              </a:highlight>
            </a:endParaRPr>
          </a:p>
          <a:p>
            <a:pPr indent="0" lvl="0" marL="4572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ct val="75000"/>
              <a:buNone/>
            </a:pPr>
            <a:r>
              <a:t/>
            </a:r>
            <a:endParaRPr sz="9600"/>
          </a:p>
          <a:p>
            <a:pPr indent="0" lvl="0" marL="9144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ct val="327272"/>
              <a:buNone/>
            </a:pPr>
            <a:r>
              <a:t/>
            </a:r>
            <a:endParaRPr sz="2200"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t/>
            </a:r>
            <a:endParaRPr sz="2200"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t/>
            </a:r>
            <a:endParaRPr b="1" sz="2000"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t/>
            </a:r>
            <a:endParaRPr b="1" sz="2000"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t/>
            </a:r>
            <a:endParaRPr sz="2200"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t/>
            </a:r>
            <a:endParaRPr sz="2200"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t/>
            </a:r>
            <a:endParaRPr sz="2200"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t/>
            </a:r>
            <a:endParaRPr sz="2200"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t/>
            </a:r>
            <a:endParaRPr sz="2200"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t/>
            </a:r>
            <a:endParaRPr b="1" sz="2200"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t/>
            </a:r>
            <a:endParaRPr sz="220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5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g2d26813d73c_0_0"/>
          <p:cNvSpPr txBox="1"/>
          <p:nvPr>
            <p:ph type="title"/>
          </p:nvPr>
        </p:nvSpPr>
        <p:spPr>
          <a:xfrm>
            <a:off x="399275" y="74475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3600"/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de-CH" sz="3600"/>
              <a:t>Activities of the Scientific Board: </a:t>
            </a:r>
            <a:endParaRPr sz="3600"/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t/>
            </a:r>
            <a:endParaRPr sz="3600"/>
          </a:p>
        </p:txBody>
      </p:sp>
      <p:sp>
        <p:nvSpPr>
          <p:cNvPr id="127" name="Google Shape;127;g2d26813d73c_0_0"/>
          <p:cNvSpPr txBox="1"/>
          <p:nvPr>
            <p:ph idx="1" type="body"/>
          </p:nvPr>
        </p:nvSpPr>
        <p:spPr>
          <a:xfrm>
            <a:off x="316825" y="1139050"/>
            <a:ext cx="11163300" cy="5254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62500" lnSpcReduction="20000"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ct val="71428"/>
              <a:buNone/>
            </a:pPr>
            <a:r>
              <a:t/>
            </a:r>
            <a:endParaRPr sz="3600"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ct val="57029"/>
              <a:buNone/>
            </a:pPr>
            <a:r>
              <a:rPr lang="de-CH" sz="5050" u="sng">
                <a:solidFill>
                  <a:schemeClr val="hlink"/>
                </a:solidFill>
                <a:hlinkClick r:id="rId3"/>
              </a:rPr>
              <a:t>2024 - 2026 Scientific Work Plan</a:t>
            </a:r>
            <a:endParaRPr sz="5050"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ct val="57029"/>
              <a:buNone/>
            </a:pPr>
            <a:r>
              <a:t/>
            </a:r>
            <a:endParaRPr sz="5050"/>
          </a:p>
          <a:p>
            <a:pPr indent="-395319" lvl="0" marL="4572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ct val="100000"/>
              <a:buChar char="•"/>
            </a:pPr>
            <a:r>
              <a:rPr lang="de-CH" sz="4200"/>
              <a:t>Structured in terms of the three Strategic Priorities of the </a:t>
            </a:r>
            <a:r>
              <a:rPr b="1" lang="de-CH" sz="4200" u="sng">
                <a:solidFill>
                  <a:schemeClr val="hlink"/>
                </a:solidFill>
                <a:hlinkClick r:id="rId4"/>
              </a:rPr>
              <a:t>Strategic Plan</a:t>
            </a:r>
            <a:r>
              <a:rPr b="1" lang="de-CH" sz="4200"/>
              <a:t> </a:t>
            </a:r>
            <a:endParaRPr b="1" sz="4200"/>
          </a:p>
          <a:p>
            <a:pPr indent="0" lvl="0" marL="9144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ct val="61224"/>
              <a:buNone/>
            </a:pPr>
            <a:r>
              <a:rPr lang="de-CH" sz="4200"/>
              <a:t>1)  ENGAGEMENT </a:t>
            </a:r>
            <a:endParaRPr sz="4200"/>
          </a:p>
          <a:p>
            <a:pPr indent="0" lvl="0" marL="9144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ct val="61224"/>
              <a:buNone/>
            </a:pPr>
            <a:r>
              <a:rPr lang="de-CH" sz="4200"/>
              <a:t>2)  EXPANSION   </a:t>
            </a:r>
            <a:endParaRPr sz="4200"/>
          </a:p>
          <a:p>
            <a:pPr indent="0" lvl="0" marL="9144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ct val="61224"/>
              <a:buNone/>
            </a:pPr>
            <a:r>
              <a:rPr lang="de-CH" sz="4200"/>
              <a:t>3)  ALIGNMENT</a:t>
            </a:r>
            <a:endParaRPr sz="4200"/>
          </a:p>
          <a:p>
            <a:pPr indent="0" lvl="0" marL="4572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ct val="61224"/>
              <a:buNone/>
            </a:pPr>
            <a:r>
              <a:t/>
            </a:r>
            <a:endParaRPr sz="4200"/>
          </a:p>
          <a:p>
            <a:pPr indent="-395381" lvl="0" marL="4572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ct val="100000"/>
              <a:buChar char="•"/>
            </a:pPr>
            <a:r>
              <a:rPr lang="de-CH" sz="4200"/>
              <a:t>Goal oriented</a:t>
            </a:r>
            <a:endParaRPr sz="4200"/>
          </a:p>
          <a:p>
            <a:pPr indent="-395319" lvl="0" marL="4572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ct val="100000"/>
              <a:buChar char="•"/>
            </a:pPr>
            <a:r>
              <a:rPr lang="de-CH" sz="4200"/>
              <a:t>Continuous vs. time specific tasks</a:t>
            </a:r>
            <a:endParaRPr sz="4200"/>
          </a:p>
          <a:p>
            <a:pPr indent="-395319" lvl="0" marL="4572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ct val="100000"/>
              <a:buChar char="•"/>
            </a:pPr>
            <a:r>
              <a:rPr lang="de-CH" sz="4200"/>
              <a:t>Implementation by the Scientific Board, TC, the Working Groups, contacts and other initiatives.</a:t>
            </a:r>
            <a:endParaRPr sz="4200"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ct val="53571"/>
              <a:buNone/>
            </a:pPr>
            <a:r>
              <a:t/>
            </a:r>
            <a:endParaRPr sz="480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g35b706e2200_0_0"/>
          <p:cNvSpPr txBox="1"/>
          <p:nvPr>
            <p:ph type="title"/>
          </p:nvPr>
        </p:nvSpPr>
        <p:spPr>
          <a:xfrm>
            <a:off x="838200" y="365125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de-CH"/>
              <a:t>Activities of the Scientific Work Plan - 1</a:t>
            </a:r>
            <a:endParaRPr/>
          </a:p>
        </p:txBody>
      </p:sp>
      <p:sp>
        <p:nvSpPr>
          <p:cNvPr id="133" name="Google Shape;133;g35b706e2200_0_0"/>
          <p:cNvSpPr txBox="1"/>
          <p:nvPr>
            <p:ph idx="1" type="body"/>
          </p:nvPr>
        </p:nvSpPr>
        <p:spPr>
          <a:xfrm>
            <a:off x="838200" y="2210425"/>
            <a:ext cx="10515600" cy="4351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9144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1800"/>
              <a:buNone/>
            </a:pPr>
            <a:r>
              <a:rPr lang="de-CH" sz="2600"/>
              <a:t>1)  ENGAGEMENT </a:t>
            </a:r>
            <a:endParaRPr sz="2600"/>
          </a:p>
          <a:p>
            <a:pPr indent="0" lvl="0" marL="1371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1800"/>
              <a:buNone/>
            </a:pPr>
            <a:r>
              <a:rPr lang="de-CH" sz="2400"/>
              <a:t> </a:t>
            </a:r>
            <a:r>
              <a:rPr b="1" lang="de-CH" sz="2400"/>
              <a:t>1.1 Signposting and marketing recommendation</a:t>
            </a:r>
            <a:endParaRPr b="1" sz="2400"/>
          </a:p>
          <a:p>
            <a:pPr indent="0" lvl="0" marL="1371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1800"/>
              <a:buNone/>
            </a:pPr>
            <a:r>
              <a:rPr lang="de-CH" sz="2400"/>
              <a:t> 1.2 Stakeholder map and single sources of truth for stakeholders</a:t>
            </a:r>
            <a:endParaRPr sz="2400"/>
          </a:p>
          <a:p>
            <a:pPr indent="0" lvl="0" marL="1371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1800"/>
              <a:buNone/>
            </a:pPr>
            <a:r>
              <a:rPr b="1" lang="de-CH" sz="2400"/>
              <a:t> 1.3 W3C collaboration and possibilities of W3C recommendation for DDI components</a:t>
            </a:r>
            <a:endParaRPr b="1" sz="2400"/>
          </a:p>
          <a:p>
            <a:pPr indent="0" lvl="0" marL="1371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1800"/>
              <a:buNone/>
            </a:pPr>
            <a:r>
              <a:rPr b="1" lang="de-CH" sz="2400"/>
              <a:t> 1.4 Broaden scope and opportunities for DDI tools development</a:t>
            </a:r>
            <a:endParaRPr b="1" sz="2400"/>
          </a:p>
          <a:p>
            <a:pPr indent="0" lvl="0" marL="1371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sz="2400"/>
          </a:p>
          <a:p>
            <a:pPr indent="0" lvl="0" marL="9144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571"/>
              <a:buFont typeface="Arial"/>
              <a:buNone/>
            </a:pPr>
            <a:r>
              <a:t/>
            </a:r>
            <a:endParaRPr b="1" sz="1800"/>
          </a:p>
        </p:txBody>
      </p:sp>
      <p:sp>
        <p:nvSpPr>
          <p:cNvPr id="134" name="Google Shape;134;g35b706e2200_0_0"/>
          <p:cNvSpPr txBox="1"/>
          <p:nvPr/>
        </p:nvSpPr>
        <p:spPr>
          <a:xfrm>
            <a:off x="838200" y="1421100"/>
            <a:ext cx="79161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0" i="0" lang="de-CH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Ongoing activities in bold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8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g35b706e2200_0_9"/>
          <p:cNvSpPr txBox="1"/>
          <p:nvPr>
            <p:ph type="title"/>
          </p:nvPr>
        </p:nvSpPr>
        <p:spPr>
          <a:xfrm>
            <a:off x="838200" y="365125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de-CH"/>
              <a:t>Activities of the Scientific Work Plan - 2</a:t>
            </a:r>
            <a:endParaRPr/>
          </a:p>
        </p:txBody>
      </p:sp>
      <p:sp>
        <p:nvSpPr>
          <p:cNvPr id="140" name="Google Shape;140;g35b706e2200_0_9"/>
          <p:cNvSpPr txBox="1"/>
          <p:nvPr>
            <p:ph idx="1" type="body"/>
          </p:nvPr>
        </p:nvSpPr>
        <p:spPr>
          <a:xfrm>
            <a:off x="838200" y="1880575"/>
            <a:ext cx="10515600" cy="4763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sz="1800"/>
          </a:p>
          <a:p>
            <a:pPr indent="0" lvl="0" marL="9144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1800"/>
              <a:buNone/>
            </a:pPr>
            <a:r>
              <a:rPr lang="de-CH" sz="1800"/>
              <a:t>2) EXPANSION</a:t>
            </a:r>
            <a:endParaRPr sz="1800"/>
          </a:p>
          <a:p>
            <a:pPr indent="0" lvl="0" marL="1371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1800"/>
              <a:buNone/>
            </a:pPr>
            <a:r>
              <a:rPr lang="de-CH" sz="1800"/>
              <a:t>2.1 DDI Alliance DDI registry, pid usage and resolution mechanisms</a:t>
            </a:r>
            <a:endParaRPr sz="1800"/>
          </a:p>
          <a:p>
            <a:pPr indent="0" lvl="0" marL="1371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1800"/>
              <a:buNone/>
            </a:pPr>
            <a:r>
              <a:rPr b="1" lang="de-CH" sz="1800"/>
              <a:t>2.2 Develop and enable community submissions of markup examples for all products</a:t>
            </a:r>
            <a:endParaRPr b="1" sz="1800"/>
          </a:p>
          <a:p>
            <a:pPr indent="0" lvl="0" marL="1371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1800"/>
              <a:buNone/>
            </a:pPr>
            <a:r>
              <a:rPr b="1" lang="de-CH" sz="1800"/>
              <a:t>2.3 Engage with and explore possibilities for DDI adoptions in cross-domain initiatives and standards including FAIR and CDIF</a:t>
            </a:r>
            <a:endParaRPr b="1" sz="1800"/>
          </a:p>
          <a:p>
            <a:pPr indent="0" lvl="0" marL="1371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1800"/>
              <a:buNone/>
            </a:pPr>
            <a:r>
              <a:rPr b="1" lang="de-CH" sz="1800"/>
              <a:t>2.4 Engage with the SDMX community and the UNECE community to identify future collaborations</a:t>
            </a:r>
            <a:endParaRPr b="1" sz="1800"/>
          </a:p>
          <a:p>
            <a:pPr indent="0" lvl="0" marL="1371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1800"/>
              <a:buNone/>
            </a:pPr>
            <a:r>
              <a:rPr b="1" lang="de-CH" sz="1800"/>
              <a:t>2.5 Increase the visibility of the Alliance beyond traditional audience regions</a:t>
            </a:r>
            <a:endParaRPr b="1" sz="1800"/>
          </a:p>
          <a:p>
            <a:pPr indent="0" lvl="0" marL="1371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1800"/>
              <a:buNone/>
            </a:pPr>
            <a:r>
              <a:rPr b="1" lang="de-CH" sz="1800"/>
              <a:t>2.6 Feasibility and scoping report for ISO certification</a:t>
            </a:r>
            <a:endParaRPr b="1" sz="1800"/>
          </a:p>
          <a:p>
            <a:pPr indent="0" lvl="0" marL="1371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1800"/>
              <a:buNone/>
            </a:pPr>
            <a:r>
              <a:rPr b="1" lang="de-CH" sz="1800"/>
              <a:t>2.7 Support further development of implementation guides to help software architects and developers</a:t>
            </a:r>
            <a:endParaRPr b="1" sz="1800"/>
          </a:p>
          <a:p>
            <a:pPr indent="0" lvl="0" marL="1371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1800"/>
              <a:buNone/>
            </a:pPr>
            <a:r>
              <a:rPr b="1" lang="de-CH" sz="1800"/>
              <a:t>2.8 Pursue funding opportunities in geographies the DDI Alliance has members</a:t>
            </a:r>
            <a:endParaRPr b="1" sz="1800"/>
          </a:p>
        </p:txBody>
      </p:sp>
      <p:sp>
        <p:nvSpPr>
          <p:cNvPr id="141" name="Google Shape;141;g35b706e2200_0_9"/>
          <p:cNvSpPr txBox="1"/>
          <p:nvPr/>
        </p:nvSpPr>
        <p:spPr>
          <a:xfrm>
            <a:off x="838200" y="1421100"/>
            <a:ext cx="7916100" cy="585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600"/>
              <a:buFont typeface="Arial"/>
              <a:buNone/>
            </a:pPr>
            <a:r>
              <a:rPr b="0" i="0" lang="de-CH" sz="2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Ongoing activities in bold</a:t>
            </a:r>
            <a:endParaRPr b="0" i="0" sz="2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5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g35b706e2200_0_15"/>
          <p:cNvSpPr txBox="1"/>
          <p:nvPr>
            <p:ph type="title"/>
          </p:nvPr>
        </p:nvSpPr>
        <p:spPr>
          <a:xfrm>
            <a:off x="838200" y="365125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de-CH"/>
              <a:t>Activities of the Scientific Work Plan - 3</a:t>
            </a:r>
            <a:endParaRPr/>
          </a:p>
        </p:txBody>
      </p:sp>
      <p:sp>
        <p:nvSpPr>
          <p:cNvPr id="147" name="Google Shape;147;g35b706e2200_0_15"/>
          <p:cNvSpPr txBox="1"/>
          <p:nvPr>
            <p:ph idx="1" type="body"/>
          </p:nvPr>
        </p:nvSpPr>
        <p:spPr>
          <a:xfrm>
            <a:off x="838200" y="1880575"/>
            <a:ext cx="10515600" cy="4763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sz="1800"/>
          </a:p>
          <a:p>
            <a:pPr indent="0" lvl="0" marL="9144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1800"/>
              <a:buNone/>
            </a:pPr>
            <a:r>
              <a:rPr lang="de-CH" sz="2000"/>
              <a:t>3) ALIGNMENT</a:t>
            </a:r>
            <a:endParaRPr sz="2000"/>
          </a:p>
          <a:p>
            <a:pPr indent="0" lvl="0" marL="1371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1800"/>
              <a:buNone/>
            </a:pPr>
            <a:r>
              <a:rPr b="1" lang="de-CH" sz="2000"/>
              <a:t>3.1 Align and standardise technical documentation practices</a:t>
            </a:r>
            <a:endParaRPr b="1" sz="2000"/>
          </a:p>
          <a:p>
            <a:pPr indent="0" lvl="0" marL="1371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1800"/>
              <a:buNone/>
            </a:pPr>
            <a:r>
              <a:rPr b="1" lang="de-CH" sz="2000"/>
              <a:t>3.2 Formal Information Architecture and Content Management Strategy for the Alliance</a:t>
            </a:r>
            <a:endParaRPr b="1" sz="2000"/>
          </a:p>
          <a:p>
            <a:pPr indent="0" lvl="0" marL="1371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1800"/>
              <a:buNone/>
            </a:pPr>
            <a:r>
              <a:rPr lang="de-CH" sz="2000"/>
              <a:t>3.3 Support development of a new integrated Training Platform and Media Library</a:t>
            </a:r>
            <a:endParaRPr sz="2000"/>
          </a:p>
          <a:p>
            <a:pPr indent="0" lvl="0" marL="1371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1800"/>
              <a:buNone/>
            </a:pPr>
            <a:r>
              <a:rPr b="1" lang="de-CH" sz="2000"/>
              <a:t>3.4 Liaise with EB to develop a more formal Communication Strategy and apparatus</a:t>
            </a:r>
            <a:endParaRPr b="1" sz="2000"/>
          </a:p>
          <a:p>
            <a:pPr indent="0" lvl="0" marL="1371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1800"/>
              <a:buNone/>
            </a:pPr>
            <a:r>
              <a:rPr b="1" lang="de-CH" sz="2000"/>
              <a:t>3.5 Improve collaboration and communication between the SB and the WGs, including more formal periodic reporting</a:t>
            </a:r>
            <a:endParaRPr b="1" sz="2000"/>
          </a:p>
          <a:p>
            <a:pPr indent="0" lvl="0" marL="1371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1800"/>
              <a:buNone/>
            </a:pPr>
            <a:r>
              <a:rPr b="1" lang="de-CH" sz="2000"/>
              <a:t>3.6 Support TC in infrastructure consolidation and harmonisation</a:t>
            </a:r>
            <a:endParaRPr b="1" sz="2000"/>
          </a:p>
          <a:p>
            <a:pPr indent="0" lvl="0" marL="1371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1800"/>
              <a:buNone/>
            </a:pPr>
            <a:r>
              <a:rPr b="1" lang="de-CH" sz="2000"/>
              <a:t>3.7 Support development of RDF serialisations for DDI products that don’t have them</a:t>
            </a:r>
            <a:endParaRPr b="1" sz="2000"/>
          </a:p>
          <a:p>
            <a:pPr indent="0" lvl="0" marL="1371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1800"/>
              <a:buNone/>
            </a:pPr>
            <a:r>
              <a:rPr b="1" lang="de-CH" sz="2000"/>
              <a:t>3.8 Support and release of new products and product versions</a:t>
            </a:r>
            <a:endParaRPr b="1" sz="2000"/>
          </a:p>
        </p:txBody>
      </p:sp>
      <p:sp>
        <p:nvSpPr>
          <p:cNvPr id="148" name="Google Shape;148;g35b706e2200_0_15"/>
          <p:cNvSpPr txBox="1"/>
          <p:nvPr/>
        </p:nvSpPr>
        <p:spPr>
          <a:xfrm>
            <a:off x="838200" y="1421100"/>
            <a:ext cx="7916100" cy="585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600"/>
              <a:buFont typeface="Arial"/>
              <a:buNone/>
            </a:pPr>
            <a:r>
              <a:rPr b="0" i="0" lang="de-CH" sz="2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Ongoing activities in bold</a:t>
            </a:r>
            <a:endParaRPr b="0" i="0" sz="2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2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Google Shape;153;p12"/>
          <p:cNvSpPr txBox="1"/>
          <p:nvPr>
            <p:ph type="title"/>
          </p:nvPr>
        </p:nvSpPr>
        <p:spPr>
          <a:xfrm>
            <a:off x="508375" y="265600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de-CH"/>
              <a:t>Planned activities</a:t>
            </a:r>
            <a:endParaRPr/>
          </a:p>
        </p:txBody>
      </p:sp>
      <p:sp>
        <p:nvSpPr>
          <p:cNvPr id="154" name="Google Shape;154;p12"/>
          <p:cNvSpPr txBox="1"/>
          <p:nvPr>
            <p:ph idx="1" type="body"/>
          </p:nvPr>
        </p:nvSpPr>
        <p:spPr>
          <a:xfrm>
            <a:off x="700925" y="1591300"/>
            <a:ext cx="11341200" cy="5011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81000" lvl="0" marL="4572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400"/>
              <a:buChar char="●"/>
            </a:pPr>
            <a:r>
              <a:rPr lang="de-CH" sz="2400"/>
              <a:t>Main tasks</a:t>
            </a:r>
            <a:endParaRPr sz="2400"/>
          </a:p>
          <a:p>
            <a:pPr indent="-2286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○"/>
            </a:pPr>
            <a:r>
              <a:rPr lang="de-CH"/>
              <a:t>Plan and carry out activities aligned with the Scientific Work Plan 2024 - 2026</a:t>
            </a:r>
            <a:endParaRPr/>
          </a:p>
          <a:p>
            <a:pPr indent="-2286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○"/>
            </a:pPr>
            <a:r>
              <a:rPr lang="de-CH"/>
              <a:t>Follow - up with contributors on tasks from the Scientific Work Plan </a:t>
            </a:r>
            <a:endParaRPr/>
          </a:p>
          <a:p>
            <a:pPr indent="-381000" lvl="2" marL="13716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2400"/>
              <a:buChar char="■"/>
            </a:pPr>
            <a:r>
              <a:rPr lang="de-CH" sz="2400"/>
              <a:t>Half yearly WG reporting</a:t>
            </a:r>
            <a:endParaRPr sz="2400"/>
          </a:p>
          <a:p>
            <a:pPr indent="-381000" lvl="2" marL="13716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2400"/>
              <a:buChar char="■"/>
            </a:pPr>
            <a:r>
              <a:rPr lang="de-CH" sz="2400"/>
              <a:t>Follow-up with the Working Groups by SB contacts</a:t>
            </a:r>
            <a:endParaRPr sz="2400"/>
          </a:p>
          <a:p>
            <a:pPr indent="-381000" lvl="2" marL="13716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2400"/>
              <a:buChar char="■"/>
            </a:pPr>
            <a:r>
              <a:rPr lang="de-CH" sz="2400"/>
              <a:t>Approving and sun-setting of WGs</a:t>
            </a:r>
            <a:endParaRPr sz="2400"/>
          </a:p>
          <a:p>
            <a:pPr indent="0" lvl="0" marL="13716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sz="2400"/>
          </a:p>
          <a:p>
            <a:pPr indent="-381000" lvl="0" marL="4572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2400"/>
              <a:buChar char="●"/>
            </a:pPr>
            <a:r>
              <a:rPr lang="de-CH" sz="2400"/>
              <a:t>Physical meeting in Budapest in connection with EDDI 2025</a:t>
            </a:r>
            <a:endParaRPr sz="2400"/>
          </a:p>
          <a:p>
            <a:pPr indent="0" lvl="0" marL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sz="2600"/>
          </a:p>
          <a:p>
            <a:pPr indent="0" lvl="0" marL="13716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sz="2600"/>
          </a:p>
          <a:p>
            <a:pPr indent="0" lvl="0" marL="9144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sz="260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9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160;g3669fddb008_0_161"/>
          <p:cNvSpPr txBox="1"/>
          <p:nvPr>
            <p:ph type="title"/>
          </p:nvPr>
        </p:nvSpPr>
        <p:spPr>
          <a:xfrm>
            <a:off x="1286145" y="861151"/>
            <a:ext cx="9953400" cy="8889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r>
              <a:rPr lang="de-CH"/>
              <a:t>ROADMAP 2023/2027</a:t>
            </a:r>
            <a:endParaRPr/>
          </a:p>
        </p:txBody>
      </p:sp>
      <p:sp>
        <p:nvSpPr>
          <p:cNvPr id="161" name="Google Shape;161;g3669fddb008_0_161"/>
          <p:cNvSpPr txBox="1"/>
          <p:nvPr>
            <p:ph idx="3" type="body"/>
          </p:nvPr>
        </p:nvSpPr>
        <p:spPr>
          <a:xfrm>
            <a:off x="1393346" y="1750044"/>
            <a:ext cx="5517000" cy="351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pPr>
            <a:r>
              <a:rPr lang="de-CH"/>
              <a:t>Main Activity Areas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pPr>
            <a:r>
              <a:t/>
            </a:r>
            <a:endParaRPr/>
          </a:p>
        </p:txBody>
      </p:sp>
      <p:sp>
        <p:nvSpPr>
          <p:cNvPr id="162" name="Google Shape;162;g3669fddb008_0_161"/>
          <p:cNvSpPr txBox="1"/>
          <p:nvPr>
            <p:ph idx="4" type="body"/>
          </p:nvPr>
        </p:nvSpPr>
        <p:spPr>
          <a:xfrm>
            <a:off x="1486875" y="2101350"/>
            <a:ext cx="8699700" cy="4152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0">
            <a:noAutofit/>
          </a:bodyPr>
          <a:lstStyle/>
          <a:p>
            <a:pPr indent="-298450" lvl="0" marL="28575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</a:pPr>
            <a:r>
              <a:rPr lang="de-CH" sz="2000">
                <a:latin typeface="Arial"/>
                <a:ea typeface="Arial"/>
                <a:cs typeface="Arial"/>
                <a:sym typeface="Arial"/>
              </a:rPr>
              <a:t>Separation of specific product development</a:t>
            </a:r>
            <a:endParaRPr sz="2000">
              <a:latin typeface="Arial"/>
              <a:ea typeface="Arial"/>
              <a:cs typeface="Arial"/>
              <a:sym typeface="Arial"/>
            </a:endParaRPr>
          </a:p>
          <a:p>
            <a:pPr indent="-298450" lvl="0" marL="28575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</a:pPr>
            <a:r>
              <a:rPr lang="de-CH" sz="2000">
                <a:latin typeface="Arial"/>
                <a:ea typeface="Arial"/>
                <a:cs typeface="Arial"/>
                <a:sym typeface="Arial"/>
              </a:rPr>
              <a:t>Overall model of DDI coverage</a:t>
            </a:r>
            <a:endParaRPr sz="2000">
              <a:latin typeface="Arial"/>
              <a:ea typeface="Arial"/>
              <a:cs typeface="Arial"/>
              <a:sym typeface="Arial"/>
            </a:endParaRPr>
          </a:p>
          <a:p>
            <a:pPr indent="-296164" lvl="1" marL="283464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</a:pPr>
            <a:r>
              <a:rPr lang="de-CH" sz="2000">
                <a:latin typeface="Arial"/>
                <a:ea typeface="Arial"/>
                <a:cs typeface="Arial"/>
                <a:sym typeface="Arial"/>
              </a:rPr>
              <a:t>Shift to coverage development FOLLOWED by integration into individual products</a:t>
            </a:r>
            <a:endParaRPr sz="2000">
              <a:latin typeface="Arial"/>
              <a:ea typeface="Arial"/>
              <a:cs typeface="Arial"/>
              <a:sym typeface="Arial"/>
            </a:endParaRPr>
          </a:p>
          <a:p>
            <a:pPr indent="-296164" lvl="1" marL="283464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</a:pPr>
            <a:r>
              <a:rPr lang="de-CH" sz="2000">
                <a:latin typeface="Arial"/>
                <a:ea typeface="Arial"/>
                <a:cs typeface="Arial"/>
                <a:sym typeface="Arial"/>
              </a:rPr>
              <a:t>Development of products to support DDI Suite usage and application</a:t>
            </a:r>
            <a:endParaRPr sz="2000">
              <a:latin typeface="Arial"/>
              <a:ea typeface="Arial"/>
              <a:cs typeface="Arial"/>
              <a:sym typeface="Arial"/>
            </a:endParaRPr>
          </a:p>
          <a:p>
            <a:pPr indent="-296164" lvl="1" marL="283464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</a:pPr>
            <a:r>
              <a:rPr lang="de-CH" sz="2000">
                <a:latin typeface="Arial"/>
                <a:ea typeface="Arial"/>
                <a:cs typeface="Arial"/>
                <a:sym typeface="Arial"/>
              </a:rPr>
              <a:t>Production tools management plan</a:t>
            </a:r>
            <a:endParaRPr sz="2000">
              <a:latin typeface="Arial"/>
              <a:ea typeface="Arial"/>
              <a:cs typeface="Arial"/>
              <a:sym typeface="Arial"/>
            </a:endParaRPr>
          </a:p>
          <a:p>
            <a:pPr indent="-296164" lvl="1" marL="283464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</a:pPr>
            <a:r>
              <a:rPr lang="de-CH" sz="2000">
                <a:latin typeface="Arial"/>
                <a:ea typeface="Arial"/>
                <a:cs typeface="Arial"/>
                <a:sym typeface="Arial"/>
              </a:rPr>
              <a:t>DDI Alliance Web Site</a:t>
            </a:r>
            <a:endParaRPr sz="2000">
              <a:latin typeface="Arial"/>
              <a:ea typeface="Arial"/>
              <a:cs typeface="Arial"/>
              <a:sym typeface="Arial"/>
            </a:endParaRPr>
          </a:p>
          <a:p>
            <a:pPr indent="-296164" lvl="1" marL="283464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</a:pPr>
            <a:r>
              <a:rPr lang="de-CH" sz="2000">
                <a:latin typeface="Arial"/>
                <a:ea typeface="Arial"/>
                <a:cs typeface="Arial"/>
                <a:sym typeface="Arial"/>
              </a:rPr>
              <a:t>Resolution support forRDF syntaxes, CV's, etc.</a:t>
            </a:r>
            <a:endParaRPr sz="2000">
              <a:latin typeface="Arial"/>
              <a:ea typeface="Arial"/>
              <a:cs typeface="Arial"/>
              <a:sym typeface="Arial"/>
            </a:endParaRPr>
          </a:p>
          <a:p>
            <a:pPr indent="-296164" lvl="1" marL="283464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</a:pPr>
            <a:r>
              <a:rPr lang="de-CH" sz="2000">
                <a:latin typeface="Arial"/>
                <a:ea typeface="Arial"/>
                <a:cs typeface="Arial"/>
                <a:sym typeface="Arial"/>
              </a:rPr>
              <a:t>Development Environment for Products</a:t>
            </a:r>
            <a:endParaRPr sz="2000">
              <a:latin typeface="Arial"/>
              <a:ea typeface="Arial"/>
              <a:cs typeface="Arial"/>
              <a:sym typeface="Arial"/>
            </a:endParaRPr>
          </a:p>
          <a:p>
            <a:pPr indent="-296164" lvl="1" marL="283464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</a:pPr>
            <a:r>
              <a:rPr lang="de-CH" sz="2000">
                <a:latin typeface="Arial"/>
                <a:ea typeface="Arial"/>
                <a:cs typeface="Arial"/>
                <a:sym typeface="Arial"/>
              </a:rPr>
              <a:t>Working with Developers group on support for implementers</a:t>
            </a:r>
            <a:endParaRPr sz="200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3" name="Google Shape;163;g3669fddb008_0_161"/>
          <p:cNvSpPr txBox="1"/>
          <p:nvPr>
            <p:ph idx="12" type="sldNum"/>
          </p:nvPr>
        </p:nvSpPr>
        <p:spPr>
          <a:xfrm>
            <a:off x="10373350" y="6356349"/>
            <a:ext cx="987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de-CH"/>
              <a:t>‹#›</a:t>
            </a:fld>
            <a:endParaRPr/>
          </a:p>
        </p:txBody>
      </p:sp>
      <p:sp>
        <p:nvSpPr>
          <p:cNvPr id="164" name="Google Shape;164;g3669fddb008_0_161"/>
          <p:cNvSpPr txBox="1"/>
          <p:nvPr/>
        </p:nvSpPr>
        <p:spPr>
          <a:xfrm>
            <a:off x="831098" y="6160699"/>
            <a:ext cx="102921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de-CH" sz="1200" u="sng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https://docs.google.com/spreadsheets/d/1b390D4CpPXqtqi7-e5GhrvWdHbNEG697/edit?usp=sharing&amp;ouid=102757977752490519555&amp;rtpof=true&amp;sd=true</a:t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5" name="Google Shape;165;g3669fddb008_0_161"/>
          <p:cNvSpPr txBox="1"/>
          <p:nvPr/>
        </p:nvSpPr>
        <p:spPr>
          <a:xfrm>
            <a:off x="860020" y="1"/>
            <a:ext cx="9953400" cy="8889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de-CH" sz="3600" u="sng">
                <a:solidFill>
                  <a:schemeClr val="hlink"/>
                </a:solidFill>
                <a:hlinkClick r:id="rId4"/>
              </a:rPr>
              <a:t>Technical Committee</a:t>
            </a:r>
            <a:endParaRPr sz="3600">
              <a:solidFill>
                <a:srgbClr val="000000"/>
              </a:solidFill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9" name="Shape 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Google Shape;170;g3669fddb008_0_18"/>
          <p:cNvSpPr txBox="1"/>
          <p:nvPr/>
        </p:nvSpPr>
        <p:spPr>
          <a:xfrm>
            <a:off x="1322325" y="268350"/>
            <a:ext cx="7288200" cy="7680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de-CH" sz="2800">
                <a:solidFill>
                  <a:srgbClr val="000000"/>
                </a:solidFill>
              </a:rPr>
              <a:t>2024/25 ACTIONS</a:t>
            </a:r>
            <a:endParaRPr sz="2800">
              <a:solidFill>
                <a:srgbClr val="000000"/>
              </a:solidFill>
            </a:endParaRPr>
          </a:p>
        </p:txBody>
      </p:sp>
      <p:sp>
        <p:nvSpPr>
          <p:cNvPr id="171" name="Google Shape;171;g3669fddb008_0_18"/>
          <p:cNvSpPr txBox="1"/>
          <p:nvPr/>
        </p:nvSpPr>
        <p:spPr>
          <a:xfrm>
            <a:off x="1391125" y="1036350"/>
            <a:ext cx="10348500" cy="232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lnSpcReduction="20000"/>
          </a:bodyPr>
          <a:lstStyle/>
          <a:p>
            <a:pPr indent="-298450" lvl="2" marL="566928" rtl="0" algn="l"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000"/>
              <a:buChar char="•"/>
            </a:pPr>
            <a:r>
              <a:rPr lang="de-CH" sz="2000">
                <a:solidFill>
                  <a:srgbClr val="000000"/>
                </a:solidFill>
              </a:rPr>
              <a:t>Transfer of DDI-Lifecycle production to COGS</a:t>
            </a:r>
            <a:endParaRPr sz="2000">
              <a:solidFill>
                <a:srgbClr val="000000"/>
              </a:solidFill>
            </a:endParaRPr>
          </a:p>
          <a:p>
            <a:pPr indent="-298450" lvl="1" marL="569214" rtl="0" algn="l"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000"/>
              <a:buChar char="•"/>
            </a:pPr>
            <a:r>
              <a:rPr lang="de-CH" sz="2000">
                <a:solidFill>
                  <a:srgbClr val="000000"/>
                </a:solidFill>
              </a:rPr>
              <a:t>DDI-Codebook v2.6 review</a:t>
            </a:r>
            <a:endParaRPr sz="2000">
              <a:solidFill>
                <a:srgbClr val="000000"/>
              </a:solidFill>
            </a:endParaRPr>
          </a:p>
          <a:p>
            <a:pPr indent="-298450" lvl="1" marL="569214" rtl="0" algn="l"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000"/>
              <a:buChar char="•"/>
            </a:pPr>
            <a:r>
              <a:rPr lang="de-CH" sz="2000">
                <a:solidFill>
                  <a:srgbClr val="000000"/>
                </a:solidFill>
              </a:rPr>
              <a:t>Movement of DDI Web Site to HubSpot</a:t>
            </a:r>
            <a:endParaRPr sz="2000">
              <a:solidFill>
                <a:srgbClr val="000000"/>
              </a:solidFill>
            </a:endParaRPr>
          </a:p>
          <a:p>
            <a:pPr indent="-298450" lvl="1" marL="569214" rtl="0" algn="l"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000"/>
              <a:buChar char="•"/>
            </a:pPr>
            <a:r>
              <a:rPr lang="de-CH" sz="2000">
                <a:solidFill>
                  <a:srgbClr val="000000"/>
                </a:solidFill>
              </a:rPr>
              <a:t>Establishment of RDF resolution for Controlled Vocabularies</a:t>
            </a:r>
            <a:endParaRPr sz="2000">
              <a:solidFill>
                <a:srgbClr val="000000"/>
              </a:solidFill>
            </a:endParaRPr>
          </a:p>
          <a:p>
            <a:pPr indent="-298450" lvl="1" marL="569214" rtl="0" algn="l"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000"/>
              <a:buChar char="•"/>
            </a:pPr>
            <a:r>
              <a:rPr lang="de-CH" sz="2000">
                <a:solidFill>
                  <a:srgbClr val="000000"/>
                </a:solidFill>
              </a:rPr>
              <a:t>Moved development work to DDI GitHub </a:t>
            </a:r>
            <a:endParaRPr sz="2000">
              <a:solidFill>
                <a:srgbClr val="000000"/>
              </a:solidFill>
            </a:endParaRPr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000"/>
              <a:buNone/>
            </a:pPr>
            <a:r>
              <a:t/>
            </a:r>
            <a:endParaRPr sz="2000"/>
          </a:p>
        </p:txBody>
      </p:sp>
      <p:sp>
        <p:nvSpPr>
          <p:cNvPr id="172" name="Google Shape;172;g3669fddb008_0_18"/>
          <p:cNvSpPr txBox="1"/>
          <p:nvPr/>
        </p:nvSpPr>
        <p:spPr>
          <a:xfrm>
            <a:off x="1638513" y="3784993"/>
            <a:ext cx="7288200" cy="460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98450" lvl="0" marL="28575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Char char="•"/>
            </a:pPr>
            <a:r>
              <a:rPr lang="de-CH" sz="2000">
                <a:solidFill>
                  <a:srgbClr val="000000"/>
                </a:solidFill>
              </a:rPr>
              <a:t>Model of DDI Coverage    </a:t>
            </a:r>
            <a:endParaRPr sz="2000">
              <a:solidFill>
                <a:srgbClr val="000000"/>
              </a:solidFill>
            </a:endParaRPr>
          </a:p>
          <a:p>
            <a:pPr indent="-298450" lvl="0" marL="285750" rtl="0" algn="l"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000"/>
              <a:buChar char="•"/>
            </a:pPr>
            <a:r>
              <a:rPr lang="de-CH" sz="2000">
                <a:solidFill>
                  <a:srgbClr val="000000"/>
                </a:solidFill>
              </a:rPr>
              <a:t>Implementation Guidance</a:t>
            </a:r>
            <a:endParaRPr sz="2000">
              <a:solidFill>
                <a:srgbClr val="000000"/>
              </a:solidFill>
            </a:endParaRPr>
          </a:p>
          <a:p>
            <a:pPr indent="-298450" lvl="0" marL="285750" rtl="0" algn="l"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000"/>
              <a:buChar char="•"/>
            </a:pPr>
            <a:r>
              <a:rPr lang="de-CH" sz="2000">
                <a:solidFill>
                  <a:srgbClr val="000000"/>
                </a:solidFill>
              </a:rPr>
              <a:t>DDI Google Documents</a:t>
            </a:r>
            <a:endParaRPr sz="2000">
              <a:solidFill>
                <a:srgbClr val="000000"/>
              </a:solidFill>
            </a:endParaRPr>
          </a:p>
          <a:p>
            <a:pPr indent="-298450" lvl="0" marL="285750" rtl="0" algn="l"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000"/>
              <a:buChar char="•"/>
            </a:pPr>
            <a:r>
              <a:rPr lang="de-CH" sz="2000">
                <a:solidFill>
                  <a:srgbClr val="000000"/>
                </a:solidFill>
              </a:rPr>
              <a:t>Improvement of DDI Web Site</a:t>
            </a:r>
            <a:endParaRPr sz="2000">
              <a:solidFill>
                <a:srgbClr val="000000"/>
              </a:solidFill>
            </a:endParaRPr>
          </a:p>
          <a:p>
            <a:pPr indent="-298450" lvl="0" marL="285750" rtl="0" algn="l"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000"/>
              <a:buChar char="•"/>
            </a:pPr>
            <a:r>
              <a:rPr lang="de-CH" sz="2000">
                <a:solidFill>
                  <a:srgbClr val="000000"/>
                </a:solidFill>
              </a:rPr>
              <a:t>Automation of product production pipelines</a:t>
            </a:r>
            <a:endParaRPr sz="2000">
              <a:solidFill>
                <a:srgbClr val="000000"/>
              </a:solidFill>
            </a:endParaRPr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800"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173" name="Google Shape;173;g3669fddb008_0_18"/>
          <p:cNvSpPr txBox="1"/>
          <p:nvPr/>
        </p:nvSpPr>
        <p:spPr>
          <a:xfrm>
            <a:off x="1391125" y="2921300"/>
            <a:ext cx="7288200" cy="7680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de-CH" sz="2800">
                <a:solidFill>
                  <a:srgbClr val="000000"/>
                </a:solidFill>
              </a:rPr>
              <a:t>2024/25 </a:t>
            </a:r>
            <a:r>
              <a:rPr lang="de-CH" sz="2800"/>
              <a:t>FOCUS</a:t>
            </a:r>
            <a:endParaRPr sz="2800">
              <a:solidFill>
                <a:srgbClr val="000000"/>
              </a:solidFill>
            </a:endParaRPr>
          </a:p>
        </p:txBody>
      </p:sp>
      <p:sp>
        <p:nvSpPr>
          <p:cNvPr id="174" name="Google Shape;174;g3669fddb008_0_18"/>
          <p:cNvSpPr txBox="1"/>
          <p:nvPr/>
        </p:nvSpPr>
        <p:spPr>
          <a:xfrm>
            <a:off x="1502300" y="5987300"/>
            <a:ext cx="10416000" cy="7680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de-CH" sz="2800"/>
              <a:t>NEW PRODUCT WGs FOR COODEBOOK AND LIFECYCLE </a:t>
            </a:r>
            <a:endParaRPr sz="2800">
              <a:solidFill>
                <a:srgbClr val="000000"/>
              </a:solidFill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8" name="Shape 1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Google Shape;179;g3669fddb008_0_288"/>
          <p:cNvSpPr txBox="1"/>
          <p:nvPr>
            <p:ph type="title"/>
          </p:nvPr>
        </p:nvSpPr>
        <p:spPr>
          <a:xfrm>
            <a:off x="645775" y="919278"/>
            <a:ext cx="10515600" cy="652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de-CH" sz="4000" u="sng">
                <a:solidFill>
                  <a:schemeClr val="hlink"/>
                </a:solidFill>
                <a:latin typeface="Arial"/>
                <a:ea typeface="Arial"/>
                <a:cs typeface="Arial"/>
                <a:sym typeface="Arial"/>
                <a:hlinkClick r:id="rId3"/>
              </a:rPr>
              <a:t>Website &amp; UX Feedback</a:t>
            </a:r>
            <a:endParaRPr b="1" sz="4000">
              <a:solidFill>
                <a:srgbClr val="007682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4000">
              <a:solidFill>
                <a:srgbClr val="007682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ct val="110000"/>
              <a:buNone/>
            </a:pPr>
            <a:r>
              <a:rPr lang="de-CH" sz="4000">
                <a:solidFill>
                  <a:srgbClr val="007682"/>
                </a:solidFill>
                <a:latin typeface="Arial"/>
                <a:ea typeface="Arial"/>
                <a:cs typeface="Arial"/>
                <a:sym typeface="Arial"/>
              </a:rPr>
              <a:t>New website in a nutshell</a:t>
            </a:r>
            <a:endParaRPr sz="4000">
              <a:solidFill>
                <a:srgbClr val="07294C"/>
              </a:solidFill>
            </a:endParaRPr>
          </a:p>
        </p:txBody>
      </p:sp>
      <p:sp>
        <p:nvSpPr>
          <p:cNvPr id="180" name="Google Shape;180;g3669fddb008_0_288"/>
          <p:cNvSpPr txBox="1"/>
          <p:nvPr>
            <p:ph idx="1" type="body"/>
          </p:nvPr>
        </p:nvSpPr>
        <p:spPr>
          <a:xfrm>
            <a:off x="544350" y="1484250"/>
            <a:ext cx="11103300" cy="5552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-323850" lvl="0" marL="322534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400"/>
              <a:buChar char="•"/>
            </a:pPr>
            <a:r>
              <a:rPr lang="de-CH" sz="2400" u="sng">
                <a:solidFill>
                  <a:srgbClr val="007682"/>
                </a:solidFill>
                <a:latin typeface="Arial"/>
                <a:ea typeface="Arial"/>
                <a:cs typeface="Arial"/>
                <a:sym typeface="Arial"/>
                <a:hlinkClick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d</a:t>
            </a:r>
            <a:r>
              <a:rPr i="0" lang="de-CH" sz="2400" u="sng" strike="noStrike">
                <a:solidFill>
                  <a:srgbClr val="007682"/>
                </a:solidFill>
                <a:latin typeface="Arial"/>
                <a:ea typeface="Arial"/>
                <a:cs typeface="Arial"/>
                <a:sym typeface="Arial"/>
                <a:hlinkClick r:id="rId5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dialliance.org</a:t>
            </a:r>
            <a:r>
              <a:rPr i="0" lang="de-CH" sz="2400" u="none" strike="noStrike">
                <a:solidFill>
                  <a:srgbClr val="007682"/>
                </a:solidFill>
                <a:latin typeface="Arial"/>
                <a:ea typeface="Arial"/>
                <a:cs typeface="Arial"/>
                <a:sym typeface="Arial"/>
              </a:rPr>
              <a:t> migrated from Drupal to Hubspot at end of 2024</a:t>
            </a:r>
            <a:br>
              <a:rPr i="0" lang="de-CH" sz="2400" u="none" strike="noStrike">
                <a:solidFill>
                  <a:srgbClr val="007682"/>
                </a:solidFill>
                <a:latin typeface="Arial"/>
                <a:ea typeface="Arial"/>
                <a:cs typeface="Arial"/>
                <a:sym typeface="Arial"/>
              </a:rPr>
            </a:br>
            <a:endParaRPr i="0" sz="2400" u="none" strike="noStrike">
              <a:solidFill>
                <a:srgbClr val="007682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23850" lvl="0" marL="322534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400"/>
              <a:buChar char="•"/>
            </a:pPr>
            <a:r>
              <a:rPr lang="de-CH" sz="2400">
                <a:solidFill>
                  <a:srgbClr val="007682"/>
                </a:solidFill>
                <a:latin typeface="Arial"/>
                <a:ea typeface="Arial"/>
                <a:cs typeface="Arial"/>
                <a:sym typeface="Arial"/>
              </a:rPr>
              <a:t>In parallel, creation of </a:t>
            </a:r>
            <a:r>
              <a:rPr lang="de-CH" sz="2400" u="sng">
                <a:solidFill>
                  <a:srgbClr val="007682"/>
                </a:solidFill>
                <a:latin typeface="Arial"/>
                <a:ea typeface="Arial"/>
                <a:cs typeface="Arial"/>
                <a:sym typeface="Arial"/>
                <a:hlinkClick r:id="rId6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docs.ddialliance.org </a:t>
            </a:r>
            <a:r>
              <a:rPr lang="de-CH" sz="2400">
                <a:solidFill>
                  <a:srgbClr val="007682"/>
                </a:solidFill>
                <a:latin typeface="Arial"/>
                <a:ea typeface="Arial"/>
                <a:cs typeface="Arial"/>
                <a:sym typeface="Arial"/>
              </a:rPr>
              <a:t>on AWS</a:t>
            </a:r>
            <a:br>
              <a:rPr lang="de-CH" sz="2400">
                <a:solidFill>
                  <a:srgbClr val="007682"/>
                </a:solidFill>
                <a:latin typeface="Arial"/>
                <a:ea typeface="Arial"/>
                <a:cs typeface="Arial"/>
                <a:sym typeface="Arial"/>
              </a:rPr>
            </a:br>
            <a:endParaRPr sz="2400">
              <a:solidFill>
                <a:srgbClr val="007682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23850" lvl="0" marL="322534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400"/>
              <a:buChar char="•"/>
            </a:pPr>
            <a:r>
              <a:rPr lang="de-CH" sz="2400">
                <a:solidFill>
                  <a:srgbClr val="007682"/>
                </a:solidFill>
                <a:latin typeface="Arial"/>
                <a:ea typeface="Arial"/>
                <a:cs typeface="Arial"/>
                <a:sym typeface="Arial"/>
              </a:rPr>
              <a:t>Migration work undertaken by Technical Committee (TC)</a:t>
            </a:r>
            <a:br>
              <a:rPr lang="de-CH" sz="2400">
                <a:solidFill>
                  <a:srgbClr val="007682"/>
                </a:solidFill>
                <a:latin typeface="Arial"/>
                <a:ea typeface="Arial"/>
                <a:cs typeface="Arial"/>
                <a:sym typeface="Arial"/>
              </a:rPr>
            </a:br>
            <a:endParaRPr sz="2400">
              <a:solidFill>
                <a:srgbClr val="007682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23850" lvl="0" marL="322534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400"/>
              <a:buChar char="•"/>
            </a:pPr>
            <a:r>
              <a:rPr lang="de-CH" sz="2400">
                <a:solidFill>
                  <a:srgbClr val="007682"/>
                </a:solidFill>
                <a:latin typeface="Arial"/>
                <a:ea typeface="Arial"/>
                <a:cs typeface="Arial"/>
                <a:sym typeface="Arial"/>
              </a:rPr>
              <a:t>Challenges included volume of legacy content, database cleansing, URL/redirection inconsistencies, and deployment issues</a:t>
            </a:r>
            <a:br>
              <a:rPr lang="de-CH" sz="2400">
                <a:solidFill>
                  <a:srgbClr val="007682"/>
                </a:solidFill>
                <a:latin typeface="Arial"/>
                <a:ea typeface="Arial"/>
                <a:cs typeface="Arial"/>
                <a:sym typeface="Arial"/>
              </a:rPr>
            </a:br>
            <a:endParaRPr sz="2400">
              <a:solidFill>
                <a:srgbClr val="007682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23850" lvl="0" marL="322534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400"/>
              <a:buChar char="•"/>
            </a:pPr>
            <a:r>
              <a:rPr lang="de-CH" sz="2400">
                <a:solidFill>
                  <a:srgbClr val="007682"/>
                </a:solidFill>
                <a:latin typeface="Arial"/>
                <a:ea typeface="Arial"/>
                <a:cs typeface="Arial"/>
                <a:sym typeface="Arial"/>
              </a:rPr>
              <a:t>Priority in 2024 was to get the site off the legacy Michigan infrastructure.  Priority in 2025/2026 is to optimise the context and UX</a:t>
            </a:r>
            <a:endParaRPr sz="2400"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A couple of circles with white letters&#10;&#10;AI-generated content may be incorrect." id="181" name="Google Shape;181;g3669fddb008_0_288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10675540" y="6438635"/>
            <a:ext cx="1304354" cy="33689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5" name="Shape 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Google Shape;186;g3669fddb008_0_294"/>
          <p:cNvSpPr txBox="1"/>
          <p:nvPr>
            <p:ph type="title"/>
          </p:nvPr>
        </p:nvSpPr>
        <p:spPr>
          <a:xfrm>
            <a:off x="618300" y="378228"/>
            <a:ext cx="10515600" cy="652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4400"/>
              <a:buNone/>
            </a:pPr>
            <a:r>
              <a:rPr lang="de-CH" sz="4000">
                <a:solidFill>
                  <a:srgbClr val="007682"/>
                </a:solidFill>
                <a:latin typeface="Arial"/>
                <a:ea typeface="Arial"/>
                <a:cs typeface="Arial"/>
                <a:sym typeface="Arial"/>
              </a:rPr>
              <a:t>Next steps</a:t>
            </a:r>
            <a:endParaRPr sz="4000">
              <a:solidFill>
                <a:srgbClr val="07294C"/>
              </a:solidFill>
            </a:endParaRPr>
          </a:p>
        </p:txBody>
      </p:sp>
      <p:sp>
        <p:nvSpPr>
          <p:cNvPr id="187" name="Google Shape;187;g3669fddb008_0_294"/>
          <p:cNvSpPr txBox="1"/>
          <p:nvPr>
            <p:ph idx="1" type="body"/>
          </p:nvPr>
        </p:nvSpPr>
        <p:spPr>
          <a:xfrm>
            <a:off x="618300" y="1140675"/>
            <a:ext cx="11103300" cy="5552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85750" lvl="0" marL="322534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800"/>
              <a:buChar char="•"/>
            </a:pPr>
            <a:r>
              <a:rPr lang="de-CH">
                <a:solidFill>
                  <a:srgbClr val="007682"/>
                </a:solidFill>
                <a:latin typeface="Arial"/>
                <a:ea typeface="Arial"/>
                <a:cs typeface="Arial"/>
                <a:sym typeface="Arial"/>
              </a:rPr>
              <a:t>ICPSR UX team to create more wireframes for templates.</a:t>
            </a:r>
            <a:br>
              <a:rPr lang="de-CH">
                <a:solidFill>
                  <a:srgbClr val="007682"/>
                </a:solidFill>
                <a:latin typeface="Arial"/>
                <a:ea typeface="Arial"/>
                <a:cs typeface="Arial"/>
                <a:sym typeface="Arial"/>
              </a:rPr>
            </a:br>
            <a:endParaRPr>
              <a:solidFill>
                <a:srgbClr val="007682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85750" lvl="0" marL="322534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800"/>
              <a:buChar char="•"/>
            </a:pPr>
            <a:r>
              <a:rPr lang="de-CH">
                <a:solidFill>
                  <a:srgbClr val="007682"/>
                </a:solidFill>
                <a:latin typeface="Arial"/>
                <a:ea typeface="Arial"/>
                <a:cs typeface="Arial"/>
                <a:sym typeface="Arial"/>
              </a:rPr>
              <a:t>TC to implement recommendations where possible (search functionality is a priority)</a:t>
            </a:r>
            <a:br>
              <a:rPr lang="de-CH">
                <a:solidFill>
                  <a:srgbClr val="007682"/>
                </a:solidFill>
                <a:latin typeface="Arial"/>
                <a:ea typeface="Arial"/>
                <a:cs typeface="Arial"/>
                <a:sym typeface="Arial"/>
              </a:rPr>
            </a:br>
            <a:endParaRPr>
              <a:solidFill>
                <a:srgbClr val="007682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85750" lvl="0" marL="322534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800"/>
              <a:buChar char="•"/>
            </a:pPr>
            <a:r>
              <a:rPr lang="de-CH">
                <a:solidFill>
                  <a:srgbClr val="007682"/>
                </a:solidFill>
                <a:latin typeface="Arial"/>
                <a:ea typeface="Arial"/>
                <a:cs typeface="Arial"/>
                <a:sym typeface="Arial"/>
              </a:rPr>
              <a:t>Perhaps some minor consultancy for implementation of more complex feature e.g. JavaScript customisations.</a:t>
            </a:r>
            <a:br>
              <a:rPr lang="de-CH">
                <a:solidFill>
                  <a:srgbClr val="007682"/>
                </a:solidFill>
                <a:latin typeface="Arial"/>
                <a:ea typeface="Arial"/>
                <a:cs typeface="Arial"/>
                <a:sym typeface="Arial"/>
              </a:rPr>
            </a:br>
            <a:endParaRPr>
              <a:solidFill>
                <a:srgbClr val="007682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85750" lvl="0" marL="322534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800"/>
              <a:buChar char="•"/>
            </a:pPr>
            <a:r>
              <a:rPr b="0" i="0" lang="de-CH" u="none" strike="noStrike">
                <a:solidFill>
                  <a:srgbClr val="007682"/>
                </a:solidFill>
                <a:latin typeface="Arial"/>
                <a:ea typeface="Arial"/>
                <a:cs typeface="Arial"/>
                <a:sym typeface="Arial"/>
              </a:rPr>
              <a:t>Current issue list on Jira being worked through by TC</a:t>
            </a:r>
            <a:br>
              <a:rPr lang="de-CH">
                <a:solidFill>
                  <a:srgbClr val="007682"/>
                </a:solidFill>
                <a:latin typeface="Arial"/>
                <a:ea typeface="Arial"/>
                <a:cs typeface="Arial"/>
                <a:sym typeface="Arial"/>
              </a:rPr>
            </a:br>
            <a:endParaRPr>
              <a:solidFill>
                <a:srgbClr val="00768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A couple of circles with white letters&#10;&#10;AI-generated content may be incorrect." id="188" name="Google Shape;188;g3669fddb008_0_29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551840" y="6356185"/>
            <a:ext cx="1304354" cy="33689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2" name="Shape 1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" name="Google Shape;193;g3669fddb008_0_13"/>
          <p:cNvSpPr txBox="1"/>
          <p:nvPr>
            <p:ph type="title"/>
          </p:nvPr>
        </p:nvSpPr>
        <p:spPr>
          <a:xfrm>
            <a:off x="838200" y="365125"/>
            <a:ext cx="10515600" cy="13257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de-CH" u="sng">
                <a:solidFill>
                  <a:schemeClr val="hlink"/>
                </a:solidFill>
                <a:hlinkClick r:id="rId3"/>
              </a:rPr>
              <a:t>DDI-CDI</a:t>
            </a:r>
            <a:endParaRPr sz="3600"/>
          </a:p>
        </p:txBody>
      </p:sp>
      <p:sp>
        <p:nvSpPr>
          <p:cNvPr id="194" name="Google Shape;194;g3669fddb008_0_13"/>
          <p:cNvSpPr txBox="1"/>
          <p:nvPr/>
        </p:nvSpPr>
        <p:spPr>
          <a:xfrm>
            <a:off x="838200" y="1902100"/>
            <a:ext cx="10515600" cy="4770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lnSpcReduction="20000"/>
          </a:bodyPr>
          <a:lstStyle/>
          <a:p>
            <a:pPr indent="-2286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E4E79"/>
              </a:buClr>
              <a:buSzPts val="2800"/>
              <a:buChar char="•"/>
            </a:pPr>
            <a:r>
              <a:rPr lang="de-CH" sz="2800">
                <a:solidFill>
                  <a:srgbClr val="1E4E79"/>
                </a:solidFill>
                <a:latin typeface="Calibri"/>
                <a:ea typeface="Calibri"/>
                <a:cs typeface="Calibri"/>
                <a:sym typeface="Calibri"/>
              </a:rPr>
              <a:t>V1.0 published</a:t>
            </a:r>
            <a:endParaRPr sz="2800">
              <a:solidFill>
                <a:srgbClr val="1E4E79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800">
              <a:solidFill>
                <a:srgbClr val="1E4E79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286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E4E79"/>
              </a:buClr>
              <a:buSzPts val="2800"/>
              <a:buChar char="•"/>
            </a:pPr>
            <a:r>
              <a:rPr lang="de-CH" sz="2800">
                <a:solidFill>
                  <a:srgbClr val="1E4E79"/>
                </a:solidFill>
                <a:latin typeface="Calibri"/>
                <a:ea typeface="Calibri"/>
                <a:cs typeface="Calibri"/>
                <a:sym typeface="Calibri"/>
              </a:rPr>
              <a:t>Describe data from other domains</a:t>
            </a:r>
            <a:endParaRPr sz="28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286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00"/>
              </a:buClr>
              <a:buSzPts val="2400"/>
              <a:buChar char="•"/>
            </a:pPr>
            <a:r>
              <a:rPr lang="de-CH" sz="2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Probably structured differently (sensor/event data, multi-dimensional data, big data, etc.)</a:t>
            </a:r>
            <a:endParaRPr sz="24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286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00"/>
              </a:buClr>
              <a:buSzPts val="2400"/>
              <a:buChar char="•"/>
            </a:pPr>
            <a:r>
              <a:rPr lang="de-CH" sz="2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Likely encoded using non-XML technology (e.g. RDF and Web standards)</a:t>
            </a:r>
            <a:endParaRPr sz="24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286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00"/>
              </a:buClr>
              <a:buSzPts val="2400"/>
              <a:buChar char="•"/>
            </a:pPr>
            <a:r>
              <a:rPr lang="de-CH" sz="2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Often described with different terminology/semantics (explicitly or implicitly)</a:t>
            </a:r>
            <a:endParaRPr sz="24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1E4E79"/>
              </a:buClr>
              <a:buSzPts val="2800"/>
              <a:buChar char="•"/>
            </a:pPr>
            <a:r>
              <a:rPr lang="de-CH" sz="2800">
                <a:solidFill>
                  <a:srgbClr val="1E4E79"/>
                </a:solidFill>
                <a:latin typeface="Calibri"/>
                <a:ea typeface="Calibri"/>
                <a:cs typeface="Calibri"/>
                <a:sym typeface="Calibri"/>
              </a:rPr>
              <a:t>Work well with others</a:t>
            </a:r>
            <a:endParaRPr sz="28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286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00"/>
              </a:buClr>
              <a:buSzPts val="2400"/>
              <a:buChar char="•"/>
            </a:pPr>
            <a:r>
              <a:rPr lang="de-CH" sz="2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Integration mechanism for DDI products</a:t>
            </a:r>
            <a:endParaRPr sz="24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286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00"/>
              </a:buClr>
              <a:buSzPts val="2400"/>
              <a:buChar char="•"/>
            </a:pPr>
            <a:r>
              <a:rPr lang="de-CH" sz="2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Direct support for non-DDI standards/models (i.e., SKOS, DCAT, etc.)</a:t>
            </a:r>
            <a:endParaRPr sz="24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1E4E79"/>
              </a:buClr>
              <a:buSzPts val="2800"/>
              <a:buChar char="•"/>
            </a:pPr>
            <a:r>
              <a:rPr lang="de-CH" sz="2800">
                <a:solidFill>
                  <a:srgbClr val="1E4E79"/>
                </a:solidFill>
                <a:latin typeface="Calibri"/>
                <a:ea typeface="Calibri"/>
                <a:cs typeface="Calibri"/>
                <a:sym typeface="Calibri"/>
              </a:rPr>
              <a:t>Capture provenance</a:t>
            </a:r>
            <a:endParaRPr sz="28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286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00"/>
              </a:buClr>
              <a:buSzPts val="2400"/>
              <a:buChar char="•"/>
            </a:pPr>
            <a:r>
              <a:rPr lang="de-CH" sz="2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Data is usually coming from diverse data production paradigms </a:t>
            </a:r>
            <a:endParaRPr sz="24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286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00"/>
              </a:buClr>
              <a:buSzPts val="2400"/>
              <a:buChar char="•"/>
            </a:pPr>
            <a:r>
              <a:rPr lang="de-CH" sz="2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Production context and implicit assumptions need to be provided for accurate interpretation and integration</a:t>
            </a:r>
            <a:endParaRPr b="1" sz="24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95" name="Google Shape;195;g3669fddb008_0_1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860350" y="221525"/>
            <a:ext cx="4493449" cy="25642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9" name="Shape 1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Google Shape;200;g3669fddb008_0_38"/>
          <p:cNvSpPr txBox="1"/>
          <p:nvPr>
            <p:ph type="title"/>
          </p:nvPr>
        </p:nvSpPr>
        <p:spPr>
          <a:xfrm>
            <a:off x="482400" y="62750"/>
            <a:ext cx="10515600" cy="13257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de-CH" sz="3600" u="sng">
                <a:solidFill>
                  <a:schemeClr val="hlink"/>
                </a:solidFill>
                <a:hlinkClick r:id="rId3"/>
              </a:rPr>
              <a:t>Training Working Group</a:t>
            </a:r>
            <a:endParaRPr sz="3600"/>
          </a:p>
        </p:txBody>
      </p:sp>
      <p:sp>
        <p:nvSpPr>
          <p:cNvPr id="201" name="Google Shape;201;g3669fddb008_0_38"/>
          <p:cNvSpPr txBox="1"/>
          <p:nvPr>
            <p:ph idx="1" type="body"/>
          </p:nvPr>
        </p:nvSpPr>
        <p:spPr>
          <a:xfrm>
            <a:off x="621225" y="1113575"/>
            <a:ext cx="11227500" cy="53739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rmAutofit lnSpcReduction="10000"/>
          </a:bodyPr>
          <a:lstStyle/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b="1" lang="de-CH" sz="2000">
                <a:latin typeface="Arial"/>
                <a:ea typeface="Arial"/>
                <a:cs typeface="Arial"/>
                <a:sym typeface="Arial"/>
              </a:rPr>
              <a:t>Events</a:t>
            </a:r>
            <a:endParaRPr b="1" sz="2000">
              <a:latin typeface="Arial"/>
              <a:ea typeface="Arial"/>
              <a:cs typeface="Arial"/>
              <a:sym typeface="Arial"/>
            </a:endParaRPr>
          </a:p>
          <a:p>
            <a:pPr indent="-355600" lvl="0" marL="45720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000"/>
              <a:buChar char="●"/>
            </a:pPr>
            <a:r>
              <a:rPr lang="de-CH" sz="2000" u="sng">
                <a:solidFill>
                  <a:srgbClr val="1155CC"/>
                </a:solidFill>
                <a:latin typeface="Arial"/>
                <a:ea typeface="Arial"/>
                <a:cs typeface="Arial"/>
                <a:sym typeface="Arial"/>
                <a:hlinkClick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Webinar w/CODATA</a:t>
            </a:r>
            <a:r>
              <a:rPr lang="de-CH" sz="2000">
                <a:latin typeface="Arial"/>
                <a:ea typeface="Arial"/>
                <a:cs typeface="Arial"/>
                <a:sym typeface="Arial"/>
              </a:rPr>
              <a:t> - Questions and Survey Instruments in DDI: Maximizing the Value of Your Metadata.(</a:t>
            </a:r>
            <a:r>
              <a:rPr lang="de-CH" sz="2000" u="sng">
                <a:solidFill>
                  <a:srgbClr val="1155CC"/>
                </a:solidFill>
                <a:latin typeface="Arial"/>
                <a:ea typeface="Arial"/>
                <a:cs typeface="Arial"/>
                <a:sym typeface="Arial"/>
                <a:hlinkClick r:id="rId5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link to recording and slides</a:t>
            </a:r>
            <a:r>
              <a:rPr lang="de-CH" sz="2000">
                <a:latin typeface="Arial"/>
                <a:ea typeface="Arial"/>
                <a:cs typeface="Arial"/>
                <a:sym typeface="Arial"/>
              </a:rPr>
              <a:t>)</a:t>
            </a:r>
            <a:endParaRPr sz="2000">
              <a:latin typeface="Arial"/>
              <a:ea typeface="Arial"/>
              <a:cs typeface="Arial"/>
              <a:sym typeface="Arial"/>
            </a:endParaRPr>
          </a:p>
          <a:p>
            <a:pPr indent="-3556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Char char="●"/>
            </a:pPr>
            <a:r>
              <a:rPr lang="de-CH" sz="2000">
                <a:latin typeface="Arial"/>
                <a:ea typeface="Arial"/>
                <a:cs typeface="Arial"/>
                <a:sym typeface="Arial"/>
              </a:rPr>
              <a:t>IASSIST 2024 - Poster - </a:t>
            </a:r>
            <a:r>
              <a:rPr lang="de-CH" sz="2000" u="sng">
                <a:solidFill>
                  <a:srgbClr val="1155CC"/>
                </a:solidFill>
                <a:latin typeface="Arial"/>
                <a:ea typeface="Arial"/>
                <a:cs typeface="Arial"/>
                <a:sym typeface="Arial"/>
                <a:hlinkClick r:id="rId6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DDI training materials: A metadata management training resource</a:t>
            </a:r>
            <a:r>
              <a:rPr lang="de-CH" sz="2000">
                <a:latin typeface="Arial"/>
                <a:ea typeface="Arial"/>
                <a:cs typeface="Arial"/>
                <a:sym typeface="Arial"/>
              </a:rPr>
              <a:t>, </a:t>
            </a:r>
            <a:endParaRPr sz="2000">
              <a:latin typeface="Arial"/>
              <a:ea typeface="Arial"/>
              <a:cs typeface="Arial"/>
              <a:sym typeface="Arial"/>
            </a:endParaRPr>
          </a:p>
          <a:p>
            <a:pPr indent="-3556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Char char="●"/>
            </a:pPr>
            <a:r>
              <a:rPr lang="de-CH" sz="2000">
                <a:latin typeface="Arial"/>
                <a:ea typeface="Arial"/>
                <a:cs typeface="Arial"/>
                <a:sym typeface="Arial"/>
              </a:rPr>
              <a:t>EDDI 2024 - DDI Training Working Group - Train the Trainer Collaboration Workshop</a:t>
            </a:r>
            <a:endParaRPr sz="2000">
              <a:latin typeface="Arial"/>
              <a:ea typeface="Arial"/>
              <a:cs typeface="Arial"/>
              <a:sym typeface="Arial"/>
            </a:endParaRPr>
          </a:p>
          <a:p>
            <a:pPr indent="-3556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Char char="●"/>
            </a:pPr>
            <a:r>
              <a:rPr lang="de-CH" sz="2000">
                <a:latin typeface="Arial"/>
                <a:ea typeface="Arial"/>
                <a:cs typeface="Arial"/>
                <a:sym typeface="Arial"/>
              </a:rPr>
              <a:t>IASSIST 2025 Presentation </a:t>
            </a:r>
            <a:endParaRPr sz="2000">
              <a:latin typeface="Arial"/>
              <a:ea typeface="Arial"/>
              <a:cs typeface="Arial"/>
              <a:sym typeface="Arial"/>
            </a:endParaRPr>
          </a:p>
          <a:p>
            <a:pPr indent="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de-CH" sz="2000">
                <a:latin typeface="Arial"/>
                <a:ea typeface="Arial"/>
                <a:cs typeface="Arial"/>
                <a:sym typeface="Arial"/>
              </a:rPr>
              <a:t>Slide </a:t>
            </a:r>
            <a:r>
              <a:rPr b="1" lang="de-CH" sz="2000">
                <a:latin typeface="Arial"/>
                <a:ea typeface="Arial"/>
                <a:cs typeface="Arial"/>
                <a:sym typeface="Arial"/>
              </a:rPr>
              <a:t>decks published 2024-2025</a:t>
            </a:r>
            <a:endParaRPr b="1" sz="2000">
              <a:latin typeface="Arial"/>
              <a:ea typeface="Arial"/>
              <a:cs typeface="Arial"/>
              <a:sym typeface="Arial"/>
            </a:endParaRPr>
          </a:p>
          <a:p>
            <a:pPr indent="-3556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Char char="●"/>
            </a:pPr>
            <a:r>
              <a:rPr lang="de-CH" sz="2000">
                <a:latin typeface="Arial"/>
                <a:ea typeface="Arial"/>
                <a:cs typeface="Arial"/>
                <a:sym typeface="Arial"/>
              </a:rPr>
              <a:t>Korean versions of 3 Intro Decks</a:t>
            </a:r>
            <a:endParaRPr sz="2000">
              <a:latin typeface="Arial"/>
              <a:ea typeface="Arial"/>
              <a:cs typeface="Arial"/>
              <a:sym typeface="Arial"/>
            </a:endParaRPr>
          </a:p>
          <a:p>
            <a:pPr indent="-3556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Char char="●"/>
            </a:pPr>
            <a:r>
              <a:rPr lang="de-CH" sz="2000">
                <a:latin typeface="Arial"/>
                <a:ea typeface="Arial"/>
                <a:cs typeface="Arial"/>
                <a:sym typeface="Arial"/>
              </a:rPr>
              <a:t>How to Document Data Quality with DDI</a:t>
            </a:r>
            <a:endParaRPr sz="2000">
              <a:latin typeface="Arial"/>
              <a:ea typeface="Arial"/>
              <a:cs typeface="Arial"/>
              <a:sym typeface="Arial"/>
            </a:endParaRPr>
          </a:p>
          <a:p>
            <a:pPr indent="-3556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Char char="●"/>
            </a:pPr>
            <a:r>
              <a:rPr lang="de-CH" sz="2000">
                <a:latin typeface="Arial"/>
                <a:ea typeface="Arial"/>
                <a:cs typeface="Arial"/>
                <a:sym typeface="Arial"/>
              </a:rPr>
              <a:t>Understanding Metadata </a:t>
            </a:r>
            <a:endParaRPr sz="2000">
              <a:latin typeface="Arial"/>
              <a:ea typeface="Arial"/>
              <a:cs typeface="Arial"/>
              <a:sym typeface="Arial"/>
            </a:endParaRPr>
          </a:p>
          <a:p>
            <a:pPr indent="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de-CH" sz="2000">
                <a:latin typeface="Arial"/>
                <a:ea typeface="Arial"/>
                <a:cs typeface="Arial"/>
                <a:sym typeface="Arial"/>
              </a:rPr>
              <a:t>On demand training</a:t>
            </a:r>
            <a:endParaRPr b="1" sz="2000">
              <a:latin typeface="Arial"/>
              <a:ea typeface="Arial"/>
              <a:cs typeface="Arial"/>
              <a:sym typeface="Arial"/>
            </a:endParaRPr>
          </a:p>
          <a:p>
            <a:pPr indent="-355600" lvl="0" marL="45720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000"/>
              <a:buChar char="●"/>
            </a:pPr>
            <a:r>
              <a:rPr lang="de-CH" sz="2000">
                <a:latin typeface="Arial"/>
                <a:ea typeface="Arial"/>
                <a:cs typeface="Arial"/>
                <a:sym typeface="Arial"/>
              </a:rPr>
              <a:t>ONTOLISST project - the HUN-REN Data Documentation Archive</a:t>
            </a:r>
            <a:endParaRPr sz="2000">
              <a:latin typeface="Arial"/>
              <a:ea typeface="Arial"/>
              <a:cs typeface="Arial"/>
              <a:sym typeface="Arial"/>
            </a:endParaRPr>
          </a:p>
          <a:p>
            <a:pPr indent="-3556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Char char="●"/>
            </a:pPr>
            <a:r>
              <a:rPr lang="de-CH" sz="2000">
                <a:latin typeface="Arial"/>
                <a:ea typeface="Arial"/>
                <a:cs typeface="Arial"/>
                <a:sym typeface="Arial"/>
              </a:rPr>
              <a:t>WestEd Overview of DDI Training </a:t>
            </a:r>
            <a:endParaRPr sz="20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150"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02" name="Google Shape;202;g3669fddb008_0_38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 rot="-8">
            <a:off x="7319296" y="2875702"/>
            <a:ext cx="4108680" cy="225259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6" name="Shape 2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7" name="Google Shape;207;g3669fddb008_0_8"/>
          <p:cNvSpPr txBox="1"/>
          <p:nvPr>
            <p:ph type="title"/>
          </p:nvPr>
        </p:nvSpPr>
        <p:spPr>
          <a:xfrm>
            <a:off x="838200" y="200200"/>
            <a:ext cx="10515600" cy="13257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de-CH" sz="3600" u="sng">
                <a:solidFill>
                  <a:schemeClr val="hlink"/>
                </a:solidFill>
                <a:latin typeface="Arial"/>
                <a:ea typeface="Arial"/>
                <a:cs typeface="Arial"/>
                <a:sym typeface="Arial"/>
                <a:hlinkClick r:id="rId3"/>
              </a:rPr>
              <a:t>Questions and questionnaires group</a:t>
            </a:r>
            <a:endParaRPr sz="360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8" name="Google Shape;208;g3669fddb008_0_8"/>
          <p:cNvSpPr txBox="1"/>
          <p:nvPr>
            <p:ph idx="1" type="body"/>
          </p:nvPr>
        </p:nvSpPr>
        <p:spPr>
          <a:xfrm>
            <a:off x="838200" y="1262150"/>
            <a:ext cx="11148900" cy="52167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rmAutofit lnSpcReduction="20000"/>
          </a:bodyPr>
          <a:lstStyle/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de-CH" sz="2000"/>
              <a:t>Established 2024</a:t>
            </a:r>
            <a:endParaRPr sz="2000"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de-CH" sz="2000"/>
              <a:t>Mission </a:t>
            </a:r>
            <a:endParaRPr sz="2000"/>
          </a:p>
          <a:p>
            <a:pPr indent="0" lvl="0" marL="45720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de-CH" sz="2000"/>
              <a:t>• </a:t>
            </a:r>
            <a:r>
              <a:rPr lang="de-CH" sz="2000"/>
              <a:t>Provide guidelines for building and managing questionnaires </a:t>
            </a:r>
            <a:endParaRPr sz="2000"/>
          </a:p>
          <a:p>
            <a:pPr indent="0" lvl="0" marL="45720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de-CH" sz="2000"/>
              <a:t>• Identify needs for new material and evolution of the standards </a:t>
            </a:r>
            <a:endParaRPr sz="2000"/>
          </a:p>
          <a:p>
            <a:pPr indent="0" lvl="0" marL="45720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de-CH" sz="2000"/>
              <a:t>• Long-lived initiative</a:t>
            </a:r>
            <a:endParaRPr sz="2000"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de-CH" sz="2000"/>
              <a:t>Past activities </a:t>
            </a:r>
            <a:endParaRPr sz="2000"/>
          </a:p>
          <a:p>
            <a:pPr indent="0" lvl="0" marL="45720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de-CH" sz="2000"/>
              <a:t>• Survey to identify needs </a:t>
            </a:r>
            <a:endParaRPr sz="2000"/>
          </a:p>
          <a:p>
            <a:pPr indent="0" lvl="0" marL="45720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de-CH" sz="2000"/>
              <a:t>• EDDI24  </a:t>
            </a:r>
            <a:endParaRPr sz="2000"/>
          </a:p>
          <a:p>
            <a:pPr indent="-355600" lvl="0" marL="914400" rtl="0" algn="l">
              <a:spcBef>
                <a:spcPts val="1000"/>
              </a:spcBef>
              <a:spcAft>
                <a:spcPts val="0"/>
              </a:spcAft>
              <a:buSzPts val="2000"/>
              <a:buChar char="•"/>
            </a:pPr>
            <a:r>
              <a:rPr lang="de-CH" sz="2000"/>
              <a:t>Presentation of the survey results (BoF session) </a:t>
            </a:r>
            <a:endParaRPr sz="2000"/>
          </a:p>
          <a:p>
            <a:pPr indent="-355600" lvl="0" marL="914400" rtl="0" algn="l">
              <a:spcBef>
                <a:spcPts val="0"/>
              </a:spcBef>
              <a:spcAft>
                <a:spcPts val="0"/>
              </a:spcAft>
              <a:buSzPts val="2000"/>
              <a:buChar char="•"/>
            </a:pPr>
            <a:r>
              <a:rPr lang="de-CH" sz="2000"/>
              <a:t>Workshop to set directions </a:t>
            </a:r>
            <a:endParaRPr sz="2000"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de-CH" sz="2000"/>
              <a:t>Goals </a:t>
            </a:r>
            <a:endParaRPr sz="2000"/>
          </a:p>
          <a:p>
            <a:pPr indent="0" lvl="0" marL="45720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de-CH" sz="2000"/>
              <a:t>• Improve the Getting started section for Questionnaires in DDI (Strategic goal 1.1) </a:t>
            </a:r>
            <a:endParaRPr sz="2000"/>
          </a:p>
          <a:p>
            <a:pPr indent="0" lvl="0" marL="45720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de-CH" sz="2000"/>
              <a:t>• Develop Guides and best practices documents (SG 1.1) </a:t>
            </a:r>
            <a:endParaRPr sz="2000"/>
          </a:p>
          <a:p>
            <a:pPr indent="0" lvl="0" marL="45720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de-CH" sz="2000"/>
              <a:t>• Provide real life example of questionnaires in DDI (SG 2.2) </a:t>
            </a:r>
            <a:endParaRPr sz="2000"/>
          </a:p>
          <a:p>
            <a:pPr indent="0" lvl="0" marL="45720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de-CH" sz="2000"/>
              <a:t>• Update the tools list and description (SG 1.1)</a:t>
            </a:r>
            <a:endParaRPr sz="200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2" name="Shape 2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3" name="Google Shape;213;g3669fddb008_0_43"/>
          <p:cNvSpPr txBox="1"/>
          <p:nvPr/>
        </p:nvSpPr>
        <p:spPr>
          <a:xfrm>
            <a:off x="838200" y="365125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de-CH" sz="3600" u="sng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3"/>
              </a:rPr>
              <a:t>DDI Developers</a:t>
            </a:r>
            <a:r>
              <a:rPr lang="de-CH" sz="3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Hackathon v3.1 2025</a:t>
            </a:r>
            <a:endParaRPr sz="4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4" name="Google Shape;214;g3669fddb008_0_43"/>
          <p:cNvSpPr txBox="1"/>
          <p:nvPr/>
        </p:nvSpPr>
        <p:spPr>
          <a:xfrm>
            <a:off x="838200" y="1690688"/>
            <a:ext cx="10515600" cy="4597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lnSpcReduction="20000"/>
          </a:bodyPr>
          <a:lstStyle/>
          <a:p>
            <a:pPr indent="-2032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Char char="•"/>
            </a:pPr>
            <a:r>
              <a:rPr lang="de-CH" sz="2400">
                <a:solidFill>
                  <a:srgbClr val="000000"/>
                </a:solidFill>
              </a:rPr>
              <a:t>Side meeting to EDDI 2025</a:t>
            </a:r>
            <a:endParaRPr sz="2400">
              <a:solidFill>
                <a:srgbClr val="000000"/>
              </a:solidFill>
            </a:endParaRPr>
          </a:p>
          <a:p>
            <a:pPr indent="-2286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00"/>
              </a:buClr>
              <a:buSzPts val="2400"/>
              <a:buChar char="•"/>
            </a:pPr>
            <a:r>
              <a:rPr lang="de-CH" sz="2400">
                <a:solidFill>
                  <a:srgbClr val="000000"/>
                </a:solidFill>
              </a:rPr>
              <a:t>Same location as EDDI</a:t>
            </a:r>
            <a:endParaRPr sz="2400">
              <a:solidFill>
                <a:srgbClr val="000000"/>
              </a:solidFill>
            </a:endParaRPr>
          </a:p>
          <a:p>
            <a:pPr indent="-2286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00"/>
              </a:buClr>
              <a:buSzPts val="2400"/>
              <a:buChar char="•"/>
            </a:pPr>
            <a:r>
              <a:rPr lang="de-CH" sz="2400">
                <a:solidFill>
                  <a:srgbClr val="000000"/>
                </a:solidFill>
              </a:rPr>
              <a:t>Wednesday 03/12 -&gt; Welcome reception – KEG</a:t>
            </a:r>
            <a:endParaRPr sz="2400">
              <a:solidFill>
                <a:srgbClr val="000000"/>
              </a:solidFill>
            </a:endParaRPr>
          </a:p>
          <a:p>
            <a:pPr indent="-2286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00"/>
              </a:buClr>
              <a:buSzPts val="2400"/>
              <a:buChar char="•"/>
            </a:pPr>
            <a:r>
              <a:rPr lang="de-CH" sz="2400">
                <a:solidFill>
                  <a:srgbClr val="000000"/>
                </a:solidFill>
              </a:rPr>
              <a:t>Thursday / Friday – Hacking in groups</a:t>
            </a:r>
            <a:endParaRPr sz="2400">
              <a:solidFill>
                <a:srgbClr val="000000"/>
              </a:solidFill>
            </a:endParaRPr>
          </a:p>
          <a:p>
            <a:pPr indent="-2286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00"/>
              </a:buClr>
              <a:buSzPts val="2400"/>
              <a:buChar char="•"/>
            </a:pPr>
            <a:r>
              <a:rPr lang="de-CH" sz="2400">
                <a:solidFill>
                  <a:srgbClr val="000000"/>
                </a:solidFill>
              </a:rPr>
              <a:t>Thursday 04/12 -&gt; Pizza Party</a:t>
            </a:r>
            <a:endParaRPr sz="2400">
              <a:solidFill>
                <a:srgbClr val="000000"/>
              </a:solidFill>
            </a:endParaRPr>
          </a:p>
          <a:p>
            <a:pPr indent="-2286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00"/>
              </a:buClr>
              <a:buSzPts val="2400"/>
              <a:buChar char="•"/>
            </a:pPr>
            <a:r>
              <a:rPr lang="de-CH" sz="2400">
                <a:solidFill>
                  <a:srgbClr val="000000"/>
                </a:solidFill>
              </a:rPr>
              <a:t>Friday 05/12 -&gt; Thank You Dinner – Trofea Grill</a:t>
            </a:r>
            <a:endParaRPr sz="2400">
              <a:solidFill>
                <a:srgbClr val="000000"/>
              </a:solidFill>
            </a:endParaRPr>
          </a:p>
          <a:p>
            <a:pPr indent="-762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rgbClr val="000000"/>
              </a:solidFill>
            </a:endParaRPr>
          </a:p>
          <a:p>
            <a:pPr indent="-2032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400"/>
              <a:buChar char="•"/>
            </a:pPr>
            <a:r>
              <a:rPr lang="de-CH" sz="2400">
                <a:solidFill>
                  <a:srgbClr val="000000"/>
                </a:solidFill>
              </a:rPr>
              <a:t>Free of costs, limited travel support possible</a:t>
            </a:r>
            <a:endParaRPr sz="2400">
              <a:solidFill>
                <a:srgbClr val="000000"/>
              </a:solidFill>
            </a:endParaRPr>
          </a:p>
          <a:p>
            <a:pPr indent="-2032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400"/>
              <a:buChar char="•"/>
            </a:pPr>
            <a:r>
              <a:rPr lang="de-CH" sz="2400">
                <a:solidFill>
                  <a:srgbClr val="000000"/>
                </a:solidFill>
              </a:rPr>
              <a:t>All are welcome (not only developers)</a:t>
            </a:r>
            <a:endParaRPr sz="2400">
              <a:solidFill>
                <a:srgbClr val="000000"/>
              </a:solidFill>
            </a:endParaRPr>
          </a:p>
          <a:p>
            <a:pPr indent="-2032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400"/>
              <a:buChar char="•"/>
            </a:pPr>
            <a:r>
              <a:rPr lang="de-CH" sz="2400">
                <a:solidFill>
                  <a:srgbClr val="000000"/>
                </a:solidFill>
              </a:rPr>
              <a:t>Call for challenges in summer</a:t>
            </a:r>
            <a:endParaRPr sz="2400">
              <a:solidFill>
                <a:srgbClr val="000000"/>
              </a:solidFill>
            </a:endParaRPr>
          </a:p>
          <a:p>
            <a:pPr indent="-508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28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508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28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8" name="Shape 2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9" name="Google Shape;219;g3669fddb008_0_33"/>
          <p:cNvSpPr txBox="1"/>
          <p:nvPr/>
        </p:nvSpPr>
        <p:spPr>
          <a:xfrm>
            <a:off x="721021" y="256672"/>
            <a:ext cx="10515600" cy="891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de-CH" sz="3600" u="sng">
                <a:solidFill>
                  <a:schemeClr val="hlink"/>
                </a:solidFill>
                <a:hlinkClick r:id="rId3"/>
              </a:rPr>
              <a:t>DDI and W3C Collaboration</a:t>
            </a:r>
            <a:endParaRPr sz="3600">
              <a:solidFill>
                <a:srgbClr val="000000"/>
              </a:solidFill>
            </a:endParaRPr>
          </a:p>
        </p:txBody>
      </p:sp>
      <p:sp>
        <p:nvSpPr>
          <p:cNvPr id="220" name="Google Shape;220;g3669fddb008_0_33"/>
          <p:cNvSpPr txBox="1"/>
          <p:nvPr>
            <p:ph type="title"/>
          </p:nvPr>
        </p:nvSpPr>
        <p:spPr>
          <a:xfrm>
            <a:off x="277625" y="996700"/>
            <a:ext cx="12807600" cy="652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4400"/>
              <a:buNone/>
            </a:pPr>
            <a:r>
              <a:rPr i="0" lang="de-CH" sz="3000" u="none" strike="noStrike">
                <a:solidFill>
                  <a:srgbClr val="007682"/>
                </a:solidFill>
                <a:latin typeface="Arial"/>
                <a:ea typeface="Arial"/>
                <a:cs typeface="Arial"/>
                <a:sym typeface="Arial"/>
              </a:rPr>
              <a:t>Progress so far</a:t>
            </a:r>
            <a:endParaRPr sz="3000">
              <a:solidFill>
                <a:srgbClr val="07294C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1" name="Google Shape;221;g3669fddb008_0_33"/>
          <p:cNvSpPr txBox="1"/>
          <p:nvPr>
            <p:ph idx="1" type="body"/>
          </p:nvPr>
        </p:nvSpPr>
        <p:spPr>
          <a:xfrm>
            <a:off x="277625" y="1649200"/>
            <a:ext cx="11730900" cy="5552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85750" lvl="0" marL="322534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800"/>
              <a:buChar char="•"/>
            </a:pPr>
            <a:r>
              <a:rPr lang="de-CH" sz="2400">
                <a:solidFill>
                  <a:srgbClr val="007682"/>
                </a:solidFill>
                <a:latin typeface="Arial"/>
                <a:ea typeface="Arial"/>
                <a:cs typeface="Arial"/>
                <a:sym typeface="Arial"/>
              </a:rPr>
              <a:t>Business driver comes from both the EB Strategic Plan (</a:t>
            </a:r>
            <a:r>
              <a:rPr i="1" lang="de-CH" sz="1800" u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Build partnerships with other standards</a:t>
            </a:r>
            <a:r>
              <a:rPr lang="de-CH" sz="2400">
                <a:solidFill>
                  <a:srgbClr val="007682"/>
                </a:solidFill>
                <a:latin typeface="Arial"/>
                <a:ea typeface="Arial"/>
                <a:cs typeface="Arial"/>
                <a:sym typeface="Arial"/>
              </a:rPr>
              <a:t>)</a:t>
            </a:r>
            <a:r>
              <a:rPr i="1" lang="de-CH" sz="2400">
                <a:solidFill>
                  <a:srgbClr val="007682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de-CH" sz="2400">
                <a:solidFill>
                  <a:srgbClr val="007682"/>
                </a:solidFill>
                <a:latin typeface="Arial"/>
                <a:ea typeface="Arial"/>
                <a:cs typeface="Arial"/>
                <a:sym typeface="Arial"/>
              </a:rPr>
              <a:t>and the SB Workplan (</a:t>
            </a:r>
            <a:r>
              <a:rPr b="0" i="1" lang="de-CH" sz="1800" u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Deepen connection with W3C and explore the possibilities of a W3C recommendation for DDI components, such as the variable cascade</a:t>
            </a:r>
            <a:r>
              <a:rPr lang="de-CH" sz="2400">
                <a:solidFill>
                  <a:srgbClr val="007682"/>
                </a:solidFill>
                <a:latin typeface="Arial"/>
                <a:ea typeface="Arial"/>
                <a:cs typeface="Arial"/>
                <a:sym typeface="Arial"/>
              </a:rPr>
              <a:t>)</a:t>
            </a:r>
            <a:r>
              <a:rPr b="0" i="0" lang="de-CH" sz="2400" u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.</a:t>
            </a:r>
            <a:br>
              <a:rPr b="0" i="0" lang="de-CH" sz="2400" u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endParaRPr i="0" sz="2400" u="none" strike="noStrike">
              <a:solidFill>
                <a:srgbClr val="007682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85750" lvl="0" marL="322534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800"/>
              <a:buChar char="•"/>
            </a:pPr>
            <a:r>
              <a:rPr lang="de-CH" sz="2400">
                <a:solidFill>
                  <a:srgbClr val="007682"/>
                </a:solidFill>
                <a:latin typeface="Arial"/>
                <a:ea typeface="Arial"/>
                <a:cs typeface="Arial"/>
                <a:sym typeface="Arial"/>
              </a:rPr>
              <a:t>Initial conversations with W3C representative at Dagstuhl 2023 Pierre-Antoine Champin</a:t>
            </a:r>
            <a:br>
              <a:rPr lang="de-CH" sz="2400">
                <a:solidFill>
                  <a:srgbClr val="007682"/>
                </a:solidFill>
                <a:latin typeface="Arial"/>
                <a:ea typeface="Arial"/>
                <a:cs typeface="Arial"/>
                <a:sym typeface="Arial"/>
              </a:rPr>
            </a:br>
            <a:endParaRPr sz="2400">
              <a:solidFill>
                <a:srgbClr val="007682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85750" lvl="0" marL="322534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800"/>
              <a:buChar char="•"/>
            </a:pPr>
            <a:r>
              <a:rPr lang="de-CH" sz="2400">
                <a:solidFill>
                  <a:srgbClr val="007682"/>
                </a:solidFill>
                <a:latin typeface="Arial"/>
                <a:ea typeface="Arial"/>
                <a:cs typeface="Arial"/>
                <a:sym typeface="Arial"/>
              </a:rPr>
              <a:t>Rather than creating a brand new W3C working group, the path of least resistance is to “re-charter” the existing Dataset Exchange Working Group (DXWG)</a:t>
            </a:r>
            <a:br>
              <a:rPr lang="de-CH" sz="2400">
                <a:solidFill>
                  <a:srgbClr val="007682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de-CH" sz="2400" u="sng">
                <a:solidFill>
                  <a:srgbClr val="007682"/>
                </a:solidFill>
                <a:latin typeface="Arial"/>
                <a:ea typeface="Arial"/>
                <a:cs typeface="Arial"/>
                <a:sym typeface="Arial"/>
                <a:hlinkClick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https://www.w3.org/2017/dxwg/wiki/Main_Page</a:t>
            </a:r>
            <a:r>
              <a:rPr lang="de-CH" sz="2400">
                <a:solidFill>
                  <a:srgbClr val="007682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br>
              <a:rPr lang="de-CH" sz="2400">
                <a:solidFill>
                  <a:srgbClr val="007682"/>
                </a:solidFill>
                <a:latin typeface="Arial"/>
                <a:ea typeface="Arial"/>
                <a:cs typeface="Arial"/>
                <a:sym typeface="Arial"/>
              </a:rPr>
            </a:br>
            <a:endParaRPr sz="2400">
              <a:solidFill>
                <a:srgbClr val="007682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85750" lvl="0" marL="322534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800"/>
              <a:buChar char="•"/>
            </a:pPr>
            <a:r>
              <a:rPr lang="de-CH" sz="2400">
                <a:solidFill>
                  <a:srgbClr val="007682"/>
                </a:solidFill>
                <a:latin typeface="Arial"/>
                <a:ea typeface="Arial"/>
                <a:cs typeface="Arial"/>
                <a:sym typeface="Arial"/>
              </a:rPr>
              <a:t>Essential pre-requisite is to establish a “memorandum of understanding” between the DDI Alliance and W3C.  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t/>
            </a:r>
            <a:endParaRPr sz="1800"/>
          </a:p>
        </p:txBody>
      </p:sp>
      <p:pic>
        <p:nvPicPr>
          <p:cNvPr descr="A couple of circles with white letters&#10;&#10;AI-generated content may be incorrect." id="222" name="Google Shape;222;g3669fddb008_0_33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0704165" y="6466135"/>
            <a:ext cx="1304354" cy="33689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6" name="Shape 2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7" name="Google Shape;227;g3669fddb008_0_64"/>
          <p:cNvSpPr txBox="1"/>
          <p:nvPr>
            <p:ph type="title"/>
          </p:nvPr>
        </p:nvSpPr>
        <p:spPr>
          <a:xfrm>
            <a:off x="618300" y="378228"/>
            <a:ext cx="10515600" cy="652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4400"/>
              <a:buNone/>
            </a:pPr>
            <a:r>
              <a:rPr b="0" i="0" lang="de-CH" sz="4000" u="none" strike="noStrike">
                <a:solidFill>
                  <a:srgbClr val="007682"/>
                </a:solidFill>
                <a:latin typeface="Arial"/>
                <a:ea typeface="Arial"/>
                <a:cs typeface="Arial"/>
                <a:sym typeface="Arial"/>
              </a:rPr>
              <a:t>Next steps</a:t>
            </a:r>
            <a:endParaRPr sz="4000">
              <a:solidFill>
                <a:srgbClr val="07294C"/>
              </a:solidFill>
            </a:endParaRPr>
          </a:p>
        </p:txBody>
      </p:sp>
      <p:sp>
        <p:nvSpPr>
          <p:cNvPr id="228" name="Google Shape;228;g3669fddb008_0_64"/>
          <p:cNvSpPr txBox="1"/>
          <p:nvPr>
            <p:ph idx="1" type="body"/>
          </p:nvPr>
        </p:nvSpPr>
        <p:spPr>
          <a:xfrm>
            <a:off x="618300" y="1140675"/>
            <a:ext cx="11103300" cy="5552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85750" lvl="0" marL="322534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800"/>
              <a:buChar char="•"/>
            </a:pPr>
            <a:r>
              <a:rPr lang="de-CH" sz="2400">
                <a:solidFill>
                  <a:srgbClr val="007682"/>
                </a:solidFill>
                <a:latin typeface="Arial"/>
                <a:ea typeface="Arial"/>
                <a:cs typeface="Arial"/>
                <a:sym typeface="Arial"/>
              </a:rPr>
              <a:t>This agreement has now been drafted and needs the final imprimatur of the Executive Board</a:t>
            </a:r>
            <a:br>
              <a:rPr b="0" i="0" lang="de-CH" sz="2400" u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endParaRPr i="0" sz="2400" u="none" strike="noStrike">
              <a:solidFill>
                <a:srgbClr val="007682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85750" lvl="0" marL="322534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800"/>
              <a:buChar char="•"/>
            </a:pPr>
            <a:r>
              <a:rPr lang="de-CH" sz="2400">
                <a:solidFill>
                  <a:srgbClr val="007682"/>
                </a:solidFill>
                <a:latin typeface="Arial"/>
                <a:ea typeface="Arial"/>
                <a:cs typeface="Arial"/>
                <a:sym typeface="Arial"/>
              </a:rPr>
              <a:t>Will start work in next couple of weeks on finalising the charter for the W3C-DDI joint working group.</a:t>
            </a:r>
            <a:br>
              <a:rPr lang="de-CH" sz="2400">
                <a:solidFill>
                  <a:srgbClr val="007682"/>
                </a:solidFill>
                <a:latin typeface="Arial"/>
                <a:ea typeface="Arial"/>
                <a:cs typeface="Arial"/>
                <a:sym typeface="Arial"/>
              </a:rPr>
            </a:br>
            <a:endParaRPr sz="2400">
              <a:solidFill>
                <a:srgbClr val="007682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85750" lvl="0" marL="322534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800"/>
              <a:buChar char="•"/>
            </a:pPr>
            <a:r>
              <a:rPr lang="de-CH" sz="2400">
                <a:solidFill>
                  <a:srgbClr val="007682"/>
                </a:solidFill>
                <a:latin typeface="Arial"/>
                <a:ea typeface="Arial"/>
                <a:cs typeface="Arial"/>
                <a:sym typeface="Arial"/>
              </a:rPr>
              <a:t>Group will commence formal work in the summer</a:t>
            </a:r>
            <a:endParaRPr sz="1800"/>
          </a:p>
        </p:txBody>
      </p:sp>
      <p:pic>
        <p:nvPicPr>
          <p:cNvPr descr="A couple of circles with white letters&#10;&#10;AI-generated content may be incorrect." id="229" name="Google Shape;229;g3669fddb008_0_6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551840" y="6356185"/>
            <a:ext cx="1304354" cy="33689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3" name="Shape 2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4" name="Google Shape;234;g3669fddb008_0_70"/>
          <p:cNvSpPr txBox="1"/>
          <p:nvPr>
            <p:ph type="title"/>
          </p:nvPr>
        </p:nvSpPr>
        <p:spPr>
          <a:xfrm>
            <a:off x="618300" y="378228"/>
            <a:ext cx="10515600" cy="652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4400"/>
              <a:buNone/>
            </a:pPr>
            <a:r>
              <a:rPr b="0" i="0" lang="de-CH" sz="4000" u="none" strike="noStrike">
                <a:solidFill>
                  <a:srgbClr val="007682"/>
                </a:solidFill>
                <a:latin typeface="Arial"/>
                <a:ea typeface="Arial"/>
                <a:cs typeface="Arial"/>
                <a:sym typeface="Arial"/>
              </a:rPr>
              <a:t>Goal of the joint W3C-DDI working group</a:t>
            </a:r>
            <a:endParaRPr sz="4000">
              <a:solidFill>
                <a:srgbClr val="07294C"/>
              </a:solidFill>
            </a:endParaRPr>
          </a:p>
        </p:txBody>
      </p:sp>
      <p:sp>
        <p:nvSpPr>
          <p:cNvPr id="235" name="Google Shape;235;g3669fddb008_0_70"/>
          <p:cNvSpPr txBox="1"/>
          <p:nvPr>
            <p:ph idx="1" type="body"/>
          </p:nvPr>
        </p:nvSpPr>
        <p:spPr>
          <a:xfrm>
            <a:off x="618300" y="1140675"/>
            <a:ext cx="11103300" cy="5552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85750" lvl="0" marL="322534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800"/>
              <a:buChar char="•"/>
            </a:pPr>
            <a:r>
              <a:rPr lang="de-CH" sz="2400">
                <a:solidFill>
                  <a:srgbClr val="007682"/>
                </a:solidFill>
                <a:latin typeface="Arial"/>
                <a:ea typeface="Arial"/>
                <a:cs typeface="Arial"/>
                <a:sym typeface="Arial"/>
              </a:rPr>
              <a:t>A W3C-DDI Recommendation on a RDF Variable Description Vocabulary. </a:t>
            </a:r>
            <a:br>
              <a:rPr lang="de-CH" sz="2400">
                <a:solidFill>
                  <a:srgbClr val="007682"/>
                </a:solidFill>
                <a:latin typeface="Arial"/>
                <a:ea typeface="Arial"/>
                <a:cs typeface="Arial"/>
                <a:sym typeface="Arial"/>
              </a:rPr>
            </a:br>
            <a:endParaRPr sz="2400">
              <a:solidFill>
                <a:srgbClr val="007682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85750" lvl="0" marL="322534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800"/>
              <a:buChar char="•"/>
            </a:pPr>
            <a:r>
              <a:rPr lang="de-CH" sz="2400">
                <a:solidFill>
                  <a:srgbClr val="007682"/>
                </a:solidFill>
                <a:latin typeface="Arial"/>
                <a:ea typeface="Arial"/>
                <a:cs typeface="Arial"/>
                <a:sym typeface="Arial"/>
              </a:rPr>
              <a:t>This vocabulary will be developed and described in connection with existing W3C RDF vocabularies like Data Catalog Vocabulary (DCAT), Data Cube Vocabulary, Semantic Sensor Network (SSN) ontology, and others. </a:t>
            </a:r>
            <a:br>
              <a:rPr lang="de-CH" sz="2400">
                <a:solidFill>
                  <a:srgbClr val="007682"/>
                </a:solidFill>
                <a:latin typeface="Arial"/>
                <a:ea typeface="Arial"/>
                <a:cs typeface="Arial"/>
                <a:sym typeface="Arial"/>
              </a:rPr>
            </a:br>
            <a:endParaRPr sz="2400">
              <a:solidFill>
                <a:srgbClr val="007682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85750" lvl="0" marL="322534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800"/>
              <a:buChar char="•"/>
            </a:pPr>
            <a:r>
              <a:rPr lang="de-CH" sz="2400">
                <a:solidFill>
                  <a:srgbClr val="007682"/>
                </a:solidFill>
                <a:latin typeface="Arial"/>
                <a:ea typeface="Arial"/>
                <a:cs typeface="Arial"/>
                <a:sym typeface="Arial"/>
              </a:rPr>
              <a:t>The Variable Description Vocabulary will rely heavily on the variable description in DDI Cross-Domain Integration (DDI-CDI). This includes a granular description that increases the reuse of metadata.</a:t>
            </a:r>
            <a:br>
              <a:rPr lang="de-CH" sz="2400">
                <a:solidFill>
                  <a:srgbClr val="007682"/>
                </a:solidFill>
                <a:latin typeface="Arial"/>
                <a:ea typeface="Arial"/>
                <a:cs typeface="Arial"/>
                <a:sym typeface="Arial"/>
              </a:rPr>
            </a:br>
            <a:endParaRPr sz="2400">
              <a:solidFill>
                <a:srgbClr val="007682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85750" lvl="0" marL="322534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800"/>
              <a:buChar char="•"/>
            </a:pPr>
            <a:r>
              <a:rPr lang="de-CH" sz="2400">
                <a:solidFill>
                  <a:srgbClr val="007682"/>
                </a:solidFill>
                <a:latin typeface="Arial"/>
                <a:ea typeface="Arial"/>
                <a:cs typeface="Arial"/>
                <a:sym typeface="Arial"/>
              </a:rPr>
              <a:t>The new charter of the working group will define more details of the goals</a:t>
            </a:r>
            <a:endParaRPr/>
          </a:p>
        </p:txBody>
      </p:sp>
      <p:pic>
        <p:nvPicPr>
          <p:cNvPr descr="A couple of circles with white letters&#10;&#10;AI-generated content may be incorrect." id="236" name="Google Shape;236;g3669fddb008_0_7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551840" y="6356185"/>
            <a:ext cx="1304354" cy="33689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0" name="Shape 2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1" name="Google Shape;241;g3669fddb008_0_375"/>
          <p:cNvSpPr txBox="1"/>
          <p:nvPr>
            <p:ph type="title"/>
          </p:nvPr>
        </p:nvSpPr>
        <p:spPr>
          <a:xfrm>
            <a:off x="274875" y="337650"/>
            <a:ext cx="12192000" cy="132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E4E79"/>
              </a:buClr>
              <a:buSzPts val="3600"/>
              <a:buFont typeface="Calibri"/>
              <a:buNone/>
            </a:pPr>
            <a:r>
              <a:rPr lang="de-CH" sz="3600" u="sng">
                <a:solidFill>
                  <a:schemeClr val="hlink"/>
                </a:solidFill>
                <a:hlinkClick r:id="rId3"/>
              </a:rPr>
              <a:t>The official statistics community and DDI</a:t>
            </a:r>
            <a:r>
              <a:rPr lang="de-CH" sz="3600">
                <a:solidFill>
                  <a:srgbClr val="2F5496"/>
                </a:solidFill>
              </a:rPr>
              <a:t> -</a:t>
            </a:r>
            <a:r>
              <a:rPr b="1" lang="de-CH" sz="3600">
                <a:solidFill>
                  <a:srgbClr val="2F5496"/>
                </a:solidFill>
              </a:rPr>
              <a:t> </a:t>
            </a:r>
            <a:r>
              <a:rPr lang="de-CH" sz="3600">
                <a:solidFill>
                  <a:srgbClr val="2F5496"/>
                </a:solidFill>
              </a:rPr>
              <a:t>Long story short… </a:t>
            </a:r>
            <a:endParaRPr sz="3600">
              <a:solidFill>
                <a:srgbClr val="2F5496"/>
              </a:solidFill>
            </a:endParaRPr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E4E79"/>
              </a:buClr>
              <a:buSzPts val="3600"/>
              <a:buFont typeface="Calibri"/>
              <a:buNone/>
            </a:pPr>
            <a:r>
              <a:t/>
            </a:r>
            <a:endParaRPr sz="3600">
              <a:solidFill>
                <a:srgbClr val="1E4E79"/>
              </a:solidFill>
            </a:endParaRPr>
          </a:p>
        </p:txBody>
      </p:sp>
      <p:sp>
        <p:nvSpPr>
          <p:cNvPr id="242" name="Google Shape;242;g3669fddb008_0_375"/>
          <p:cNvSpPr txBox="1"/>
          <p:nvPr>
            <p:ph idx="1" type="body"/>
          </p:nvPr>
        </p:nvSpPr>
        <p:spPr>
          <a:xfrm>
            <a:off x="77725" y="1240150"/>
            <a:ext cx="9994200" cy="5617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159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Char char="•"/>
            </a:pPr>
            <a:r>
              <a:rPr lang="de-CH" sz="2200">
                <a:latin typeface="Arial"/>
                <a:ea typeface="Arial"/>
                <a:cs typeface="Arial"/>
                <a:sym typeface="Arial"/>
              </a:rPr>
              <a:t>Broad mappings between DDI and SDMX has been in the works for quite some time (with varying degrees of success)</a:t>
            </a:r>
            <a:endParaRPr sz="2200">
              <a:latin typeface="Arial"/>
              <a:ea typeface="Arial"/>
              <a:cs typeface="Arial"/>
              <a:sym typeface="Arial"/>
            </a:endParaRPr>
          </a:p>
          <a:p>
            <a:pPr indent="-2413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1E4E79"/>
              </a:buClr>
              <a:buSzPts val="2200"/>
              <a:buChar char="•"/>
            </a:pPr>
            <a:r>
              <a:rPr lang="de-CH" sz="2200">
                <a:solidFill>
                  <a:srgbClr val="1E4E79"/>
                </a:solidFill>
                <a:latin typeface="Arial"/>
                <a:ea typeface="Arial"/>
                <a:cs typeface="Arial"/>
                <a:sym typeface="Arial"/>
              </a:rPr>
              <a:t>Unnecessarily complex </a:t>
            </a:r>
            <a:r>
              <a:rPr lang="de-CH" sz="2200">
                <a:latin typeface="Arial"/>
                <a:ea typeface="Arial"/>
                <a:cs typeface="Arial"/>
                <a:sym typeface="Arial"/>
              </a:rPr>
              <a:t>to develop and maintain</a:t>
            </a:r>
            <a:endParaRPr sz="2200">
              <a:latin typeface="Arial"/>
              <a:ea typeface="Arial"/>
              <a:cs typeface="Arial"/>
              <a:sym typeface="Arial"/>
            </a:endParaRPr>
          </a:p>
          <a:p>
            <a:pPr indent="-2413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1E4E79"/>
              </a:buClr>
              <a:buSzPts val="2200"/>
              <a:buChar char="•"/>
            </a:pPr>
            <a:r>
              <a:rPr lang="de-CH" sz="2200">
                <a:solidFill>
                  <a:srgbClr val="1E4E79"/>
                </a:solidFill>
                <a:latin typeface="Arial"/>
                <a:ea typeface="Arial"/>
                <a:cs typeface="Arial"/>
                <a:sym typeface="Arial"/>
              </a:rPr>
              <a:t>Impractical</a:t>
            </a:r>
            <a:r>
              <a:rPr lang="de-CH" sz="2200">
                <a:latin typeface="Arial"/>
                <a:ea typeface="Arial"/>
                <a:cs typeface="Arial"/>
                <a:sym typeface="Arial"/>
              </a:rPr>
              <a:t> (mappings might need to change when applied to specific contexts)</a:t>
            </a:r>
            <a:endParaRPr sz="2200">
              <a:latin typeface="Arial"/>
              <a:ea typeface="Arial"/>
              <a:cs typeface="Arial"/>
              <a:sym typeface="Arial"/>
            </a:endParaRPr>
          </a:p>
          <a:p>
            <a:pPr indent="-2159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1E4E79"/>
              </a:buClr>
              <a:buSzPts val="2200"/>
              <a:buChar char="•"/>
            </a:pPr>
            <a:r>
              <a:rPr lang="de-CH" sz="2200">
                <a:solidFill>
                  <a:srgbClr val="1E4E79"/>
                </a:solidFill>
                <a:latin typeface="Arial"/>
                <a:ea typeface="Arial"/>
                <a:cs typeface="Arial"/>
                <a:sym typeface="Arial"/>
              </a:rPr>
              <a:t>Narrower, context-specific mappings </a:t>
            </a:r>
            <a:r>
              <a:rPr lang="de-CH" sz="2200">
                <a:latin typeface="Arial"/>
                <a:ea typeface="Arial"/>
                <a:cs typeface="Arial"/>
                <a:sym typeface="Arial"/>
              </a:rPr>
              <a:t>are more tractable</a:t>
            </a:r>
            <a:endParaRPr sz="2200">
              <a:latin typeface="Arial"/>
              <a:ea typeface="Arial"/>
              <a:cs typeface="Arial"/>
              <a:sym typeface="Arial"/>
            </a:endParaRPr>
          </a:p>
          <a:p>
            <a:pPr indent="-2413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200"/>
              <a:buChar char="•"/>
            </a:pPr>
            <a:r>
              <a:rPr lang="de-CH" sz="2200">
                <a:latin typeface="Arial"/>
                <a:ea typeface="Arial"/>
                <a:cs typeface="Arial"/>
                <a:sym typeface="Arial"/>
              </a:rPr>
              <a:t>Interoperability between SDMX and DDI with GSBPM (2022-2024)</a:t>
            </a:r>
            <a:endParaRPr sz="2200">
              <a:latin typeface="Arial"/>
              <a:ea typeface="Arial"/>
              <a:cs typeface="Arial"/>
              <a:sym typeface="Arial"/>
            </a:endParaRPr>
          </a:p>
          <a:p>
            <a:pPr indent="-2413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200"/>
              <a:buChar char="•"/>
            </a:pPr>
            <a:r>
              <a:rPr lang="de-CH" sz="2200">
                <a:latin typeface="Arial"/>
                <a:ea typeface="Arial"/>
                <a:cs typeface="Arial"/>
                <a:sym typeface="Arial"/>
              </a:rPr>
              <a:t>Interoperability between SDMX and DDI for </a:t>
            </a:r>
            <a:r>
              <a:rPr b="1" lang="de-CH" sz="2200" u="sng">
                <a:solidFill>
                  <a:srgbClr val="1E4E79"/>
                </a:solidFill>
                <a:latin typeface="Arial"/>
                <a:ea typeface="Arial"/>
                <a:cs typeface="Arial"/>
                <a:sym typeface="Arial"/>
              </a:rPr>
              <a:t>data integration </a:t>
            </a:r>
            <a:r>
              <a:rPr lang="de-CH" sz="2200">
                <a:latin typeface="Arial"/>
                <a:ea typeface="Arial"/>
                <a:cs typeface="Arial"/>
                <a:sym typeface="Arial"/>
              </a:rPr>
              <a:t>(ongoing)</a:t>
            </a:r>
            <a:endParaRPr sz="2200">
              <a:latin typeface="Arial"/>
              <a:ea typeface="Arial"/>
              <a:cs typeface="Arial"/>
              <a:sym typeface="Arial"/>
            </a:endParaRPr>
          </a:p>
          <a:p>
            <a:pPr indent="-254000" lvl="2" marL="11430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200"/>
              <a:buChar char="•"/>
            </a:pPr>
            <a:r>
              <a:rPr lang="de-CH" sz="2200">
                <a:latin typeface="Arial"/>
                <a:ea typeface="Arial"/>
                <a:cs typeface="Arial"/>
                <a:sym typeface="Arial"/>
              </a:rPr>
              <a:t>Series of meetings at Dagstuhl, COSMOS and ModernStats World Workshop</a:t>
            </a:r>
            <a:endParaRPr sz="2200">
              <a:latin typeface="Arial"/>
              <a:ea typeface="Arial"/>
              <a:cs typeface="Arial"/>
              <a:sym typeface="Arial"/>
            </a:endParaRPr>
          </a:p>
          <a:p>
            <a:pPr indent="-254000" lvl="2" marL="11430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200"/>
              <a:buChar char="•"/>
            </a:pPr>
            <a:r>
              <a:rPr lang="de-CH" sz="2200">
                <a:latin typeface="Arial"/>
                <a:ea typeface="Arial"/>
                <a:cs typeface="Arial"/>
                <a:sym typeface="Arial"/>
              </a:rPr>
              <a:t>Task team reporting to the </a:t>
            </a:r>
            <a:r>
              <a:rPr b="1" lang="de-CH" sz="2200" u="sng">
                <a:solidFill>
                  <a:srgbClr val="1E4E79"/>
                </a:solidFill>
                <a:latin typeface="Arial"/>
                <a:ea typeface="Arial"/>
                <a:cs typeface="Arial"/>
                <a:sym typeface="Arial"/>
              </a:rPr>
              <a:t>UNECE Supporting Standards Group</a:t>
            </a:r>
            <a:endParaRPr sz="2200">
              <a:latin typeface="Arial"/>
              <a:ea typeface="Arial"/>
              <a:cs typeface="Arial"/>
              <a:sym typeface="Arial"/>
            </a:endParaRPr>
          </a:p>
          <a:p>
            <a:pPr indent="-114300" lvl="2" marL="11430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pPr>
            <a:r>
              <a:t/>
            </a:r>
            <a:endParaRPr>
              <a:latin typeface="Arial"/>
              <a:ea typeface="Arial"/>
              <a:cs typeface="Arial"/>
              <a:sym typeface="Arial"/>
            </a:endParaRPr>
          </a:p>
          <a:p>
            <a:pPr indent="-1016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</a:pPr>
            <a:r>
              <a:t/>
            </a:r>
            <a:endParaRPr sz="2000">
              <a:latin typeface="Arial"/>
              <a:ea typeface="Arial"/>
              <a:cs typeface="Arial"/>
              <a:sym typeface="Arial"/>
            </a:endParaRPr>
          </a:p>
          <a:p>
            <a:pPr indent="-1016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</a:pPr>
            <a:r>
              <a:t/>
            </a:r>
            <a:endParaRPr sz="2000">
              <a:latin typeface="Arial"/>
              <a:ea typeface="Arial"/>
              <a:cs typeface="Arial"/>
              <a:sym typeface="Arial"/>
            </a:endParaRPr>
          </a:p>
          <a:p>
            <a:pPr indent="-1016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</a:pPr>
            <a:r>
              <a:t/>
            </a:r>
            <a:endParaRPr sz="2000">
              <a:latin typeface="Arial"/>
              <a:ea typeface="Arial"/>
              <a:cs typeface="Arial"/>
              <a:sym typeface="Arial"/>
            </a:endParaRPr>
          </a:p>
          <a:p>
            <a:pPr indent="-762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t/>
            </a:r>
            <a:endParaRPr sz="2000">
              <a:latin typeface="Arial"/>
              <a:ea typeface="Arial"/>
              <a:cs typeface="Arial"/>
              <a:sym typeface="Arial"/>
            </a:endParaRPr>
          </a:p>
          <a:p>
            <a:pPr indent="-762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t/>
            </a:r>
            <a:endParaRPr sz="2000"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43" name="Google Shape;243;g3669fddb008_0_37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0148048" y="1869458"/>
            <a:ext cx="1913323" cy="515961"/>
          </a:xfrm>
          <a:prstGeom prst="rect">
            <a:avLst/>
          </a:prstGeom>
          <a:noFill/>
          <a:ln>
            <a:noFill/>
          </a:ln>
          <a:effectLst>
            <a:outerShdw blurRad="50800" rotWithShape="0" algn="tl" dir="2700000" dist="38100">
              <a:srgbClr val="000000">
                <a:alpha val="40000"/>
              </a:srgbClr>
            </a:outerShdw>
          </a:effectLst>
        </p:spPr>
      </p:pic>
      <p:pic>
        <p:nvPicPr>
          <p:cNvPr id="244" name="Google Shape;244;g3669fddb008_0_375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9690848" y="3211507"/>
            <a:ext cx="2539962" cy="759246"/>
          </a:xfrm>
          <a:prstGeom prst="rect">
            <a:avLst/>
          </a:prstGeom>
          <a:noFill/>
          <a:ln>
            <a:noFill/>
          </a:ln>
          <a:effectLst>
            <a:outerShdw blurRad="50800" rotWithShape="0" algn="tl" dir="2700000" dist="38100">
              <a:srgbClr val="000000">
                <a:alpha val="40000"/>
              </a:srgbClr>
            </a:outerShdw>
          </a:effectLst>
        </p:spPr>
      </p:pic>
      <p:sp>
        <p:nvSpPr>
          <p:cNvPr id="245" name="Google Shape;245;g3669fddb008_0_375"/>
          <p:cNvSpPr txBox="1"/>
          <p:nvPr/>
        </p:nvSpPr>
        <p:spPr>
          <a:xfrm>
            <a:off x="10633306" y="2428808"/>
            <a:ext cx="872400" cy="523200"/>
          </a:xfrm>
          <a:prstGeom prst="rect">
            <a:avLst/>
          </a:prstGeom>
          <a:solidFill>
            <a:schemeClr val="lt1"/>
          </a:solidFill>
          <a:ln>
            <a:noFill/>
          </a:ln>
          <a:effectLst>
            <a:outerShdw blurRad="38100" rotWithShape="0" algn="tl" dir="2700000" dist="50800">
              <a:srgbClr val="000000">
                <a:alpha val="40000"/>
              </a:srgbClr>
            </a:outerShdw>
          </a:effectLst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de-CH" sz="2800" u="none" cap="none" strike="noStrike">
                <a:solidFill>
                  <a:srgbClr val="2F5496"/>
                </a:solidFill>
                <a:latin typeface="Arial Rounded"/>
                <a:ea typeface="Arial Rounded"/>
                <a:cs typeface="Arial Rounded"/>
                <a:sym typeface="Arial Rounded"/>
              </a:rPr>
              <a:t>VTL</a:t>
            </a:r>
            <a:endParaRPr/>
          </a:p>
        </p:txBody>
      </p:sp>
      <p:sp>
        <p:nvSpPr>
          <p:cNvPr id="246" name="Google Shape;246;g3669fddb008_0_375"/>
          <p:cNvSpPr txBox="1"/>
          <p:nvPr/>
        </p:nvSpPr>
        <p:spPr>
          <a:xfrm>
            <a:off x="10724198" y="4131030"/>
            <a:ext cx="1122300" cy="523200"/>
          </a:xfrm>
          <a:prstGeom prst="rect">
            <a:avLst/>
          </a:prstGeom>
          <a:solidFill>
            <a:schemeClr val="lt1"/>
          </a:solidFill>
          <a:ln>
            <a:noFill/>
          </a:ln>
          <a:effectLst>
            <a:outerShdw blurRad="50800" rotWithShape="0" algn="tl" dir="2700000" dist="38100">
              <a:srgbClr val="385623">
                <a:alpha val="40000"/>
              </a:srgbClr>
            </a:outerShdw>
          </a:effectLst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de-CH" sz="2800" u="none" cap="none" strike="noStrike">
                <a:solidFill>
                  <a:srgbClr val="548135"/>
                </a:solidFill>
                <a:latin typeface="Arial"/>
                <a:ea typeface="Arial"/>
                <a:cs typeface="Arial"/>
                <a:sym typeface="Arial"/>
              </a:rPr>
              <a:t>SDTL</a:t>
            </a:r>
            <a:endParaRPr/>
          </a:p>
        </p:txBody>
      </p:sp>
      <p:sp>
        <p:nvSpPr>
          <p:cNvPr id="247" name="Google Shape;247;g3669fddb008_0_375"/>
          <p:cNvSpPr txBox="1"/>
          <p:nvPr/>
        </p:nvSpPr>
        <p:spPr>
          <a:xfrm>
            <a:off x="10720354" y="4814532"/>
            <a:ext cx="1200900" cy="523200"/>
          </a:xfrm>
          <a:prstGeom prst="rect">
            <a:avLst/>
          </a:prstGeom>
          <a:solidFill>
            <a:schemeClr val="lt1"/>
          </a:solidFill>
          <a:ln>
            <a:noFill/>
          </a:ln>
          <a:effectLst>
            <a:outerShdw blurRad="50800" rotWithShape="0" algn="tl" dir="2700000" dist="38100">
              <a:srgbClr val="385623">
                <a:alpha val="40000"/>
              </a:srgbClr>
            </a:outerShdw>
          </a:effectLst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de-CH" sz="2800" u="none" cap="none" strike="noStrike">
                <a:solidFill>
                  <a:srgbClr val="A8D08C"/>
                </a:solidFill>
                <a:latin typeface="Arial"/>
                <a:ea typeface="Arial"/>
                <a:cs typeface="Arial"/>
                <a:sym typeface="Arial"/>
              </a:rPr>
              <a:t>XKOS</a:t>
            </a:r>
            <a:endParaRPr b="1" i="0" sz="2400" u="none" cap="none" strike="noStrike">
              <a:solidFill>
                <a:srgbClr val="A8D08C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1" name="Shape 2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2" name="Google Shape;252;g3669fddb008_0_460"/>
          <p:cNvSpPr txBox="1"/>
          <p:nvPr>
            <p:ph type="title"/>
          </p:nvPr>
        </p:nvSpPr>
        <p:spPr>
          <a:xfrm>
            <a:off x="618300" y="378228"/>
            <a:ext cx="10515600" cy="652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4400"/>
              <a:buNone/>
            </a:pPr>
            <a:r>
              <a:rPr lang="de-CH" sz="4000" u="sng">
                <a:solidFill>
                  <a:schemeClr val="hlink"/>
                </a:solidFill>
                <a:latin typeface="Arial"/>
                <a:ea typeface="Arial"/>
                <a:cs typeface="Arial"/>
                <a:sym typeface="Arial"/>
                <a:hlinkClick r:id="rId3"/>
              </a:rPr>
              <a:t>Qualitative data</a:t>
            </a:r>
            <a:r>
              <a:rPr lang="de-CH" sz="4000">
                <a:solidFill>
                  <a:srgbClr val="007682"/>
                </a:solidFill>
                <a:latin typeface="Arial"/>
                <a:ea typeface="Arial"/>
                <a:cs typeface="Arial"/>
                <a:sym typeface="Arial"/>
              </a:rPr>
              <a:t> - </a:t>
            </a:r>
            <a:r>
              <a:rPr b="0" i="0" lang="de-CH" sz="4000" u="none" strike="noStrike">
                <a:solidFill>
                  <a:srgbClr val="007682"/>
                </a:solidFill>
                <a:latin typeface="Arial"/>
                <a:ea typeface="Arial"/>
                <a:cs typeface="Arial"/>
                <a:sym typeface="Arial"/>
              </a:rPr>
              <a:t>Progress so far</a:t>
            </a:r>
            <a:endParaRPr sz="4000">
              <a:solidFill>
                <a:srgbClr val="07294C"/>
              </a:solidFill>
            </a:endParaRPr>
          </a:p>
        </p:txBody>
      </p:sp>
      <p:sp>
        <p:nvSpPr>
          <p:cNvPr id="253" name="Google Shape;253;g3669fddb008_0_460"/>
          <p:cNvSpPr txBox="1"/>
          <p:nvPr>
            <p:ph idx="1" type="body"/>
          </p:nvPr>
        </p:nvSpPr>
        <p:spPr>
          <a:xfrm>
            <a:off x="618300" y="1140675"/>
            <a:ext cx="11103300" cy="5552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85750" lvl="0" marL="322534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800"/>
              <a:buChar char="•"/>
            </a:pPr>
            <a:r>
              <a:rPr b="0" i="0" lang="de-CH" sz="2400" u="none" strike="noStrike">
                <a:solidFill>
                  <a:srgbClr val="007682"/>
                </a:solidFill>
                <a:latin typeface="Arial"/>
                <a:ea typeface="Arial"/>
                <a:cs typeface="Arial"/>
                <a:sym typeface="Arial"/>
              </a:rPr>
              <a:t>A significant amount of work on a Qualitative package was done during the DDI Moving Forward project</a:t>
            </a:r>
            <a:br>
              <a:rPr b="0" i="0" lang="de-CH" sz="2400" u="none" strike="noStrike">
                <a:solidFill>
                  <a:srgbClr val="007682"/>
                </a:solidFill>
                <a:latin typeface="Arial"/>
                <a:ea typeface="Arial"/>
                <a:cs typeface="Arial"/>
                <a:sym typeface="Arial"/>
              </a:rPr>
            </a:br>
            <a:endParaRPr b="0" i="0" sz="2400" u="none" strike="noStrike">
              <a:solidFill>
                <a:srgbClr val="007682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85750" lvl="0" marL="322534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800"/>
              <a:buChar char="•"/>
            </a:pPr>
            <a:r>
              <a:rPr lang="de-CH" sz="2400">
                <a:solidFill>
                  <a:srgbClr val="007682"/>
                </a:solidFill>
                <a:latin typeface="Arial"/>
                <a:ea typeface="Arial"/>
                <a:cs typeface="Arial"/>
                <a:sym typeface="Arial"/>
              </a:rPr>
              <a:t>Early last year DDI-CDI group decided to revisit where there were valid Quali use cases within CDI</a:t>
            </a:r>
            <a:br>
              <a:rPr lang="de-CH" sz="2400">
                <a:solidFill>
                  <a:srgbClr val="007682"/>
                </a:solidFill>
                <a:latin typeface="Arial"/>
                <a:ea typeface="Arial"/>
                <a:cs typeface="Arial"/>
                <a:sym typeface="Arial"/>
              </a:rPr>
            </a:br>
            <a:endParaRPr sz="2400">
              <a:solidFill>
                <a:srgbClr val="007682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85750" lvl="0" marL="322534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800"/>
              <a:buChar char="•"/>
            </a:pPr>
            <a:r>
              <a:rPr lang="de-CH" sz="2400">
                <a:solidFill>
                  <a:srgbClr val="007682"/>
                </a:solidFill>
                <a:latin typeface="Arial"/>
                <a:ea typeface="Arial"/>
                <a:cs typeface="Arial"/>
                <a:sym typeface="Arial"/>
              </a:rPr>
              <a:t>Sub-group was set up (led by Noemi Betancort)</a:t>
            </a:r>
            <a:br>
              <a:rPr lang="de-CH" sz="2400">
                <a:solidFill>
                  <a:srgbClr val="007682"/>
                </a:solidFill>
                <a:latin typeface="Arial"/>
                <a:ea typeface="Arial"/>
                <a:cs typeface="Arial"/>
                <a:sym typeface="Arial"/>
              </a:rPr>
            </a:br>
            <a:endParaRPr sz="2400">
              <a:solidFill>
                <a:srgbClr val="007682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85750" lvl="0" marL="322534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800"/>
              <a:buChar char="•"/>
            </a:pPr>
            <a:r>
              <a:rPr lang="de-CH" sz="2400">
                <a:solidFill>
                  <a:srgbClr val="007682"/>
                </a:solidFill>
                <a:latin typeface="Arial"/>
                <a:ea typeface="Arial"/>
                <a:cs typeface="Arial"/>
                <a:sym typeface="Arial"/>
              </a:rPr>
              <a:t>A number of use cases discussed at Dagstuhl 24</a:t>
            </a:r>
            <a:br>
              <a:rPr lang="de-CH" sz="2400">
                <a:solidFill>
                  <a:srgbClr val="007682"/>
                </a:solidFill>
                <a:latin typeface="Arial"/>
                <a:ea typeface="Arial"/>
                <a:cs typeface="Arial"/>
                <a:sym typeface="Arial"/>
              </a:rPr>
            </a:br>
            <a:endParaRPr sz="2400">
              <a:solidFill>
                <a:srgbClr val="007682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85750" lvl="0" marL="322534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800"/>
              <a:buChar char="•"/>
            </a:pPr>
            <a:r>
              <a:rPr lang="de-CH" sz="2400">
                <a:solidFill>
                  <a:srgbClr val="007682"/>
                </a:solidFill>
                <a:latin typeface="Arial"/>
                <a:ea typeface="Arial"/>
                <a:cs typeface="Arial"/>
                <a:sym typeface="Arial"/>
              </a:rPr>
              <a:t>Most useful one was deemed to be “annotations”, particularly useful for mixed-method studies where qualitative data can be referenced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t/>
            </a:r>
            <a:endParaRPr sz="1800"/>
          </a:p>
        </p:txBody>
      </p:sp>
      <p:pic>
        <p:nvPicPr>
          <p:cNvPr descr="A couple of circles with white letters&#10;&#10;AI-generated content may be incorrect." id="254" name="Google Shape;254;g3669fddb008_0_46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0551840" y="6356185"/>
            <a:ext cx="1304354" cy="33689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8" name="Shape 2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9" name="Google Shape;259;g3669fddb008_0_466"/>
          <p:cNvSpPr txBox="1"/>
          <p:nvPr>
            <p:ph type="title"/>
          </p:nvPr>
        </p:nvSpPr>
        <p:spPr>
          <a:xfrm>
            <a:off x="618300" y="378228"/>
            <a:ext cx="10515600" cy="652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4400"/>
              <a:buNone/>
            </a:pPr>
            <a:r>
              <a:rPr b="0" i="0" lang="de-CH" sz="4000" u="none" strike="noStrike">
                <a:solidFill>
                  <a:srgbClr val="007682"/>
                </a:solidFill>
                <a:latin typeface="Arial"/>
                <a:ea typeface="Arial"/>
                <a:cs typeface="Arial"/>
                <a:sym typeface="Arial"/>
              </a:rPr>
              <a:t>Next steps</a:t>
            </a:r>
            <a:endParaRPr sz="4000">
              <a:solidFill>
                <a:srgbClr val="07294C"/>
              </a:solidFill>
            </a:endParaRPr>
          </a:p>
        </p:txBody>
      </p:sp>
      <p:sp>
        <p:nvSpPr>
          <p:cNvPr id="260" name="Google Shape;260;g3669fddb008_0_466"/>
          <p:cNvSpPr txBox="1"/>
          <p:nvPr>
            <p:ph idx="1" type="body"/>
          </p:nvPr>
        </p:nvSpPr>
        <p:spPr>
          <a:xfrm>
            <a:off x="618300" y="1140675"/>
            <a:ext cx="11103300" cy="5552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85750" lvl="0" marL="322534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800"/>
              <a:buChar char="•"/>
            </a:pPr>
            <a:r>
              <a:rPr b="0" i="0" lang="de-CH" sz="2400" u="none" strike="noStrike">
                <a:solidFill>
                  <a:srgbClr val="007682"/>
                </a:solidFill>
                <a:latin typeface="Arial"/>
                <a:ea typeface="Arial"/>
                <a:cs typeface="Arial"/>
                <a:sym typeface="Arial"/>
              </a:rPr>
              <a:t>A narrow, but important, CDI use case so far</a:t>
            </a:r>
            <a:br>
              <a:rPr b="0" i="0" lang="de-CH" sz="2400" u="none" strike="noStrike">
                <a:solidFill>
                  <a:srgbClr val="007682"/>
                </a:solidFill>
                <a:latin typeface="Arial"/>
                <a:ea typeface="Arial"/>
                <a:cs typeface="Arial"/>
                <a:sym typeface="Arial"/>
              </a:rPr>
            </a:br>
            <a:endParaRPr b="0" i="0" sz="2400" u="none" strike="noStrike">
              <a:solidFill>
                <a:srgbClr val="007682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85750" lvl="0" marL="322534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800"/>
              <a:buChar char="•"/>
            </a:pPr>
            <a:r>
              <a:rPr lang="de-CH" sz="2400">
                <a:solidFill>
                  <a:srgbClr val="007682"/>
                </a:solidFill>
                <a:latin typeface="Arial"/>
                <a:ea typeface="Arial"/>
                <a:cs typeface="Arial"/>
                <a:sym typeface="Arial"/>
              </a:rPr>
              <a:t>Let’s widen the remit by creating a </a:t>
            </a:r>
            <a:r>
              <a:rPr b="1" lang="de-CH" sz="2400">
                <a:solidFill>
                  <a:srgbClr val="007682"/>
                </a:solidFill>
                <a:latin typeface="Arial"/>
                <a:ea typeface="Arial"/>
                <a:cs typeface="Arial"/>
                <a:sym typeface="Arial"/>
              </a:rPr>
              <a:t>cross-product Quali Working Group </a:t>
            </a:r>
            <a:r>
              <a:rPr lang="de-CH" sz="2400">
                <a:solidFill>
                  <a:srgbClr val="007682"/>
                </a:solidFill>
                <a:latin typeface="Arial"/>
                <a:ea typeface="Arial"/>
                <a:cs typeface="Arial"/>
                <a:sym typeface="Arial"/>
              </a:rPr>
              <a:t>that can address other use cases</a:t>
            </a:r>
            <a:br>
              <a:rPr b="0" i="0" lang="de-CH" sz="2400" u="none" strike="noStrike">
                <a:solidFill>
                  <a:srgbClr val="007682"/>
                </a:solidFill>
                <a:latin typeface="Arial"/>
                <a:ea typeface="Arial"/>
                <a:cs typeface="Arial"/>
                <a:sym typeface="Arial"/>
              </a:rPr>
            </a:br>
            <a:endParaRPr b="0" i="0" sz="2400" u="none" strike="noStrike">
              <a:solidFill>
                <a:srgbClr val="007682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85750" lvl="0" marL="322534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800"/>
              <a:buChar char="•"/>
            </a:pPr>
            <a:r>
              <a:rPr lang="de-CH" sz="2400">
                <a:solidFill>
                  <a:srgbClr val="007682"/>
                </a:solidFill>
                <a:latin typeface="Arial"/>
                <a:ea typeface="Arial"/>
                <a:cs typeface="Arial"/>
                <a:sym typeface="Arial"/>
              </a:rPr>
              <a:t>Need to be careful about scope creep</a:t>
            </a:r>
            <a:br>
              <a:rPr lang="de-CH" sz="2400">
                <a:solidFill>
                  <a:srgbClr val="007682"/>
                </a:solidFill>
                <a:latin typeface="Arial"/>
                <a:ea typeface="Arial"/>
                <a:cs typeface="Arial"/>
                <a:sym typeface="Arial"/>
              </a:rPr>
            </a:br>
            <a:endParaRPr sz="2400">
              <a:solidFill>
                <a:srgbClr val="007682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85750" lvl="0" marL="322534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800"/>
              <a:buChar char="•"/>
            </a:pPr>
            <a:r>
              <a:rPr lang="de-CH" sz="2400">
                <a:solidFill>
                  <a:srgbClr val="007682"/>
                </a:solidFill>
                <a:latin typeface="Arial"/>
                <a:ea typeface="Arial"/>
                <a:cs typeface="Arial"/>
                <a:sym typeface="Arial"/>
              </a:rPr>
              <a:t>Some standard use cases could be addressed by innovative modification of existing schema components cf. work done at Sikt using &lt;OtherMaterials&gt; to model qualitative collection relationships</a:t>
            </a:r>
            <a:br>
              <a:rPr lang="de-CH" sz="2400">
                <a:solidFill>
                  <a:srgbClr val="007682"/>
                </a:solidFill>
                <a:latin typeface="Arial"/>
                <a:ea typeface="Arial"/>
                <a:cs typeface="Arial"/>
                <a:sym typeface="Arial"/>
              </a:rPr>
            </a:br>
            <a:endParaRPr sz="2400">
              <a:solidFill>
                <a:srgbClr val="007682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85750" lvl="0" marL="322534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800"/>
              <a:buChar char="•"/>
            </a:pPr>
            <a:r>
              <a:rPr lang="de-CH" sz="2400">
                <a:solidFill>
                  <a:srgbClr val="007682"/>
                </a:solidFill>
                <a:latin typeface="Arial"/>
                <a:ea typeface="Arial"/>
                <a:cs typeface="Arial"/>
                <a:sym typeface="Arial"/>
              </a:rPr>
              <a:t>Currently working on Terms of Reference and this will be submitted to Scientific Board in July</a:t>
            </a:r>
            <a:br>
              <a:rPr lang="de-CH">
                <a:solidFill>
                  <a:srgbClr val="007682"/>
                </a:solidFill>
                <a:latin typeface="Arial"/>
                <a:ea typeface="Arial"/>
                <a:cs typeface="Arial"/>
                <a:sym typeface="Arial"/>
              </a:rPr>
            </a:br>
            <a:endParaRPr>
              <a:solidFill>
                <a:srgbClr val="00768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A couple of circles with white letters&#10;&#10;AI-generated content may be incorrect." id="261" name="Google Shape;261;g3669fddb008_0_46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551840" y="6356185"/>
            <a:ext cx="1304354" cy="33689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5" name="Shape 2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" name="Google Shape;266;g3669fddb008_0_0"/>
          <p:cNvSpPr txBox="1"/>
          <p:nvPr>
            <p:ph type="title"/>
          </p:nvPr>
        </p:nvSpPr>
        <p:spPr>
          <a:xfrm>
            <a:off x="401300" y="156325"/>
            <a:ext cx="10515600" cy="13257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de-CH"/>
              <a:t>ISO Certification for DDI</a:t>
            </a:r>
            <a:endParaRPr/>
          </a:p>
        </p:txBody>
      </p:sp>
      <p:sp>
        <p:nvSpPr>
          <p:cNvPr id="267" name="Google Shape;267;g3669fddb008_0_0"/>
          <p:cNvSpPr txBox="1"/>
          <p:nvPr>
            <p:ph idx="1" type="body"/>
          </p:nvPr>
        </p:nvSpPr>
        <p:spPr>
          <a:xfrm>
            <a:off x="401300" y="1482025"/>
            <a:ext cx="11721900" cy="43512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de-CH" sz="2000">
                <a:latin typeface="Arial"/>
                <a:ea typeface="Arial"/>
                <a:cs typeface="Arial"/>
                <a:sym typeface="Arial"/>
              </a:rPr>
              <a:t>Project led by Dan Gillman for the Scientific Board</a:t>
            </a:r>
            <a:endParaRPr sz="20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de-CH" sz="2000">
                <a:latin typeface="Arial"/>
                <a:ea typeface="Arial"/>
                <a:cs typeface="Arial"/>
                <a:sym typeface="Arial"/>
              </a:rPr>
              <a:t>Status: Draft in review</a:t>
            </a:r>
            <a:endParaRPr sz="20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20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de-CH" sz="2000">
                <a:latin typeface="Arial"/>
                <a:ea typeface="Arial"/>
                <a:cs typeface="Arial"/>
                <a:sym typeface="Arial"/>
              </a:rPr>
              <a:t>Focus on central DDI components like the variable cascade</a:t>
            </a:r>
            <a:endParaRPr sz="20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20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de-CH" sz="2000">
                <a:latin typeface="Arial"/>
                <a:ea typeface="Arial"/>
                <a:cs typeface="Arial"/>
                <a:sym typeface="Arial"/>
              </a:rPr>
              <a:t>May 26-2025:</a:t>
            </a:r>
            <a:endParaRPr sz="20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de-CH" sz="2000">
                <a:latin typeface="Arial"/>
                <a:ea typeface="Arial"/>
                <a:cs typeface="Arial"/>
                <a:sym typeface="Arial"/>
              </a:rPr>
              <a:t>ISO TC46/SC4 -  Information and Documentation approves a </a:t>
            </a:r>
            <a:r>
              <a:rPr lang="de-CH" sz="2000">
                <a:solidFill>
                  <a:srgbClr val="1F1F1F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Publicly Available Specification (PAS) submission process </a:t>
            </a:r>
            <a:r>
              <a:rPr lang="de-CH" sz="2000">
                <a:latin typeface="Arial"/>
                <a:ea typeface="Arial"/>
                <a:cs typeface="Arial"/>
                <a:sym typeface="Arial"/>
              </a:rPr>
              <a:t>for DDI ISO standardization. </a:t>
            </a:r>
            <a:endParaRPr sz="20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de-CH" sz="2000">
                <a:solidFill>
                  <a:srgbClr val="1F1F1F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PAS process is </a:t>
            </a:r>
            <a:r>
              <a:rPr lang="de-CH" sz="2000">
                <a:solidFill>
                  <a:srgbClr val="040C28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a fast-track process for the development, approval, and publication of International Standards for information technology</a:t>
            </a:r>
            <a:r>
              <a:rPr lang="de-CH" sz="2000">
                <a:solidFill>
                  <a:srgbClr val="1F1F1F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.</a:t>
            </a:r>
            <a:endParaRPr sz="20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20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de-CH" sz="2000">
                <a:latin typeface="Arial"/>
                <a:ea typeface="Arial"/>
                <a:cs typeface="Arial"/>
                <a:sym typeface="Arial"/>
              </a:rPr>
              <a:t>The project is now on their books. </a:t>
            </a:r>
            <a:endParaRPr sz="20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de-CH" sz="2000">
                <a:latin typeface="Arial"/>
                <a:ea typeface="Arial"/>
                <a:cs typeface="Arial"/>
                <a:sym typeface="Arial"/>
              </a:rPr>
              <a:t>They expect our draft by no later than September.</a:t>
            </a:r>
            <a:endParaRPr sz="20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20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2000"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1" name="Shape 2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2" name="Google Shape;272;g3669fddb008_0_284"/>
          <p:cNvSpPr txBox="1"/>
          <p:nvPr>
            <p:ph idx="1" type="body"/>
          </p:nvPr>
        </p:nvSpPr>
        <p:spPr>
          <a:xfrm>
            <a:off x="250150" y="1253400"/>
            <a:ext cx="11544600" cy="4351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62500" lnSpcReduction="10000"/>
          </a:bodyPr>
          <a:lstStyle/>
          <a:p>
            <a:pPr indent="0" lvl="0" marL="0" rt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ct val="35294"/>
              <a:buNone/>
            </a:pPr>
            <a:r>
              <a:rPr b="1" lang="de-CH" sz="5100"/>
              <a:t>Thank you so much for supporting the work of the DDI Alliance</a:t>
            </a:r>
            <a:endParaRPr b="1" sz="5100"/>
          </a:p>
          <a:p>
            <a:pPr indent="0" lvl="0" marL="0" rt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31428"/>
              <a:buFont typeface="Arial"/>
              <a:buNone/>
            </a:pPr>
            <a:r>
              <a:t/>
            </a:r>
            <a:endParaRPr sz="3500"/>
          </a:p>
          <a:p>
            <a:pPr indent="0" lvl="0" marL="0" rt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31428"/>
              <a:buFont typeface="Arial"/>
              <a:buNone/>
            </a:pPr>
            <a:r>
              <a:rPr lang="de-CH" sz="3500"/>
              <a:t>from the DDI Alliance Scientific Board</a:t>
            </a:r>
            <a:endParaRPr sz="3500"/>
          </a:p>
          <a:p>
            <a:pPr indent="0" lvl="0" marL="0" rt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31428"/>
              <a:buFont typeface="Arial"/>
              <a:buNone/>
            </a:pPr>
            <a:r>
              <a:t/>
            </a:r>
            <a:endParaRPr sz="3500"/>
          </a:p>
          <a:p>
            <a:pPr indent="0" lvl="0" marL="0" rt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31428"/>
              <a:buFont typeface="Arial"/>
              <a:buNone/>
            </a:pPr>
            <a:r>
              <a:rPr lang="de-CH" sz="3500" u="sng">
                <a:solidFill>
                  <a:schemeClr val="hlink"/>
                </a:solidFill>
                <a:hlinkClick r:id="rId3"/>
              </a:rPr>
              <a:t>hilde.orten@sikt.no</a:t>
            </a:r>
            <a:endParaRPr sz="3500"/>
          </a:p>
          <a:p>
            <a:pPr indent="0" lvl="0" marL="0" rt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31428"/>
              <a:buFont typeface="Arial"/>
              <a:buNone/>
            </a:pPr>
            <a:r>
              <a:rPr lang="de-CH" sz="3500" u="sng">
                <a:solidFill>
                  <a:schemeClr val="hlink"/>
                </a:solidFill>
                <a:hlinkClick r:id="rId4"/>
              </a:rPr>
              <a:t>dbell@essex.ac.uk</a:t>
            </a:r>
            <a:r>
              <a:rPr lang="de-CH" sz="3500"/>
              <a:t> </a:t>
            </a:r>
            <a:endParaRPr sz="3500"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ct val="51428"/>
              <a:buNone/>
            </a:pPr>
            <a:r>
              <a:t/>
            </a:r>
            <a:endParaRPr sz="3500"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ct val="51428"/>
              <a:buNone/>
            </a:pPr>
            <a:r>
              <a:rPr lang="de-CH" sz="3500"/>
              <a:t>                       Link to materials from the Annual Meeting of the Scientific Community 2025</a:t>
            </a:r>
            <a:endParaRPr sz="3500"/>
          </a:p>
          <a:p>
            <a:pPr indent="0" lvl="0" marL="0" rt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ct val="51428"/>
              <a:buNone/>
            </a:pPr>
            <a:r>
              <a:rPr lang="de-CH" sz="3500"/>
              <a:t>	</a:t>
            </a:r>
            <a:r>
              <a:rPr lang="de-CH" sz="3500" u="sng">
                <a:solidFill>
                  <a:schemeClr val="hlink"/>
                </a:solidFill>
                <a:hlinkClick r:id="rId5"/>
              </a:rPr>
              <a:t>https://zenodo.org/records/15497241</a:t>
            </a:r>
            <a:r>
              <a:rPr lang="de-CH" sz="3500"/>
              <a:t> </a:t>
            </a:r>
            <a:endParaRPr sz="3500"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ct val="64285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ct val="64285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-tema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2021-06-13T15:41:56Z</dcterms:created>
  <dc:creator>Hilde Orten</dc:creator>
</cp:coreProperties>
</file>