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6" r:id="rId2"/>
  </p:sldMasterIdLst>
  <p:notesMasterIdLst>
    <p:notesMasterId r:id="rId30"/>
  </p:notesMasterIdLst>
  <p:sldIdLst>
    <p:sldId id="263" r:id="rId3"/>
    <p:sldId id="264" r:id="rId4"/>
    <p:sldId id="279" r:id="rId5"/>
    <p:sldId id="268" r:id="rId6"/>
    <p:sldId id="281" r:id="rId7"/>
    <p:sldId id="280" r:id="rId8"/>
    <p:sldId id="282" r:id="rId9"/>
    <p:sldId id="284" r:id="rId10"/>
    <p:sldId id="266" r:id="rId11"/>
    <p:sldId id="295" r:id="rId12"/>
    <p:sldId id="265" r:id="rId13"/>
    <p:sldId id="287" r:id="rId14"/>
    <p:sldId id="267" r:id="rId15"/>
    <p:sldId id="293" r:id="rId16"/>
    <p:sldId id="269" r:id="rId17"/>
    <p:sldId id="272" r:id="rId18"/>
    <p:sldId id="288" r:id="rId19"/>
    <p:sldId id="289" r:id="rId20"/>
    <p:sldId id="274" r:id="rId21"/>
    <p:sldId id="275" r:id="rId22"/>
    <p:sldId id="277" r:id="rId23"/>
    <p:sldId id="291" r:id="rId24"/>
    <p:sldId id="276" r:id="rId25"/>
    <p:sldId id="290" r:id="rId26"/>
    <p:sldId id="278" r:id="rId27"/>
    <p:sldId id="294" r:id="rId28"/>
    <p:sldId id="283" r:id="rId29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114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66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54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lde Orten" userId="5cd89f58-eb5d-4f33-9de2-f23edac319df" providerId="ADAL" clId="{7A179F71-EB75-4428-94B9-3F4FE2519533}"/>
    <pc:docChg chg="custSel modSld">
      <pc:chgData name="Hilde Orten" userId="5cd89f58-eb5d-4f33-9de2-f23edac319df" providerId="ADAL" clId="{7A179F71-EB75-4428-94B9-3F4FE2519533}" dt="2024-06-10T08:59:13.021" v="41" actId="20577"/>
      <pc:docMkLst>
        <pc:docMk/>
      </pc:docMkLst>
      <pc:sldChg chg="modSp mod">
        <pc:chgData name="Hilde Orten" userId="5cd89f58-eb5d-4f33-9de2-f23edac319df" providerId="ADAL" clId="{7A179F71-EB75-4428-94B9-3F4FE2519533}" dt="2024-06-10T08:59:13.021" v="41" actId="20577"/>
        <pc:sldMkLst>
          <pc:docMk/>
          <pc:sldMk cId="0" sldId="263"/>
        </pc:sldMkLst>
        <pc:spChg chg="mod">
          <ac:chgData name="Hilde Orten" userId="5cd89f58-eb5d-4f33-9de2-f23edac319df" providerId="ADAL" clId="{7A179F71-EB75-4428-94B9-3F4FE2519533}" dt="2024-06-10T08:59:13.021" v="41" actId="20577"/>
          <ac:spMkLst>
            <pc:docMk/>
            <pc:sldMk cId="0" sldId="263"/>
            <ac:spMk id="17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E64330-0D35-4A75-93D8-E8821658E5AC}" type="datetimeFigureOut">
              <a:rPr lang="nb-NO" smtClean="0"/>
              <a:t>10.06.2024</a:t>
            </a:fld>
            <a:endParaRPr lang="nb-NO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833C4A-EA17-4541-91C6-7B3D742E5E0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365263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8" name="Google Shape;16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5" name="Google Shape;20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5" name="Google Shape;20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269171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91" name="Google Shape;19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671981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1" name="Google Shape;19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620340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1" name="Google Shape;19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5" name="Google Shape;18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5" name="Google Shape;18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960125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8" name="Google Shape;19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1" name="Google Shape;19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5" name="Google Shape;18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579594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1" name="Google Shape;19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288020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5" name="Google Shape;18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666767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807846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833C4A-EA17-4541-91C6-7B3D742E5E08}" type="slidenum">
              <a:rPr lang="nb-NO" smtClean="0"/>
              <a:t>24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803355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3450411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2" name="Google Shape;21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3044FD9-B535-7320-830F-3B490C1AC2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5DE3FE4B-BC20-7248-595A-DC3761FCDD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/>
              <a:t>Klikk for å redigere undertittelstil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6FD8BE73-615C-2FA3-D5D4-6EA2D5579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AD580-8AF6-4DEB-A97D-1A1215A5FE19}" type="datetimeFigureOut">
              <a:rPr lang="nb-NO" smtClean="0"/>
              <a:t>10.06.2024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5B9B5351-1B0D-897B-B0A1-FDFF234CB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D0BEF566-D665-1D45-18AD-724F787CF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7BF43-E350-4C50-928D-4E8FC3FD25D3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273538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E0C4F7F-ABDB-D823-DFB0-4B7512BB3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191184C7-A392-F0EF-201E-D5C248D2B6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FB90D6AC-9660-97B0-31CA-46A1A2591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AD580-8AF6-4DEB-A97D-1A1215A5FE19}" type="datetimeFigureOut">
              <a:rPr lang="nb-NO" smtClean="0"/>
              <a:t>10.06.2024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9578F01A-89F6-FB40-98F9-679B1860E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5E44709B-54F9-77C5-A408-042F26B21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7BF43-E350-4C50-928D-4E8FC3FD25D3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81409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E38AD8F-219A-D979-6717-E292595FD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D16EE02D-6B0A-001A-BBBB-40BB987105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9B75AF26-5B33-2C01-7496-FF74F06FA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AD580-8AF6-4DEB-A97D-1A1215A5FE19}" type="datetimeFigureOut">
              <a:rPr lang="nb-NO" smtClean="0"/>
              <a:t>10.06.2024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231874D1-90CD-A363-456A-ECCF722C7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17AC20F6-8EBF-89B4-5C07-290460C96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7BF43-E350-4C50-928D-4E8FC3FD25D3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55188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430C2F4-9D39-EF3F-0B87-7637D6168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F4D86224-18F5-953C-AD5A-168430ED56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14889D84-8FDA-9CE7-9970-328717B2F0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69C866D7-102C-CF91-B360-62A5B62F6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AD580-8AF6-4DEB-A97D-1A1215A5FE19}" type="datetimeFigureOut">
              <a:rPr lang="nb-NO" smtClean="0"/>
              <a:t>10.06.2024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96E221B4-514D-998C-E176-9C2B7B473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F44A6D22-19C9-1A2B-4570-11C0CAC2E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7BF43-E350-4C50-928D-4E8FC3FD25D3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58595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34B45B8-F5F3-C673-FBDD-AF3487D3F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134441DB-181F-215B-FFD5-F25A2FF386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2903EDA3-624A-0784-3EB8-6B822C8A0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BC9C0A56-59ED-C4CF-AB42-9393FA21F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Plassholder for innhold 5">
            <a:extLst>
              <a:ext uri="{FF2B5EF4-FFF2-40B4-BE49-F238E27FC236}">
                <a16:creationId xmlns:a16="http://schemas.microsoft.com/office/drawing/2014/main" id="{B80A4A99-56B0-AB4C-5912-A2C7145A9C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34053F5B-0797-4839-477A-592444E90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AD580-8AF6-4DEB-A97D-1A1215A5FE19}" type="datetimeFigureOut">
              <a:rPr lang="nb-NO" smtClean="0"/>
              <a:t>10.06.2024</a:t>
            </a:fld>
            <a:endParaRPr lang="nb-NO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BE2AA134-C064-7044-CD04-C7A8C6CDC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1824C8D6-7440-0158-87AD-B37C7D6A8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7BF43-E350-4C50-928D-4E8FC3FD25D3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641331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C1748B6-F398-BA02-BFF4-256F90232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9887F86F-284B-9019-67A6-7BAF5F5A4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AD580-8AF6-4DEB-A97D-1A1215A5FE19}" type="datetimeFigureOut">
              <a:rPr lang="nb-NO" smtClean="0"/>
              <a:t>10.06.2024</a:t>
            </a:fld>
            <a:endParaRPr lang="nb-NO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6E9F10C6-5888-7CE0-ECA2-C20A15AD6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16D77678-2B3A-2FC8-EF9E-93FEF9DF8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7BF43-E350-4C50-928D-4E8FC3FD25D3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46140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>
            <a:extLst>
              <a:ext uri="{FF2B5EF4-FFF2-40B4-BE49-F238E27FC236}">
                <a16:creationId xmlns:a16="http://schemas.microsoft.com/office/drawing/2014/main" id="{7BF9C422-0B3D-4ED2-F23E-94DFCF1A5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AD580-8AF6-4DEB-A97D-1A1215A5FE19}" type="datetimeFigureOut">
              <a:rPr lang="nb-NO" smtClean="0"/>
              <a:t>10.06.2024</a:t>
            </a:fld>
            <a:endParaRPr lang="nb-NO"/>
          </a:p>
        </p:txBody>
      </p:sp>
      <p:sp>
        <p:nvSpPr>
          <p:cNvPr id="3" name="Plassholder for bunntekst 2">
            <a:extLst>
              <a:ext uri="{FF2B5EF4-FFF2-40B4-BE49-F238E27FC236}">
                <a16:creationId xmlns:a16="http://schemas.microsoft.com/office/drawing/2014/main" id="{532630E5-6619-4DC3-8279-0D200C071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5F74B430-5F68-2271-2266-17D3E67B6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7BF43-E350-4C50-928D-4E8FC3FD25D3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35278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F1F40E6-F74F-612D-FD9B-3460C9F78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A201F45B-F249-F6E9-DC63-5FB7F20E79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4A3974CB-88B5-A909-8F8A-D1FCAC516A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A0B5B313-EFB0-9A0A-8433-66C4D1A9C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AD580-8AF6-4DEB-A97D-1A1215A5FE19}" type="datetimeFigureOut">
              <a:rPr lang="nb-NO" smtClean="0"/>
              <a:t>10.06.2024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BDAFD6B2-020C-BBCE-E55C-F3D75AC42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0EE363F7-04C0-081F-B2C2-DBC65A132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7BF43-E350-4C50-928D-4E8FC3FD25D3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981692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8385D6A-A35B-DED7-348D-15E69DBC2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bilde 2">
            <a:extLst>
              <a:ext uri="{FF2B5EF4-FFF2-40B4-BE49-F238E27FC236}">
                <a16:creationId xmlns:a16="http://schemas.microsoft.com/office/drawing/2014/main" id="{B01B64B8-AA63-5F25-8C9A-A921D072A9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31601CFA-3517-99F2-1FD7-3932DFEBD1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A3345263-175C-D135-9898-0ABB0D710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AD580-8AF6-4DEB-A97D-1A1215A5FE19}" type="datetimeFigureOut">
              <a:rPr lang="nb-NO" smtClean="0"/>
              <a:t>10.06.2024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F12470F4-2426-1315-6EE5-CA03BFFA3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0697F002-7E3D-999C-983C-D479E9A12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7BF43-E350-4C50-928D-4E8FC3FD25D3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169101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7E885C75-65CE-098A-8079-BE7ADA03F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2BD1C63C-D7A5-59EE-78D6-C772779471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A806DC1C-2007-B680-15DE-A4F8AB16E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AD580-8AF6-4DEB-A97D-1A1215A5FE19}" type="datetimeFigureOut">
              <a:rPr lang="nb-NO" smtClean="0"/>
              <a:t>10.06.2024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6339F79F-3074-ED44-339E-722454C73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68810D14-CDFE-B95A-CC2A-162D85ADE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7BF43-E350-4C50-928D-4E8FC3FD25D3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573343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drett tittel 1">
            <a:extLst>
              <a:ext uri="{FF2B5EF4-FFF2-40B4-BE49-F238E27FC236}">
                <a16:creationId xmlns:a16="http://schemas.microsoft.com/office/drawing/2014/main" id="{FB31CA8D-30CF-CD34-0E03-1026CF5ACD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B32289FD-1039-82C7-3913-4CA9E72B84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DB892B3F-A444-FDE8-73AB-CB5E7E338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AD580-8AF6-4DEB-A97D-1A1215A5FE19}" type="datetimeFigureOut">
              <a:rPr lang="nb-NO" smtClean="0"/>
              <a:t>10.06.2024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A7C5F346-6049-99D2-233E-8253EF336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5D778077-DD80-91DB-8047-980FA3EDD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7BF43-E350-4C50-928D-4E8FC3FD25D3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8015721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id purple title">
  <p:cSld name="Solid purple 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7198" y="6277510"/>
            <a:ext cx="998129" cy="267481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30"/>
          <p:cNvSpPr txBox="1">
            <a:spLocks noGrp="1"/>
          </p:cNvSpPr>
          <p:nvPr>
            <p:ph type="body" idx="1"/>
          </p:nvPr>
        </p:nvSpPr>
        <p:spPr>
          <a:xfrm>
            <a:off x="2274651" y="806696"/>
            <a:ext cx="8110204" cy="986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  <a:defRPr sz="4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8" name="Google Shape;48;p30"/>
          <p:cNvSpPr txBox="1">
            <a:spLocks noGrp="1"/>
          </p:cNvSpPr>
          <p:nvPr>
            <p:ph type="body" idx="2"/>
          </p:nvPr>
        </p:nvSpPr>
        <p:spPr>
          <a:xfrm>
            <a:off x="2274651" y="2252613"/>
            <a:ext cx="8110204" cy="569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DEFD"/>
              </a:buClr>
              <a:buSzPts val="2911"/>
              <a:buFont typeface="Arial"/>
              <a:buNone/>
              <a:defRPr sz="2911" b="0" i="0" u="none" strike="noStrike" cap="none">
                <a:solidFill>
                  <a:srgbClr val="81DEFD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9" name="Google Shape;49;p30"/>
          <p:cNvSpPr txBox="1">
            <a:spLocks noGrp="1"/>
          </p:cNvSpPr>
          <p:nvPr>
            <p:ph type="body" idx="3"/>
          </p:nvPr>
        </p:nvSpPr>
        <p:spPr>
          <a:xfrm>
            <a:off x="2274652" y="4540964"/>
            <a:ext cx="8110203" cy="1818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6"/>
              <a:buFont typeface="Arial"/>
              <a:buNone/>
              <a:defRPr sz="1406" b="0" i="1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0" name="Google Shape;50;p30"/>
          <p:cNvSpPr txBox="1">
            <a:spLocks noGrp="1"/>
          </p:cNvSpPr>
          <p:nvPr>
            <p:ph type="body" idx="4"/>
          </p:nvPr>
        </p:nvSpPr>
        <p:spPr>
          <a:xfrm>
            <a:off x="2274651" y="3492661"/>
            <a:ext cx="8110204" cy="366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6"/>
              <a:buFont typeface="Arial"/>
              <a:buNone/>
              <a:defRPr sz="1406" b="0" i="1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145691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lit right purple HC">
  <p:cSld name="Split right purple HC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7198" y="6277510"/>
            <a:ext cx="998129" cy="26748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5"/>
          <p:cNvSpPr txBox="1">
            <a:spLocks noGrp="1"/>
          </p:cNvSpPr>
          <p:nvPr>
            <p:ph type="body" idx="1"/>
          </p:nvPr>
        </p:nvSpPr>
        <p:spPr>
          <a:xfrm>
            <a:off x="7099662" y="2065106"/>
            <a:ext cx="4394432" cy="3750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4191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4000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4000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4" name="Google Shape;74;p35"/>
          <p:cNvSpPr txBox="1">
            <a:spLocks noGrp="1"/>
          </p:cNvSpPr>
          <p:nvPr>
            <p:ph type="title"/>
          </p:nvPr>
        </p:nvSpPr>
        <p:spPr>
          <a:xfrm>
            <a:off x="1089280" y="540552"/>
            <a:ext cx="4394200" cy="130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ahoma"/>
              <a:buNone/>
              <a:defRPr sz="3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" name="Google Shape;75;p35"/>
          <p:cNvSpPr>
            <a:spLocks noGrp="1"/>
          </p:cNvSpPr>
          <p:nvPr>
            <p:ph type="pic" idx="2"/>
          </p:nvPr>
        </p:nvSpPr>
        <p:spPr>
          <a:xfrm>
            <a:off x="1089280" y="2240311"/>
            <a:ext cx="4394200" cy="4037199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226153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id purple white">
  <p:cSld name="Solid purple whit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Google Shape;52;p31"/>
          <p:cNvCxnSpPr/>
          <p:nvPr/>
        </p:nvCxnSpPr>
        <p:spPr>
          <a:xfrm>
            <a:off x="1790774" y="3292079"/>
            <a:ext cx="8928824" cy="1"/>
          </a:xfrm>
          <a:prstGeom prst="straightConnector1">
            <a:avLst/>
          </a:prstGeom>
          <a:noFill/>
          <a:ln w="2540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</p:spPr>
      </p:cxnSp>
      <p:pic>
        <p:nvPicPr>
          <p:cNvPr id="53" name="Google Shape;53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0375" y="5808763"/>
            <a:ext cx="174124" cy="187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57371" y="6227814"/>
            <a:ext cx="1127088" cy="370072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31"/>
          <p:cNvSpPr txBox="1">
            <a:spLocks noGrp="1"/>
          </p:cNvSpPr>
          <p:nvPr>
            <p:ph type="body" idx="1"/>
          </p:nvPr>
        </p:nvSpPr>
        <p:spPr>
          <a:xfrm>
            <a:off x="1106850" y="2114332"/>
            <a:ext cx="8598215" cy="3182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4191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4000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4000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6" name="Google Shape;56;p31"/>
          <p:cNvSpPr txBox="1">
            <a:spLocks noGrp="1"/>
          </p:cNvSpPr>
          <p:nvPr>
            <p:ph type="title"/>
          </p:nvPr>
        </p:nvSpPr>
        <p:spPr>
          <a:xfrm>
            <a:off x="1106851" y="597376"/>
            <a:ext cx="8598215" cy="731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78"/>
              <a:buFont typeface="Tahoma"/>
              <a:buNone/>
              <a:defRPr sz="4078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075276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lit left purple">
  <p:cSld name="Split left purp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57371" y="6227814"/>
            <a:ext cx="1127088" cy="37007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33"/>
          <p:cNvSpPr txBox="1">
            <a:spLocks noGrp="1"/>
          </p:cNvSpPr>
          <p:nvPr>
            <p:ph type="body" idx="1"/>
          </p:nvPr>
        </p:nvSpPr>
        <p:spPr>
          <a:xfrm>
            <a:off x="1089280" y="2321960"/>
            <a:ext cx="4394432" cy="3750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4191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4000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4000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4" name="Google Shape;64;p33"/>
          <p:cNvSpPr txBox="1">
            <a:spLocks noGrp="1"/>
          </p:cNvSpPr>
          <p:nvPr>
            <p:ph type="title"/>
          </p:nvPr>
        </p:nvSpPr>
        <p:spPr>
          <a:xfrm>
            <a:off x="1089280" y="540552"/>
            <a:ext cx="4394200" cy="130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ahoma"/>
              <a:buNone/>
              <a:defRPr sz="3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" name="Google Shape;65;p33"/>
          <p:cNvSpPr>
            <a:spLocks noGrp="1"/>
          </p:cNvSpPr>
          <p:nvPr>
            <p:ph type="pic" idx="2"/>
          </p:nvPr>
        </p:nvSpPr>
        <p:spPr>
          <a:xfrm>
            <a:off x="7085013" y="1777525"/>
            <a:ext cx="4394200" cy="4294502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581995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id purple content¨">
  <p:cSld name="Solid purple content¨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7198" y="6277510"/>
            <a:ext cx="998129" cy="267481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32"/>
          <p:cNvSpPr txBox="1">
            <a:spLocks noGrp="1"/>
          </p:cNvSpPr>
          <p:nvPr>
            <p:ph type="body" idx="1"/>
          </p:nvPr>
        </p:nvSpPr>
        <p:spPr>
          <a:xfrm>
            <a:off x="1106850" y="2114332"/>
            <a:ext cx="8598215" cy="3182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4191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4000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4000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0" name="Google Shape;60;p32"/>
          <p:cNvSpPr txBox="1">
            <a:spLocks noGrp="1"/>
          </p:cNvSpPr>
          <p:nvPr>
            <p:ph type="title"/>
          </p:nvPr>
        </p:nvSpPr>
        <p:spPr>
          <a:xfrm>
            <a:off x="1106851" y="597376"/>
            <a:ext cx="8598215" cy="731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78"/>
              <a:buFont typeface="Tahoma"/>
              <a:buNone/>
              <a:defRPr sz="4078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281399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lit right purple">
  <p:cSld name="Split right purp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57371" y="6227814"/>
            <a:ext cx="1127088" cy="370072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34"/>
          <p:cNvSpPr txBox="1">
            <a:spLocks noGrp="1"/>
          </p:cNvSpPr>
          <p:nvPr>
            <p:ph type="body" idx="1"/>
          </p:nvPr>
        </p:nvSpPr>
        <p:spPr>
          <a:xfrm>
            <a:off x="1089280" y="2321960"/>
            <a:ext cx="4394432" cy="3750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4191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4000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4000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9" name="Google Shape;69;p34"/>
          <p:cNvSpPr txBox="1">
            <a:spLocks noGrp="1"/>
          </p:cNvSpPr>
          <p:nvPr>
            <p:ph type="title"/>
          </p:nvPr>
        </p:nvSpPr>
        <p:spPr>
          <a:xfrm>
            <a:off x="1089280" y="540552"/>
            <a:ext cx="4394200" cy="130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ahoma"/>
              <a:buNone/>
              <a:defRPr sz="3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0" name="Google Shape;70;p34"/>
          <p:cNvSpPr>
            <a:spLocks noGrp="1"/>
          </p:cNvSpPr>
          <p:nvPr>
            <p:ph type="pic" idx="2"/>
          </p:nvPr>
        </p:nvSpPr>
        <p:spPr>
          <a:xfrm>
            <a:off x="7085013" y="1777525"/>
            <a:ext cx="4394200" cy="4294502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5040752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id blue title">
  <p:cSld name="Solid blue 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2274651" y="806696"/>
            <a:ext cx="8110204" cy="986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  <a:defRPr sz="4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body" idx="2"/>
          </p:nvPr>
        </p:nvSpPr>
        <p:spPr>
          <a:xfrm>
            <a:off x="2274651" y="2252613"/>
            <a:ext cx="8110204" cy="569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DEFD"/>
              </a:buClr>
              <a:buSzPts val="2911"/>
              <a:buFont typeface="Arial"/>
              <a:buNone/>
              <a:defRPr sz="2911" b="0" i="0" u="none" strike="noStrike" cap="none">
                <a:solidFill>
                  <a:srgbClr val="81DEFD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body" idx="3"/>
          </p:nvPr>
        </p:nvSpPr>
        <p:spPr>
          <a:xfrm>
            <a:off x="2274652" y="4540964"/>
            <a:ext cx="8110203" cy="1818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6"/>
              <a:buFont typeface="Arial"/>
              <a:buNone/>
              <a:defRPr sz="1406" b="0" i="1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body" idx="4"/>
          </p:nvPr>
        </p:nvSpPr>
        <p:spPr>
          <a:xfrm>
            <a:off x="2274651" y="3492661"/>
            <a:ext cx="8110204" cy="366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6"/>
              <a:buFont typeface="Arial"/>
              <a:buNone/>
              <a:defRPr sz="1406" b="0" i="1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pic>
        <p:nvPicPr>
          <p:cNvPr id="15" name="Google Shape;15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7198" y="6277510"/>
            <a:ext cx="998129" cy="26748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45986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id blue white">
  <p:cSld name="Solid blue whit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24"/>
          <p:cNvCxnSpPr/>
          <p:nvPr/>
        </p:nvCxnSpPr>
        <p:spPr>
          <a:xfrm>
            <a:off x="1790774" y="3292079"/>
            <a:ext cx="8928824" cy="1"/>
          </a:xfrm>
          <a:prstGeom prst="straightConnector1">
            <a:avLst/>
          </a:prstGeom>
          <a:noFill/>
          <a:ln w="2540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</p:spPr>
      </p:cxnSp>
      <p:pic>
        <p:nvPicPr>
          <p:cNvPr id="18" name="Google Shape;18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0375" y="5808763"/>
            <a:ext cx="174124" cy="187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57371" y="6227814"/>
            <a:ext cx="1127088" cy="370072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24"/>
          <p:cNvSpPr txBox="1">
            <a:spLocks noGrp="1"/>
          </p:cNvSpPr>
          <p:nvPr>
            <p:ph type="body" idx="1"/>
          </p:nvPr>
        </p:nvSpPr>
        <p:spPr>
          <a:xfrm>
            <a:off x="1106850" y="2114332"/>
            <a:ext cx="8598215" cy="3182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4191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4000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4000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1" name="Google Shape;21;p24"/>
          <p:cNvSpPr txBox="1">
            <a:spLocks noGrp="1"/>
          </p:cNvSpPr>
          <p:nvPr>
            <p:ph type="title"/>
          </p:nvPr>
        </p:nvSpPr>
        <p:spPr>
          <a:xfrm>
            <a:off x="1106851" y="597376"/>
            <a:ext cx="8598215" cy="731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78"/>
              <a:buFont typeface="Tahoma"/>
              <a:buNone/>
              <a:defRPr sz="4078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277483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id blue content">
  <p:cSld name="Solid blue conte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7198" y="6277510"/>
            <a:ext cx="998129" cy="267481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25"/>
          <p:cNvSpPr txBox="1">
            <a:spLocks noGrp="1"/>
          </p:cNvSpPr>
          <p:nvPr>
            <p:ph type="body" idx="1"/>
          </p:nvPr>
        </p:nvSpPr>
        <p:spPr>
          <a:xfrm>
            <a:off x="1106850" y="2114332"/>
            <a:ext cx="8598215" cy="3182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4191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4000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4000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5" name="Google Shape;25;p25"/>
          <p:cNvSpPr txBox="1">
            <a:spLocks noGrp="1"/>
          </p:cNvSpPr>
          <p:nvPr>
            <p:ph type="title"/>
          </p:nvPr>
        </p:nvSpPr>
        <p:spPr>
          <a:xfrm>
            <a:off x="1106851" y="597376"/>
            <a:ext cx="8598215" cy="731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78"/>
              <a:buFont typeface="Tahoma"/>
              <a:buNone/>
              <a:defRPr sz="4078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910666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lit left blue">
  <p:cSld name="Split left blu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57371" y="6227814"/>
            <a:ext cx="1127088" cy="370072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26"/>
          <p:cNvSpPr txBox="1">
            <a:spLocks noGrp="1"/>
          </p:cNvSpPr>
          <p:nvPr>
            <p:ph type="body" idx="1"/>
          </p:nvPr>
        </p:nvSpPr>
        <p:spPr>
          <a:xfrm>
            <a:off x="1089280" y="2321960"/>
            <a:ext cx="4394432" cy="3750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4191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4000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4000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9" name="Google Shape;29;p26"/>
          <p:cNvSpPr txBox="1">
            <a:spLocks noGrp="1"/>
          </p:cNvSpPr>
          <p:nvPr>
            <p:ph type="title"/>
          </p:nvPr>
        </p:nvSpPr>
        <p:spPr>
          <a:xfrm>
            <a:off x="1089280" y="540552"/>
            <a:ext cx="4394200" cy="130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ahoma"/>
              <a:buNone/>
              <a:defRPr sz="3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" name="Google Shape;30;p26"/>
          <p:cNvSpPr>
            <a:spLocks noGrp="1"/>
          </p:cNvSpPr>
          <p:nvPr>
            <p:ph type="pic" idx="2"/>
          </p:nvPr>
        </p:nvSpPr>
        <p:spPr>
          <a:xfrm>
            <a:off x="7085013" y="1777525"/>
            <a:ext cx="4394200" cy="4294502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58752164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lit right blue">
  <p:cSld name="Split right blu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57371" y="6227814"/>
            <a:ext cx="1127088" cy="370072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27"/>
          <p:cNvSpPr txBox="1">
            <a:spLocks noGrp="1"/>
          </p:cNvSpPr>
          <p:nvPr>
            <p:ph type="body" idx="1"/>
          </p:nvPr>
        </p:nvSpPr>
        <p:spPr>
          <a:xfrm>
            <a:off x="1089280" y="2321960"/>
            <a:ext cx="4394432" cy="3750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4191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4000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4000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4" name="Google Shape;34;p27"/>
          <p:cNvSpPr txBox="1">
            <a:spLocks noGrp="1"/>
          </p:cNvSpPr>
          <p:nvPr>
            <p:ph type="title"/>
          </p:nvPr>
        </p:nvSpPr>
        <p:spPr>
          <a:xfrm>
            <a:off x="1089280" y="540552"/>
            <a:ext cx="4394200" cy="130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ahoma"/>
              <a:buNone/>
              <a:defRPr sz="3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p27"/>
          <p:cNvSpPr>
            <a:spLocks noGrp="1"/>
          </p:cNvSpPr>
          <p:nvPr>
            <p:ph type="pic" idx="2"/>
          </p:nvPr>
        </p:nvSpPr>
        <p:spPr>
          <a:xfrm>
            <a:off x="7085013" y="1777525"/>
            <a:ext cx="4394200" cy="4294502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615234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lit right blue HC">
  <p:cSld name="Split right blue HC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7198" y="6277510"/>
            <a:ext cx="998129" cy="267481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28"/>
          <p:cNvSpPr txBox="1">
            <a:spLocks noGrp="1"/>
          </p:cNvSpPr>
          <p:nvPr>
            <p:ph type="body" idx="1"/>
          </p:nvPr>
        </p:nvSpPr>
        <p:spPr>
          <a:xfrm>
            <a:off x="7099662" y="2065106"/>
            <a:ext cx="4394432" cy="3750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4191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4000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4000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9" name="Google Shape;39;p28"/>
          <p:cNvSpPr txBox="1">
            <a:spLocks noGrp="1"/>
          </p:cNvSpPr>
          <p:nvPr>
            <p:ph type="title"/>
          </p:nvPr>
        </p:nvSpPr>
        <p:spPr>
          <a:xfrm>
            <a:off x="1089280" y="540552"/>
            <a:ext cx="4394200" cy="130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ahoma"/>
              <a:buNone/>
              <a:defRPr sz="3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" name="Google Shape;40;p28"/>
          <p:cNvSpPr>
            <a:spLocks noGrp="1"/>
          </p:cNvSpPr>
          <p:nvPr>
            <p:ph type="pic" idx="2"/>
          </p:nvPr>
        </p:nvSpPr>
        <p:spPr>
          <a:xfrm>
            <a:off x="1089280" y="2240311"/>
            <a:ext cx="4394200" cy="4037199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5451680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 blue">
  <p:cSld name="Thank you blu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7198" y="6277510"/>
            <a:ext cx="998129" cy="267481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29"/>
          <p:cNvSpPr txBox="1">
            <a:spLocks noGrp="1"/>
          </p:cNvSpPr>
          <p:nvPr>
            <p:ph type="body" idx="1"/>
          </p:nvPr>
        </p:nvSpPr>
        <p:spPr>
          <a:xfrm>
            <a:off x="2264159" y="2230054"/>
            <a:ext cx="8110204" cy="986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  <a:defRPr sz="4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4" name="Google Shape;44;p29"/>
          <p:cNvSpPr txBox="1">
            <a:spLocks noGrp="1"/>
          </p:cNvSpPr>
          <p:nvPr>
            <p:ph type="body" idx="2"/>
          </p:nvPr>
        </p:nvSpPr>
        <p:spPr>
          <a:xfrm>
            <a:off x="2359049" y="4633044"/>
            <a:ext cx="1936905" cy="494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DEFD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1DEFD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7298304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id purple title">
  <p:cSld name="Solid purple 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7198" y="6277510"/>
            <a:ext cx="998129" cy="267481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30"/>
          <p:cNvSpPr txBox="1">
            <a:spLocks noGrp="1"/>
          </p:cNvSpPr>
          <p:nvPr>
            <p:ph type="body" idx="1"/>
          </p:nvPr>
        </p:nvSpPr>
        <p:spPr>
          <a:xfrm>
            <a:off x="2274651" y="806696"/>
            <a:ext cx="8110204" cy="986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  <a:defRPr sz="4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8" name="Google Shape;48;p30"/>
          <p:cNvSpPr txBox="1">
            <a:spLocks noGrp="1"/>
          </p:cNvSpPr>
          <p:nvPr>
            <p:ph type="body" idx="2"/>
          </p:nvPr>
        </p:nvSpPr>
        <p:spPr>
          <a:xfrm>
            <a:off x="2274651" y="2252613"/>
            <a:ext cx="8110204" cy="569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DEFD"/>
              </a:buClr>
              <a:buSzPts val="2911"/>
              <a:buFont typeface="Arial"/>
              <a:buNone/>
              <a:defRPr sz="2911" b="0" i="0" u="none" strike="noStrike" cap="none">
                <a:solidFill>
                  <a:srgbClr val="81DEFD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9" name="Google Shape;49;p30"/>
          <p:cNvSpPr txBox="1">
            <a:spLocks noGrp="1"/>
          </p:cNvSpPr>
          <p:nvPr>
            <p:ph type="body" idx="3"/>
          </p:nvPr>
        </p:nvSpPr>
        <p:spPr>
          <a:xfrm>
            <a:off x="2274652" y="4540964"/>
            <a:ext cx="8110203" cy="1818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6"/>
              <a:buFont typeface="Arial"/>
              <a:buNone/>
              <a:defRPr sz="1406" b="0" i="1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0" name="Google Shape;50;p30"/>
          <p:cNvSpPr txBox="1">
            <a:spLocks noGrp="1"/>
          </p:cNvSpPr>
          <p:nvPr>
            <p:ph type="body" idx="4"/>
          </p:nvPr>
        </p:nvSpPr>
        <p:spPr>
          <a:xfrm>
            <a:off x="2274651" y="3492661"/>
            <a:ext cx="8110204" cy="366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6"/>
              <a:buFont typeface="Arial"/>
              <a:buNone/>
              <a:defRPr sz="1406" b="0" i="1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1707221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id purple white">
  <p:cSld name="Solid purple whit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Google Shape;52;p31"/>
          <p:cNvCxnSpPr/>
          <p:nvPr/>
        </p:nvCxnSpPr>
        <p:spPr>
          <a:xfrm>
            <a:off x="1790774" y="3292079"/>
            <a:ext cx="8928824" cy="1"/>
          </a:xfrm>
          <a:prstGeom prst="straightConnector1">
            <a:avLst/>
          </a:prstGeom>
          <a:noFill/>
          <a:ln w="2540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</p:spPr>
      </p:cxnSp>
      <p:pic>
        <p:nvPicPr>
          <p:cNvPr id="53" name="Google Shape;53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0375" y="5808763"/>
            <a:ext cx="174124" cy="187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57371" y="6227814"/>
            <a:ext cx="1127088" cy="370072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31"/>
          <p:cNvSpPr txBox="1">
            <a:spLocks noGrp="1"/>
          </p:cNvSpPr>
          <p:nvPr>
            <p:ph type="body" idx="1"/>
          </p:nvPr>
        </p:nvSpPr>
        <p:spPr>
          <a:xfrm>
            <a:off x="1106850" y="2114332"/>
            <a:ext cx="8598215" cy="3182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4191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4000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4000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6" name="Google Shape;56;p31"/>
          <p:cNvSpPr txBox="1">
            <a:spLocks noGrp="1"/>
          </p:cNvSpPr>
          <p:nvPr>
            <p:ph type="title"/>
          </p:nvPr>
        </p:nvSpPr>
        <p:spPr>
          <a:xfrm>
            <a:off x="1106851" y="597376"/>
            <a:ext cx="8598215" cy="731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78"/>
              <a:buFont typeface="Tahoma"/>
              <a:buNone/>
              <a:defRPr sz="4078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5900097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id purple content¨">
  <p:cSld name="Solid purple content¨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7198" y="6277510"/>
            <a:ext cx="998129" cy="267481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32"/>
          <p:cNvSpPr txBox="1">
            <a:spLocks noGrp="1"/>
          </p:cNvSpPr>
          <p:nvPr>
            <p:ph type="body" idx="1"/>
          </p:nvPr>
        </p:nvSpPr>
        <p:spPr>
          <a:xfrm>
            <a:off x="1106850" y="2114332"/>
            <a:ext cx="8598215" cy="3182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4191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4000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4000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0" name="Google Shape;60;p32"/>
          <p:cNvSpPr txBox="1">
            <a:spLocks noGrp="1"/>
          </p:cNvSpPr>
          <p:nvPr>
            <p:ph type="title"/>
          </p:nvPr>
        </p:nvSpPr>
        <p:spPr>
          <a:xfrm>
            <a:off x="1106851" y="597376"/>
            <a:ext cx="8598215" cy="731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78"/>
              <a:buFont typeface="Tahoma"/>
              <a:buNone/>
              <a:defRPr sz="4078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0628759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lit left purple">
  <p:cSld name="Split left purp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57371" y="6227814"/>
            <a:ext cx="1127088" cy="37007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33"/>
          <p:cNvSpPr txBox="1">
            <a:spLocks noGrp="1"/>
          </p:cNvSpPr>
          <p:nvPr>
            <p:ph type="body" idx="1"/>
          </p:nvPr>
        </p:nvSpPr>
        <p:spPr>
          <a:xfrm>
            <a:off x="1089280" y="2321960"/>
            <a:ext cx="4394432" cy="3750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4191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4000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4000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4" name="Google Shape;64;p33"/>
          <p:cNvSpPr txBox="1">
            <a:spLocks noGrp="1"/>
          </p:cNvSpPr>
          <p:nvPr>
            <p:ph type="title"/>
          </p:nvPr>
        </p:nvSpPr>
        <p:spPr>
          <a:xfrm>
            <a:off x="1089280" y="540552"/>
            <a:ext cx="4394200" cy="130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ahoma"/>
              <a:buNone/>
              <a:defRPr sz="3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" name="Google Shape;65;p33"/>
          <p:cNvSpPr>
            <a:spLocks noGrp="1"/>
          </p:cNvSpPr>
          <p:nvPr>
            <p:ph type="pic" idx="2"/>
          </p:nvPr>
        </p:nvSpPr>
        <p:spPr>
          <a:xfrm>
            <a:off x="7085013" y="1777525"/>
            <a:ext cx="4394200" cy="4294502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23650501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lit right purple">
  <p:cSld name="Split right purp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57371" y="6227814"/>
            <a:ext cx="1127088" cy="370072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34"/>
          <p:cNvSpPr txBox="1">
            <a:spLocks noGrp="1"/>
          </p:cNvSpPr>
          <p:nvPr>
            <p:ph type="body" idx="1"/>
          </p:nvPr>
        </p:nvSpPr>
        <p:spPr>
          <a:xfrm>
            <a:off x="1089280" y="2321960"/>
            <a:ext cx="4394432" cy="3750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4191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4000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4000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9" name="Google Shape;69;p34"/>
          <p:cNvSpPr txBox="1">
            <a:spLocks noGrp="1"/>
          </p:cNvSpPr>
          <p:nvPr>
            <p:ph type="title"/>
          </p:nvPr>
        </p:nvSpPr>
        <p:spPr>
          <a:xfrm>
            <a:off x="1089280" y="540552"/>
            <a:ext cx="4394200" cy="130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ahoma"/>
              <a:buNone/>
              <a:defRPr sz="3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0" name="Google Shape;70;p34"/>
          <p:cNvSpPr>
            <a:spLocks noGrp="1"/>
          </p:cNvSpPr>
          <p:nvPr>
            <p:ph type="pic" idx="2"/>
          </p:nvPr>
        </p:nvSpPr>
        <p:spPr>
          <a:xfrm>
            <a:off x="7085013" y="1777525"/>
            <a:ext cx="4394200" cy="4294502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7566952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lit right purple HC">
  <p:cSld name="Split right purple HC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7198" y="6277510"/>
            <a:ext cx="998129" cy="26748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5"/>
          <p:cNvSpPr txBox="1">
            <a:spLocks noGrp="1"/>
          </p:cNvSpPr>
          <p:nvPr>
            <p:ph type="body" idx="1"/>
          </p:nvPr>
        </p:nvSpPr>
        <p:spPr>
          <a:xfrm>
            <a:off x="7099662" y="2065106"/>
            <a:ext cx="4394432" cy="3750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4191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4000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4000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4" name="Google Shape;74;p35"/>
          <p:cNvSpPr txBox="1">
            <a:spLocks noGrp="1"/>
          </p:cNvSpPr>
          <p:nvPr>
            <p:ph type="title"/>
          </p:nvPr>
        </p:nvSpPr>
        <p:spPr>
          <a:xfrm>
            <a:off x="1089280" y="540552"/>
            <a:ext cx="4394200" cy="130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ahoma"/>
              <a:buNone/>
              <a:defRPr sz="3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" name="Google Shape;75;p35"/>
          <p:cNvSpPr>
            <a:spLocks noGrp="1"/>
          </p:cNvSpPr>
          <p:nvPr>
            <p:ph type="pic" idx="2"/>
          </p:nvPr>
        </p:nvSpPr>
        <p:spPr>
          <a:xfrm>
            <a:off x="1089280" y="2240311"/>
            <a:ext cx="4394200" cy="4037199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01868746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 purple">
  <p:cSld name="Thank you purp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7198" y="6277510"/>
            <a:ext cx="998129" cy="267481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36"/>
          <p:cNvSpPr txBox="1">
            <a:spLocks noGrp="1"/>
          </p:cNvSpPr>
          <p:nvPr>
            <p:ph type="body" idx="1"/>
          </p:nvPr>
        </p:nvSpPr>
        <p:spPr>
          <a:xfrm>
            <a:off x="2264159" y="2230054"/>
            <a:ext cx="8110204" cy="986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  <a:defRPr sz="4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9" name="Google Shape;79;p36"/>
          <p:cNvSpPr txBox="1">
            <a:spLocks noGrp="1"/>
          </p:cNvSpPr>
          <p:nvPr>
            <p:ph type="body" idx="2"/>
          </p:nvPr>
        </p:nvSpPr>
        <p:spPr>
          <a:xfrm>
            <a:off x="2359049" y="4633044"/>
            <a:ext cx="1936905" cy="494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DEFD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1DEFD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9131892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id green title">
  <p:cSld name="Solid green 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7"/>
          <p:cNvSpPr txBox="1">
            <a:spLocks noGrp="1"/>
          </p:cNvSpPr>
          <p:nvPr>
            <p:ph type="body" idx="1"/>
          </p:nvPr>
        </p:nvSpPr>
        <p:spPr>
          <a:xfrm>
            <a:off x="2274651" y="806696"/>
            <a:ext cx="8110204" cy="986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  <a:defRPr sz="4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2" name="Google Shape;82;p37"/>
          <p:cNvSpPr txBox="1">
            <a:spLocks noGrp="1"/>
          </p:cNvSpPr>
          <p:nvPr>
            <p:ph type="body" idx="2"/>
          </p:nvPr>
        </p:nvSpPr>
        <p:spPr>
          <a:xfrm>
            <a:off x="2274651" y="2252613"/>
            <a:ext cx="8110204" cy="569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DEFD"/>
              </a:buClr>
              <a:buSzPts val="2911"/>
              <a:buFont typeface="Arial"/>
              <a:buNone/>
              <a:defRPr sz="2911" b="0" i="0" u="none" strike="noStrike" cap="none">
                <a:solidFill>
                  <a:srgbClr val="81DEFD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3" name="Google Shape;83;p37"/>
          <p:cNvSpPr txBox="1">
            <a:spLocks noGrp="1"/>
          </p:cNvSpPr>
          <p:nvPr>
            <p:ph type="body" idx="3"/>
          </p:nvPr>
        </p:nvSpPr>
        <p:spPr>
          <a:xfrm>
            <a:off x="2274652" y="4540964"/>
            <a:ext cx="8110203" cy="1818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6"/>
              <a:buFont typeface="Arial"/>
              <a:buNone/>
              <a:defRPr sz="1406" b="0" i="1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4" name="Google Shape;84;p37"/>
          <p:cNvSpPr txBox="1">
            <a:spLocks noGrp="1"/>
          </p:cNvSpPr>
          <p:nvPr>
            <p:ph type="body" idx="4"/>
          </p:nvPr>
        </p:nvSpPr>
        <p:spPr>
          <a:xfrm>
            <a:off x="2274651" y="3492661"/>
            <a:ext cx="8110204" cy="366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6"/>
              <a:buFont typeface="Arial"/>
              <a:buNone/>
              <a:defRPr sz="1406" b="0" i="1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0116171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id green white">
  <p:cSld name="Solid green whit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6" name="Google Shape;86;p38"/>
          <p:cNvCxnSpPr/>
          <p:nvPr/>
        </p:nvCxnSpPr>
        <p:spPr>
          <a:xfrm>
            <a:off x="1790774" y="3292079"/>
            <a:ext cx="8928824" cy="1"/>
          </a:xfrm>
          <a:prstGeom prst="straightConnector1">
            <a:avLst/>
          </a:prstGeom>
          <a:noFill/>
          <a:ln w="2540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</p:spPr>
      </p:cxnSp>
      <p:pic>
        <p:nvPicPr>
          <p:cNvPr id="87" name="Google Shape;87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0375" y="5808763"/>
            <a:ext cx="174124" cy="187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3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57371" y="6227814"/>
            <a:ext cx="1127088" cy="37007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38"/>
          <p:cNvSpPr txBox="1">
            <a:spLocks noGrp="1"/>
          </p:cNvSpPr>
          <p:nvPr>
            <p:ph type="body" idx="1"/>
          </p:nvPr>
        </p:nvSpPr>
        <p:spPr>
          <a:xfrm>
            <a:off x="1106850" y="2114332"/>
            <a:ext cx="8598215" cy="3182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4191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4000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4000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90" name="Google Shape;90;p38"/>
          <p:cNvSpPr txBox="1">
            <a:spLocks noGrp="1"/>
          </p:cNvSpPr>
          <p:nvPr>
            <p:ph type="title"/>
          </p:nvPr>
        </p:nvSpPr>
        <p:spPr>
          <a:xfrm>
            <a:off x="1106851" y="597376"/>
            <a:ext cx="8598215" cy="731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78"/>
              <a:buFont typeface="Tahoma"/>
              <a:buNone/>
              <a:defRPr sz="4078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855729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id green content">
  <p:cSld name="Solid green conte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7198" y="6277510"/>
            <a:ext cx="998129" cy="26748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39"/>
          <p:cNvSpPr txBox="1">
            <a:spLocks noGrp="1"/>
          </p:cNvSpPr>
          <p:nvPr>
            <p:ph type="body" idx="1"/>
          </p:nvPr>
        </p:nvSpPr>
        <p:spPr>
          <a:xfrm>
            <a:off x="1106850" y="2114332"/>
            <a:ext cx="8598215" cy="3182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4191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4000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4000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94" name="Google Shape;94;p39"/>
          <p:cNvSpPr txBox="1">
            <a:spLocks noGrp="1"/>
          </p:cNvSpPr>
          <p:nvPr>
            <p:ph type="title"/>
          </p:nvPr>
        </p:nvSpPr>
        <p:spPr>
          <a:xfrm>
            <a:off x="1106851" y="597376"/>
            <a:ext cx="8598215" cy="731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78"/>
              <a:buFont typeface="Tahoma"/>
              <a:buNone/>
              <a:defRPr sz="4078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1602698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lit left green">
  <p:cSld name="Split left gree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57371" y="6227814"/>
            <a:ext cx="1127088" cy="370072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40"/>
          <p:cNvSpPr txBox="1">
            <a:spLocks noGrp="1"/>
          </p:cNvSpPr>
          <p:nvPr>
            <p:ph type="body" idx="1"/>
          </p:nvPr>
        </p:nvSpPr>
        <p:spPr>
          <a:xfrm>
            <a:off x="1089280" y="2321960"/>
            <a:ext cx="4394432" cy="3750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4191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4000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4000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98" name="Google Shape;98;p40"/>
          <p:cNvSpPr txBox="1">
            <a:spLocks noGrp="1"/>
          </p:cNvSpPr>
          <p:nvPr>
            <p:ph type="title"/>
          </p:nvPr>
        </p:nvSpPr>
        <p:spPr>
          <a:xfrm>
            <a:off x="1089280" y="540552"/>
            <a:ext cx="4394200" cy="130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ahoma"/>
              <a:buNone/>
              <a:defRPr sz="3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9" name="Google Shape;99;p40"/>
          <p:cNvSpPr>
            <a:spLocks noGrp="1"/>
          </p:cNvSpPr>
          <p:nvPr>
            <p:ph type="pic" idx="2"/>
          </p:nvPr>
        </p:nvSpPr>
        <p:spPr>
          <a:xfrm>
            <a:off x="7085013" y="1777525"/>
            <a:ext cx="4394200" cy="4294502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11609237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lit right green">
  <p:cSld name="Split right gree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57371" y="6227814"/>
            <a:ext cx="1127088" cy="370072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41"/>
          <p:cNvSpPr txBox="1">
            <a:spLocks noGrp="1"/>
          </p:cNvSpPr>
          <p:nvPr>
            <p:ph type="body" idx="1"/>
          </p:nvPr>
        </p:nvSpPr>
        <p:spPr>
          <a:xfrm>
            <a:off x="1089280" y="2321960"/>
            <a:ext cx="4394432" cy="3750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4191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4000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4000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03" name="Google Shape;103;p41"/>
          <p:cNvSpPr txBox="1">
            <a:spLocks noGrp="1"/>
          </p:cNvSpPr>
          <p:nvPr>
            <p:ph type="title"/>
          </p:nvPr>
        </p:nvSpPr>
        <p:spPr>
          <a:xfrm>
            <a:off x="1089280" y="540552"/>
            <a:ext cx="4394200" cy="130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ahoma"/>
              <a:buNone/>
              <a:defRPr sz="3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4" name="Google Shape;104;p41"/>
          <p:cNvSpPr>
            <a:spLocks noGrp="1"/>
          </p:cNvSpPr>
          <p:nvPr>
            <p:ph type="pic" idx="2"/>
          </p:nvPr>
        </p:nvSpPr>
        <p:spPr>
          <a:xfrm>
            <a:off x="7085013" y="1777525"/>
            <a:ext cx="4394200" cy="4294502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33197504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lit right green HC">
  <p:cSld name="Split right green HC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7198" y="6277510"/>
            <a:ext cx="998129" cy="267481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42"/>
          <p:cNvSpPr txBox="1">
            <a:spLocks noGrp="1"/>
          </p:cNvSpPr>
          <p:nvPr>
            <p:ph type="body" idx="1"/>
          </p:nvPr>
        </p:nvSpPr>
        <p:spPr>
          <a:xfrm>
            <a:off x="7099662" y="2065106"/>
            <a:ext cx="4394432" cy="3750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4191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4000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4000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08" name="Google Shape;108;p42"/>
          <p:cNvSpPr txBox="1">
            <a:spLocks noGrp="1"/>
          </p:cNvSpPr>
          <p:nvPr>
            <p:ph type="title"/>
          </p:nvPr>
        </p:nvSpPr>
        <p:spPr>
          <a:xfrm>
            <a:off x="1089280" y="540552"/>
            <a:ext cx="4394200" cy="130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ahoma"/>
              <a:buNone/>
              <a:defRPr sz="3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9" name="Google Shape;109;p42"/>
          <p:cNvSpPr>
            <a:spLocks noGrp="1"/>
          </p:cNvSpPr>
          <p:nvPr>
            <p:ph type="pic" idx="2"/>
          </p:nvPr>
        </p:nvSpPr>
        <p:spPr>
          <a:xfrm>
            <a:off x="1089280" y="2240311"/>
            <a:ext cx="4394200" cy="4037199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55299238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 green">
  <p:cSld name="Thank you gree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7198" y="6277510"/>
            <a:ext cx="998129" cy="267481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43"/>
          <p:cNvSpPr txBox="1">
            <a:spLocks noGrp="1"/>
          </p:cNvSpPr>
          <p:nvPr>
            <p:ph type="body" idx="1"/>
          </p:nvPr>
        </p:nvSpPr>
        <p:spPr>
          <a:xfrm>
            <a:off x="2264159" y="2230054"/>
            <a:ext cx="8110204" cy="986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  <a:defRPr sz="48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13" name="Google Shape;113;p43"/>
          <p:cNvSpPr txBox="1">
            <a:spLocks noGrp="1"/>
          </p:cNvSpPr>
          <p:nvPr>
            <p:ph type="body" idx="2"/>
          </p:nvPr>
        </p:nvSpPr>
        <p:spPr>
          <a:xfrm>
            <a:off x="2359049" y="4633044"/>
            <a:ext cx="1936905" cy="494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DEFD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1DEFD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27929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38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20" Type="http://schemas.openxmlformats.org/officeDocument/2006/relationships/slideLayout" Target="../slideLayouts/slideLayout37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6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Relationship Id="rId2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>
            <a:extLst>
              <a:ext uri="{FF2B5EF4-FFF2-40B4-BE49-F238E27FC236}">
                <a16:creationId xmlns:a16="http://schemas.microsoft.com/office/drawing/2014/main" id="{E9504FAB-AC66-1719-CB0E-AFC075036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6B572215-0935-72A3-A1C0-ACD41EB075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2BED3246-705C-2508-A038-B8D5FCBE26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CAD580-8AF6-4DEB-A97D-1A1215A5FE19}" type="datetimeFigureOut">
              <a:rPr lang="nb-NO" smtClean="0"/>
              <a:t>10.06.2024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21F725A8-99C6-CB24-FAF1-A8B1D483E3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3562CD7F-A2C8-EA18-21C2-6CBAACD99B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F7BF43-E350-4C50-928D-4E8FC3FD25D3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928858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092745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  <p:sldLayoutId id="2147483684" r:id="rId18"/>
    <p:sldLayoutId id="2147483685" r:id="rId19"/>
    <p:sldLayoutId id="2147483686" r:id="rId20"/>
    <p:sldLayoutId id="2147483687" r:id="rId2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://hasset.ukdataservice.ac.uk/" TargetMode="Externa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"/>
          <p:cNvSpPr txBox="1">
            <a:spLocks noGrp="1"/>
          </p:cNvSpPr>
          <p:nvPr>
            <p:ph type="body" idx="1"/>
          </p:nvPr>
        </p:nvSpPr>
        <p:spPr>
          <a:xfrm>
            <a:off x="2213804" y="1430234"/>
            <a:ext cx="8110204" cy="986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None/>
            </a:pPr>
            <a:r>
              <a:rPr lang="en-US" sz="4400" dirty="0"/>
              <a:t>CESSDA Data Catalogue and ELSST integration</a:t>
            </a:r>
          </a:p>
        </p:txBody>
      </p:sp>
      <p:sp>
        <p:nvSpPr>
          <p:cNvPr id="172" name="Google Shape;172;p8"/>
          <p:cNvSpPr txBox="1">
            <a:spLocks noGrp="1"/>
          </p:cNvSpPr>
          <p:nvPr>
            <p:ph type="body" idx="3"/>
          </p:nvPr>
        </p:nvSpPr>
        <p:spPr>
          <a:xfrm>
            <a:off x="2274652" y="4045212"/>
            <a:ext cx="8110203" cy="1818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GB" sz="1600" b="1" i="0" dirty="0"/>
              <a:t>Speakers</a:t>
            </a:r>
            <a:endParaRPr lang="en-GB" dirty="0"/>
          </a:p>
          <a:p>
            <a:pPr marL="0" lvl="0" indent="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en-GB" dirty="0"/>
              <a:t>Hilde Orten | Sikt – Norwegian Agency for Shared Services in Education and Research</a:t>
            </a:r>
          </a:p>
          <a:p>
            <a:pPr marL="0" lvl="0" indent="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en-GB" dirty="0"/>
              <a:t>Darren </a:t>
            </a:r>
            <a:r>
              <a:rPr lang="en-GB"/>
              <a:t>Bell  / UK Data Service</a:t>
            </a:r>
            <a:endParaRPr lang="en-GB" dirty="0"/>
          </a:p>
          <a:p>
            <a:pPr marL="0" lvl="0" indent="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endParaRPr lang="en-GB" dirty="0"/>
          </a:p>
          <a:p>
            <a:pPr marL="0" lvl="0" indent="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en-GB" dirty="0"/>
              <a:t>Kristina Strand | Sikt – Norwegian Agency for Shared Services in Education and Research</a:t>
            </a:r>
          </a:p>
          <a:p>
            <a:pPr marL="0" lvl="0" indent="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en-GB" dirty="0"/>
              <a:t>Morten Jakobsen | Sikt - Norwegian Agency for Shared Services in Education and Research</a:t>
            </a:r>
          </a:p>
          <a:p>
            <a:pPr marL="0" lvl="0" indent="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en-GB" dirty="0"/>
              <a:t>Jeannine Beeken | UK Data Service</a:t>
            </a: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6"/>
              <a:buNone/>
            </a:pPr>
            <a:endParaRPr lang="en-GB" dirty="0"/>
          </a:p>
        </p:txBody>
      </p:sp>
      <p:sp>
        <p:nvSpPr>
          <p:cNvPr id="173" name="Google Shape;173;p8"/>
          <p:cNvSpPr txBox="1">
            <a:spLocks noGrp="1"/>
          </p:cNvSpPr>
          <p:nvPr>
            <p:ph type="body" idx="4"/>
          </p:nvPr>
        </p:nvSpPr>
        <p:spPr>
          <a:xfrm>
            <a:off x="2274651" y="3245941"/>
            <a:ext cx="8110204" cy="366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US" sz="1600" i="0" dirty="0"/>
              <a:t>30</a:t>
            </a:r>
            <a:r>
              <a:rPr lang="en-US" sz="1600" i="0" dirty="0">
                <a:latin typeface="Tahoma"/>
                <a:ea typeface="Tahoma"/>
                <a:cs typeface="Tahoma"/>
                <a:sym typeface="Tahoma"/>
              </a:rPr>
              <a:t>-05-202</a:t>
            </a:r>
            <a:r>
              <a:rPr lang="en-US" sz="1600" i="0" dirty="0"/>
              <a:t>4</a:t>
            </a:r>
            <a:r>
              <a:rPr lang="en-US" sz="1600" i="0" dirty="0">
                <a:latin typeface="Tahoma"/>
                <a:ea typeface="Tahoma"/>
                <a:cs typeface="Tahoma"/>
                <a:sym typeface="Tahoma"/>
              </a:rPr>
              <a:t> | IASSIST 2024 | Halifax, Canada</a:t>
            </a:r>
            <a:endParaRPr sz="1600" i="0" dirty="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74" name="Google Shape;174;p8" descr="cc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893" y="6345915"/>
            <a:ext cx="226599" cy="226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9742" y="6345916"/>
            <a:ext cx="226599" cy="226599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8"/>
          <p:cNvSpPr txBox="1"/>
          <p:nvPr/>
        </p:nvSpPr>
        <p:spPr>
          <a:xfrm>
            <a:off x="1354505" y="6150047"/>
            <a:ext cx="1354705" cy="480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CC-BY 2.0</a:t>
            </a: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"/>
          <p:cNvSpPr txBox="1">
            <a:spLocks noGrp="1"/>
          </p:cNvSpPr>
          <p:nvPr>
            <p:ph type="body" idx="1"/>
          </p:nvPr>
        </p:nvSpPr>
        <p:spPr>
          <a:xfrm>
            <a:off x="1106850" y="1472887"/>
            <a:ext cx="9538404" cy="3182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lang="en-GB" sz="2600" dirty="0"/>
              <a:t>Consortium of European Social Service Data Archive (CESSDA)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lang="en-GB" sz="2600" dirty="0"/>
              <a:t>CESSDA is a European Research Infrastructure Consortium (ERIC)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lang="en-GB" sz="2600" dirty="0"/>
              <a:t>Extensive, integrated and sustainable data services to the social sciences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lang="en-GB" sz="2600" dirty="0"/>
              <a:t>Unites social science data archives across Europe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lang="en-GB" sz="2600" b="1" dirty="0"/>
              <a:t>Mission</a:t>
            </a:r>
            <a:r>
              <a:rPr lang="en-GB" sz="2600" dirty="0"/>
              <a:t>: promote social science research results and support national and international research and cooperation</a:t>
            </a:r>
          </a:p>
        </p:txBody>
      </p:sp>
      <p:sp>
        <p:nvSpPr>
          <p:cNvPr id="182" name="Google Shape;182;p9"/>
          <p:cNvSpPr txBox="1">
            <a:spLocks noGrp="1"/>
          </p:cNvSpPr>
          <p:nvPr>
            <p:ph type="title"/>
          </p:nvPr>
        </p:nvSpPr>
        <p:spPr>
          <a:xfrm>
            <a:off x="1106851" y="597376"/>
            <a:ext cx="8598215" cy="731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ahoma"/>
              <a:buNone/>
            </a:pPr>
            <a:r>
              <a:rPr lang="en-US" b="0" dirty="0"/>
              <a:t>CESSDA</a:t>
            </a:r>
            <a:endParaRPr b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ekst 1">
            <a:extLst>
              <a:ext uri="{FF2B5EF4-FFF2-40B4-BE49-F238E27FC236}">
                <a16:creationId xmlns:a16="http://schemas.microsoft.com/office/drawing/2014/main" id="{5742B578-28C5-330C-68EE-638F33B6AD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6850" y="1541126"/>
            <a:ext cx="8598215" cy="3182261"/>
          </a:xfrm>
        </p:spPr>
        <p:txBody>
          <a:bodyPr/>
          <a:lstStyle/>
          <a:p>
            <a:r>
              <a:rPr lang="en-GB" dirty="0"/>
              <a:t>CESSDA ensures high-quality data is preserved for future research.</a:t>
            </a:r>
          </a:p>
          <a:p>
            <a:r>
              <a:rPr lang="en-GB" dirty="0"/>
              <a:t>CESSDA supports ongoing leaning and training for Service Providers, the social science user community and partners.</a:t>
            </a:r>
          </a:p>
          <a:p>
            <a:r>
              <a:rPr lang="en-GB" dirty="0" err="1"/>
              <a:t>Traning</a:t>
            </a:r>
            <a:r>
              <a:rPr lang="en-GB" dirty="0"/>
              <a:t> and widening activities cover research data management, data discovery and reuse, digital preservation, data archiving and CESSDA tools and services.</a:t>
            </a:r>
          </a:p>
        </p:txBody>
      </p:sp>
      <p:sp>
        <p:nvSpPr>
          <p:cNvPr id="3" name="Tittel 2">
            <a:extLst>
              <a:ext uri="{FF2B5EF4-FFF2-40B4-BE49-F238E27FC236}">
                <a16:creationId xmlns:a16="http://schemas.microsoft.com/office/drawing/2014/main" id="{19BE2DD9-22F6-3383-5044-FBDB432DC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CESSDA</a:t>
            </a:r>
          </a:p>
        </p:txBody>
      </p:sp>
    </p:spTree>
    <p:extLst>
      <p:ext uri="{BB962C8B-B14F-4D97-AF65-F5344CB8AC3E}">
        <p14:creationId xmlns:p14="http://schemas.microsoft.com/office/powerpoint/2010/main" val="2038068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4351" y="1495526"/>
            <a:ext cx="4453847" cy="4453847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3"/>
          <p:cNvSpPr txBox="1">
            <a:spLocks noGrp="1"/>
          </p:cNvSpPr>
          <p:nvPr>
            <p:ph type="body" idx="1"/>
          </p:nvPr>
        </p:nvSpPr>
        <p:spPr>
          <a:xfrm>
            <a:off x="7072366" y="967112"/>
            <a:ext cx="4394432" cy="3750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GB" sz="2600" dirty="0"/>
              <a:t>The CESSDA consortium is currently composed of 22 member countries.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endParaRPr lang="en-GB" sz="26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GB" sz="2600" dirty="0"/>
              <a:t>Several European countries are in the process of becoming a member or observer.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endParaRPr lang="en-GB" sz="26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GB" sz="2600" dirty="0"/>
              <a:t>CESSDA also has partners in a number of </a:t>
            </a:r>
            <a:r>
              <a:rPr lang="en-GB" sz="2600" dirty="0" err="1"/>
              <a:t>contries</a:t>
            </a:r>
            <a:r>
              <a:rPr lang="en-GB" sz="2600" dirty="0"/>
              <a:t> outside of the consortium.</a:t>
            </a:r>
          </a:p>
        </p:txBody>
      </p:sp>
      <p:sp>
        <p:nvSpPr>
          <p:cNvPr id="209" name="Google Shape;209;p13"/>
          <p:cNvSpPr txBox="1">
            <a:spLocks noGrp="1"/>
          </p:cNvSpPr>
          <p:nvPr>
            <p:ph type="title"/>
          </p:nvPr>
        </p:nvSpPr>
        <p:spPr>
          <a:xfrm>
            <a:off x="1089280" y="540552"/>
            <a:ext cx="4394200" cy="130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ahoma"/>
              <a:buNone/>
            </a:pPr>
            <a:r>
              <a:rPr lang="en-US" dirty="0"/>
              <a:t>CESSDA Members</a:t>
            </a:r>
            <a:endParaRPr dirty="0"/>
          </a:p>
        </p:txBody>
      </p:sp>
      <p:pic>
        <p:nvPicPr>
          <p:cNvPr id="3" name="Bilde 2">
            <a:extLst>
              <a:ext uri="{FF2B5EF4-FFF2-40B4-BE49-F238E27FC236}">
                <a16:creationId xmlns:a16="http://schemas.microsoft.com/office/drawing/2014/main" id="{50A44736-AA10-58DC-F2CB-FBEC7B1727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561" y="1361324"/>
            <a:ext cx="4625047" cy="475955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3"/>
          <p:cNvSpPr txBox="1">
            <a:spLocks noGrp="1"/>
          </p:cNvSpPr>
          <p:nvPr>
            <p:ph type="body" idx="1"/>
          </p:nvPr>
        </p:nvSpPr>
        <p:spPr>
          <a:xfrm>
            <a:off x="6765897" y="954973"/>
            <a:ext cx="4562201" cy="3750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GB" sz="2600" dirty="0"/>
              <a:t>Each member country assign a national Service Provider (SP).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endParaRPr lang="en-GB" sz="26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GB" sz="2600" dirty="0"/>
              <a:t>The SPs cooperate on providing services to researchers.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endParaRPr lang="en-GB" sz="2600" dirty="0"/>
          </a:p>
          <a:p>
            <a:pPr marL="0" indent="0">
              <a:spcBef>
                <a:spcPts val="0"/>
              </a:spcBef>
            </a:pPr>
            <a:r>
              <a:rPr lang="en-GB" sz="2800" dirty="0"/>
              <a:t>The main office is the operational hub and coordinates </a:t>
            </a:r>
            <a:r>
              <a:rPr lang="en-GB" sz="2800" dirty="0" err="1"/>
              <a:t>activites</a:t>
            </a:r>
            <a:r>
              <a:rPr lang="en-GB" sz="2800" dirty="0"/>
              <a:t> carried out with SPs.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endParaRPr lang="en-GB" sz="2600" dirty="0"/>
          </a:p>
        </p:txBody>
      </p:sp>
      <p:sp>
        <p:nvSpPr>
          <p:cNvPr id="209" name="Google Shape;209;p13"/>
          <p:cNvSpPr txBox="1">
            <a:spLocks noGrp="1"/>
          </p:cNvSpPr>
          <p:nvPr>
            <p:ph type="title"/>
          </p:nvPr>
        </p:nvSpPr>
        <p:spPr>
          <a:xfrm>
            <a:off x="1089280" y="540552"/>
            <a:ext cx="4394200" cy="130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ahoma"/>
              <a:buNone/>
            </a:pPr>
            <a:r>
              <a:rPr lang="en-US" dirty="0"/>
              <a:t>CESSDA Members</a:t>
            </a:r>
            <a:endParaRPr dirty="0"/>
          </a:p>
        </p:txBody>
      </p:sp>
      <p:pic>
        <p:nvPicPr>
          <p:cNvPr id="5" name="Bilde 4">
            <a:extLst>
              <a:ext uri="{FF2B5EF4-FFF2-40B4-BE49-F238E27FC236}">
                <a16:creationId xmlns:a16="http://schemas.microsoft.com/office/drawing/2014/main" id="{F585E37A-4096-7224-C733-8D33165598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202" y="3948470"/>
            <a:ext cx="3310925" cy="1006041"/>
          </a:xfrm>
          <a:prstGeom prst="rect">
            <a:avLst/>
          </a:prstGeom>
        </p:spPr>
      </p:pic>
      <p:pic>
        <p:nvPicPr>
          <p:cNvPr id="6" name="Bilde 5">
            <a:extLst>
              <a:ext uri="{FF2B5EF4-FFF2-40B4-BE49-F238E27FC236}">
                <a16:creationId xmlns:a16="http://schemas.microsoft.com/office/drawing/2014/main" id="{C9A69806-5F12-D035-A95F-9E09CD23D8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9357" y="3948470"/>
            <a:ext cx="1168305" cy="1006041"/>
          </a:xfrm>
          <a:prstGeom prst="rect">
            <a:avLst/>
          </a:prstGeom>
        </p:spPr>
      </p:pic>
      <p:pic>
        <p:nvPicPr>
          <p:cNvPr id="7" name="Bilde 6">
            <a:extLst>
              <a:ext uri="{FF2B5EF4-FFF2-40B4-BE49-F238E27FC236}">
                <a16:creationId xmlns:a16="http://schemas.microsoft.com/office/drawing/2014/main" id="{CD8AA3DC-C54D-4E2D-6017-6A32354BC7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5552" y="2812528"/>
            <a:ext cx="1672023" cy="1010814"/>
          </a:xfrm>
          <a:prstGeom prst="rect">
            <a:avLst/>
          </a:prstGeom>
        </p:spPr>
      </p:pic>
      <p:pic>
        <p:nvPicPr>
          <p:cNvPr id="8" name="Bilde 7">
            <a:extLst>
              <a:ext uri="{FF2B5EF4-FFF2-40B4-BE49-F238E27FC236}">
                <a16:creationId xmlns:a16="http://schemas.microsoft.com/office/drawing/2014/main" id="{3C8858B3-35F6-6845-97B2-45923F37F0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1100" y="1550145"/>
            <a:ext cx="1483347" cy="924053"/>
          </a:xfrm>
          <a:prstGeom prst="rect">
            <a:avLst/>
          </a:prstGeom>
        </p:spPr>
      </p:pic>
      <p:pic>
        <p:nvPicPr>
          <p:cNvPr id="9" name="Bilde 8">
            <a:extLst>
              <a:ext uri="{FF2B5EF4-FFF2-40B4-BE49-F238E27FC236}">
                <a16:creationId xmlns:a16="http://schemas.microsoft.com/office/drawing/2014/main" id="{59829E14-F278-0345-B60A-3D5B52C224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10442" y="1560211"/>
            <a:ext cx="1058466" cy="1099813"/>
          </a:xfrm>
          <a:prstGeom prst="rect">
            <a:avLst/>
          </a:prstGeom>
        </p:spPr>
      </p:pic>
      <p:pic>
        <p:nvPicPr>
          <p:cNvPr id="10" name="Bilde 9">
            <a:extLst>
              <a:ext uri="{FF2B5EF4-FFF2-40B4-BE49-F238E27FC236}">
                <a16:creationId xmlns:a16="http://schemas.microsoft.com/office/drawing/2014/main" id="{3D4C38CC-D0B2-F127-7CB8-D42C3E52493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27201" y="2830007"/>
            <a:ext cx="2183241" cy="810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272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1"/>
          <p:cNvSpPr txBox="1">
            <a:spLocks noGrp="1"/>
          </p:cNvSpPr>
          <p:nvPr>
            <p:ph type="body" idx="1"/>
          </p:nvPr>
        </p:nvSpPr>
        <p:spPr>
          <a:xfrm>
            <a:off x="791570" y="1269077"/>
            <a:ext cx="5304430" cy="5588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lang="nb-NO" sz="2200" dirty="0"/>
              <a:t>CESSDA </a:t>
            </a:r>
            <a:r>
              <a:rPr lang="nb-NO" sz="2200" dirty="0" err="1"/>
              <a:t>was</a:t>
            </a:r>
            <a:r>
              <a:rPr lang="nb-NO" sz="2200" dirty="0"/>
              <a:t> </a:t>
            </a:r>
            <a:r>
              <a:rPr lang="nb-NO" sz="2200" dirty="0" err="1"/>
              <a:t>established</a:t>
            </a:r>
            <a:r>
              <a:rPr lang="nb-NO" sz="2200" dirty="0"/>
              <a:t> in June 2013, </a:t>
            </a:r>
            <a:r>
              <a:rPr lang="nb-NO" sz="2200" dirty="0" err="1"/>
              <a:t>owned</a:t>
            </a:r>
            <a:r>
              <a:rPr lang="nb-NO" sz="2200" dirty="0"/>
              <a:t> and </a:t>
            </a:r>
            <a:r>
              <a:rPr lang="nb-NO" sz="2200" dirty="0" err="1"/>
              <a:t>financed</a:t>
            </a:r>
            <a:r>
              <a:rPr lang="nb-NO" sz="2200" dirty="0"/>
              <a:t> by </a:t>
            </a:r>
            <a:r>
              <a:rPr lang="nb-NO" sz="2200" dirty="0" err="1"/>
              <a:t>the</a:t>
            </a:r>
            <a:r>
              <a:rPr lang="nb-NO" sz="2200" dirty="0"/>
              <a:t> </a:t>
            </a:r>
            <a:r>
              <a:rPr lang="nb-NO" sz="2200" dirty="0" err="1"/>
              <a:t>individual</a:t>
            </a:r>
            <a:r>
              <a:rPr lang="nb-NO" sz="2200" dirty="0"/>
              <a:t> </a:t>
            </a:r>
            <a:r>
              <a:rPr lang="nb-NO" sz="2200" dirty="0" err="1"/>
              <a:t>member</a:t>
            </a:r>
            <a:r>
              <a:rPr lang="nb-NO" sz="2200" dirty="0"/>
              <a:t> </a:t>
            </a:r>
            <a:r>
              <a:rPr lang="nb-NO" sz="2200" dirty="0" err="1"/>
              <a:t>state’s</a:t>
            </a:r>
            <a:r>
              <a:rPr lang="nb-NO" sz="2200" dirty="0"/>
              <a:t> </a:t>
            </a:r>
            <a:r>
              <a:rPr lang="nb-NO" sz="2200" dirty="0" err="1"/>
              <a:t>ministry</a:t>
            </a:r>
            <a:r>
              <a:rPr lang="nb-NO" sz="2200" dirty="0"/>
              <a:t> </a:t>
            </a:r>
            <a:r>
              <a:rPr lang="nb-NO" sz="2200" dirty="0" err="1"/>
              <a:t>of</a:t>
            </a:r>
            <a:r>
              <a:rPr lang="nb-NO" sz="2200" dirty="0"/>
              <a:t> </a:t>
            </a:r>
            <a:r>
              <a:rPr lang="nb-NO" sz="2200" dirty="0" err="1"/>
              <a:t>research</a:t>
            </a:r>
            <a:r>
              <a:rPr lang="nb-NO" sz="2200" dirty="0"/>
              <a:t> or a </a:t>
            </a:r>
            <a:r>
              <a:rPr lang="nb-NO" sz="2200" dirty="0" err="1"/>
              <a:t>delegated</a:t>
            </a:r>
            <a:r>
              <a:rPr lang="nb-NO" sz="2200" dirty="0"/>
              <a:t> </a:t>
            </a:r>
            <a:r>
              <a:rPr lang="nb-NO" sz="2200" dirty="0" err="1"/>
              <a:t>institution</a:t>
            </a:r>
            <a:r>
              <a:rPr lang="nb-NO" sz="2200" dirty="0"/>
              <a:t>.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endParaRPr lang="nb-NO" sz="22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lang="nb-NO" sz="2200" dirty="0"/>
              <a:t>CESSDA </a:t>
            </a:r>
            <a:r>
              <a:rPr lang="nb-NO" sz="2200" dirty="0" err="1"/>
              <a:t>was</a:t>
            </a:r>
            <a:r>
              <a:rPr lang="nb-NO" sz="2200" dirty="0"/>
              <a:t> </a:t>
            </a:r>
            <a:r>
              <a:rPr lang="nb-NO" sz="2200" dirty="0" err="1"/>
              <a:t>oficially</a:t>
            </a:r>
            <a:r>
              <a:rPr lang="nb-NO" sz="2200" dirty="0"/>
              <a:t> </a:t>
            </a:r>
            <a:r>
              <a:rPr lang="nb-NO" sz="2200" dirty="0" err="1"/>
              <a:t>launched</a:t>
            </a:r>
            <a:r>
              <a:rPr lang="nb-NO" sz="2200" dirty="0"/>
              <a:t> in </a:t>
            </a:r>
            <a:r>
              <a:rPr lang="nb-NO" sz="2200" dirty="0" err="1"/>
              <a:t>December</a:t>
            </a:r>
            <a:r>
              <a:rPr lang="nb-NO" sz="2200" dirty="0"/>
              <a:t> 2013.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endParaRPr lang="nb-NO" sz="22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lang="nb-NO" sz="2200" dirty="0"/>
              <a:t>In June 2017 it </a:t>
            </a:r>
            <a:r>
              <a:rPr lang="nb-NO" sz="2200" dirty="0" err="1"/>
              <a:t>became</a:t>
            </a:r>
            <a:r>
              <a:rPr lang="nb-NO" sz="2200" dirty="0"/>
              <a:t> an ERIC and </a:t>
            </a:r>
            <a:r>
              <a:rPr lang="nb-NO" sz="2200" dirty="0" err="1"/>
              <a:t>was</a:t>
            </a:r>
            <a:r>
              <a:rPr lang="nb-NO" sz="2200" dirty="0"/>
              <a:t> </a:t>
            </a:r>
            <a:r>
              <a:rPr lang="nb-NO" sz="2200" dirty="0" err="1"/>
              <a:t>established</a:t>
            </a:r>
            <a:r>
              <a:rPr lang="nb-NO" sz="2200" dirty="0"/>
              <a:t> as CESSDA ERIC.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endParaRPr lang="nb-NO" sz="22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lang="nb-NO" sz="2200" dirty="0"/>
              <a:t>The </a:t>
            </a:r>
            <a:r>
              <a:rPr lang="nb-NO" sz="2200" dirty="0" err="1"/>
              <a:t>main</a:t>
            </a:r>
            <a:r>
              <a:rPr lang="nb-NO" sz="2200" dirty="0"/>
              <a:t> </a:t>
            </a:r>
            <a:r>
              <a:rPr lang="nb-NO" sz="2200" dirty="0" err="1"/>
              <a:t>office</a:t>
            </a:r>
            <a:r>
              <a:rPr lang="nb-NO" sz="2200" dirty="0"/>
              <a:t> in Bergen, Norway is </a:t>
            </a:r>
            <a:r>
              <a:rPr lang="nb-NO" sz="2200" dirty="0" err="1"/>
              <a:t>the</a:t>
            </a:r>
            <a:r>
              <a:rPr lang="nb-NO" sz="2200" dirty="0"/>
              <a:t> </a:t>
            </a:r>
            <a:r>
              <a:rPr lang="nb-NO" sz="2200" dirty="0" err="1"/>
              <a:t>operational</a:t>
            </a:r>
            <a:r>
              <a:rPr lang="nb-NO" sz="2200" dirty="0"/>
              <a:t> </a:t>
            </a:r>
            <a:r>
              <a:rPr lang="nb-NO" sz="2200" dirty="0" err="1"/>
              <a:t>hub</a:t>
            </a:r>
            <a:r>
              <a:rPr lang="nb-NO" sz="2200" dirty="0"/>
              <a:t> and </a:t>
            </a:r>
            <a:r>
              <a:rPr lang="nb-NO" sz="2200" dirty="0" err="1"/>
              <a:t>coordinates</a:t>
            </a:r>
            <a:r>
              <a:rPr lang="nb-NO" sz="2200" dirty="0"/>
              <a:t> </a:t>
            </a:r>
            <a:r>
              <a:rPr lang="nb-NO" sz="2200" dirty="0" err="1"/>
              <a:t>activites</a:t>
            </a:r>
            <a:r>
              <a:rPr lang="nb-NO" sz="2200" dirty="0"/>
              <a:t> </a:t>
            </a:r>
            <a:r>
              <a:rPr lang="nb-NO" sz="2200" dirty="0" err="1"/>
              <a:t>carried</a:t>
            </a:r>
            <a:r>
              <a:rPr lang="nb-NO" sz="2200" dirty="0"/>
              <a:t> </a:t>
            </a:r>
            <a:r>
              <a:rPr lang="nb-NO" sz="2200" dirty="0" err="1"/>
              <a:t>out</a:t>
            </a:r>
            <a:r>
              <a:rPr lang="nb-NO" sz="2200" dirty="0"/>
              <a:t> </a:t>
            </a:r>
            <a:r>
              <a:rPr lang="nb-NO" sz="2200" dirty="0" err="1"/>
              <a:t>with</a:t>
            </a:r>
            <a:r>
              <a:rPr lang="nb-NO" sz="2200" dirty="0"/>
              <a:t> Service Providers.</a:t>
            </a:r>
            <a:endParaRPr sz="2200" dirty="0"/>
          </a:p>
        </p:txBody>
      </p:sp>
      <p:sp>
        <p:nvSpPr>
          <p:cNvPr id="194" name="Google Shape;194;p11"/>
          <p:cNvSpPr txBox="1">
            <a:spLocks noGrp="1"/>
          </p:cNvSpPr>
          <p:nvPr>
            <p:ph type="title"/>
          </p:nvPr>
        </p:nvSpPr>
        <p:spPr>
          <a:xfrm>
            <a:off x="791570" y="550764"/>
            <a:ext cx="4394200" cy="130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ahoma"/>
              <a:buNone/>
            </a:pPr>
            <a:r>
              <a:rPr lang="en-US" dirty="0"/>
              <a:t>CESSDA History</a:t>
            </a:r>
            <a:endParaRPr dirty="0"/>
          </a:p>
        </p:txBody>
      </p:sp>
      <p:pic>
        <p:nvPicPr>
          <p:cNvPr id="5" name="Bilde 4" descr="Et bilde som inneholder Font, logo, Grafikk, skjermbilde&#10;&#10;Automatisk generert beskrivelse">
            <a:extLst>
              <a:ext uri="{FF2B5EF4-FFF2-40B4-BE49-F238E27FC236}">
                <a16:creationId xmlns:a16="http://schemas.microsoft.com/office/drawing/2014/main" id="{00ABCE6C-E2D7-E53A-6BAC-7E74B5AF0E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820" y="1269077"/>
            <a:ext cx="4495809" cy="2528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418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ekst 1">
            <a:extLst>
              <a:ext uri="{FF2B5EF4-FFF2-40B4-BE49-F238E27FC236}">
                <a16:creationId xmlns:a16="http://schemas.microsoft.com/office/drawing/2014/main" id="{9934067C-60D4-9355-1A34-371BC52CE6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64928" y="2114332"/>
            <a:ext cx="4927072" cy="3182261"/>
          </a:xfrm>
        </p:spPr>
        <p:txBody>
          <a:bodyPr/>
          <a:lstStyle/>
          <a:p>
            <a:r>
              <a:rPr lang="en-US" sz="2000" dirty="0"/>
              <a:t>CESSDA actively contributes to the digital future of Europe through project partnerships and collaboration with social scientific communities and other ERICs.</a:t>
            </a:r>
            <a:endParaRPr lang="nb-NO" sz="2000" dirty="0"/>
          </a:p>
        </p:txBody>
      </p:sp>
      <p:sp>
        <p:nvSpPr>
          <p:cNvPr id="3" name="Tittel 2">
            <a:extLst>
              <a:ext uri="{FF2B5EF4-FFF2-40B4-BE49-F238E27FC236}">
                <a16:creationId xmlns:a16="http://schemas.microsoft.com/office/drawing/2014/main" id="{FE346DBB-1606-CE3C-55DA-E00910DF8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850" y="187312"/>
            <a:ext cx="8598215" cy="731225"/>
          </a:xfrm>
        </p:spPr>
        <p:txBody>
          <a:bodyPr/>
          <a:lstStyle/>
          <a:p>
            <a:r>
              <a:rPr lang="nb-NO" dirty="0"/>
              <a:t>CESSDA Development &amp; </a:t>
            </a:r>
            <a:r>
              <a:rPr lang="nb-NO" dirty="0" err="1"/>
              <a:t>Impact</a:t>
            </a:r>
            <a:endParaRPr lang="nb-NO" dirty="0"/>
          </a:p>
        </p:txBody>
      </p:sp>
      <p:pic>
        <p:nvPicPr>
          <p:cNvPr id="4" name="Bilde 3">
            <a:extLst>
              <a:ext uri="{FF2B5EF4-FFF2-40B4-BE49-F238E27FC236}">
                <a16:creationId xmlns:a16="http://schemas.microsoft.com/office/drawing/2014/main" id="{00B4942F-ECD9-5A4C-A01D-E260834028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755" y="1218126"/>
            <a:ext cx="6425173" cy="5639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511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1"/>
          <p:cNvSpPr txBox="1">
            <a:spLocks noGrp="1"/>
          </p:cNvSpPr>
          <p:nvPr>
            <p:ph type="body" idx="1"/>
          </p:nvPr>
        </p:nvSpPr>
        <p:spPr>
          <a:xfrm>
            <a:off x="723520" y="2321960"/>
            <a:ext cx="4394432" cy="3750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-GB" sz="1800" dirty="0"/>
              <a:t>CESSDA provides several services and tools for the research community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endParaRPr lang="nb-NO" sz="1800" dirty="0"/>
          </a:p>
        </p:txBody>
      </p:sp>
      <p:sp>
        <p:nvSpPr>
          <p:cNvPr id="194" name="Google Shape;194;p11"/>
          <p:cNvSpPr txBox="1">
            <a:spLocks noGrp="1"/>
          </p:cNvSpPr>
          <p:nvPr>
            <p:ph type="title"/>
          </p:nvPr>
        </p:nvSpPr>
        <p:spPr>
          <a:xfrm>
            <a:off x="723520" y="540552"/>
            <a:ext cx="4394200" cy="130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ahoma"/>
              <a:buNone/>
            </a:pPr>
            <a:r>
              <a:rPr lang="en-US" dirty="0"/>
              <a:t>CESSDA Services &amp; Tools</a:t>
            </a:r>
            <a:endParaRPr dirty="0"/>
          </a:p>
        </p:txBody>
      </p:sp>
      <p:pic>
        <p:nvPicPr>
          <p:cNvPr id="2" name="Bilde 1">
            <a:extLst>
              <a:ext uri="{FF2B5EF4-FFF2-40B4-BE49-F238E27FC236}">
                <a16:creationId xmlns:a16="http://schemas.microsoft.com/office/drawing/2014/main" id="{B7DE6DB7-FACF-5DEB-3717-DFC63C77C4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9696" y="0"/>
            <a:ext cx="70917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808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1"/>
          <p:cNvSpPr txBox="1">
            <a:spLocks noGrp="1"/>
          </p:cNvSpPr>
          <p:nvPr>
            <p:ph type="body" idx="1"/>
          </p:nvPr>
        </p:nvSpPr>
        <p:spPr>
          <a:xfrm>
            <a:off x="725486" y="1965936"/>
            <a:ext cx="4394432" cy="3750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GB" sz="1800" dirty="0">
                <a:latin typeface="Tahoma"/>
                <a:ea typeface="Tahoma"/>
                <a:cs typeface="Tahoma"/>
              </a:rPr>
              <a:t>The CESSDA Data Catalogue is a service that enables discovery and dissemination of metadata records from CESSDA Service Providers</a:t>
            </a:r>
          </a:p>
          <a:p>
            <a:r>
              <a:rPr lang="en-GB" sz="1800" dirty="0"/>
              <a:t>It contains descriptions of the more than 40,000 data collections held by the SPs</a:t>
            </a:r>
          </a:p>
          <a:p>
            <a:r>
              <a:rPr lang="en-GB" sz="1800" dirty="0">
                <a:latin typeface="Tahoma"/>
                <a:ea typeface="Tahoma"/>
                <a:cs typeface="Tahoma"/>
              </a:rPr>
              <a:t>Datasets com</a:t>
            </a:r>
            <a:r>
              <a:rPr lang="en-GB" sz="1800" dirty="0"/>
              <a:t>e from over 20 European countries</a:t>
            </a:r>
          </a:p>
          <a:p>
            <a:r>
              <a:rPr lang="en-GB" sz="1800" dirty="0">
                <a:latin typeface="Tahoma"/>
                <a:ea typeface="Tahoma"/>
                <a:cs typeface="Tahoma"/>
              </a:rPr>
              <a:t>Metadata is primarily available in English or Service Provider language – some records have both</a:t>
            </a:r>
          </a:p>
          <a:p>
            <a:endParaRPr lang="en-GB" sz="1800" dirty="0">
              <a:latin typeface="Tahoma"/>
              <a:ea typeface="Tahoma"/>
              <a:cs typeface="Tahoma"/>
            </a:endParaRPr>
          </a:p>
        </p:txBody>
      </p:sp>
      <p:sp>
        <p:nvSpPr>
          <p:cNvPr id="194" name="Google Shape;194;p11"/>
          <p:cNvSpPr txBox="1">
            <a:spLocks noGrp="1"/>
          </p:cNvSpPr>
          <p:nvPr>
            <p:ph type="title"/>
          </p:nvPr>
        </p:nvSpPr>
        <p:spPr>
          <a:xfrm>
            <a:off x="1089280" y="540552"/>
            <a:ext cx="4394200" cy="130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ahoma"/>
              <a:buNone/>
            </a:pPr>
            <a:r>
              <a:rPr lang="en-US" dirty="0"/>
              <a:t>CESSDA Data Catalogue (CDC)</a:t>
            </a:r>
            <a:endParaRPr dirty="0"/>
          </a:p>
        </p:txBody>
      </p:sp>
      <p:pic>
        <p:nvPicPr>
          <p:cNvPr id="5" name="Bilde 4">
            <a:extLst>
              <a:ext uri="{FF2B5EF4-FFF2-40B4-BE49-F238E27FC236}">
                <a16:creationId xmlns:a16="http://schemas.microsoft.com/office/drawing/2014/main" id="{AA48450C-6DD6-5DE8-1AE2-D793676B1F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4677" y="540552"/>
            <a:ext cx="7065883" cy="612549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ekst 1">
            <a:extLst>
              <a:ext uri="{FF2B5EF4-FFF2-40B4-BE49-F238E27FC236}">
                <a16:creationId xmlns:a16="http://schemas.microsoft.com/office/drawing/2014/main" id="{DFC6AEE4-4ABD-CAE6-05F6-AB4B53E92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6850" y="2114332"/>
            <a:ext cx="9728790" cy="3182261"/>
          </a:xfrm>
        </p:spPr>
        <p:txBody>
          <a:bodyPr/>
          <a:lstStyle/>
          <a:p>
            <a:r>
              <a:rPr lang="en-GB" sz="2400" dirty="0"/>
              <a:t>Developed and maintained by: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en-GB" sz="2400" dirty="0"/>
              <a:t>Service owner – Sikt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en-GB" sz="2400" dirty="0"/>
              <a:t>Technical maintainer – Finnish Social Science Data Archive (FSD)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en-GB" sz="2400" dirty="0"/>
              <a:t>CESSDA Main Office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en-GB" sz="2400" dirty="0"/>
              <a:t>CESSDA Data Catalogue User Group – members from different SPs – provide input and discuss development of CDC</a:t>
            </a:r>
          </a:p>
          <a:p>
            <a:endParaRPr lang="nb-NO" sz="2400" dirty="0"/>
          </a:p>
        </p:txBody>
      </p:sp>
      <p:sp>
        <p:nvSpPr>
          <p:cNvPr id="3" name="Tittel 2">
            <a:extLst>
              <a:ext uri="{FF2B5EF4-FFF2-40B4-BE49-F238E27FC236}">
                <a16:creationId xmlns:a16="http://schemas.microsoft.com/office/drawing/2014/main" id="{DAA253DA-9F9A-63F2-79B4-BDB530EF9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CESSDA Data </a:t>
            </a:r>
            <a:r>
              <a:rPr lang="nb-NO" dirty="0" err="1"/>
              <a:t>Catalogue</a:t>
            </a:r>
            <a:r>
              <a:rPr lang="nb-NO" dirty="0"/>
              <a:t> (CDC)</a:t>
            </a:r>
          </a:p>
        </p:txBody>
      </p:sp>
    </p:spTree>
    <p:extLst>
      <p:ext uri="{BB962C8B-B14F-4D97-AF65-F5344CB8AC3E}">
        <p14:creationId xmlns:p14="http://schemas.microsoft.com/office/powerpoint/2010/main" val="29676939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"/>
          <p:cNvSpPr txBox="1">
            <a:spLocks noGrp="1"/>
          </p:cNvSpPr>
          <p:nvPr>
            <p:ph type="body" idx="1"/>
          </p:nvPr>
        </p:nvSpPr>
        <p:spPr>
          <a:xfrm>
            <a:off x="1106851" y="1814808"/>
            <a:ext cx="5908098" cy="4035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GB"/>
              <a:t>Multilingual text search across all metadata provided by SPs 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endParaRPr lang="en-GB" dirty="0"/>
          </a:p>
          <a:p>
            <a:pPr marL="0" lvl="0" indent="0">
              <a:spcBef>
                <a:spcPts val="0"/>
              </a:spcBef>
            </a:pPr>
            <a:r>
              <a:rPr lang="en-GB" dirty="0"/>
              <a:t>Can sort search results using:</a:t>
            </a:r>
          </a:p>
          <a:p>
            <a:pPr lvl="0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dirty="0"/>
              <a:t>Relevance</a:t>
            </a:r>
          </a:p>
          <a:p>
            <a:pPr lvl="0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dirty="0"/>
              <a:t>Title</a:t>
            </a:r>
          </a:p>
          <a:p>
            <a:pPr lvl="0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dirty="0"/>
              <a:t>Date of collection</a:t>
            </a:r>
          </a:p>
          <a:p>
            <a:pPr lvl="0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dirty="0"/>
              <a:t>Date of publication</a:t>
            </a:r>
          </a:p>
        </p:txBody>
      </p:sp>
      <p:sp>
        <p:nvSpPr>
          <p:cNvPr id="188" name="Google Shape;188;p10"/>
          <p:cNvSpPr txBox="1">
            <a:spLocks noGrp="1"/>
          </p:cNvSpPr>
          <p:nvPr>
            <p:ph type="title"/>
          </p:nvPr>
        </p:nvSpPr>
        <p:spPr>
          <a:xfrm>
            <a:off x="1106851" y="597376"/>
            <a:ext cx="8598215" cy="731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Tahoma"/>
              <a:buNone/>
            </a:pPr>
            <a:r>
              <a:rPr lang="en-US" dirty="0"/>
              <a:t>How does the catalogue work?</a:t>
            </a:r>
            <a:endParaRPr dirty="0"/>
          </a:p>
        </p:txBody>
      </p:sp>
      <p:pic>
        <p:nvPicPr>
          <p:cNvPr id="5" name="Bilde 4">
            <a:extLst>
              <a:ext uri="{FF2B5EF4-FFF2-40B4-BE49-F238E27FC236}">
                <a16:creationId xmlns:a16="http://schemas.microsoft.com/office/drawing/2014/main" id="{2E1F1444-FBE3-BFA2-96A0-2CF2499601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6459" y="2237754"/>
            <a:ext cx="4904096" cy="2117838"/>
          </a:xfrm>
          <a:prstGeom prst="rect">
            <a:avLst/>
          </a:prstGeom>
        </p:spPr>
      </p:pic>
      <p:pic>
        <p:nvPicPr>
          <p:cNvPr id="7" name="Bilde 6">
            <a:extLst>
              <a:ext uri="{FF2B5EF4-FFF2-40B4-BE49-F238E27FC236}">
                <a16:creationId xmlns:a16="http://schemas.microsoft.com/office/drawing/2014/main" id="{EB99E4D2-F90B-BC7A-66DD-62FCDFF924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5890" y="2237754"/>
            <a:ext cx="5024665" cy="361210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"/>
          <p:cNvSpPr txBox="1">
            <a:spLocks noGrp="1"/>
          </p:cNvSpPr>
          <p:nvPr>
            <p:ph type="body" idx="1"/>
          </p:nvPr>
        </p:nvSpPr>
        <p:spPr>
          <a:xfrm>
            <a:off x="1106851" y="1814808"/>
            <a:ext cx="4734391" cy="4035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dirty="0"/>
              <a:t>Can filter search results based on:</a:t>
            </a:r>
          </a:p>
          <a:p>
            <a:pPr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 panose="020B0604020202020204" pitchFamily="34" charset="0"/>
              <a:buChar char="•"/>
            </a:pPr>
            <a:r>
              <a:rPr lang="en-US" dirty="0"/>
              <a:t>Topic (CESSDA Topic classification)</a:t>
            </a:r>
          </a:p>
          <a:p>
            <a:pPr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 panose="020B0604020202020204" pitchFamily="34" charset="0"/>
              <a:buChar char="•"/>
            </a:pPr>
            <a:r>
              <a:rPr lang="en-US" dirty="0"/>
              <a:t>Keywords</a:t>
            </a:r>
          </a:p>
          <a:p>
            <a:pPr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 panose="020B0604020202020204" pitchFamily="34" charset="0"/>
              <a:buChar char="•"/>
            </a:pPr>
            <a:r>
              <a:rPr lang="en-US" dirty="0"/>
              <a:t>Collection years</a:t>
            </a:r>
          </a:p>
          <a:p>
            <a:pPr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 panose="020B0604020202020204" pitchFamily="34" charset="0"/>
              <a:buChar char="•"/>
            </a:pPr>
            <a:r>
              <a:rPr lang="en-US" dirty="0"/>
              <a:t>Country</a:t>
            </a:r>
          </a:p>
          <a:p>
            <a:pPr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 panose="020B0604020202020204" pitchFamily="34" charset="0"/>
              <a:buChar char="•"/>
            </a:pPr>
            <a:r>
              <a:rPr lang="en-US" dirty="0"/>
              <a:t>Publisher</a:t>
            </a:r>
          </a:p>
        </p:txBody>
      </p:sp>
      <p:sp>
        <p:nvSpPr>
          <p:cNvPr id="188" name="Google Shape;188;p10"/>
          <p:cNvSpPr txBox="1">
            <a:spLocks noGrp="1"/>
          </p:cNvSpPr>
          <p:nvPr>
            <p:ph type="title"/>
          </p:nvPr>
        </p:nvSpPr>
        <p:spPr>
          <a:xfrm>
            <a:off x="1106851" y="597376"/>
            <a:ext cx="8598215" cy="731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Tahoma"/>
              <a:buNone/>
            </a:pPr>
            <a:r>
              <a:rPr lang="en-US" dirty="0"/>
              <a:t>How does the catalogue work?</a:t>
            </a:r>
            <a:endParaRPr dirty="0"/>
          </a:p>
        </p:txBody>
      </p:sp>
      <p:pic>
        <p:nvPicPr>
          <p:cNvPr id="6" name="Bilde 5">
            <a:extLst>
              <a:ext uri="{FF2B5EF4-FFF2-40B4-BE49-F238E27FC236}">
                <a16:creationId xmlns:a16="http://schemas.microsoft.com/office/drawing/2014/main" id="{4B039C12-18CF-040E-77DB-F1DF7BD527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5457" y="1236030"/>
            <a:ext cx="6601040" cy="5621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7325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2"/>
          <p:cNvSpPr txBox="1">
            <a:spLocks noGrp="1"/>
          </p:cNvSpPr>
          <p:nvPr>
            <p:ph type="body" idx="1"/>
          </p:nvPr>
        </p:nvSpPr>
        <p:spPr>
          <a:xfrm>
            <a:off x="627263" y="1185464"/>
            <a:ext cx="3868982" cy="4681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1800" dirty="0"/>
              <a:t>All studies have </a:t>
            </a:r>
            <a:r>
              <a:rPr lang="en-GB" sz="1800" b="1" dirty="0"/>
              <a:t>rich descriptions </a:t>
            </a:r>
            <a:r>
              <a:rPr lang="en-GB" sz="1800" dirty="0"/>
              <a:t>provided by Service Providers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800" dirty="0"/>
              <a:t>A list of similar results is also provided, that span across </a:t>
            </a:r>
            <a:r>
              <a:rPr lang="en-GB" sz="1800" b="1" dirty="0"/>
              <a:t>all Service Providers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800" dirty="0"/>
              <a:t>Users can </a:t>
            </a:r>
            <a:r>
              <a:rPr lang="en-GB" sz="1800" b="1" dirty="0"/>
              <a:t>explore topics and keywords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800" dirty="0"/>
              <a:t>Every record provides a link to the Service Providers webpage where the data is located and can be accessed</a:t>
            </a:r>
          </a:p>
        </p:txBody>
      </p:sp>
      <p:sp>
        <p:nvSpPr>
          <p:cNvPr id="201" name="Google Shape;201;p12"/>
          <p:cNvSpPr txBox="1">
            <a:spLocks noGrp="1"/>
          </p:cNvSpPr>
          <p:nvPr>
            <p:ph type="title"/>
          </p:nvPr>
        </p:nvSpPr>
        <p:spPr>
          <a:xfrm>
            <a:off x="627263" y="426076"/>
            <a:ext cx="4394200" cy="130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ahoma"/>
              <a:buNone/>
            </a:pPr>
            <a:r>
              <a:rPr lang="en-US" sz="3600" dirty="0"/>
              <a:t>What can you find?</a:t>
            </a:r>
            <a:endParaRPr sz="3600" dirty="0"/>
          </a:p>
        </p:txBody>
      </p:sp>
      <p:pic>
        <p:nvPicPr>
          <p:cNvPr id="2" name="Bilde 1">
            <a:extLst>
              <a:ext uri="{FF2B5EF4-FFF2-40B4-BE49-F238E27FC236}">
                <a16:creationId xmlns:a16="http://schemas.microsoft.com/office/drawing/2014/main" id="{942091BE-5BFD-7C98-5C14-464A0FD589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4840" y="313901"/>
            <a:ext cx="6117160" cy="3777840"/>
          </a:xfrm>
          <a:prstGeom prst="rect">
            <a:avLst/>
          </a:prstGeom>
        </p:spPr>
      </p:pic>
      <p:pic>
        <p:nvPicPr>
          <p:cNvPr id="8" name="Bilde 7">
            <a:extLst>
              <a:ext uri="{FF2B5EF4-FFF2-40B4-BE49-F238E27FC236}">
                <a16:creationId xmlns:a16="http://schemas.microsoft.com/office/drawing/2014/main" id="{CAB9D4B0-6265-ADF9-8FE0-CD56A5DEF2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6120" y="2159789"/>
            <a:ext cx="3833857" cy="4384310"/>
          </a:xfrm>
          <a:prstGeom prst="rect">
            <a:avLst/>
          </a:prstGeom>
        </p:spPr>
      </p:pic>
      <p:pic>
        <p:nvPicPr>
          <p:cNvPr id="6" name="Bilde 5">
            <a:extLst>
              <a:ext uri="{FF2B5EF4-FFF2-40B4-BE49-F238E27FC236}">
                <a16:creationId xmlns:a16="http://schemas.microsoft.com/office/drawing/2014/main" id="{62D6A07D-66C5-1956-5A6B-3449E06CAC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9183" y="4253010"/>
            <a:ext cx="5692817" cy="1645323"/>
          </a:xfrm>
          <a:prstGeom prst="rect">
            <a:avLst/>
          </a:prstGeom>
        </p:spPr>
      </p:pic>
      <p:sp>
        <p:nvSpPr>
          <p:cNvPr id="9" name="Rektangel 8">
            <a:extLst>
              <a:ext uri="{FF2B5EF4-FFF2-40B4-BE49-F238E27FC236}">
                <a16:creationId xmlns:a16="http://schemas.microsoft.com/office/drawing/2014/main" id="{FD9ECCC0-1681-8725-D5C5-5DDDCFBA29B2}"/>
              </a:ext>
            </a:extLst>
          </p:cNvPr>
          <p:cNvSpPr/>
          <p:nvPr/>
        </p:nvSpPr>
        <p:spPr>
          <a:xfrm>
            <a:off x="8059977" y="545910"/>
            <a:ext cx="1261444" cy="204717"/>
          </a:xfrm>
          <a:prstGeom prst="rect">
            <a:avLst/>
          </a:prstGeom>
          <a:noFill/>
          <a:ln w="38100">
            <a:solidFill>
              <a:srgbClr val="6114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55C109F2-5001-0160-3B34-093AAB54E1E8}"/>
              </a:ext>
            </a:extLst>
          </p:cNvPr>
          <p:cNvSpPr/>
          <p:nvPr/>
        </p:nvSpPr>
        <p:spPr>
          <a:xfrm>
            <a:off x="4145931" y="2100462"/>
            <a:ext cx="1261444" cy="204717"/>
          </a:xfrm>
          <a:prstGeom prst="rect">
            <a:avLst/>
          </a:prstGeom>
          <a:noFill/>
          <a:ln w="38100">
            <a:solidFill>
              <a:srgbClr val="6114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2E7A97C0-4625-7727-0AE8-E07CDC967C6E}"/>
              </a:ext>
            </a:extLst>
          </p:cNvPr>
          <p:cNvSpPr/>
          <p:nvPr/>
        </p:nvSpPr>
        <p:spPr>
          <a:xfrm>
            <a:off x="4146172" y="4804995"/>
            <a:ext cx="1261444" cy="204717"/>
          </a:xfrm>
          <a:prstGeom prst="rect">
            <a:avLst/>
          </a:prstGeom>
          <a:noFill/>
          <a:ln w="38100">
            <a:solidFill>
              <a:srgbClr val="6114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Rektangel 11">
            <a:extLst>
              <a:ext uri="{FF2B5EF4-FFF2-40B4-BE49-F238E27FC236}">
                <a16:creationId xmlns:a16="http://schemas.microsoft.com/office/drawing/2014/main" id="{779E700D-B93C-1AEF-AB85-860A3FC1A3D3}"/>
              </a:ext>
            </a:extLst>
          </p:cNvPr>
          <p:cNvSpPr/>
          <p:nvPr/>
        </p:nvSpPr>
        <p:spPr>
          <a:xfrm>
            <a:off x="4174767" y="6151431"/>
            <a:ext cx="1261444" cy="204717"/>
          </a:xfrm>
          <a:prstGeom prst="rect">
            <a:avLst/>
          </a:prstGeom>
          <a:noFill/>
          <a:ln w="38100">
            <a:solidFill>
              <a:srgbClr val="6114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" name="Rektangel 12">
            <a:extLst>
              <a:ext uri="{FF2B5EF4-FFF2-40B4-BE49-F238E27FC236}">
                <a16:creationId xmlns:a16="http://schemas.microsoft.com/office/drawing/2014/main" id="{5435626F-DE5F-563F-5364-416256BE3771}"/>
              </a:ext>
            </a:extLst>
          </p:cNvPr>
          <p:cNvSpPr/>
          <p:nvPr/>
        </p:nvSpPr>
        <p:spPr>
          <a:xfrm>
            <a:off x="6037104" y="225190"/>
            <a:ext cx="1261444" cy="204717"/>
          </a:xfrm>
          <a:prstGeom prst="rect">
            <a:avLst/>
          </a:prstGeom>
          <a:noFill/>
          <a:ln w="38100">
            <a:solidFill>
              <a:srgbClr val="6114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" name="Rektangel 13">
            <a:extLst>
              <a:ext uri="{FF2B5EF4-FFF2-40B4-BE49-F238E27FC236}">
                <a16:creationId xmlns:a16="http://schemas.microsoft.com/office/drawing/2014/main" id="{CF1C37B0-B4A6-5416-7723-23B8B556A956}"/>
              </a:ext>
            </a:extLst>
          </p:cNvPr>
          <p:cNvSpPr/>
          <p:nvPr/>
        </p:nvSpPr>
        <p:spPr>
          <a:xfrm>
            <a:off x="6416514" y="4351944"/>
            <a:ext cx="1261444" cy="204717"/>
          </a:xfrm>
          <a:prstGeom prst="rect">
            <a:avLst/>
          </a:prstGeom>
          <a:noFill/>
          <a:ln w="38100">
            <a:solidFill>
              <a:srgbClr val="6114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5" name="Rektangel 14">
            <a:extLst>
              <a:ext uri="{FF2B5EF4-FFF2-40B4-BE49-F238E27FC236}">
                <a16:creationId xmlns:a16="http://schemas.microsoft.com/office/drawing/2014/main" id="{5260B12C-7E36-643B-E839-E33BB7202031}"/>
              </a:ext>
            </a:extLst>
          </p:cNvPr>
          <p:cNvSpPr/>
          <p:nvPr/>
        </p:nvSpPr>
        <p:spPr>
          <a:xfrm>
            <a:off x="6416514" y="5009712"/>
            <a:ext cx="1261444" cy="204717"/>
          </a:xfrm>
          <a:prstGeom prst="rect">
            <a:avLst/>
          </a:prstGeom>
          <a:noFill/>
          <a:ln w="38100">
            <a:solidFill>
              <a:srgbClr val="6114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" name="Rektangel 15">
            <a:extLst>
              <a:ext uri="{FF2B5EF4-FFF2-40B4-BE49-F238E27FC236}">
                <a16:creationId xmlns:a16="http://schemas.microsoft.com/office/drawing/2014/main" id="{CF0C3C5C-43DC-1A2E-70E4-D8A295205F49}"/>
              </a:ext>
            </a:extLst>
          </p:cNvPr>
          <p:cNvSpPr/>
          <p:nvPr/>
        </p:nvSpPr>
        <p:spPr>
          <a:xfrm>
            <a:off x="8136611" y="259975"/>
            <a:ext cx="651540" cy="204717"/>
          </a:xfrm>
          <a:prstGeom prst="rect">
            <a:avLst/>
          </a:prstGeom>
          <a:noFill/>
          <a:ln w="38100">
            <a:solidFill>
              <a:srgbClr val="6114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2">
            <a:extLst>
              <a:ext uri="{FF2B5EF4-FFF2-40B4-BE49-F238E27FC236}">
                <a16:creationId xmlns:a16="http://schemas.microsoft.com/office/drawing/2014/main" id="{695D3ED3-124E-BDB6-6B45-057AFF743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dirty="0"/>
              <a:t>Access CDC from Google </a:t>
            </a:r>
            <a:r>
              <a:rPr lang="nb-NO" dirty="0" err="1"/>
              <a:t>Dataset</a:t>
            </a:r>
            <a:r>
              <a:rPr lang="nb-NO" dirty="0"/>
              <a:t> </a:t>
            </a:r>
            <a:r>
              <a:rPr lang="nb-NO" dirty="0" err="1"/>
              <a:t>Search</a:t>
            </a:r>
            <a:endParaRPr lang="nb-NO" dirty="0"/>
          </a:p>
        </p:txBody>
      </p:sp>
      <p:pic>
        <p:nvPicPr>
          <p:cNvPr id="4" name="Bilde 3">
            <a:extLst>
              <a:ext uri="{FF2B5EF4-FFF2-40B4-BE49-F238E27FC236}">
                <a16:creationId xmlns:a16="http://schemas.microsoft.com/office/drawing/2014/main" id="{E1205FF9-5D0A-6BE5-0662-DB1E4F165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670" y="1714077"/>
            <a:ext cx="6812183" cy="3760893"/>
          </a:xfrm>
          <a:prstGeom prst="rect">
            <a:avLst/>
          </a:prstGeom>
        </p:spPr>
      </p:pic>
      <p:sp>
        <p:nvSpPr>
          <p:cNvPr id="5" name="Rektangel 4">
            <a:extLst>
              <a:ext uri="{FF2B5EF4-FFF2-40B4-BE49-F238E27FC236}">
                <a16:creationId xmlns:a16="http://schemas.microsoft.com/office/drawing/2014/main" id="{E50E9AEB-31B0-42BF-EF00-CEC07AFC197E}"/>
              </a:ext>
            </a:extLst>
          </p:cNvPr>
          <p:cNvSpPr/>
          <p:nvPr/>
        </p:nvSpPr>
        <p:spPr>
          <a:xfrm>
            <a:off x="4976334" y="2949709"/>
            <a:ext cx="1413036" cy="311907"/>
          </a:xfrm>
          <a:prstGeom prst="rect">
            <a:avLst/>
          </a:prstGeom>
          <a:noFill/>
          <a:ln w="38100">
            <a:solidFill>
              <a:srgbClr val="6114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7" name="Bilde 6">
            <a:extLst>
              <a:ext uri="{FF2B5EF4-FFF2-40B4-BE49-F238E27FC236}">
                <a16:creationId xmlns:a16="http://schemas.microsoft.com/office/drawing/2014/main" id="{442C5E65-0FDF-7457-73ED-C4F0F5F0B9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0744" y="2423032"/>
            <a:ext cx="3720586" cy="3081648"/>
          </a:xfrm>
          <a:prstGeom prst="rect">
            <a:avLst/>
          </a:prstGeom>
        </p:spPr>
      </p:pic>
      <p:cxnSp>
        <p:nvCxnSpPr>
          <p:cNvPr id="9" name="Rett pilkobling 8">
            <a:extLst>
              <a:ext uri="{FF2B5EF4-FFF2-40B4-BE49-F238E27FC236}">
                <a16:creationId xmlns:a16="http://schemas.microsoft.com/office/drawing/2014/main" id="{C6F5A45C-3F13-E0D5-E4DF-DD702BCA6AFF}"/>
              </a:ext>
            </a:extLst>
          </p:cNvPr>
          <p:cNvCxnSpPr>
            <a:cxnSpLocks/>
          </p:cNvCxnSpPr>
          <p:nvPr/>
        </p:nvCxnSpPr>
        <p:spPr>
          <a:xfrm>
            <a:off x="6507480" y="3124200"/>
            <a:ext cx="739140" cy="0"/>
          </a:xfrm>
          <a:prstGeom prst="straightConnector1">
            <a:avLst/>
          </a:prstGeom>
          <a:ln w="57150">
            <a:solidFill>
              <a:srgbClr val="61144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37499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1"/>
          <p:cNvSpPr txBox="1">
            <a:spLocks noGrp="1"/>
          </p:cNvSpPr>
          <p:nvPr>
            <p:ph type="body" idx="1"/>
          </p:nvPr>
        </p:nvSpPr>
        <p:spPr>
          <a:xfrm>
            <a:off x="381383" y="892530"/>
            <a:ext cx="5915954" cy="3750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GB" sz="1800" dirty="0"/>
              <a:t>The CESSDA Data Catalogue harvests metadata from Service Providers by connecting to the archive’s </a:t>
            </a:r>
            <a:r>
              <a:rPr lang="en-GB" sz="1800" b="1" dirty="0"/>
              <a:t>endpoints</a:t>
            </a:r>
          </a:p>
          <a:p>
            <a:endParaRPr lang="en-GB" sz="1800" b="1" dirty="0"/>
          </a:p>
          <a:p>
            <a:r>
              <a:rPr lang="en-GB" sz="1800" dirty="0"/>
              <a:t>The metadata evaluated against metadata profiles by the CESSDA Metadata Validator</a:t>
            </a:r>
          </a:p>
          <a:p>
            <a:endParaRPr lang="en-GB" sz="1800" dirty="0"/>
          </a:p>
          <a:p>
            <a:r>
              <a:rPr lang="en-GB" sz="1800" dirty="0"/>
              <a:t>Metadata from Service Providers is made available for global catalogues through the CESSDA Data Catalogue endpoint</a:t>
            </a:r>
          </a:p>
          <a:p>
            <a:endParaRPr lang="en-GB" sz="1800" dirty="0"/>
          </a:p>
          <a:p>
            <a:r>
              <a:rPr lang="en-GB" sz="1800" dirty="0"/>
              <a:t>Variation of the requirements and structure of the global catalogues is handled by the CESSDA Aggregator</a:t>
            </a:r>
          </a:p>
          <a:p>
            <a:endParaRPr lang="en-GB" sz="1800" dirty="0"/>
          </a:p>
          <a:p>
            <a:r>
              <a:rPr lang="en-GB" sz="1800" dirty="0"/>
              <a:t>As long as Service Providers comply with the CESSDA Data Catalogue, they are automatically forwarded to the global data landscape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endParaRPr sz="1800" dirty="0"/>
          </a:p>
        </p:txBody>
      </p:sp>
      <p:sp>
        <p:nvSpPr>
          <p:cNvPr id="194" name="Google Shape;194;p11"/>
          <p:cNvSpPr txBox="1">
            <a:spLocks noGrp="1"/>
          </p:cNvSpPr>
          <p:nvPr>
            <p:ph type="title"/>
          </p:nvPr>
        </p:nvSpPr>
        <p:spPr>
          <a:xfrm>
            <a:off x="655109" y="253820"/>
            <a:ext cx="5915953" cy="130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ahoma"/>
              <a:buNone/>
            </a:pPr>
            <a:r>
              <a:rPr lang="en-US" dirty="0"/>
              <a:t>A pipeline for metadata</a:t>
            </a:r>
            <a:endParaRPr dirty="0"/>
          </a:p>
        </p:txBody>
      </p:sp>
      <p:pic>
        <p:nvPicPr>
          <p:cNvPr id="19" name="Bilde 18">
            <a:extLst>
              <a:ext uri="{FF2B5EF4-FFF2-40B4-BE49-F238E27FC236}">
                <a16:creationId xmlns:a16="http://schemas.microsoft.com/office/drawing/2014/main" id="{819917D5-7171-A5EA-0024-3097BC6F6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1062" y="1022886"/>
            <a:ext cx="5399500" cy="52616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"/>
          <p:cNvSpPr txBox="1">
            <a:spLocks noGrp="1"/>
          </p:cNvSpPr>
          <p:nvPr>
            <p:ph type="title"/>
          </p:nvPr>
        </p:nvSpPr>
        <p:spPr>
          <a:xfrm>
            <a:off x="1106851" y="597376"/>
            <a:ext cx="8598215" cy="731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ahoma"/>
              <a:buNone/>
            </a:pPr>
            <a:r>
              <a:rPr lang="en-US" dirty="0"/>
              <a:t>The European Language Social Science Thesaurus (ELSST) </a:t>
            </a:r>
            <a:endParaRPr lang="en-US" b="0" dirty="0"/>
          </a:p>
        </p:txBody>
      </p:sp>
      <p:sp>
        <p:nvSpPr>
          <p:cNvPr id="2" name="Google Shape;193;p11">
            <a:extLst>
              <a:ext uri="{FF2B5EF4-FFF2-40B4-BE49-F238E27FC236}">
                <a16:creationId xmlns:a16="http://schemas.microsoft.com/office/drawing/2014/main" id="{41074A41-4283-DDFA-1038-30DA6AF53293}"/>
              </a:ext>
            </a:extLst>
          </p:cNvPr>
          <p:cNvSpPr txBox="1">
            <a:spLocks/>
          </p:cNvSpPr>
          <p:nvPr/>
        </p:nvSpPr>
        <p:spPr>
          <a:xfrm>
            <a:off x="799838" y="1884422"/>
            <a:ext cx="5915954" cy="375006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457200" marR="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2800" b="0" i="0" u="none" strike="noStrike" kern="1200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2400" b="0" i="0" u="none" strike="noStrike" kern="1200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419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2000" b="0" i="0" u="none" strike="noStrike" kern="1200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400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1800" b="0" i="0" u="none" strike="noStrike" kern="1200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400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1800" b="0" i="0" u="none" strike="noStrike" kern="1200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kern="1200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kern="1200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kern="1200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kern="1200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US" sz="2400" dirty="0"/>
              <a:t>A multilingual thesaurus for the social sciences </a:t>
            </a:r>
          </a:p>
          <a:p>
            <a:endParaRPr lang="en-US" sz="2400" b="1" dirty="0"/>
          </a:p>
          <a:p>
            <a:r>
              <a:rPr lang="en-US" sz="2400" dirty="0"/>
              <a:t>Consists of over 3,300 concepts</a:t>
            </a:r>
          </a:p>
          <a:p>
            <a:endParaRPr lang="en-US" sz="2400" dirty="0"/>
          </a:p>
          <a:p>
            <a:r>
              <a:rPr lang="en-US" sz="2400" dirty="0"/>
              <a:t>Covers the core social science disciplines: politics, sociology, economics, education, law, crime, demography, health, employment, information and communication technology, and environmental science</a:t>
            </a:r>
          </a:p>
          <a:p>
            <a:endParaRPr lang="en-US" sz="2400" b="1" dirty="0"/>
          </a:p>
          <a:p>
            <a:pPr marL="0" indent="0"/>
            <a:endParaRPr lang="en-US" sz="2400" dirty="0"/>
          </a:p>
        </p:txBody>
      </p:sp>
      <p:pic>
        <p:nvPicPr>
          <p:cNvPr id="6" name="Bilde 5">
            <a:extLst>
              <a:ext uri="{FF2B5EF4-FFF2-40B4-BE49-F238E27FC236}">
                <a16:creationId xmlns:a16="http://schemas.microsoft.com/office/drawing/2014/main" id="{2B4AA074-A9CB-5D07-85ED-3FC0BEF17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526223"/>
            <a:ext cx="5584923" cy="288788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ekst 1">
            <a:extLst>
              <a:ext uri="{FF2B5EF4-FFF2-40B4-BE49-F238E27FC236}">
                <a16:creationId xmlns:a16="http://schemas.microsoft.com/office/drawing/2014/main" id="{A79DAC7F-94CB-1F09-1174-2FD81E3E5D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sz="2400" dirty="0" err="1"/>
              <a:t>Currently</a:t>
            </a:r>
            <a:r>
              <a:rPr lang="nb-NO" sz="2400" dirty="0"/>
              <a:t> </a:t>
            </a:r>
            <a:r>
              <a:rPr lang="nb-NO" sz="2400" dirty="0" err="1"/>
              <a:t>available</a:t>
            </a:r>
            <a:r>
              <a:rPr lang="nb-NO" sz="2400" dirty="0"/>
              <a:t> in 16 </a:t>
            </a:r>
            <a:r>
              <a:rPr lang="nb-NO" sz="2400" dirty="0" err="1"/>
              <a:t>languages</a:t>
            </a:r>
            <a:r>
              <a:rPr lang="nb-NO" sz="2400" dirty="0"/>
              <a:t>: Danish, Dutch, </a:t>
            </a:r>
            <a:r>
              <a:rPr lang="nb-NO" sz="2400" dirty="0" err="1"/>
              <a:t>Czech</a:t>
            </a:r>
            <a:r>
              <a:rPr lang="nb-NO" sz="2400" dirty="0"/>
              <a:t>, English, Finnish, French, </a:t>
            </a:r>
            <a:r>
              <a:rPr lang="nb-NO" sz="2400" dirty="0" err="1"/>
              <a:t>German</a:t>
            </a:r>
            <a:r>
              <a:rPr lang="nb-NO" sz="2400" dirty="0"/>
              <a:t>, </a:t>
            </a:r>
            <a:r>
              <a:rPr lang="nb-NO" sz="2400" dirty="0" err="1"/>
              <a:t>Greek</a:t>
            </a:r>
            <a:r>
              <a:rPr lang="nb-NO" sz="2400" dirty="0"/>
              <a:t>, </a:t>
            </a:r>
            <a:r>
              <a:rPr lang="nb-NO" sz="2400" dirty="0" err="1"/>
              <a:t>Hungarian</a:t>
            </a:r>
            <a:r>
              <a:rPr lang="nb-NO" sz="2400" dirty="0"/>
              <a:t>, </a:t>
            </a:r>
            <a:r>
              <a:rPr lang="nb-NO" sz="2400" dirty="0" err="1"/>
              <a:t>Icelandic</a:t>
            </a:r>
            <a:r>
              <a:rPr lang="nb-NO" sz="2400" dirty="0"/>
              <a:t>, </a:t>
            </a:r>
            <a:r>
              <a:rPr lang="nb-NO" sz="2400" dirty="0" err="1"/>
              <a:t>Lithuanian</a:t>
            </a:r>
            <a:r>
              <a:rPr lang="nb-NO" sz="2400" dirty="0"/>
              <a:t>, Norwegian, </a:t>
            </a:r>
            <a:r>
              <a:rPr lang="nb-NO" sz="2400" dirty="0" err="1"/>
              <a:t>Romanian</a:t>
            </a:r>
            <a:r>
              <a:rPr lang="nb-NO" sz="2400" dirty="0"/>
              <a:t>, </a:t>
            </a:r>
            <a:r>
              <a:rPr lang="nb-NO" sz="2400" dirty="0" err="1"/>
              <a:t>Slovenian</a:t>
            </a:r>
            <a:r>
              <a:rPr lang="nb-NO" sz="2400" dirty="0"/>
              <a:t>, Spanish, and </a:t>
            </a:r>
            <a:r>
              <a:rPr lang="nb-NO" sz="2400" dirty="0" err="1"/>
              <a:t>Swedish</a:t>
            </a:r>
            <a:r>
              <a:rPr lang="nb-NO" sz="2400" dirty="0"/>
              <a:t>.</a:t>
            </a:r>
          </a:p>
          <a:p>
            <a:endParaRPr lang="nb-NO" sz="2400" dirty="0"/>
          </a:p>
          <a:p>
            <a:r>
              <a:rPr lang="nb-NO" sz="2400" dirty="0" err="1"/>
              <a:t>Originally</a:t>
            </a:r>
            <a:r>
              <a:rPr lang="nb-NO" sz="2400" dirty="0"/>
              <a:t> </a:t>
            </a:r>
            <a:r>
              <a:rPr lang="nb-NO" sz="2400" dirty="0" err="1"/>
              <a:t>based</a:t>
            </a:r>
            <a:r>
              <a:rPr lang="nb-NO" sz="2400" dirty="0"/>
              <a:t> </a:t>
            </a:r>
            <a:r>
              <a:rPr lang="nb-NO" sz="2400" dirty="0" err="1"/>
              <a:t>on</a:t>
            </a:r>
            <a:r>
              <a:rPr lang="nb-NO" sz="2400" dirty="0"/>
              <a:t> </a:t>
            </a:r>
            <a:r>
              <a:rPr lang="nb-NO" sz="2400" dirty="0" err="1"/>
              <a:t>the</a:t>
            </a:r>
            <a:r>
              <a:rPr lang="nb-NO" sz="2400" dirty="0"/>
              <a:t> </a:t>
            </a:r>
            <a:r>
              <a:rPr lang="nb-NO" sz="2400" dirty="0" err="1"/>
              <a:t>monolingual</a:t>
            </a:r>
            <a:r>
              <a:rPr lang="nb-NO" sz="2400" dirty="0"/>
              <a:t> </a:t>
            </a:r>
            <a:r>
              <a:rPr lang="en-US" sz="2400" dirty="0"/>
              <a:t>monolingual thesaurus, Humanities and Social Science Electronic Thesaurus (</a:t>
            </a:r>
            <a:r>
              <a:rPr lang="en-US" sz="2400" dirty="0">
                <a:hlinkClick r:id="rId2"/>
              </a:rPr>
              <a:t>HASSET</a:t>
            </a:r>
            <a:r>
              <a:rPr lang="en-US" sz="2400" dirty="0"/>
              <a:t>), of the UK Data Archive at the University of Essex.</a:t>
            </a:r>
            <a:endParaRPr lang="nb-NO" sz="2400" dirty="0"/>
          </a:p>
        </p:txBody>
      </p:sp>
      <p:sp>
        <p:nvSpPr>
          <p:cNvPr id="3" name="Tittel 2">
            <a:extLst>
              <a:ext uri="{FF2B5EF4-FFF2-40B4-BE49-F238E27FC236}">
                <a16:creationId xmlns:a16="http://schemas.microsoft.com/office/drawing/2014/main" id="{F82737A5-916F-6B27-09BC-DE62AB61C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European Language Social Science Thesaurus (ELSST) 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0471168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"/>
          <p:cNvSpPr txBox="1">
            <a:spLocks noGrp="1"/>
          </p:cNvSpPr>
          <p:nvPr>
            <p:ph type="body" idx="1"/>
          </p:nvPr>
        </p:nvSpPr>
        <p:spPr>
          <a:xfrm>
            <a:off x="1106851" y="1622636"/>
            <a:ext cx="5908098" cy="4035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GB"/>
              <a:t>Explore content in different languages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endParaRPr lang="en-GB" dirty="0"/>
          </a:p>
          <a:p>
            <a:pPr marL="0" lvl="0" indent="0">
              <a:spcBef>
                <a:spcPts val="0"/>
              </a:spcBef>
            </a:pPr>
            <a:r>
              <a:rPr lang="en-GB" dirty="0"/>
              <a:t>Alphabetical list of concepts</a:t>
            </a:r>
          </a:p>
          <a:p>
            <a:pPr marL="0" lvl="0" indent="0">
              <a:spcBef>
                <a:spcPts val="0"/>
              </a:spcBef>
            </a:pPr>
            <a:endParaRPr lang="en-GB" dirty="0"/>
          </a:p>
          <a:p>
            <a:pPr marL="0" lvl="0" indent="0">
              <a:spcBef>
                <a:spcPts val="0"/>
              </a:spcBef>
            </a:pPr>
            <a:r>
              <a:rPr lang="en-GB" dirty="0"/>
              <a:t>Hierarchal list of concepts</a:t>
            </a:r>
          </a:p>
          <a:p>
            <a:pPr marL="0" lvl="0" indent="0">
              <a:spcBef>
                <a:spcPts val="0"/>
              </a:spcBef>
            </a:pPr>
            <a:endParaRPr lang="en-GB" dirty="0"/>
          </a:p>
          <a:p>
            <a:pPr marL="0" lvl="0" indent="0">
              <a:spcBef>
                <a:spcPts val="0"/>
              </a:spcBef>
            </a:pPr>
            <a:r>
              <a:rPr lang="en-GB" dirty="0"/>
              <a:t>Changes to concepts</a:t>
            </a:r>
          </a:p>
        </p:txBody>
      </p:sp>
      <p:sp>
        <p:nvSpPr>
          <p:cNvPr id="188" name="Google Shape;188;p10"/>
          <p:cNvSpPr txBox="1">
            <a:spLocks noGrp="1"/>
          </p:cNvSpPr>
          <p:nvPr>
            <p:ph type="title"/>
          </p:nvPr>
        </p:nvSpPr>
        <p:spPr>
          <a:xfrm>
            <a:off x="1106851" y="597376"/>
            <a:ext cx="8598215" cy="731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Tahoma"/>
              <a:buNone/>
            </a:pPr>
            <a:r>
              <a:rPr lang="en-US" dirty="0"/>
              <a:t>ELSST search</a:t>
            </a:r>
            <a:endParaRPr dirty="0"/>
          </a:p>
        </p:txBody>
      </p:sp>
      <p:pic>
        <p:nvPicPr>
          <p:cNvPr id="3" name="Bilde 2">
            <a:extLst>
              <a:ext uri="{FF2B5EF4-FFF2-40B4-BE49-F238E27FC236}">
                <a16:creationId xmlns:a16="http://schemas.microsoft.com/office/drawing/2014/main" id="{4CF637BA-D71C-278B-B0E9-D641E9E249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0982" y="1925664"/>
            <a:ext cx="5324985" cy="3429000"/>
          </a:xfrm>
          <a:prstGeom prst="rect">
            <a:avLst/>
          </a:prstGeom>
        </p:spPr>
      </p:pic>
      <p:pic>
        <p:nvPicPr>
          <p:cNvPr id="6" name="Bilde 5">
            <a:extLst>
              <a:ext uri="{FF2B5EF4-FFF2-40B4-BE49-F238E27FC236}">
                <a16:creationId xmlns:a16="http://schemas.microsoft.com/office/drawing/2014/main" id="{D063FEFF-80C6-E189-059F-261F1FD38B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504067"/>
            <a:ext cx="3850543" cy="5849863"/>
          </a:xfrm>
          <a:prstGeom prst="rect">
            <a:avLst/>
          </a:prstGeom>
        </p:spPr>
      </p:pic>
      <p:pic>
        <p:nvPicPr>
          <p:cNvPr id="11" name="Bilde 10">
            <a:extLst>
              <a:ext uri="{FF2B5EF4-FFF2-40B4-BE49-F238E27FC236}">
                <a16:creationId xmlns:a16="http://schemas.microsoft.com/office/drawing/2014/main" id="{05008283-2C5F-2AD8-8320-203781D4A7F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693"/>
          <a:stretch/>
        </p:blipFill>
        <p:spPr>
          <a:xfrm>
            <a:off x="6096000" y="504066"/>
            <a:ext cx="4467626" cy="5849864"/>
          </a:xfrm>
          <a:prstGeom prst="rect">
            <a:avLst/>
          </a:prstGeom>
        </p:spPr>
      </p:pic>
      <p:pic>
        <p:nvPicPr>
          <p:cNvPr id="13" name="Bilde 12">
            <a:extLst>
              <a:ext uri="{FF2B5EF4-FFF2-40B4-BE49-F238E27FC236}">
                <a16:creationId xmlns:a16="http://schemas.microsoft.com/office/drawing/2014/main" id="{A821A35D-A650-CF27-C560-F49057B656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-2"/>
            <a:ext cx="25099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627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1"/>
          <p:cNvSpPr txBox="1">
            <a:spLocks noGrp="1"/>
          </p:cNvSpPr>
          <p:nvPr>
            <p:ph type="body" idx="1"/>
          </p:nvPr>
        </p:nvSpPr>
        <p:spPr>
          <a:xfrm>
            <a:off x="887802" y="1553966"/>
            <a:ext cx="4394432" cy="3750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lang="nb-NO" sz="2000" dirty="0" err="1"/>
              <a:t>Broader</a:t>
            </a:r>
            <a:r>
              <a:rPr lang="nb-NO" sz="2000" dirty="0"/>
              <a:t> and </a:t>
            </a:r>
            <a:r>
              <a:rPr lang="nb-NO" sz="2000" dirty="0" err="1"/>
              <a:t>related</a:t>
            </a:r>
            <a:r>
              <a:rPr lang="nb-NO" sz="2000" dirty="0"/>
              <a:t> </a:t>
            </a:r>
            <a:r>
              <a:rPr lang="nb-NO" sz="2000" dirty="0" err="1"/>
              <a:t>concepts</a:t>
            </a:r>
            <a:endParaRPr lang="nb-NO" sz="20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lang="nb-NO" sz="2000" dirty="0" err="1"/>
              <a:t>History</a:t>
            </a:r>
            <a:r>
              <a:rPr lang="nb-NO" sz="2000" dirty="0"/>
              <a:t> note: </a:t>
            </a:r>
            <a:r>
              <a:rPr lang="nb-NO" sz="2000" dirty="0" err="1"/>
              <a:t>when</a:t>
            </a:r>
            <a:r>
              <a:rPr lang="nb-NO" sz="2000" dirty="0"/>
              <a:t> term </a:t>
            </a:r>
            <a:r>
              <a:rPr lang="nb-NO" sz="2000" dirty="0" err="1"/>
              <a:t>was</a:t>
            </a:r>
            <a:r>
              <a:rPr lang="nb-NO" sz="2000" dirty="0"/>
              <a:t> </a:t>
            </a:r>
            <a:r>
              <a:rPr lang="nb-NO" sz="2000" dirty="0" err="1"/>
              <a:t>created</a:t>
            </a:r>
            <a:endParaRPr lang="nb-NO" sz="20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lang="nb-NO" sz="2000" dirty="0"/>
              <a:t>A </a:t>
            </a:r>
            <a:r>
              <a:rPr lang="nb-NO" sz="2000" dirty="0" err="1"/>
              <a:t>unique</a:t>
            </a:r>
            <a:r>
              <a:rPr lang="nb-NO" sz="2000" dirty="0"/>
              <a:t> </a:t>
            </a:r>
            <a:r>
              <a:rPr lang="nb-NO" sz="2000" dirty="0" err="1"/>
              <a:t>identifier</a:t>
            </a:r>
            <a:endParaRPr lang="nb-NO" sz="20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lang="nb-NO" sz="2000" dirty="0" err="1"/>
              <a:t>Previous</a:t>
            </a:r>
            <a:r>
              <a:rPr lang="nb-NO" sz="2000" dirty="0"/>
              <a:t> </a:t>
            </a:r>
            <a:r>
              <a:rPr lang="nb-NO" sz="2000" dirty="0" err="1"/>
              <a:t>versions</a:t>
            </a:r>
            <a:endParaRPr lang="nb-NO" sz="20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lang="nb-NO" sz="2000" dirty="0" err="1"/>
              <a:t>Other</a:t>
            </a:r>
            <a:r>
              <a:rPr lang="nb-NO" sz="2000" dirty="0"/>
              <a:t> </a:t>
            </a:r>
            <a:r>
              <a:rPr lang="nb-NO" sz="2000" dirty="0" err="1"/>
              <a:t>languages</a:t>
            </a:r>
            <a:r>
              <a:rPr lang="nb-NO" sz="2000" dirty="0"/>
              <a:t> – </a:t>
            </a:r>
            <a:r>
              <a:rPr lang="nb-NO" sz="2000" dirty="0" err="1"/>
              <a:t>clicking</a:t>
            </a:r>
            <a:r>
              <a:rPr lang="nb-NO" sz="2000" dirty="0"/>
              <a:t> </a:t>
            </a:r>
            <a:r>
              <a:rPr lang="nb-NO" sz="2000" dirty="0" err="1"/>
              <a:t>on</a:t>
            </a:r>
            <a:r>
              <a:rPr lang="nb-NO" sz="2000" dirty="0"/>
              <a:t> </a:t>
            </a:r>
            <a:r>
              <a:rPr lang="nb-NO" sz="2000" dirty="0" err="1"/>
              <a:t>these</a:t>
            </a:r>
            <a:r>
              <a:rPr lang="nb-NO" sz="2000" dirty="0"/>
              <a:t> </a:t>
            </a:r>
            <a:r>
              <a:rPr lang="nb-NO" sz="2000" dirty="0" err="1"/>
              <a:t>words</a:t>
            </a:r>
            <a:r>
              <a:rPr lang="nb-NO" sz="2000" dirty="0"/>
              <a:t> </a:t>
            </a:r>
            <a:r>
              <a:rPr lang="nb-NO" sz="2000" dirty="0" err="1"/>
              <a:t>will</a:t>
            </a:r>
            <a:r>
              <a:rPr lang="nb-NO" sz="2000" dirty="0"/>
              <a:t> </a:t>
            </a:r>
            <a:r>
              <a:rPr lang="nb-NO" sz="2000" dirty="0" err="1"/>
              <a:t>take</a:t>
            </a:r>
            <a:r>
              <a:rPr lang="nb-NO" sz="2000" dirty="0"/>
              <a:t> </a:t>
            </a:r>
            <a:r>
              <a:rPr lang="nb-NO" sz="2000" dirty="0" err="1"/>
              <a:t>user</a:t>
            </a:r>
            <a:r>
              <a:rPr lang="nb-NO" sz="2000" dirty="0"/>
              <a:t> to </a:t>
            </a:r>
            <a:r>
              <a:rPr lang="nb-NO" sz="2000" dirty="0" err="1"/>
              <a:t>the</a:t>
            </a:r>
            <a:r>
              <a:rPr lang="nb-NO" sz="2000" dirty="0"/>
              <a:t> </a:t>
            </a:r>
            <a:r>
              <a:rPr lang="nb-NO" sz="2000" dirty="0" err="1"/>
              <a:t>concept</a:t>
            </a:r>
            <a:r>
              <a:rPr lang="nb-NO" sz="2000" dirty="0"/>
              <a:t> in </a:t>
            </a:r>
            <a:r>
              <a:rPr lang="nb-NO" sz="2000" dirty="0" err="1"/>
              <a:t>the</a:t>
            </a:r>
            <a:r>
              <a:rPr lang="nb-NO" sz="2000" dirty="0"/>
              <a:t> </a:t>
            </a:r>
            <a:r>
              <a:rPr lang="nb-NO" sz="2000" dirty="0" err="1"/>
              <a:t>selected</a:t>
            </a:r>
            <a:r>
              <a:rPr lang="nb-NO" sz="2000" dirty="0"/>
              <a:t> </a:t>
            </a:r>
            <a:r>
              <a:rPr lang="nb-NO" sz="2000" dirty="0" err="1"/>
              <a:t>language</a:t>
            </a:r>
            <a:endParaRPr sz="2000" dirty="0"/>
          </a:p>
        </p:txBody>
      </p:sp>
      <p:sp>
        <p:nvSpPr>
          <p:cNvPr id="194" name="Google Shape;194;p11"/>
          <p:cNvSpPr txBox="1">
            <a:spLocks noGrp="1"/>
          </p:cNvSpPr>
          <p:nvPr>
            <p:ph type="title"/>
          </p:nvPr>
        </p:nvSpPr>
        <p:spPr>
          <a:xfrm>
            <a:off x="887802" y="432064"/>
            <a:ext cx="4394200" cy="130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ahoma"/>
              <a:buNone/>
            </a:pPr>
            <a:r>
              <a:rPr lang="en-US" dirty="0"/>
              <a:t>ELSST concept page</a:t>
            </a:r>
            <a:endParaRPr dirty="0"/>
          </a:p>
        </p:txBody>
      </p:sp>
      <p:pic>
        <p:nvPicPr>
          <p:cNvPr id="3" name="Bilde 2">
            <a:extLst>
              <a:ext uri="{FF2B5EF4-FFF2-40B4-BE49-F238E27FC236}">
                <a16:creationId xmlns:a16="http://schemas.microsoft.com/office/drawing/2014/main" id="{2E568C44-3DCE-8ADD-9A40-C346CE9AC3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5258" y="0"/>
            <a:ext cx="66267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5919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"/>
          <p:cNvSpPr txBox="1">
            <a:spLocks noGrp="1"/>
          </p:cNvSpPr>
          <p:nvPr>
            <p:ph type="title"/>
          </p:nvPr>
        </p:nvSpPr>
        <p:spPr>
          <a:xfrm>
            <a:off x="1106850" y="803116"/>
            <a:ext cx="8598215" cy="731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Tahoma"/>
              <a:buNone/>
            </a:pPr>
            <a:r>
              <a:rPr lang="en-US" dirty="0"/>
              <a:t>CDC – ELSST integration</a:t>
            </a:r>
            <a:endParaRPr dirty="0"/>
          </a:p>
        </p:txBody>
      </p:sp>
      <p:sp>
        <p:nvSpPr>
          <p:cNvPr id="2" name="Google Shape;193;p11">
            <a:extLst>
              <a:ext uri="{FF2B5EF4-FFF2-40B4-BE49-F238E27FC236}">
                <a16:creationId xmlns:a16="http://schemas.microsoft.com/office/drawing/2014/main" id="{3D289FB1-7D03-C1C5-194B-98EAE847680D}"/>
              </a:ext>
            </a:extLst>
          </p:cNvPr>
          <p:cNvSpPr txBox="1">
            <a:spLocks/>
          </p:cNvSpPr>
          <p:nvPr/>
        </p:nvSpPr>
        <p:spPr>
          <a:xfrm>
            <a:off x="1106850" y="1934391"/>
            <a:ext cx="7739969" cy="375006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457200" marR="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  <a:defRPr sz="2800" b="0" i="0" u="none" strike="noStrike" kern="1200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2400" b="0" i="0" u="none" strike="noStrike" kern="1200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419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2000" b="0" i="0" u="none" strike="noStrike" kern="1200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400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1800" b="0" i="0" u="none" strike="noStrike" kern="1200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400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1800" b="0" i="0" u="none" strike="noStrike" kern="1200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kern="1200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kern="1200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kern="1200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kern="1200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GB" sz="2400" dirty="0"/>
              <a:t>In 2022 it was suggested to integrate the two CESSDA services, CDC and ELSST</a:t>
            </a:r>
          </a:p>
          <a:p>
            <a:r>
              <a:rPr lang="en-GB" sz="2400" dirty="0"/>
              <a:t>The keywords found in CDC are concepts in ELSST</a:t>
            </a:r>
          </a:p>
          <a:p>
            <a:r>
              <a:rPr lang="en-GB" sz="2400" dirty="0"/>
              <a:t>Idea: an ELSST user want to search for an ELSST concept in CDC</a:t>
            </a:r>
          </a:p>
          <a:p>
            <a:r>
              <a:rPr lang="en-GB" sz="2400" dirty="0"/>
              <a:t>Further: also establish a link from a keyword in CDC to the concept in ELSST</a:t>
            </a:r>
          </a:p>
          <a:p>
            <a:endParaRPr lang="en-GB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"/>
          <p:cNvSpPr txBox="1">
            <a:spLocks noGrp="1"/>
          </p:cNvSpPr>
          <p:nvPr>
            <p:ph type="title"/>
          </p:nvPr>
        </p:nvSpPr>
        <p:spPr>
          <a:xfrm>
            <a:off x="1106851" y="597376"/>
            <a:ext cx="8598215" cy="731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ahoma"/>
              <a:buNone/>
            </a:pPr>
            <a:r>
              <a:rPr lang="en-US" b="0" dirty="0"/>
              <a:t>How it works – link from CDC</a:t>
            </a:r>
            <a:endParaRPr b="0" dirty="0"/>
          </a:p>
        </p:txBody>
      </p:sp>
      <p:pic>
        <p:nvPicPr>
          <p:cNvPr id="3" name="Bilde 2">
            <a:extLst>
              <a:ext uri="{FF2B5EF4-FFF2-40B4-BE49-F238E27FC236}">
                <a16:creationId xmlns:a16="http://schemas.microsoft.com/office/drawing/2014/main" id="{6CFBE3FD-D214-DFD9-EBA0-E8E9026F7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2108" y="1659487"/>
            <a:ext cx="5661300" cy="1594156"/>
          </a:xfrm>
          <a:prstGeom prst="rect">
            <a:avLst/>
          </a:prstGeom>
        </p:spPr>
      </p:pic>
      <p:pic>
        <p:nvPicPr>
          <p:cNvPr id="5" name="Bilde 4">
            <a:extLst>
              <a:ext uri="{FF2B5EF4-FFF2-40B4-BE49-F238E27FC236}">
                <a16:creationId xmlns:a16="http://schemas.microsoft.com/office/drawing/2014/main" id="{857875FF-7CAF-CA38-067F-CB1CA3B175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2536" y="3425205"/>
            <a:ext cx="2648320" cy="1362265"/>
          </a:xfrm>
          <a:prstGeom prst="rect">
            <a:avLst/>
          </a:prstGeom>
        </p:spPr>
      </p:pic>
      <p:pic>
        <p:nvPicPr>
          <p:cNvPr id="7" name="Bilde 6">
            <a:extLst>
              <a:ext uri="{FF2B5EF4-FFF2-40B4-BE49-F238E27FC236}">
                <a16:creationId xmlns:a16="http://schemas.microsoft.com/office/drawing/2014/main" id="{2D7BFE13-CE7A-7652-E871-9A943C9D17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9616" y="4959032"/>
            <a:ext cx="3853792" cy="1276619"/>
          </a:xfrm>
          <a:prstGeom prst="rect">
            <a:avLst/>
          </a:prstGeom>
        </p:spPr>
      </p:pic>
      <p:cxnSp>
        <p:nvCxnSpPr>
          <p:cNvPr id="9" name="Rett pilkobling 8">
            <a:extLst>
              <a:ext uri="{FF2B5EF4-FFF2-40B4-BE49-F238E27FC236}">
                <a16:creationId xmlns:a16="http://schemas.microsoft.com/office/drawing/2014/main" id="{DDB0502D-BF54-D10A-9AAB-68C72A6C1351}"/>
              </a:ext>
            </a:extLst>
          </p:cNvPr>
          <p:cNvCxnSpPr/>
          <p:nvPr/>
        </p:nvCxnSpPr>
        <p:spPr>
          <a:xfrm>
            <a:off x="6781800" y="2495550"/>
            <a:ext cx="0" cy="1066800"/>
          </a:xfrm>
          <a:prstGeom prst="straightConnector1">
            <a:avLst/>
          </a:prstGeom>
          <a:ln w="57150">
            <a:solidFill>
              <a:srgbClr val="61144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tt pilkobling 9">
            <a:extLst>
              <a:ext uri="{FF2B5EF4-FFF2-40B4-BE49-F238E27FC236}">
                <a16:creationId xmlns:a16="http://schemas.microsoft.com/office/drawing/2014/main" id="{C6AA1B64-CBA1-AB02-8C88-D5394FB196EF}"/>
              </a:ext>
            </a:extLst>
          </p:cNvPr>
          <p:cNvCxnSpPr>
            <a:cxnSpLocks/>
          </p:cNvCxnSpPr>
          <p:nvPr/>
        </p:nvCxnSpPr>
        <p:spPr>
          <a:xfrm>
            <a:off x="7353300" y="2495550"/>
            <a:ext cx="2019300" cy="2291920"/>
          </a:xfrm>
          <a:prstGeom prst="straightConnector1">
            <a:avLst/>
          </a:prstGeom>
          <a:ln w="57150">
            <a:solidFill>
              <a:srgbClr val="61144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kstSylinder 11">
            <a:extLst>
              <a:ext uri="{FF2B5EF4-FFF2-40B4-BE49-F238E27FC236}">
                <a16:creationId xmlns:a16="http://schemas.microsoft.com/office/drawing/2014/main" id="{7486104E-272A-BBBE-8273-5E7A1D89845C}"/>
              </a:ext>
            </a:extLst>
          </p:cNvPr>
          <p:cNvSpPr txBox="1"/>
          <p:nvPr/>
        </p:nvSpPr>
        <p:spPr>
          <a:xfrm>
            <a:off x="7311606" y="3549332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611445"/>
                </a:solidFill>
              </a:rPr>
              <a:t>CDC</a:t>
            </a:r>
          </a:p>
        </p:txBody>
      </p:sp>
      <p:sp>
        <p:nvSpPr>
          <p:cNvPr id="13" name="TekstSylinder 12">
            <a:extLst>
              <a:ext uri="{FF2B5EF4-FFF2-40B4-BE49-F238E27FC236}">
                <a16:creationId xmlns:a16="http://schemas.microsoft.com/office/drawing/2014/main" id="{291C9CF7-C144-DB57-667D-4144FA99B89A}"/>
              </a:ext>
            </a:extLst>
          </p:cNvPr>
          <p:cNvSpPr txBox="1"/>
          <p:nvPr/>
        </p:nvSpPr>
        <p:spPr>
          <a:xfrm>
            <a:off x="8009616" y="4726931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>
                <a:solidFill>
                  <a:srgbClr val="611445"/>
                </a:solidFill>
              </a:rPr>
              <a:t>ELSST</a:t>
            </a:r>
          </a:p>
        </p:txBody>
      </p:sp>
      <p:sp>
        <p:nvSpPr>
          <p:cNvPr id="2" name="Google Shape;193;p11">
            <a:extLst>
              <a:ext uri="{FF2B5EF4-FFF2-40B4-BE49-F238E27FC236}">
                <a16:creationId xmlns:a16="http://schemas.microsoft.com/office/drawing/2014/main" id="{8F902FC6-A4F6-C733-46EB-92969C01FC41}"/>
              </a:ext>
            </a:extLst>
          </p:cNvPr>
          <p:cNvSpPr txBox="1">
            <a:spLocks/>
          </p:cNvSpPr>
          <p:nvPr/>
        </p:nvSpPr>
        <p:spPr>
          <a:xfrm>
            <a:off x="650722" y="1550171"/>
            <a:ext cx="5286484" cy="375006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457200" marR="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  <a:defRPr sz="2800" b="0" i="0" u="none" strike="noStrike" kern="1200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2400" b="0" i="0" u="none" strike="noStrike" kern="1200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419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2000" b="0" i="0" u="none" strike="noStrike" kern="1200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400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1800" b="0" i="0" u="none" strike="noStrike" kern="1200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400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1800" b="0" i="0" u="none" strike="noStrike" kern="1200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kern="1200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kern="1200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kern="1200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kern="1200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</a:rPr>
              <a:t>We wanted to keep the possibility for users to click on a keyword on a detailed study page to be able to do a keyword search, but also to be able to go to ELSST</a:t>
            </a:r>
          </a:p>
          <a:p>
            <a:pPr marL="685800" indent="-457200">
              <a:buClrTx/>
              <a:buSzPct val="100000"/>
              <a:buFont typeface="+mj-lt"/>
              <a:buAutoNum type="arabicPeriod"/>
            </a:pPr>
            <a:r>
              <a:rPr lang="en-GB" sz="2400" dirty="0">
                <a:solidFill>
                  <a:schemeClr val="tx1"/>
                </a:solidFill>
              </a:rPr>
              <a:t>User can click on keyword to be taken to a keyword search</a:t>
            </a:r>
          </a:p>
          <a:p>
            <a:pPr marL="685800" indent="-457200">
              <a:buClrTx/>
              <a:buSzPct val="100000"/>
              <a:buFont typeface="+mj-lt"/>
              <a:buAutoNum type="arabicPeriod"/>
            </a:pPr>
            <a:r>
              <a:rPr lang="en-GB" sz="2400" dirty="0">
                <a:solidFill>
                  <a:schemeClr val="tx1"/>
                </a:solidFill>
              </a:rPr>
              <a:t>Or the user can click on “ELSST” and a new window opens with the ELSST concept page</a:t>
            </a:r>
          </a:p>
        </p:txBody>
      </p:sp>
      <p:sp>
        <p:nvSpPr>
          <p:cNvPr id="8" name="TekstSylinder 7">
            <a:extLst>
              <a:ext uri="{FF2B5EF4-FFF2-40B4-BE49-F238E27FC236}">
                <a16:creationId xmlns:a16="http://schemas.microsoft.com/office/drawing/2014/main" id="{8B34080D-704F-47F2-D190-8FDED61B6596}"/>
              </a:ext>
            </a:extLst>
          </p:cNvPr>
          <p:cNvSpPr txBox="1"/>
          <p:nvPr/>
        </p:nvSpPr>
        <p:spPr>
          <a:xfrm>
            <a:off x="6383814" y="3143328"/>
            <a:ext cx="572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/>
              <a:t>1</a:t>
            </a:r>
          </a:p>
        </p:txBody>
      </p:sp>
      <p:sp>
        <p:nvSpPr>
          <p:cNvPr id="11" name="TekstSylinder 10">
            <a:extLst>
              <a:ext uri="{FF2B5EF4-FFF2-40B4-BE49-F238E27FC236}">
                <a16:creationId xmlns:a16="http://schemas.microsoft.com/office/drawing/2014/main" id="{F48B2622-2548-DD23-974B-B4CFF848A812}"/>
              </a:ext>
            </a:extLst>
          </p:cNvPr>
          <p:cNvSpPr txBox="1"/>
          <p:nvPr/>
        </p:nvSpPr>
        <p:spPr>
          <a:xfrm>
            <a:off x="8983980" y="4074466"/>
            <a:ext cx="572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1141832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ilde 15">
            <a:extLst>
              <a:ext uri="{FF2B5EF4-FFF2-40B4-BE49-F238E27FC236}">
                <a16:creationId xmlns:a16="http://schemas.microsoft.com/office/drawing/2014/main" id="{1C68125A-59CB-DC68-DB49-B5051AFE09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300" y="3291840"/>
            <a:ext cx="5725324" cy="2715004"/>
          </a:xfrm>
          <a:prstGeom prst="rect">
            <a:avLst/>
          </a:prstGeom>
        </p:spPr>
      </p:pic>
      <p:sp>
        <p:nvSpPr>
          <p:cNvPr id="182" name="Google Shape;182;p9"/>
          <p:cNvSpPr txBox="1">
            <a:spLocks noGrp="1"/>
          </p:cNvSpPr>
          <p:nvPr>
            <p:ph type="title"/>
          </p:nvPr>
        </p:nvSpPr>
        <p:spPr>
          <a:xfrm>
            <a:off x="1106851" y="597376"/>
            <a:ext cx="8598215" cy="731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ahoma"/>
              <a:buNone/>
            </a:pPr>
            <a:r>
              <a:rPr lang="en-US" b="0" dirty="0"/>
              <a:t>How it works – link from ELSST</a:t>
            </a:r>
            <a:endParaRPr b="0" dirty="0"/>
          </a:p>
        </p:txBody>
      </p:sp>
      <p:pic>
        <p:nvPicPr>
          <p:cNvPr id="5" name="Bilde 4">
            <a:extLst>
              <a:ext uri="{FF2B5EF4-FFF2-40B4-BE49-F238E27FC236}">
                <a16:creationId xmlns:a16="http://schemas.microsoft.com/office/drawing/2014/main" id="{89A4C26A-1A23-BAE1-B165-F3B21AA549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164" y="1180005"/>
            <a:ext cx="4744112" cy="5439534"/>
          </a:xfrm>
          <a:prstGeom prst="rect">
            <a:avLst/>
          </a:prstGeom>
        </p:spPr>
      </p:pic>
      <p:sp>
        <p:nvSpPr>
          <p:cNvPr id="6" name="Rektangel 5">
            <a:extLst>
              <a:ext uri="{FF2B5EF4-FFF2-40B4-BE49-F238E27FC236}">
                <a16:creationId xmlns:a16="http://schemas.microsoft.com/office/drawing/2014/main" id="{666B5623-73AB-F4F5-D62A-03CEF807D506}"/>
              </a:ext>
            </a:extLst>
          </p:cNvPr>
          <p:cNvSpPr/>
          <p:nvPr/>
        </p:nvSpPr>
        <p:spPr>
          <a:xfrm>
            <a:off x="575310" y="4796790"/>
            <a:ext cx="4648200" cy="476250"/>
          </a:xfrm>
          <a:prstGeom prst="rect">
            <a:avLst/>
          </a:prstGeom>
          <a:noFill/>
          <a:ln w="57150">
            <a:solidFill>
              <a:srgbClr val="6114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13" name="Rett pilkobling 12">
            <a:extLst>
              <a:ext uri="{FF2B5EF4-FFF2-40B4-BE49-F238E27FC236}">
                <a16:creationId xmlns:a16="http://schemas.microsoft.com/office/drawing/2014/main" id="{95B87570-72D9-FD21-CC38-480525168A76}"/>
              </a:ext>
            </a:extLst>
          </p:cNvPr>
          <p:cNvCxnSpPr>
            <a:cxnSpLocks/>
          </p:cNvCxnSpPr>
          <p:nvPr/>
        </p:nvCxnSpPr>
        <p:spPr>
          <a:xfrm>
            <a:off x="5223510" y="5021580"/>
            <a:ext cx="1194104" cy="0"/>
          </a:xfrm>
          <a:prstGeom prst="straightConnector1">
            <a:avLst/>
          </a:prstGeom>
          <a:ln w="57150">
            <a:solidFill>
              <a:srgbClr val="61144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72125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"/>
          <p:cNvSpPr txBox="1">
            <a:spLocks noGrp="1"/>
          </p:cNvSpPr>
          <p:nvPr>
            <p:ph type="title"/>
          </p:nvPr>
        </p:nvSpPr>
        <p:spPr>
          <a:xfrm>
            <a:off x="1106851" y="597376"/>
            <a:ext cx="9271589" cy="731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ahoma"/>
              <a:buNone/>
            </a:pPr>
            <a:r>
              <a:rPr lang="en-US" b="0" dirty="0"/>
              <a:t>How it works – vocabularies and languages </a:t>
            </a:r>
            <a:endParaRPr b="0" dirty="0"/>
          </a:p>
        </p:txBody>
      </p:sp>
      <p:sp>
        <p:nvSpPr>
          <p:cNvPr id="2" name="Plassholder for tekst 1">
            <a:extLst>
              <a:ext uri="{FF2B5EF4-FFF2-40B4-BE49-F238E27FC236}">
                <a16:creationId xmlns:a16="http://schemas.microsoft.com/office/drawing/2014/main" id="{982176C8-8709-7428-1FA3-12D39C446E61}"/>
              </a:ext>
            </a:extLst>
          </p:cNvPr>
          <p:cNvSpPr txBox="1">
            <a:spLocks/>
          </p:cNvSpPr>
          <p:nvPr/>
        </p:nvSpPr>
        <p:spPr>
          <a:xfrm>
            <a:off x="916350" y="1923832"/>
            <a:ext cx="8598215" cy="318226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457200" marR="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2800" b="0" i="0" u="none" strike="noStrike" kern="1200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2400" b="0" i="0" u="none" strike="noStrike" kern="1200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419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2000" b="0" i="0" u="none" strike="noStrike" kern="1200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400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1800" b="0" i="0" u="none" strike="noStrike" kern="1200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400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1800" b="0" i="0" u="none" strike="noStrike" kern="1200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kern="1200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kern="1200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kern="1200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kern="1200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US" sz="2400" dirty="0"/>
              <a:t>Some SPs use ELSST as their keyword vocabulary</a:t>
            </a:r>
          </a:p>
          <a:p>
            <a:r>
              <a:rPr lang="en-US" sz="2400" dirty="0"/>
              <a:t>Some use other vocabularies, however, these often contain the same concepts found in ELSST</a:t>
            </a:r>
            <a:endParaRPr lang="nb-NO" sz="2400" dirty="0"/>
          </a:p>
          <a:p>
            <a:r>
              <a:rPr lang="en-US" sz="2400" dirty="0"/>
              <a:t>Language tags to take the user to the right language page in CDC/ELSST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2">
            <a:extLst>
              <a:ext uri="{FF2B5EF4-FFF2-40B4-BE49-F238E27FC236}">
                <a16:creationId xmlns:a16="http://schemas.microsoft.com/office/drawing/2014/main" id="{96799AB6-3937-C00A-693F-22C480DF4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Languages</a:t>
            </a:r>
          </a:p>
        </p:txBody>
      </p:sp>
      <p:pic>
        <p:nvPicPr>
          <p:cNvPr id="7" name="Bilde 6">
            <a:extLst>
              <a:ext uri="{FF2B5EF4-FFF2-40B4-BE49-F238E27FC236}">
                <a16:creationId xmlns:a16="http://schemas.microsoft.com/office/drawing/2014/main" id="{4D701B5D-7647-348F-A59F-63178B80F5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096" y="1328601"/>
            <a:ext cx="3958533" cy="4538799"/>
          </a:xfrm>
          <a:prstGeom prst="rect">
            <a:avLst/>
          </a:prstGeom>
        </p:spPr>
      </p:pic>
      <p:pic>
        <p:nvPicPr>
          <p:cNvPr id="9" name="Bilde 8">
            <a:extLst>
              <a:ext uri="{FF2B5EF4-FFF2-40B4-BE49-F238E27FC236}">
                <a16:creationId xmlns:a16="http://schemas.microsoft.com/office/drawing/2014/main" id="{F5E64BC8-66F1-E3D4-F0FA-FAF87B3CC8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8927" y="1328601"/>
            <a:ext cx="3823439" cy="4124680"/>
          </a:xfrm>
          <a:prstGeom prst="rect">
            <a:avLst/>
          </a:prstGeom>
        </p:spPr>
      </p:pic>
      <p:sp>
        <p:nvSpPr>
          <p:cNvPr id="10" name="Rektangel 9">
            <a:extLst>
              <a:ext uri="{FF2B5EF4-FFF2-40B4-BE49-F238E27FC236}">
                <a16:creationId xmlns:a16="http://schemas.microsoft.com/office/drawing/2014/main" id="{7E73CBAF-1261-8F2C-8634-8113FEDD6298}"/>
              </a:ext>
            </a:extLst>
          </p:cNvPr>
          <p:cNvSpPr/>
          <p:nvPr/>
        </p:nvSpPr>
        <p:spPr>
          <a:xfrm>
            <a:off x="2486934" y="5594308"/>
            <a:ext cx="2228695" cy="323850"/>
          </a:xfrm>
          <a:prstGeom prst="rect">
            <a:avLst/>
          </a:prstGeom>
          <a:noFill/>
          <a:ln w="57150">
            <a:solidFill>
              <a:srgbClr val="6114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6F8AD49C-AF08-7231-6FAA-3FE21C2DBDD6}"/>
              </a:ext>
            </a:extLst>
          </p:cNvPr>
          <p:cNvSpPr/>
          <p:nvPr/>
        </p:nvSpPr>
        <p:spPr>
          <a:xfrm>
            <a:off x="4893217" y="3947160"/>
            <a:ext cx="3637373" cy="476250"/>
          </a:xfrm>
          <a:prstGeom prst="rect">
            <a:avLst/>
          </a:prstGeom>
          <a:noFill/>
          <a:ln w="57150">
            <a:solidFill>
              <a:srgbClr val="6114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3" name="Bilde 12">
            <a:extLst>
              <a:ext uri="{FF2B5EF4-FFF2-40B4-BE49-F238E27FC236}">
                <a16:creationId xmlns:a16="http://schemas.microsoft.com/office/drawing/2014/main" id="{FED776E7-9242-4FA3-A5DE-F92FF05D08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6077" y="597376"/>
            <a:ext cx="7725853" cy="6096851"/>
          </a:xfrm>
          <a:prstGeom prst="rect">
            <a:avLst/>
          </a:prstGeom>
        </p:spPr>
      </p:pic>
      <p:sp>
        <p:nvSpPr>
          <p:cNvPr id="14" name="Rektangel 13">
            <a:extLst>
              <a:ext uri="{FF2B5EF4-FFF2-40B4-BE49-F238E27FC236}">
                <a16:creationId xmlns:a16="http://schemas.microsoft.com/office/drawing/2014/main" id="{63B2FA16-C98C-0B18-2E25-ED20095BC9A9}"/>
              </a:ext>
            </a:extLst>
          </p:cNvPr>
          <p:cNvSpPr/>
          <p:nvPr/>
        </p:nvSpPr>
        <p:spPr>
          <a:xfrm>
            <a:off x="4489007" y="3475374"/>
            <a:ext cx="2228695" cy="323850"/>
          </a:xfrm>
          <a:prstGeom prst="rect">
            <a:avLst/>
          </a:prstGeom>
          <a:noFill/>
          <a:ln w="57150">
            <a:solidFill>
              <a:srgbClr val="6114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5" name="Rektangel 14">
            <a:extLst>
              <a:ext uri="{FF2B5EF4-FFF2-40B4-BE49-F238E27FC236}">
                <a16:creationId xmlns:a16="http://schemas.microsoft.com/office/drawing/2014/main" id="{A4F3BE90-86CA-2569-C6D0-F69F3E48BA84}"/>
              </a:ext>
            </a:extLst>
          </p:cNvPr>
          <p:cNvSpPr/>
          <p:nvPr/>
        </p:nvSpPr>
        <p:spPr>
          <a:xfrm>
            <a:off x="10896600" y="782013"/>
            <a:ext cx="1093470" cy="437187"/>
          </a:xfrm>
          <a:prstGeom prst="rect">
            <a:avLst/>
          </a:prstGeom>
          <a:noFill/>
          <a:ln w="57150">
            <a:solidFill>
              <a:srgbClr val="6114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68667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  <p:bldP spid="1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"/>
          <p:cNvSpPr txBox="1">
            <a:spLocks noGrp="1"/>
          </p:cNvSpPr>
          <p:nvPr>
            <p:ph type="title"/>
          </p:nvPr>
        </p:nvSpPr>
        <p:spPr>
          <a:xfrm>
            <a:off x="981121" y="597376"/>
            <a:ext cx="10048829" cy="731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ahoma"/>
              <a:buNone/>
            </a:pPr>
            <a:r>
              <a:rPr lang="en-US" b="0" dirty="0"/>
              <a:t>CESSDA Data Catalogue and ELSST integration</a:t>
            </a:r>
          </a:p>
        </p:txBody>
      </p:sp>
      <p:pic>
        <p:nvPicPr>
          <p:cNvPr id="6" name="Bilde 5">
            <a:extLst>
              <a:ext uri="{FF2B5EF4-FFF2-40B4-BE49-F238E27FC236}">
                <a16:creationId xmlns:a16="http://schemas.microsoft.com/office/drawing/2014/main" id="{846F4CB0-71AC-249C-374D-8D14EA1994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5585" y="2109821"/>
            <a:ext cx="6620830" cy="362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3880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2">
            <a:extLst>
              <a:ext uri="{FF2B5EF4-FFF2-40B4-BE49-F238E27FC236}">
                <a16:creationId xmlns:a16="http://schemas.microsoft.com/office/drawing/2014/main" id="{844CAADD-5D89-972C-8DEF-586E1DF03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pic>
        <p:nvPicPr>
          <p:cNvPr id="4" name="Bilde 3">
            <a:extLst>
              <a:ext uri="{FF2B5EF4-FFF2-40B4-BE49-F238E27FC236}">
                <a16:creationId xmlns:a16="http://schemas.microsoft.com/office/drawing/2014/main" id="{CB43C3D0-F90F-7F82-E3AD-30FC1A0EB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828" y="3593623"/>
            <a:ext cx="2829320" cy="866896"/>
          </a:xfrm>
          <a:prstGeom prst="rect">
            <a:avLst/>
          </a:prstGeom>
        </p:spPr>
      </p:pic>
      <p:sp>
        <p:nvSpPr>
          <p:cNvPr id="5" name="Pil: bøyd nedover 4">
            <a:extLst>
              <a:ext uri="{FF2B5EF4-FFF2-40B4-BE49-F238E27FC236}">
                <a16:creationId xmlns:a16="http://schemas.microsoft.com/office/drawing/2014/main" id="{134C966B-F301-697E-56B4-557E168F06DB}"/>
              </a:ext>
            </a:extLst>
          </p:cNvPr>
          <p:cNvSpPr/>
          <p:nvPr/>
        </p:nvSpPr>
        <p:spPr>
          <a:xfrm>
            <a:off x="3018358" y="2704623"/>
            <a:ext cx="4775200" cy="889000"/>
          </a:xfrm>
          <a:prstGeom prst="curvedDownArrow">
            <a:avLst/>
          </a:prstGeom>
          <a:solidFill>
            <a:srgbClr val="611445"/>
          </a:solidFill>
          <a:ln>
            <a:solidFill>
              <a:srgbClr val="6114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7" name="Bilde 6">
            <a:extLst>
              <a:ext uri="{FF2B5EF4-FFF2-40B4-BE49-F238E27FC236}">
                <a16:creationId xmlns:a16="http://schemas.microsoft.com/office/drawing/2014/main" id="{E6EBE933-2D5B-442D-8132-807C007FBB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225" y="3693649"/>
            <a:ext cx="1752845" cy="666843"/>
          </a:xfrm>
          <a:prstGeom prst="rect">
            <a:avLst/>
          </a:prstGeom>
        </p:spPr>
      </p:pic>
      <p:sp>
        <p:nvSpPr>
          <p:cNvPr id="8" name="Pil: bøyd nedover 7">
            <a:extLst>
              <a:ext uri="{FF2B5EF4-FFF2-40B4-BE49-F238E27FC236}">
                <a16:creationId xmlns:a16="http://schemas.microsoft.com/office/drawing/2014/main" id="{FCCBC126-4D17-672D-271A-9E372F781CCF}"/>
              </a:ext>
            </a:extLst>
          </p:cNvPr>
          <p:cNvSpPr/>
          <p:nvPr/>
        </p:nvSpPr>
        <p:spPr>
          <a:xfrm rot="10800000">
            <a:off x="2853257" y="4482623"/>
            <a:ext cx="4775200" cy="889000"/>
          </a:xfrm>
          <a:prstGeom prst="curvedDownArrow">
            <a:avLst/>
          </a:prstGeom>
          <a:solidFill>
            <a:srgbClr val="611445"/>
          </a:solidFill>
          <a:ln>
            <a:solidFill>
              <a:srgbClr val="6114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7EB60486-7374-E892-ABB2-4EE4C0B4ADB9}"/>
              </a:ext>
            </a:extLst>
          </p:cNvPr>
          <p:cNvSpPr txBox="1"/>
          <p:nvPr/>
        </p:nvSpPr>
        <p:spPr>
          <a:xfrm>
            <a:off x="4408576" y="4618283"/>
            <a:ext cx="19773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Search for concept in CDC</a:t>
            </a:r>
          </a:p>
        </p:txBody>
      </p:sp>
      <p:sp>
        <p:nvSpPr>
          <p:cNvPr id="10" name="TekstSylinder 9">
            <a:extLst>
              <a:ext uri="{FF2B5EF4-FFF2-40B4-BE49-F238E27FC236}">
                <a16:creationId xmlns:a16="http://schemas.microsoft.com/office/drawing/2014/main" id="{0022E78D-3008-2F2B-E988-092FA1643150}"/>
              </a:ext>
            </a:extLst>
          </p:cNvPr>
          <p:cNvSpPr txBox="1"/>
          <p:nvPr/>
        </p:nvSpPr>
        <p:spPr>
          <a:xfrm>
            <a:off x="4263337" y="5660940"/>
            <a:ext cx="22852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Available in ELSST September 2024</a:t>
            </a:r>
          </a:p>
        </p:txBody>
      </p:sp>
      <p:sp>
        <p:nvSpPr>
          <p:cNvPr id="11" name="TekstSylinder 10">
            <a:extLst>
              <a:ext uri="{FF2B5EF4-FFF2-40B4-BE49-F238E27FC236}">
                <a16:creationId xmlns:a16="http://schemas.microsoft.com/office/drawing/2014/main" id="{CD875936-B79E-4715-A984-E652C48BB79B}"/>
              </a:ext>
            </a:extLst>
          </p:cNvPr>
          <p:cNvSpPr txBox="1"/>
          <p:nvPr/>
        </p:nvSpPr>
        <p:spPr>
          <a:xfrm>
            <a:off x="4408576" y="2749587"/>
            <a:ext cx="19773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Explore concept in ELSST</a:t>
            </a:r>
          </a:p>
        </p:txBody>
      </p:sp>
    </p:spTree>
    <p:extLst>
      <p:ext uri="{BB962C8B-B14F-4D97-AF65-F5344CB8AC3E}">
        <p14:creationId xmlns:p14="http://schemas.microsoft.com/office/powerpoint/2010/main" val="41672591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4"/>
          <p:cNvSpPr txBox="1">
            <a:spLocks noGrp="1"/>
          </p:cNvSpPr>
          <p:nvPr>
            <p:ph type="body" idx="1"/>
          </p:nvPr>
        </p:nvSpPr>
        <p:spPr>
          <a:xfrm>
            <a:off x="2264159" y="2066278"/>
            <a:ext cx="8110204" cy="986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</a:pPr>
            <a:r>
              <a:rPr lang="en-US" dirty="0"/>
              <a:t>Thank you for your attention!</a:t>
            </a:r>
            <a:endParaRPr dirty="0"/>
          </a:p>
        </p:txBody>
      </p:sp>
      <p:sp>
        <p:nvSpPr>
          <p:cNvPr id="215" name="Google Shape;215;p14"/>
          <p:cNvSpPr txBox="1">
            <a:spLocks noGrp="1"/>
          </p:cNvSpPr>
          <p:nvPr>
            <p:ph type="body" idx="2"/>
          </p:nvPr>
        </p:nvSpPr>
        <p:spPr>
          <a:xfrm>
            <a:off x="2359049" y="4633044"/>
            <a:ext cx="1936905" cy="494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DEFD"/>
              </a:buClr>
              <a:buSzPts val="2000"/>
              <a:buNone/>
            </a:pPr>
            <a:r>
              <a:rPr lang="en-US" sz="2000"/>
              <a:t>www.cessda.eu</a:t>
            </a:r>
            <a:endParaRPr sz="2000"/>
          </a:p>
        </p:txBody>
      </p:sp>
      <p:sp>
        <p:nvSpPr>
          <p:cNvPr id="216" name="Google Shape;216;p14"/>
          <p:cNvSpPr txBox="1"/>
          <p:nvPr/>
        </p:nvSpPr>
        <p:spPr>
          <a:xfrm>
            <a:off x="8460056" y="4767752"/>
            <a:ext cx="1914307" cy="410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t>@CESSDA_Data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7" name="Google Shape;217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1668" y="4875789"/>
            <a:ext cx="292053" cy="23563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kstSylinder 1">
            <a:extLst>
              <a:ext uri="{FF2B5EF4-FFF2-40B4-BE49-F238E27FC236}">
                <a16:creationId xmlns:a16="http://schemas.microsoft.com/office/drawing/2014/main" id="{1F411BB9-AE80-CDE7-F1AC-6CA3667902BB}"/>
              </a:ext>
            </a:extLst>
          </p:cNvPr>
          <p:cNvSpPr txBox="1"/>
          <p:nvPr/>
        </p:nvSpPr>
        <p:spPr>
          <a:xfrm>
            <a:off x="3862316" y="3692158"/>
            <a:ext cx="47221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2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CESSDA Data </a:t>
            </a:r>
            <a:r>
              <a:rPr lang="nb-NO" sz="20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Catalogue</a:t>
            </a:r>
            <a:r>
              <a:rPr lang="nb-NO" sz="2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Service </a:t>
            </a:r>
            <a:r>
              <a:rPr lang="nb-NO" sz="20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Owner</a:t>
            </a:r>
            <a:r>
              <a:rPr lang="nb-NO" sz="2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kristina.strand@sikt.no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1706</TotalTime>
  <Words>1091</Words>
  <Application>Microsoft Office PowerPoint</Application>
  <PresentationFormat>Widescreen</PresentationFormat>
  <Paragraphs>138</Paragraphs>
  <Slides>27</Slides>
  <Notes>21</Notes>
  <HiddenSlides>3</HiddenSlides>
  <MMClips>0</MMClips>
  <ScaleCrop>false</ScaleCrop>
  <HeadingPairs>
    <vt:vector size="6" baseType="variant">
      <vt:variant>
        <vt:lpstr>Brukte skrifter</vt:lpstr>
      </vt:variant>
      <vt:variant>
        <vt:i4>5</vt:i4>
      </vt:variant>
      <vt:variant>
        <vt:lpstr>Tema</vt:lpstr>
      </vt:variant>
      <vt:variant>
        <vt:i4>2</vt:i4>
      </vt:variant>
      <vt:variant>
        <vt:lpstr>Lysbildetitler</vt:lpstr>
      </vt:variant>
      <vt:variant>
        <vt:i4>27</vt:i4>
      </vt:variant>
    </vt:vector>
  </HeadingPairs>
  <TitlesOfParts>
    <vt:vector size="34" baseType="lpstr">
      <vt:lpstr>Aptos</vt:lpstr>
      <vt:lpstr>Aptos Display</vt:lpstr>
      <vt:lpstr>Arial</vt:lpstr>
      <vt:lpstr>Inter</vt:lpstr>
      <vt:lpstr>Tahoma</vt:lpstr>
      <vt:lpstr>Office-tema</vt:lpstr>
      <vt:lpstr>Office Theme</vt:lpstr>
      <vt:lpstr>PowerPoint-presentasjon</vt:lpstr>
      <vt:lpstr>CESSDA</vt:lpstr>
      <vt:lpstr>CESSDA</vt:lpstr>
      <vt:lpstr>CESSDA Members</vt:lpstr>
      <vt:lpstr>CESSDA Members</vt:lpstr>
      <vt:lpstr>CESSDA History</vt:lpstr>
      <vt:lpstr>CESSDA Development &amp; Impact</vt:lpstr>
      <vt:lpstr>CESSDA Services &amp; Tools</vt:lpstr>
      <vt:lpstr>CESSDA Data Catalogue (CDC)</vt:lpstr>
      <vt:lpstr>CESSDA Data Catalogue (CDC)</vt:lpstr>
      <vt:lpstr>How does the catalogue work?</vt:lpstr>
      <vt:lpstr>How does the catalogue work?</vt:lpstr>
      <vt:lpstr>What can you find?</vt:lpstr>
      <vt:lpstr>Access CDC from Google Dataset Search</vt:lpstr>
      <vt:lpstr>A pipeline for metadata</vt:lpstr>
      <vt:lpstr>The European Language Social Science Thesaurus (ELSST) </vt:lpstr>
      <vt:lpstr>The European Language Social Science Thesaurus (ELSST) </vt:lpstr>
      <vt:lpstr>ELSST search</vt:lpstr>
      <vt:lpstr>ELSST concept page</vt:lpstr>
      <vt:lpstr>CDC – ELSST integration</vt:lpstr>
      <vt:lpstr>How it works – link from CDC</vt:lpstr>
      <vt:lpstr>How it works – link from ELSST</vt:lpstr>
      <vt:lpstr>How it works – vocabularies and languages </vt:lpstr>
      <vt:lpstr>Languages</vt:lpstr>
      <vt:lpstr>CESSDA Data Catalogue and ELSST integration</vt:lpstr>
      <vt:lpstr>PowerPoint-presentasjon</vt:lpstr>
      <vt:lpstr>PowerPoint-presentasjon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PowerPoint-presentasjon</dc:title>
  <dc:creator>Kristina Strand</dc:creator>
  <cp:lastModifiedBy>Hilde Orten</cp:lastModifiedBy>
  <cp:revision>2</cp:revision>
  <dcterms:created xsi:type="dcterms:W3CDTF">2024-05-22T12:23:07Z</dcterms:created>
  <dcterms:modified xsi:type="dcterms:W3CDTF">2024-06-10T08:59:17Z</dcterms:modified>
</cp:coreProperties>
</file>