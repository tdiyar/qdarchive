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1"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Century Schoolbook" panose="02040604050505020304" pitchFamily="18" charset="0"/>
      <p:regular r:id="rId24"/>
      <p:bold r:id="rId25"/>
      <p:italic r:id="rId26"/>
      <p:boldItalic r:id="rId27"/>
    </p:embeddedFont>
    <p:embeddedFont>
      <p:font typeface="Tahoma" panose="020B0604030504040204" pitchFamily="34" charset="0"/>
      <p:regular r:id="rId28"/>
      <p:bold r:id="rId29"/>
    </p:embeddedFont>
    <p:embeddedFont>
      <p:font typeface="Trebuchet MS" panose="020B0603020202020204" pitchFamily="34" charset="0"/>
      <p:regular r:id="rId30"/>
      <p:bold r:id="rId31"/>
      <p:italic r:id="rId32"/>
      <p:boldItalic r:id="rId33"/>
    </p:embeddedFont>
    <p:embeddedFont>
      <p:font typeface="Verdana" panose="020B060403050404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3E210B-3847-41DA-844F-4212DD53DD3A}">
  <a:tblStyle styleId="{923E210B-3847-41DA-844F-4212DD53DD3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D95D6CD-EC6C-4C75-BAE9-E240D6670B7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744" y="10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 name="Google Shape;2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this presentation, we plan to describe NACDA’s efforts over the last year to develop multi-series comparisons of longitudinal, nationally representative, National Institute on Aging funded data collections using DDI-Lifecycle, as well as share some lessons learned.</a:t>
            </a:r>
            <a:endParaRPr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The National Archive of Computerized Data on Aging (NACDA, part of ICPSR) began working with DDI-Lifecycle in 2018. Since then, NACDA has made efforts to document some of our most established and frequently-used longitudinal data collections to DDI-L and display them in a Colectica Portal. In this presentation, we will discuss how our portal and the way we use it have evolved. Namely, we have built on our earliest </a:t>
            </a:r>
            <a:r>
              <a:rPr lang="en">
                <a:solidFill>
                  <a:schemeClr val="dk1"/>
                </a:solidFill>
                <a:highlight>
                  <a:schemeClr val="lt1"/>
                </a:highlight>
              </a:rPr>
              <a:t>efforts in comparing variables within a single series and across two series</a:t>
            </a:r>
            <a:r>
              <a:rPr lang="en">
                <a:solidFill>
                  <a:schemeClr val="dk1"/>
                </a:solidFill>
              </a:rPr>
              <a:t>, to develop new methods that include the recent addition of a multi-series concordance to the portal. </a:t>
            </a:r>
            <a:endParaRPr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NACDA is part of the Inter-university Consortium for Political and Social Research (ICPSR) and based at the Institute for Social Research (ISR) at the University of Michigan.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25e8d9b6e8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 name="Google Shape;33;g25e8d9b6e8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g29dd8945fec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 name="Google Shape;39;g29dd8945fec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NACDA site and ICPSR use DDI Codebook, but since NACDA hosts mostly longitudinal data we wanted to see what was possible with DDI-Lifecycle. </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29a9a78f26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 name="Google Shape;45;g29a9a78f2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g25e8d9b6e8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 name="Google Shape;51;g25e8d9b6e8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97aabe7b5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97aabe7b5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371600" lvl="0" indent="0" algn="l" rtl="0">
              <a:lnSpc>
                <a:spcPct val="115000"/>
              </a:lnSpc>
              <a:spcBef>
                <a:spcPts val="0"/>
              </a:spcBef>
              <a:spcAft>
                <a:spcPts val="0"/>
              </a:spcAft>
              <a:buNone/>
            </a:pPr>
            <a:r>
              <a:rPr lang="en" sz="1400">
                <a:solidFill>
                  <a:srgbClr val="595959"/>
                </a:solidFill>
              </a:rPr>
              <a:t>A cross-wave concordance documents variable comparability across multiple waves within a single longitudinal series. It is a complete description in and of itself, as well as the foundation on which we build cross-series and multi-series concordances. </a:t>
            </a:r>
            <a:endParaRPr sz="1400" dirty="0">
              <a:solidFill>
                <a:srgbClr val="595959"/>
              </a:solidFill>
            </a:endParaRPr>
          </a:p>
          <a:p>
            <a:pPr marL="1371600" lvl="0" indent="0" algn="l" rtl="0">
              <a:lnSpc>
                <a:spcPct val="115000"/>
              </a:lnSpc>
              <a:spcBef>
                <a:spcPts val="1200"/>
              </a:spcBef>
              <a:spcAft>
                <a:spcPts val="0"/>
              </a:spcAft>
              <a:buNone/>
            </a:pPr>
            <a:r>
              <a:rPr lang="en" sz="1400">
                <a:solidFill>
                  <a:srgbClr val="595959"/>
                </a:solidFill>
              </a:rPr>
              <a:t>We begin by building a detailed crosswalk with a column for each wave of the series, and a row for each set of comparable instance variables. Sometimes a series has an existing crosswalk we can work from. Otherwise, we build one from scratch. Either way, we assess comparability with one basic question: Did the researchers change how they approached a given question or concept over time? For example, does the wording of a question change from one wave to the next? If so, does that change shift the meaning so much that the question actually addresses a separate concept? Writing out the full question, “What is your current marital status,” is not that different from instead saying “Current marital status:” But going from “Current marital status” to “Marital status in past two years” is a shift in concept. In the latter case, the instance variables would need to be on separate rows in the crosswalk.</a:t>
            </a:r>
            <a:endParaRPr sz="1400" dirty="0">
              <a:solidFill>
                <a:srgbClr val="595959"/>
              </a:solidFill>
            </a:endParaRPr>
          </a:p>
          <a:p>
            <a:pPr marL="1371600" lvl="0" indent="0" algn="l" rtl="0">
              <a:lnSpc>
                <a:spcPct val="115000"/>
              </a:lnSpc>
              <a:spcBef>
                <a:spcPts val="1200"/>
              </a:spcBef>
              <a:spcAft>
                <a:spcPts val="0"/>
              </a:spcAft>
              <a:buNone/>
            </a:pPr>
            <a:r>
              <a:rPr lang="en" sz="1400">
                <a:solidFill>
                  <a:srgbClr val="595959"/>
                </a:solidFill>
              </a:rPr>
              <a:t>Once we’ve assessed comparability and adjusted the crosswalk, we create a new conceptual variable name and label for each set of comparable instance variables. This new conceptual variable documents a single concept as it appears across time. </a:t>
            </a:r>
            <a:endParaRPr sz="1400" dirty="0">
              <a:solidFill>
                <a:srgbClr val="595959"/>
              </a:solidFill>
            </a:endParaRPr>
          </a:p>
          <a:p>
            <a:pPr marL="1371600" lvl="0" indent="0" algn="l" rtl="0">
              <a:lnSpc>
                <a:spcPct val="115000"/>
              </a:lnSpc>
              <a:spcBef>
                <a:spcPts val="1200"/>
              </a:spcBef>
              <a:spcAft>
                <a:spcPts val="1200"/>
              </a:spcAft>
              <a:buNone/>
            </a:pPr>
            <a:r>
              <a:rPr lang="en" sz="1400">
                <a:solidFill>
                  <a:srgbClr val="595959"/>
                </a:solidFill>
              </a:rPr>
              <a:t>From there, we organize the conceptual variables into topical groups. More on that in the next slide.</a:t>
            </a:r>
            <a:endParaRPr sz="1400" dirty="0">
              <a:solidFill>
                <a:srgbClr val="595959"/>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97aabe7b54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97aabe7b54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[Clarify “concepts” vs “conceptual” with topics v variables</a:t>
            </a:r>
            <a:endParaRPr dirty="0"/>
          </a:p>
          <a:p>
            <a:pPr marL="0" lvl="0" indent="0" algn="l" rtl="0">
              <a:spcBef>
                <a:spcPts val="0"/>
              </a:spcBef>
              <a:spcAft>
                <a:spcPts val="0"/>
              </a:spcAft>
              <a:buNone/>
            </a:pPr>
            <a:r>
              <a:rPr lang="en"/>
              <a:t>“Conceptual variable groups”]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Concepts, or conceptual groups, are separate from conceptual variables. We use conceptual groups to organize the conceptual variables by topic, which makes browsing on the Colectica portal easier. We keep track of these topics internally on a Common Concepts List. Our goal is to create a master list of standardized topical headings for use in all of the concordances on our portal. This will provide reusable, linkable terminology that improves the interoperability across the portal.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The Common Concepts List is still a work in progress, and we update it when we discover new needs or better wording in new concordances.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Once all conceptual variables are organized into conceptual groups and subgroups, we then publish the DDI-Lifecycle to the NACDA Colectica portal.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The image on the right shows how these concepts are displayed in the NACDA Colectica portal. Subgroups are nested within larger groups. </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97aabe7b54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97aabe7b54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a peak at how a cross-wave concordance is displayed in the portal. Conceptual groups are listed on the left. Conceptual variable labels are displayed and linked to more detailed descriptions of the conceptual variables. You’ll see waves listed at the top of the columns, with </a:t>
            </a:r>
            <a:endParaRPr dirty="0"/>
          </a:p>
          <a:p>
            <a:pPr marL="0" lvl="0" indent="0" algn="l" rtl="0">
              <a:spcBef>
                <a:spcPts val="0"/>
              </a:spcBef>
              <a:spcAft>
                <a:spcPts val="0"/>
              </a:spcAft>
              <a:buNone/>
            </a:pPr>
            <a:r>
              <a:rPr lang="en"/>
              <a:t>instance variables listed beneath.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The numbers in bubbles indicate matches or changes in variable representation. </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7aabe7b54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7aabe7b54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Cross-series DDI-Lifecycle is created by linking two sets of series-level cross-wave DDI-Lifecycle.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To do this, we compare conceptual variables in the first series, or series A, to the conceptual variables in series B, flagging any that are found to be comparable. For each set of comparable conceptual variables, we create a new conceptual item label to describe the shared concept.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When this is published to the portal, the conceptual item label links variables in the Series A cross-wave DDI-L to the comparable variables in the Series B cross-wave DDI-L. </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97aabe7b5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97aabe7b5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cross-series concordances, we take the further step of documenting the type of comparability shared by each matched set of variables.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The examples here are pulled from matches found in the NSHAP-NHATS cross-series concordance. </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97aabe7b54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97aabe7b5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Multi-series concordances take cross-series comparisons one step further, by comparing 3 or more series.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Our first multi-series concordance used a single series, the Health and Retirement Series, as a baseline. We then compared 5 other series to variables in HRS. </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97aabe7b54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97aabe7b54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again we create a spreadsheet to document comparable variables. We include in a single row all variables from each series that are found to address the same concept in similar ways to HRS.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Then, as with the cross-series concordance, we create a new common conceptual item (listed in this examples spreadsheet as the “New common conceptual variable label”), and organize these items into conceptual groups pulled from the Common Concepts list. </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97aabe7b54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97aabe7b54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Unlike the cross-series concordances we’ve created, we do not document the type of comparability for each conceptual item. The main reason being that, with multiple series in each matched cluster, there are often more than one comparability type represented.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The difference in how this is displayed in the portal can be seen in these two screenshots. On the left is the HRS multi-series concordance, which does not have a comparability description, versus the NSHAP-NHATS cross-series concordance on the right, which does.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That said, all of the information needed to determine level of comparability is still at users’ fingertips when they visit the portal. </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97aabe7b54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97aabe7b5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how the HRS multi-series concordance appears in the portal. As always, conceptual groups are listed on the left. Conceptual item labels are used at the beginning of each row, relevant waves from each series are listed at the head of the columns, and instance variables are organized in the table beneath. </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9a9a78f26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9a9a78f26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9a9a78f26f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9a9a78f26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also access the portal from our NACDA home page. </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9a9a78f26f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9a9a78f26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9a9a78f26f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9a9a78f26f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5e8d9b6e86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5e8d9b6e8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9a9a78f26f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9a9a78f26f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5e8d9b6e86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5e8d9b6e86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chemeClr val="lt1"/>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dk1"/>
              </a:buClr>
              <a:buSzPts val="2700"/>
              <a:buFont typeface="Verdana"/>
              <a:buNone/>
              <a:defRPr sz="2700" b="0" i="0" u="none" strike="noStrike" cap="none">
                <a:solidFill>
                  <a:schemeClr val="dk1"/>
                </a:solidFill>
                <a:latin typeface="Verdana"/>
                <a:ea typeface="Verdana"/>
                <a:cs typeface="Verdana"/>
                <a:sym typeface="Verdan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12" name="Google Shape;12;p2"/>
          <p:cNvSpPr txBox="1"/>
          <p:nvPr/>
        </p:nvSpPr>
        <p:spPr>
          <a:xfrm>
            <a:off x="628650" y="1510018"/>
            <a:ext cx="79974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dirty="0">
              <a:solidFill>
                <a:schemeClr val="dk1"/>
              </a:solidFill>
              <a:latin typeface="Tahoma"/>
              <a:ea typeface="Tahoma"/>
              <a:cs typeface="Tahoma"/>
              <a:sym typeface="Tahom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type="title">
  <p:cSld name="TITLE">
    <p:bg>
      <p:bgPr>
        <a:gradFill>
          <a:gsLst>
            <a:gs pos="0">
              <a:srgbClr val="2F5496"/>
            </a:gs>
            <a:gs pos="19000">
              <a:srgbClr val="8DA9DB"/>
            </a:gs>
            <a:gs pos="50000">
              <a:srgbClr val="D8E2F3"/>
            </a:gs>
            <a:gs pos="80000">
              <a:srgbClr val="8DA9DB"/>
            </a:gs>
            <a:gs pos="100000">
              <a:srgbClr val="2F5496"/>
            </a:gs>
          </a:gsLst>
          <a:lin ang="16200038" scaled="0"/>
        </a:gradFill>
        <a:effectLst/>
      </p:bgPr>
    </p:bg>
    <p:spTree>
      <p:nvGrpSpPr>
        <p:cNvPr id="1" name="Shape 13"/>
        <p:cNvGrpSpPr/>
        <p:nvPr/>
      </p:nvGrpSpPr>
      <p:grpSpPr>
        <a:xfrm>
          <a:off x="0" y="0"/>
          <a:ext cx="0" cy="0"/>
          <a:chOff x="0" y="0"/>
          <a:chExt cx="0" cy="0"/>
        </a:xfrm>
      </p:grpSpPr>
      <p:sp>
        <p:nvSpPr>
          <p:cNvPr id="14" name="Google Shape;14;p3"/>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rtl="0">
              <a:lnSpc>
                <a:spcPct val="90000"/>
              </a:lnSpc>
              <a:spcBef>
                <a:spcPts val="0"/>
              </a:spcBef>
              <a:spcAft>
                <a:spcPts val="0"/>
              </a:spcAft>
              <a:buClr>
                <a:schemeClr val="dk1"/>
              </a:buClr>
              <a:buSzPts val="4500"/>
              <a:buFont typeface="Verdana"/>
              <a:buChar char="●"/>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3"/>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rtl="0">
              <a:lnSpc>
                <a:spcPct val="90000"/>
              </a:lnSpc>
              <a:spcBef>
                <a:spcPts val="800"/>
              </a:spcBef>
              <a:spcAft>
                <a:spcPts val="0"/>
              </a:spcAft>
              <a:buClr>
                <a:schemeClr val="dk1"/>
              </a:buClr>
              <a:buSzPts val="1800"/>
              <a:buNone/>
              <a:defRPr sz="1800"/>
            </a:lvl1pPr>
            <a:lvl2pPr lvl="1" algn="ctr" rtl="0">
              <a:lnSpc>
                <a:spcPct val="90000"/>
              </a:lnSpc>
              <a:spcBef>
                <a:spcPts val="400"/>
              </a:spcBef>
              <a:spcAft>
                <a:spcPts val="0"/>
              </a:spcAft>
              <a:buClr>
                <a:schemeClr val="dk1"/>
              </a:buClr>
              <a:buSzPts val="1500"/>
              <a:buNone/>
              <a:defRPr sz="1500"/>
            </a:lvl2pPr>
            <a:lvl3pPr lvl="2" algn="ctr" rtl="0">
              <a:lnSpc>
                <a:spcPct val="90000"/>
              </a:lnSpc>
              <a:spcBef>
                <a:spcPts val="400"/>
              </a:spcBef>
              <a:spcAft>
                <a:spcPts val="0"/>
              </a:spcAft>
              <a:buClr>
                <a:schemeClr val="dk1"/>
              </a:buClr>
              <a:buSzPts val="1400"/>
              <a:buNone/>
              <a:defRPr sz="1400"/>
            </a:lvl3pPr>
            <a:lvl4pPr lvl="3" algn="ctr" rtl="0">
              <a:lnSpc>
                <a:spcPct val="90000"/>
              </a:lnSpc>
              <a:spcBef>
                <a:spcPts val="400"/>
              </a:spcBef>
              <a:spcAft>
                <a:spcPts val="0"/>
              </a:spcAft>
              <a:buClr>
                <a:schemeClr val="dk1"/>
              </a:buClr>
              <a:buSzPts val="1200"/>
              <a:buNone/>
              <a:defRPr sz="1200"/>
            </a:lvl4pPr>
            <a:lvl5pPr lvl="4" algn="ctr" rtl="0">
              <a:lnSpc>
                <a:spcPct val="90000"/>
              </a:lnSpc>
              <a:spcBef>
                <a:spcPts val="400"/>
              </a:spcBef>
              <a:spcAft>
                <a:spcPts val="0"/>
              </a:spcAft>
              <a:buClr>
                <a:schemeClr val="dk1"/>
              </a:buClr>
              <a:buSzPts val="1200"/>
              <a:buNone/>
              <a:defRPr sz="1200"/>
            </a:lvl5pPr>
            <a:lvl6pPr lvl="5" algn="ctr" rtl="0">
              <a:lnSpc>
                <a:spcPct val="90000"/>
              </a:lnSpc>
              <a:spcBef>
                <a:spcPts val="400"/>
              </a:spcBef>
              <a:spcAft>
                <a:spcPts val="0"/>
              </a:spcAft>
              <a:buClr>
                <a:schemeClr val="dk1"/>
              </a:buClr>
              <a:buSzPts val="1200"/>
              <a:buNone/>
              <a:defRPr sz="1200"/>
            </a:lvl6pPr>
            <a:lvl7pPr lvl="6" algn="ctr" rtl="0">
              <a:lnSpc>
                <a:spcPct val="90000"/>
              </a:lnSpc>
              <a:spcBef>
                <a:spcPts val="400"/>
              </a:spcBef>
              <a:spcAft>
                <a:spcPts val="0"/>
              </a:spcAft>
              <a:buClr>
                <a:schemeClr val="dk1"/>
              </a:buClr>
              <a:buSzPts val="1200"/>
              <a:buNone/>
              <a:defRPr sz="1200"/>
            </a:lvl7pPr>
            <a:lvl8pPr lvl="7" algn="ctr" rtl="0">
              <a:lnSpc>
                <a:spcPct val="90000"/>
              </a:lnSpc>
              <a:spcBef>
                <a:spcPts val="400"/>
              </a:spcBef>
              <a:spcAft>
                <a:spcPts val="0"/>
              </a:spcAft>
              <a:buClr>
                <a:schemeClr val="dk1"/>
              </a:buClr>
              <a:buSzPts val="1200"/>
              <a:buNone/>
              <a:defRPr sz="1200"/>
            </a:lvl8pPr>
            <a:lvl9pPr lvl="8" algn="ctr" rtl="0">
              <a:lnSpc>
                <a:spcPct val="90000"/>
              </a:lnSpc>
              <a:spcBef>
                <a:spcPts val="400"/>
              </a:spcBef>
              <a:spcAft>
                <a:spcPts val="0"/>
              </a:spcAft>
              <a:buClr>
                <a:schemeClr val="dk1"/>
              </a:buClr>
              <a:buSzPts val="1200"/>
              <a:buNone/>
              <a:defRPr sz="1200"/>
            </a:lvl9pPr>
          </a:lstStyle>
          <a:p>
            <a:endParaRPr/>
          </a:p>
        </p:txBody>
      </p:sp>
      <p:sp>
        <p:nvSpPr>
          <p:cNvPr id="16" name="Google Shape;16;p3"/>
          <p:cNvSpPr txBox="1"/>
          <p:nvPr/>
        </p:nvSpPr>
        <p:spPr>
          <a:xfrm>
            <a:off x="1860259" y="4528239"/>
            <a:ext cx="1379100" cy="4848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2700" b="0" i="0" u="none" strike="noStrike" cap="none">
                <a:solidFill>
                  <a:schemeClr val="lt1"/>
                </a:solidFill>
                <a:latin typeface="Verdana"/>
                <a:ea typeface="Verdana"/>
                <a:cs typeface="Verdana"/>
                <a:sym typeface="Verdana"/>
              </a:rPr>
              <a:t>NACDA</a:t>
            </a:r>
            <a:endParaRPr sz="1100" dirty="0"/>
          </a:p>
        </p:txBody>
      </p:sp>
      <p:sp>
        <p:nvSpPr>
          <p:cNvPr id="17" name="Google Shape;17;p3"/>
          <p:cNvSpPr txBox="1"/>
          <p:nvPr/>
        </p:nvSpPr>
        <p:spPr>
          <a:xfrm>
            <a:off x="3239482" y="4542793"/>
            <a:ext cx="2555100" cy="4386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200">
                <a:solidFill>
                  <a:schemeClr val="lt1"/>
                </a:solidFill>
                <a:latin typeface="Verdana"/>
                <a:ea typeface="Verdana"/>
                <a:cs typeface="Verdana"/>
                <a:sym typeface="Verdana"/>
              </a:rPr>
              <a:t>The National Archive of Computerized Data on Aging</a:t>
            </a:r>
            <a:endParaRPr sz="1200" dirty="0">
              <a:solidFill>
                <a:schemeClr val="lt1"/>
              </a:solidFill>
              <a:latin typeface="Verdana"/>
              <a:ea typeface="Verdana"/>
              <a:cs typeface="Verdana"/>
              <a:sym typeface="Verdana"/>
            </a:endParaRPr>
          </a:p>
        </p:txBody>
      </p:sp>
      <p:pic>
        <p:nvPicPr>
          <p:cNvPr id="18" name="Google Shape;18;p3" descr="Decorative - University of Michigan golden &quot;M&quot; and ICPSR acronym logo"/>
          <p:cNvPicPr preferRelativeResize="0"/>
          <p:nvPr/>
        </p:nvPicPr>
        <p:blipFill rotWithShape="1">
          <a:blip r:embed="rId2">
            <a:alphaModFix/>
          </a:blip>
          <a:srcRect/>
          <a:stretch/>
        </p:blipFill>
        <p:spPr>
          <a:xfrm>
            <a:off x="5678646" y="4528239"/>
            <a:ext cx="1431345" cy="399345"/>
          </a:xfrm>
          <a:prstGeom prst="rect">
            <a:avLst/>
          </a:prstGeom>
          <a:noFill/>
          <a:ln>
            <a:noFill/>
          </a:ln>
          <a:effectLst>
            <a:outerShdw blurRad="292100" dist="139700" dir="2700000" algn="tl" rotWithShape="0">
              <a:srgbClr val="333333">
                <a:alpha val="64709"/>
              </a:srgbClr>
            </a:outerShdw>
          </a:effec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lvl1pPr marL="457200" lvl="0" indent="-361950" rtl="0">
              <a:spcBef>
                <a:spcPts val="800"/>
              </a:spcBef>
              <a:spcAft>
                <a:spcPts val="0"/>
              </a:spcAft>
              <a:buSzPts val="2100"/>
              <a:buChar char="•"/>
              <a:defRPr/>
            </a:lvl1pPr>
            <a:lvl2pPr marL="914400" lvl="1" indent="-342900" rtl="0">
              <a:spcBef>
                <a:spcPts val="400"/>
              </a:spcBef>
              <a:spcAft>
                <a:spcPts val="0"/>
              </a:spcAft>
              <a:buSzPts val="1800"/>
              <a:buChar char="•"/>
              <a:defRPr/>
            </a:lvl2pPr>
            <a:lvl3pPr marL="1371600" lvl="2" indent="-323850" rtl="0">
              <a:spcBef>
                <a:spcPts val="400"/>
              </a:spcBef>
              <a:spcAft>
                <a:spcPts val="0"/>
              </a:spcAft>
              <a:buSzPts val="1500"/>
              <a:buChar char="•"/>
              <a:defRPr/>
            </a:lvl3pPr>
            <a:lvl4pPr marL="1828800" lvl="3" indent="-317500" rtl="0">
              <a:spcBef>
                <a:spcPts val="400"/>
              </a:spcBef>
              <a:spcAft>
                <a:spcPts val="0"/>
              </a:spcAft>
              <a:buSzPts val="1400"/>
              <a:buChar char="•"/>
              <a:defRPr/>
            </a:lvl4pPr>
            <a:lvl5pPr marL="2286000" lvl="4" indent="-317500" rtl="0">
              <a:spcBef>
                <a:spcPts val="400"/>
              </a:spcBef>
              <a:spcAft>
                <a:spcPts val="0"/>
              </a:spcAft>
              <a:buSzPts val="1400"/>
              <a:buChar char="•"/>
              <a:defRPr/>
            </a:lvl5pPr>
            <a:lvl6pPr marL="2743200" lvl="5" indent="-317500" rtl="0">
              <a:spcBef>
                <a:spcPts val="400"/>
              </a:spcBef>
              <a:spcAft>
                <a:spcPts val="0"/>
              </a:spcAft>
              <a:buSzPts val="1400"/>
              <a:buChar char="•"/>
              <a:defRPr/>
            </a:lvl6pPr>
            <a:lvl7pPr marL="3200400" lvl="6" indent="-317500" rtl="0">
              <a:spcBef>
                <a:spcPts val="400"/>
              </a:spcBef>
              <a:spcAft>
                <a:spcPts val="0"/>
              </a:spcAft>
              <a:buSzPts val="1400"/>
              <a:buChar char="•"/>
              <a:defRPr/>
            </a:lvl7pPr>
            <a:lvl8pPr marL="3657600" lvl="7" indent="-317500" rtl="0">
              <a:spcBef>
                <a:spcPts val="400"/>
              </a:spcBef>
              <a:spcAft>
                <a:spcPts val="0"/>
              </a:spcAft>
              <a:buSzPts val="1400"/>
              <a:buChar char="•"/>
              <a:defRPr/>
            </a:lvl8pPr>
            <a:lvl9pPr marL="4114800" lvl="8" indent="-317500" rtl="0">
              <a:spcBef>
                <a:spcPts val="400"/>
              </a:spcBef>
              <a:spcAft>
                <a:spcPts val="0"/>
              </a:spcAft>
              <a:buSzPts val="1400"/>
              <a:buChar char="•"/>
              <a:defRPr/>
            </a:lvl9pPr>
          </a:lstStyle>
          <a:p>
            <a:endParaRPr/>
          </a:p>
        </p:txBody>
      </p:sp>
      <p:sp>
        <p:nvSpPr>
          <p:cNvPr id="22" name="Google Shape;22;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144710" y="151001"/>
            <a:ext cx="8820900" cy="4838400"/>
          </a:xfrm>
          <a:prstGeom prst="rect">
            <a:avLst/>
          </a:prstGeom>
          <a:noFill/>
          <a:ln w="57150" cap="flat" cmpd="sng">
            <a:solidFill>
              <a:srgbClr val="00589A"/>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Tahoma"/>
              <a:ea typeface="Tahoma"/>
              <a:cs typeface="Tahoma"/>
              <a:sym typeface="Tahoma"/>
            </a:endParaRPr>
          </a:p>
        </p:txBody>
      </p:sp>
      <p:sp>
        <p:nvSpPr>
          <p:cNvPr id="7" name="Google Shape;7;p1"/>
          <p:cNvSpPr/>
          <p:nvPr/>
        </p:nvSpPr>
        <p:spPr>
          <a:xfrm>
            <a:off x="95864" y="95864"/>
            <a:ext cx="8952300" cy="4962900"/>
          </a:xfrm>
          <a:prstGeom prst="rect">
            <a:avLst/>
          </a:prstGeom>
          <a:noFill/>
          <a:ln w="381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Tahoma"/>
              <a:ea typeface="Tahoma"/>
              <a:cs typeface="Tahoma"/>
              <a:sym typeface="Tahoma"/>
            </a:endParaRPr>
          </a:p>
        </p:txBody>
      </p:sp>
      <p:sp>
        <p:nvSpPr>
          <p:cNvPr id="8" name="Google Shape;8;p1"/>
          <p:cNvSpPr txBox="1"/>
          <p:nvPr/>
        </p:nvSpPr>
        <p:spPr>
          <a:xfrm>
            <a:off x="7681123" y="4684079"/>
            <a:ext cx="1238700" cy="2538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200">
                <a:solidFill>
                  <a:srgbClr val="00589A"/>
                </a:solidFill>
                <a:latin typeface="Tahoma"/>
                <a:ea typeface="Tahoma"/>
                <a:cs typeface="Tahoma"/>
                <a:sym typeface="Tahoma"/>
              </a:rPr>
              <a:t>nacda-aging.org</a:t>
            </a:r>
            <a:endParaRPr sz="1100" dirty="0"/>
          </a:p>
        </p:txBody>
      </p:sp>
      <p:sp>
        <p:nvSpPr>
          <p:cNvPr id="9" name="Google Shape;9;p1"/>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Tahoma"/>
                <a:ea typeface="Tahoma"/>
                <a:cs typeface="Tahoma"/>
                <a:sym typeface="Tahoma"/>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Tahoma"/>
                <a:ea typeface="Tahoma"/>
                <a:cs typeface="Tahoma"/>
                <a:sym typeface="Tahoma"/>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Tahoma"/>
                <a:ea typeface="Tahoma"/>
                <a:cs typeface="Tahoma"/>
                <a:sym typeface="Tahoma"/>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Tahoma"/>
                <a:ea typeface="Tahoma"/>
                <a:cs typeface="Tahoma"/>
                <a:sym typeface="Tahoma"/>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Tahoma"/>
                <a:ea typeface="Tahoma"/>
                <a:cs typeface="Tahoma"/>
                <a:sym typeface="Tahoma"/>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Tahoma"/>
                <a:ea typeface="Tahoma"/>
                <a:cs typeface="Tahoma"/>
                <a:sym typeface="Tahoma"/>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Tahoma"/>
                <a:ea typeface="Tahoma"/>
                <a:cs typeface="Tahoma"/>
                <a:sym typeface="Tahoma"/>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Tahoma"/>
                <a:ea typeface="Tahoma"/>
                <a:cs typeface="Tahoma"/>
                <a:sym typeface="Tahom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hdl.handle.net/2027.42/156403"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hyperlink" Target="https://doi.org/10.5281/zenodo.8028946" TargetMode="External"/><Relationship Id="rId4" Type="http://schemas.openxmlformats.org/officeDocument/2006/relationships/hyperlink" Target="https://doi.org/10.5281/zenodo.7431988"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linktr.ee/nacdadata"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txBox="1">
            <a:spLocks noGrp="1"/>
          </p:cNvSpPr>
          <p:nvPr>
            <p:ph type="ctrTitle"/>
          </p:nvPr>
        </p:nvSpPr>
        <p:spPr>
          <a:xfrm>
            <a:off x="1188325" y="879524"/>
            <a:ext cx="6858000" cy="1461000"/>
          </a:xfrm>
          <a:prstGeom prst="rect">
            <a:avLst/>
          </a:prstGeom>
        </p:spPr>
        <p:txBody>
          <a:bodyPr spcFirstLastPara="1" wrap="square" lIns="68575" tIns="34275" rIns="68575" bIns="34275" anchor="b" anchorCtr="0">
            <a:normAutofit/>
          </a:bodyPr>
          <a:lstStyle/>
          <a:p>
            <a:pPr marL="0" lvl="0" indent="0" algn="ctr" rtl="0">
              <a:spcBef>
                <a:spcPts val="0"/>
              </a:spcBef>
              <a:spcAft>
                <a:spcPts val="0"/>
              </a:spcAft>
              <a:buNone/>
            </a:pPr>
            <a:r>
              <a:rPr lang="en" sz="3600" b="1" dirty="0">
                <a:solidFill>
                  <a:srgbClr val="222222"/>
                </a:solidFill>
              </a:rPr>
              <a:t>Creating Longitudinal Data Series Comparisons</a:t>
            </a:r>
            <a:r>
              <a:rPr lang="en" sz="3600" dirty="0">
                <a:solidFill>
                  <a:srgbClr val="222222"/>
                </a:solidFill>
              </a:rPr>
              <a:t> </a:t>
            </a:r>
            <a:endParaRPr sz="3600" dirty="0"/>
          </a:p>
        </p:txBody>
      </p:sp>
      <p:sp>
        <p:nvSpPr>
          <p:cNvPr id="28" name="Google Shape;28;p5"/>
          <p:cNvSpPr txBox="1">
            <a:spLocks noGrp="1"/>
          </p:cNvSpPr>
          <p:nvPr>
            <p:ph type="subTitle" idx="1"/>
          </p:nvPr>
        </p:nvSpPr>
        <p:spPr>
          <a:xfrm>
            <a:off x="1143000" y="2601950"/>
            <a:ext cx="6858000" cy="481800"/>
          </a:xfrm>
          <a:prstGeom prst="rect">
            <a:avLst/>
          </a:prstGeom>
        </p:spPr>
        <p:txBody>
          <a:bodyPr spcFirstLastPara="1" wrap="square" lIns="68575" tIns="34275" rIns="68575" bIns="34275" anchor="t" anchorCtr="0">
            <a:normAutofit fontScale="92500" lnSpcReduction="20000"/>
          </a:bodyPr>
          <a:lstStyle/>
          <a:p>
            <a:pPr marL="0" lvl="0" indent="0" algn="ctr" rtl="0">
              <a:spcBef>
                <a:spcPts val="800"/>
              </a:spcBef>
              <a:spcAft>
                <a:spcPts val="0"/>
              </a:spcAft>
              <a:buClr>
                <a:schemeClr val="dk1"/>
              </a:buClr>
              <a:buSzPts val="1100"/>
              <a:buFont typeface="Arial"/>
              <a:buNone/>
            </a:pPr>
            <a:r>
              <a:rPr lang="en" sz="2800" dirty="0">
                <a:solidFill>
                  <a:srgbClr val="222222"/>
                </a:solidFill>
              </a:rPr>
              <a:t>New Highlights from the NACDA Portal</a:t>
            </a:r>
            <a:endParaRPr sz="2800" dirty="0"/>
          </a:p>
        </p:txBody>
      </p:sp>
      <p:sp>
        <p:nvSpPr>
          <p:cNvPr id="29" name="Google Shape;29;p5"/>
          <p:cNvSpPr txBox="1"/>
          <p:nvPr/>
        </p:nvSpPr>
        <p:spPr>
          <a:xfrm>
            <a:off x="2192850" y="3278575"/>
            <a:ext cx="5366190" cy="914118"/>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1"/>
                </a:solidFill>
                <a:latin typeface="Tahoma"/>
                <a:ea typeface="Tahoma"/>
                <a:cs typeface="Tahoma"/>
                <a:sym typeface="Tahoma"/>
              </a:rPr>
              <a:t>Kathryn Lavender – NACDA Data Project Manager</a:t>
            </a:r>
          </a:p>
          <a:p>
            <a:pPr marL="0" lvl="0" indent="0" algn="ctr" rtl="0">
              <a:spcBef>
                <a:spcPts val="0"/>
              </a:spcBef>
              <a:spcAft>
                <a:spcPts val="0"/>
              </a:spcAft>
              <a:buNone/>
            </a:pPr>
            <a:r>
              <a:rPr lang="en" sz="1800" dirty="0">
                <a:solidFill>
                  <a:schemeClr val="dk1"/>
                </a:solidFill>
                <a:latin typeface="Tahoma"/>
                <a:ea typeface="Tahoma"/>
                <a:cs typeface="Tahoma"/>
                <a:sym typeface="Tahoma"/>
              </a:rPr>
              <a:t>Jennifer Zeiger – ICPSR Metadata Specialist</a:t>
            </a:r>
            <a:endParaRPr sz="1800" dirty="0">
              <a:solidFill>
                <a:schemeClr val="dk1"/>
              </a:solidFill>
              <a:latin typeface="Tahoma"/>
              <a:ea typeface="Tahoma"/>
              <a:cs typeface="Tahoma"/>
              <a:sym typeface="Tahoma"/>
            </a:endParaRPr>
          </a:p>
          <a:p>
            <a:pPr marL="0" lvl="0" indent="0" algn="ctr" rtl="0">
              <a:spcBef>
                <a:spcPts val="0"/>
              </a:spcBef>
              <a:spcAft>
                <a:spcPts val="0"/>
              </a:spcAft>
              <a:buNone/>
            </a:pPr>
            <a:r>
              <a:rPr lang="en" sz="1800" dirty="0">
                <a:solidFill>
                  <a:schemeClr val="dk1"/>
                </a:solidFill>
                <a:latin typeface="Tahoma"/>
                <a:ea typeface="Tahoma"/>
                <a:cs typeface="Tahoma"/>
                <a:sym typeface="Tahoma"/>
              </a:rPr>
              <a:t>EDDI Conference 2023</a:t>
            </a:r>
            <a:endParaRPr sz="1800" dirty="0">
              <a:solidFill>
                <a:schemeClr val="dk1"/>
              </a:solidFill>
              <a:latin typeface="Tahoma"/>
              <a:ea typeface="Tahoma"/>
              <a:cs typeface="Tahoma"/>
              <a:sym typeface="Tahoma"/>
            </a:endParaRPr>
          </a:p>
        </p:txBody>
      </p:sp>
      <p:sp>
        <p:nvSpPr>
          <p:cNvPr id="30" name="Google Shape;30;p5"/>
          <p:cNvSpPr txBox="1"/>
          <p:nvPr/>
        </p:nvSpPr>
        <p:spPr>
          <a:xfrm>
            <a:off x="3291750" y="4138200"/>
            <a:ext cx="25605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222222"/>
                </a:solidFill>
              </a:rPr>
              <a:t>Creative Commons Attribution 4.0 International (CC BY 4.0)</a:t>
            </a:r>
            <a:endParaRPr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45025"/>
            <a:ext cx="3343800" cy="55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latin typeface="Verdana"/>
                <a:ea typeface="Verdana"/>
                <a:cs typeface="Verdana"/>
                <a:sym typeface="Verdana"/>
              </a:rPr>
              <a:t>About NACDA </a:t>
            </a:r>
            <a:endParaRPr sz="3000" dirty="0">
              <a:latin typeface="Verdana"/>
              <a:ea typeface="Verdana"/>
              <a:cs typeface="Verdana"/>
              <a:sym typeface="Verdana"/>
            </a:endParaRPr>
          </a:p>
        </p:txBody>
      </p:sp>
      <p:sp>
        <p:nvSpPr>
          <p:cNvPr id="36" name="Google Shape;36;p6"/>
          <p:cNvSpPr txBox="1">
            <a:spLocks noGrp="1"/>
          </p:cNvSpPr>
          <p:nvPr>
            <p:ph type="body" idx="1"/>
          </p:nvPr>
        </p:nvSpPr>
        <p:spPr>
          <a:xfrm>
            <a:off x="375975" y="1382625"/>
            <a:ext cx="7692600" cy="3126300"/>
          </a:xfrm>
          <a:prstGeom prst="rect">
            <a:avLst/>
          </a:prstGeom>
        </p:spPr>
        <p:txBody>
          <a:bodyPr spcFirstLastPara="1" wrap="square" lIns="68575" tIns="34275" rIns="68575" bIns="34275" anchor="t" anchorCtr="0">
            <a:normAutofit/>
          </a:bodyPr>
          <a:lstStyle/>
          <a:p>
            <a:pPr marL="457200" marR="0" lvl="0" indent="-349250" algn="l" rtl="0">
              <a:lnSpc>
                <a:spcPct val="90000"/>
              </a:lnSpc>
              <a:spcBef>
                <a:spcPts val="1000"/>
              </a:spcBef>
              <a:spcAft>
                <a:spcPts val="0"/>
              </a:spcAft>
              <a:buSzPts val="1900"/>
              <a:buFont typeface="Tahoma"/>
              <a:buChar char="•"/>
            </a:pPr>
            <a:r>
              <a:rPr lang="en" sz="1900"/>
              <a:t>National Archive of Computerized Data on Aging</a:t>
            </a:r>
            <a:endParaRPr sz="1900" dirty="0"/>
          </a:p>
          <a:p>
            <a:pPr marL="457200" marR="0" lvl="0" indent="-349250" algn="l" rtl="0">
              <a:lnSpc>
                <a:spcPct val="90000"/>
              </a:lnSpc>
              <a:spcBef>
                <a:spcPts val="0"/>
              </a:spcBef>
              <a:spcAft>
                <a:spcPts val="0"/>
              </a:spcAft>
              <a:buSzPts val="1900"/>
              <a:buFont typeface="Tahoma"/>
              <a:buChar char="•"/>
            </a:pPr>
            <a:r>
              <a:rPr lang="en" sz="1900"/>
              <a:t>Funded by the National Institute on Aging (NIA)</a:t>
            </a:r>
            <a:endParaRPr sz="1900" dirty="0"/>
          </a:p>
          <a:p>
            <a:pPr marL="457200" lvl="0" indent="-349250" algn="l" rtl="0">
              <a:lnSpc>
                <a:spcPct val="90000"/>
              </a:lnSpc>
              <a:spcBef>
                <a:spcPts val="0"/>
              </a:spcBef>
              <a:spcAft>
                <a:spcPts val="0"/>
              </a:spcAft>
              <a:buClr>
                <a:schemeClr val="dk1"/>
              </a:buClr>
              <a:buSzPts val="1900"/>
              <a:buFont typeface="Tahoma"/>
              <a:buChar char="•"/>
            </a:pPr>
            <a:r>
              <a:rPr lang="en" sz="1900">
                <a:solidFill>
                  <a:schemeClr val="dk1"/>
                </a:solidFill>
              </a:rPr>
              <a:t>More than 40 years of experience in data arch</a:t>
            </a:r>
            <a:r>
              <a:rPr lang="en" sz="1900"/>
              <a:t>iving and data sharing</a:t>
            </a:r>
            <a:endParaRPr sz="1900" dirty="0">
              <a:solidFill>
                <a:schemeClr val="dk1"/>
              </a:solidFill>
            </a:endParaRPr>
          </a:p>
          <a:p>
            <a:pPr marL="457200" lvl="0" indent="-349250" algn="l" rtl="0">
              <a:spcBef>
                <a:spcPts val="0"/>
              </a:spcBef>
              <a:spcAft>
                <a:spcPts val="0"/>
              </a:spcAft>
              <a:buSzPts val="1900"/>
              <a:buFont typeface="Tahoma"/>
              <a:buChar char="•"/>
            </a:pPr>
            <a:r>
              <a:rPr lang="en" sz="1900"/>
              <a:t>Part of ICPSR, ISR at the University of Michigan</a:t>
            </a:r>
            <a:endParaRPr sz="1900" dirty="0"/>
          </a:p>
          <a:p>
            <a:pPr marL="457200" lvl="0" indent="-349250" algn="l" rtl="0">
              <a:lnSpc>
                <a:spcPct val="90000"/>
              </a:lnSpc>
              <a:spcBef>
                <a:spcPts val="0"/>
              </a:spcBef>
              <a:spcAft>
                <a:spcPts val="0"/>
              </a:spcAft>
              <a:buClr>
                <a:schemeClr val="dk1"/>
              </a:buClr>
              <a:buSzPts val="1900"/>
              <a:buFont typeface="Tahoma"/>
              <a:buChar char="•"/>
            </a:pPr>
            <a:r>
              <a:rPr lang="en" sz="1900">
                <a:solidFill>
                  <a:schemeClr val="dk1"/>
                </a:solidFill>
              </a:rPr>
              <a:t>Preserve and share data on aging and the lifecourse to support and advance geronto</a:t>
            </a:r>
            <a:r>
              <a:rPr lang="en" sz="1900"/>
              <a:t>logical research</a:t>
            </a:r>
            <a:endParaRPr sz="1900" dirty="0">
              <a:solidFill>
                <a:schemeClr val="dk1"/>
              </a:solidFill>
            </a:endParaRPr>
          </a:p>
          <a:p>
            <a:pPr marL="457200" lvl="0" indent="-349250" algn="l" rtl="0">
              <a:lnSpc>
                <a:spcPct val="90000"/>
              </a:lnSpc>
              <a:spcBef>
                <a:spcPts val="0"/>
              </a:spcBef>
              <a:spcAft>
                <a:spcPts val="0"/>
              </a:spcAft>
              <a:buClr>
                <a:schemeClr val="dk1"/>
              </a:buClr>
              <a:buSzPts val="1900"/>
              <a:buFont typeface="Tahoma"/>
              <a:buChar char="•"/>
            </a:pPr>
            <a:r>
              <a:rPr lang="en" sz="1900">
                <a:solidFill>
                  <a:schemeClr val="dk1"/>
                </a:solidFill>
              </a:rPr>
              <a:t>Mostly quantitative, public-use data</a:t>
            </a:r>
            <a:endParaRPr sz="1900" dirty="0">
              <a:solidFill>
                <a:schemeClr val="dk1"/>
              </a:solidFill>
            </a:endParaRPr>
          </a:p>
          <a:p>
            <a:pPr marL="457200" lvl="0" indent="-349250" algn="l" rtl="0">
              <a:lnSpc>
                <a:spcPct val="90000"/>
              </a:lnSpc>
              <a:spcBef>
                <a:spcPts val="0"/>
              </a:spcBef>
              <a:spcAft>
                <a:spcPts val="0"/>
              </a:spcAft>
              <a:buClr>
                <a:schemeClr val="dk1"/>
              </a:buClr>
              <a:buSzPts val="1900"/>
              <a:buFont typeface="Tahoma"/>
              <a:buChar char="•"/>
            </a:pPr>
            <a:r>
              <a:rPr lang="en" sz="1900">
                <a:solidFill>
                  <a:schemeClr val="dk1"/>
                </a:solidFill>
              </a:rPr>
              <a:t>Curated and self-published data sharing options</a:t>
            </a:r>
            <a:endParaRPr sz="1900" dirty="0">
              <a:solidFill>
                <a:schemeClr val="dk1"/>
              </a:solidFill>
            </a:endParaRPr>
          </a:p>
          <a:p>
            <a:pPr marL="457200" lvl="0" indent="-349250" algn="l" rtl="0">
              <a:lnSpc>
                <a:spcPct val="90000"/>
              </a:lnSpc>
              <a:spcBef>
                <a:spcPts val="0"/>
              </a:spcBef>
              <a:spcAft>
                <a:spcPts val="0"/>
              </a:spcAft>
              <a:buClr>
                <a:schemeClr val="dk1"/>
              </a:buClr>
              <a:buSzPts val="1900"/>
              <a:buFont typeface="Tahoma"/>
              <a:buChar char="•"/>
            </a:pPr>
            <a:r>
              <a:rPr lang="en" sz="1900">
                <a:solidFill>
                  <a:schemeClr val="dk1"/>
                </a:solidFill>
              </a:rPr>
              <a:t>Free to us</a:t>
            </a:r>
            <a:r>
              <a:rPr lang="en" sz="1900"/>
              <a:t>e</a:t>
            </a:r>
            <a:endParaRPr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311700" y="360075"/>
            <a:ext cx="4517100" cy="608700"/>
          </a:xfrm>
          <a:prstGeom prst="rect">
            <a:avLst/>
          </a:prstGeom>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sz="3000">
                <a:latin typeface="Verdana"/>
                <a:ea typeface="Verdana"/>
                <a:cs typeface="Verdana"/>
                <a:sym typeface="Verdana"/>
              </a:rPr>
              <a:t>NACDA Data Archive</a:t>
            </a:r>
            <a:endParaRPr sz="3000" dirty="0">
              <a:latin typeface="Verdana"/>
              <a:ea typeface="Verdana"/>
              <a:cs typeface="Verdana"/>
              <a:sym typeface="Verdana"/>
            </a:endParaRPr>
          </a:p>
        </p:txBody>
      </p:sp>
      <p:pic>
        <p:nvPicPr>
          <p:cNvPr id="42" name="Google Shape;42;p7"/>
          <p:cNvPicPr preferRelativeResize="0"/>
          <p:nvPr/>
        </p:nvPicPr>
        <p:blipFill>
          <a:blip r:embed="rId3">
            <a:alphaModFix/>
          </a:blip>
          <a:stretch>
            <a:fillRect/>
          </a:stretch>
        </p:blipFill>
        <p:spPr>
          <a:xfrm>
            <a:off x="0" y="1223500"/>
            <a:ext cx="9144000" cy="3920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311700" y="445025"/>
            <a:ext cx="6568800" cy="58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solidFill>
                  <a:schemeClr val="dk1"/>
                </a:solidFill>
                <a:latin typeface="Verdana"/>
                <a:ea typeface="Verdana"/>
                <a:cs typeface="Verdana"/>
                <a:sym typeface="Verdana"/>
              </a:rPr>
              <a:t>A Little About the NACDA Portal</a:t>
            </a:r>
            <a:endParaRPr sz="3000" dirty="0">
              <a:solidFill>
                <a:schemeClr val="dk1"/>
              </a:solidFill>
              <a:latin typeface="Verdana"/>
              <a:ea typeface="Verdana"/>
              <a:cs typeface="Verdana"/>
              <a:sym typeface="Verdana"/>
            </a:endParaRPr>
          </a:p>
        </p:txBody>
      </p:sp>
      <p:sp>
        <p:nvSpPr>
          <p:cNvPr id="48" name="Google Shape;48;p8"/>
          <p:cNvSpPr txBox="1">
            <a:spLocks noGrp="1"/>
          </p:cNvSpPr>
          <p:nvPr>
            <p:ph type="body" idx="1"/>
          </p:nvPr>
        </p:nvSpPr>
        <p:spPr>
          <a:xfrm>
            <a:off x="311700" y="1440525"/>
            <a:ext cx="8520600" cy="3128400"/>
          </a:xfrm>
          <a:prstGeom prst="rect">
            <a:avLst/>
          </a:prstGeom>
        </p:spPr>
        <p:txBody>
          <a:bodyPr spcFirstLastPara="1" wrap="square" lIns="68575" tIns="34275" rIns="68575" bIns="34275" anchor="t" anchorCtr="0">
            <a:noAutofit/>
          </a:bodyPr>
          <a:lstStyle/>
          <a:p>
            <a:pPr marL="457200" lvl="0" indent="-355600" algn="l" rtl="0">
              <a:spcBef>
                <a:spcPts val="800"/>
              </a:spcBef>
              <a:spcAft>
                <a:spcPts val="0"/>
              </a:spcAft>
              <a:buClr>
                <a:schemeClr val="dk1"/>
              </a:buClr>
              <a:buSzPts val="2000"/>
              <a:buChar char="•"/>
            </a:pPr>
            <a:r>
              <a:rPr lang="en" sz="2000">
                <a:solidFill>
                  <a:schemeClr val="dk1"/>
                </a:solidFill>
              </a:rPr>
              <a:t>Only public-use data</a:t>
            </a:r>
            <a:endParaRPr sz="2000" dirty="0">
              <a:solidFill>
                <a:schemeClr val="dk1"/>
              </a:solidFill>
            </a:endParaRPr>
          </a:p>
          <a:p>
            <a:pPr marL="457200" lvl="0" indent="-355600" algn="l" rtl="0">
              <a:spcBef>
                <a:spcPts val="800"/>
              </a:spcBef>
              <a:spcAft>
                <a:spcPts val="0"/>
              </a:spcAft>
              <a:buClr>
                <a:schemeClr val="dk1"/>
              </a:buClr>
              <a:buSzPts val="2000"/>
              <a:buChar char="•"/>
            </a:pPr>
            <a:r>
              <a:rPr lang="en" sz="2000">
                <a:solidFill>
                  <a:schemeClr val="dk1"/>
                </a:solidFill>
              </a:rPr>
              <a:t>Mostly variable metadata</a:t>
            </a:r>
            <a:r>
              <a:rPr lang="en" sz="2000"/>
              <a:t>; </a:t>
            </a:r>
            <a:r>
              <a:rPr lang="en" sz="2000">
                <a:solidFill>
                  <a:schemeClr val="dk1"/>
                </a:solidFill>
              </a:rPr>
              <a:t>some data are available through the portal for download</a:t>
            </a:r>
            <a:endParaRPr sz="2000" dirty="0">
              <a:solidFill>
                <a:schemeClr val="dk1"/>
              </a:solidFill>
            </a:endParaRPr>
          </a:p>
          <a:p>
            <a:pPr marL="457200" lvl="0" indent="-355600" algn="l" rtl="0">
              <a:spcBef>
                <a:spcPts val="800"/>
              </a:spcBef>
              <a:spcAft>
                <a:spcPts val="0"/>
              </a:spcAft>
              <a:buClr>
                <a:schemeClr val="dk1"/>
              </a:buClr>
              <a:buSzPts val="2000"/>
              <a:buChar char="•"/>
            </a:pPr>
            <a:r>
              <a:rPr lang="en" sz="2000">
                <a:solidFill>
                  <a:schemeClr val="dk1"/>
                </a:solidFill>
              </a:rPr>
              <a:t>“Added value”  - we are investing in enhancing the discoverability (and hopefully accessibility, interoperability, and reusability) of select datasets by creating conceptual variable groups/conceptual variable metadata</a:t>
            </a:r>
            <a:endParaRPr sz="2000" dirty="0">
              <a:solidFill>
                <a:schemeClr val="dk1"/>
              </a:solidFill>
            </a:endParaRPr>
          </a:p>
          <a:p>
            <a:pPr marL="457200" lvl="0" indent="-355600" algn="l" rtl="0">
              <a:spcBef>
                <a:spcPts val="800"/>
              </a:spcBef>
              <a:spcAft>
                <a:spcPts val="0"/>
              </a:spcAft>
              <a:buClr>
                <a:schemeClr val="dk1"/>
              </a:buClr>
              <a:buSzPts val="2000"/>
              <a:buChar char="•"/>
            </a:pPr>
            <a:r>
              <a:rPr lang="en" sz="2000">
                <a:solidFill>
                  <a:schemeClr val="dk1"/>
                </a:solidFill>
              </a:rPr>
              <a:t>We create the concordances, conceptual variables and other necessary pieces internally</a:t>
            </a:r>
            <a:endParaRPr sz="2000" dirty="0">
              <a:solidFill>
                <a:schemeClr val="dk1"/>
              </a:solidFill>
            </a:endParaRPr>
          </a:p>
          <a:p>
            <a:pPr marL="0" lvl="0" indent="0" algn="l" rtl="0">
              <a:spcBef>
                <a:spcPts val="800"/>
              </a:spcBef>
              <a:spcAft>
                <a:spcPts val="0"/>
              </a:spcAft>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418950" y="445050"/>
            <a:ext cx="4747200" cy="6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NACDA-DDI-Portal History</a:t>
            </a:r>
            <a:endParaRPr sz="3000" dirty="0"/>
          </a:p>
        </p:txBody>
      </p:sp>
      <p:cxnSp>
        <p:nvCxnSpPr>
          <p:cNvPr id="54" name="Google Shape;54;p9"/>
          <p:cNvCxnSpPr/>
          <p:nvPr/>
        </p:nvCxnSpPr>
        <p:spPr>
          <a:xfrm rot="10800000" flipH="1">
            <a:off x="531745" y="3145048"/>
            <a:ext cx="8080500" cy="21000"/>
          </a:xfrm>
          <a:prstGeom prst="straightConnector1">
            <a:avLst/>
          </a:prstGeom>
          <a:noFill/>
          <a:ln w="28575" cap="flat" cmpd="sng">
            <a:solidFill>
              <a:srgbClr val="00589A"/>
            </a:solidFill>
            <a:prstDash val="solid"/>
            <a:round/>
            <a:headEnd type="none" w="med" len="med"/>
            <a:tailEnd type="none" w="med" len="med"/>
          </a:ln>
        </p:spPr>
      </p:cxnSp>
      <p:sp>
        <p:nvSpPr>
          <p:cNvPr id="55" name="Google Shape;55;p9"/>
          <p:cNvSpPr/>
          <p:nvPr/>
        </p:nvSpPr>
        <p:spPr>
          <a:xfrm>
            <a:off x="418950" y="3177663"/>
            <a:ext cx="1016100" cy="318300"/>
          </a:xfrm>
          <a:prstGeom prst="roundRect">
            <a:avLst>
              <a:gd name="adj" fmla="val 16667"/>
            </a:avLst>
          </a:prstGeom>
          <a:solidFill>
            <a:srgbClr val="C9DAF8"/>
          </a:solidFill>
          <a:ln w="9525" cap="flat" cmpd="sng">
            <a:solidFill>
              <a:srgbClr val="0058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ahoma"/>
                <a:ea typeface="Tahoma"/>
                <a:cs typeface="Tahoma"/>
                <a:sym typeface="Tahoma"/>
              </a:rPr>
              <a:t>Fall 2018</a:t>
            </a:r>
            <a:endParaRPr dirty="0">
              <a:latin typeface="Tahoma"/>
              <a:ea typeface="Tahoma"/>
              <a:cs typeface="Tahoma"/>
              <a:sym typeface="Tahoma"/>
            </a:endParaRPr>
          </a:p>
        </p:txBody>
      </p:sp>
      <p:sp>
        <p:nvSpPr>
          <p:cNvPr id="56" name="Google Shape;56;p9"/>
          <p:cNvSpPr/>
          <p:nvPr/>
        </p:nvSpPr>
        <p:spPr>
          <a:xfrm>
            <a:off x="7545825" y="3189225"/>
            <a:ext cx="1110300" cy="318300"/>
          </a:xfrm>
          <a:prstGeom prst="roundRect">
            <a:avLst>
              <a:gd name="adj" fmla="val 16667"/>
            </a:avLst>
          </a:prstGeom>
          <a:solidFill>
            <a:srgbClr val="C9DAF8"/>
          </a:solidFill>
          <a:ln w="9525" cap="flat" cmpd="sng">
            <a:solidFill>
              <a:srgbClr val="00589A"/>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ahoma"/>
                <a:ea typeface="Tahoma"/>
                <a:cs typeface="Tahoma"/>
                <a:sym typeface="Tahoma"/>
              </a:rPr>
              <a:t>Fall 2023</a:t>
            </a:r>
            <a:endParaRPr dirty="0">
              <a:latin typeface="Tahoma"/>
              <a:ea typeface="Tahoma"/>
              <a:cs typeface="Tahoma"/>
              <a:sym typeface="Tahoma"/>
            </a:endParaRPr>
          </a:p>
        </p:txBody>
      </p:sp>
      <p:sp>
        <p:nvSpPr>
          <p:cNvPr id="57" name="Google Shape;57;p9"/>
          <p:cNvSpPr/>
          <p:nvPr/>
        </p:nvSpPr>
        <p:spPr>
          <a:xfrm>
            <a:off x="302075" y="3781550"/>
            <a:ext cx="1427400" cy="386700"/>
          </a:xfrm>
          <a:prstGeom prst="wedgeRectCallout">
            <a:avLst>
              <a:gd name="adj1" fmla="val -22490"/>
              <a:gd name="adj2" fmla="val -121832"/>
            </a:avLst>
          </a:prstGeom>
          <a:solidFill>
            <a:srgbClr val="D9EAD3"/>
          </a:solidFill>
          <a:ln w="9525" cap="flat" cmpd="sng">
            <a:solidFill>
              <a:srgbClr val="0058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Tahoma"/>
                <a:ea typeface="Tahoma"/>
                <a:cs typeface="Tahoma"/>
                <a:sym typeface="Tahoma"/>
              </a:rPr>
              <a:t>Began with NACDA funds</a:t>
            </a:r>
            <a:endParaRPr sz="1300" dirty="0">
              <a:latin typeface="Tahoma"/>
              <a:ea typeface="Tahoma"/>
              <a:cs typeface="Tahoma"/>
              <a:sym typeface="Tahoma"/>
            </a:endParaRPr>
          </a:p>
        </p:txBody>
      </p:sp>
      <p:sp>
        <p:nvSpPr>
          <p:cNvPr id="58" name="Google Shape;58;p9"/>
          <p:cNvSpPr/>
          <p:nvPr/>
        </p:nvSpPr>
        <p:spPr>
          <a:xfrm>
            <a:off x="6812550" y="3733250"/>
            <a:ext cx="1767300" cy="435000"/>
          </a:xfrm>
          <a:prstGeom prst="wedgeRectCallout">
            <a:avLst>
              <a:gd name="adj1" fmla="val 22226"/>
              <a:gd name="adj2" fmla="val -101017"/>
            </a:avLst>
          </a:prstGeom>
          <a:solidFill>
            <a:srgbClr val="D9EAD3"/>
          </a:solidFill>
          <a:ln w="9525" cap="flat" cmpd="sng">
            <a:solidFill>
              <a:srgbClr val="0058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Tahoma"/>
                <a:ea typeface="Tahoma"/>
                <a:cs typeface="Tahoma"/>
                <a:sym typeface="Tahoma"/>
              </a:rPr>
              <a:t>More funding - 3yrs</a:t>
            </a:r>
            <a:endParaRPr sz="1300" dirty="0">
              <a:latin typeface="Tahoma"/>
              <a:ea typeface="Tahoma"/>
              <a:cs typeface="Tahoma"/>
              <a:sym typeface="Tahoma"/>
            </a:endParaRPr>
          </a:p>
        </p:txBody>
      </p:sp>
      <p:sp>
        <p:nvSpPr>
          <p:cNvPr id="59" name="Google Shape;59;p9"/>
          <p:cNvSpPr/>
          <p:nvPr/>
        </p:nvSpPr>
        <p:spPr>
          <a:xfrm>
            <a:off x="1885525" y="3189225"/>
            <a:ext cx="672300" cy="318300"/>
          </a:xfrm>
          <a:prstGeom prst="roundRect">
            <a:avLst>
              <a:gd name="adj" fmla="val 16667"/>
            </a:avLst>
          </a:prstGeom>
          <a:solidFill>
            <a:srgbClr val="C9DAF8"/>
          </a:solidFill>
          <a:ln w="9525" cap="flat" cmpd="sng">
            <a:solidFill>
              <a:srgbClr val="0058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ahoma"/>
                <a:ea typeface="Tahoma"/>
                <a:cs typeface="Tahoma"/>
                <a:sym typeface="Tahoma"/>
              </a:rPr>
              <a:t>2019</a:t>
            </a:r>
            <a:endParaRPr dirty="0">
              <a:latin typeface="Tahoma"/>
              <a:ea typeface="Tahoma"/>
              <a:cs typeface="Tahoma"/>
              <a:sym typeface="Tahoma"/>
            </a:endParaRPr>
          </a:p>
        </p:txBody>
      </p:sp>
      <p:sp>
        <p:nvSpPr>
          <p:cNvPr id="60" name="Google Shape;60;p9"/>
          <p:cNvSpPr/>
          <p:nvPr/>
        </p:nvSpPr>
        <p:spPr>
          <a:xfrm>
            <a:off x="3197900" y="3189225"/>
            <a:ext cx="672300" cy="318300"/>
          </a:xfrm>
          <a:prstGeom prst="roundRect">
            <a:avLst>
              <a:gd name="adj" fmla="val 16667"/>
            </a:avLst>
          </a:prstGeom>
          <a:solidFill>
            <a:srgbClr val="C9DAF8"/>
          </a:solidFill>
          <a:ln w="9525" cap="flat" cmpd="sng">
            <a:solidFill>
              <a:srgbClr val="0058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ahoma"/>
                <a:ea typeface="Tahoma"/>
                <a:cs typeface="Tahoma"/>
                <a:sym typeface="Tahoma"/>
              </a:rPr>
              <a:t>2020</a:t>
            </a:r>
            <a:endParaRPr dirty="0">
              <a:latin typeface="Tahoma"/>
              <a:ea typeface="Tahoma"/>
              <a:cs typeface="Tahoma"/>
              <a:sym typeface="Tahoma"/>
            </a:endParaRPr>
          </a:p>
        </p:txBody>
      </p:sp>
      <p:sp>
        <p:nvSpPr>
          <p:cNvPr id="61" name="Google Shape;61;p9"/>
          <p:cNvSpPr/>
          <p:nvPr/>
        </p:nvSpPr>
        <p:spPr>
          <a:xfrm>
            <a:off x="4273300" y="3189225"/>
            <a:ext cx="1016100" cy="318300"/>
          </a:xfrm>
          <a:prstGeom prst="roundRect">
            <a:avLst>
              <a:gd name="adj" fmla="val 16667"/>
            </a:avLst>
          </a:prstGeom>
          <a:solidFill>
            <a:srgbClr val="C9DAF8"/>
          </a:solidFill>
          <a:ln w="9525" cap="flat" cmpd="sng">
            <a:solidFill>
              <a:srgbClr val="0058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ahoma"/>
                <a:ea typeface="Tahoma"/>
                <a:cs typeface="Tahoma"/>
                <a:sym typeface="Tahoma"/>
              </a:rPr>
              <a:t>Fall 2021</a:t>
            </a:r>
            <a:endParaRPr dirty="0">
              <a:latin typeface="Tahoma"/>
              <a:ea typeface="Tahoma"/>
              <a:cs typeface="Tahoma"/>
              <a:sym typeface="Tahoma"/>
            </a:endParaRPr>
          </a:p>
        </p:txBody>
      </p:sp>
      <p:sp>
        <p:nvSpPr>
          <p:cNvPr id="62" name="Google Shape;62;p9"/>
          <p:cNvSpPr/>
          <p:nvPr/>
        </p:nvSpPr>
        <p:spPr>
          <a:xfrm>
            <a:off x="5692500" y="3189225"/>
            <a:ext cx="672300" cy="318300"/>
          </a:xfrm>
          <a:prstGeom prst="roundRect">
            <a:avLst>
              <a:gd name="adj" fmla="val 16667"/>
            </a:avLst>
          </a:prstGeom>
          <a:solidFill>
            <a:srgbClr val="C9DAF8"/>
          </a:solidFill>
          <a:ln w="9525" cap="flat" cmpd="sng">
            <a:solidFill>
              <a:srgbClr val="0058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ahoma"/>
                <a:ea typeface="Tahoma"/>
                <a:cs typeface="Tahoma"/>
                <a:sym typeface="Tahoma"/>
              </a:rPr>
              <a:t>2022</a:t>
            </a:r>
            <a:endParaRPr dirty="0">
              <a:latin typeface="Tahoma"/>
              <a:ea typeface="Tahoma"/>
              <a:cs typeface="Tahoma"/>
              <a:sym typeface="Tahoma"/>
            </a:endParaRPr>
          </a:p>
        </p:txBody>
      </p:sp>
      <p:sp>
        <p:nvSpPr>
          <p:cNvPr id="63" name="Google Shape;63;p9"/>
          <p:cNvSpPr/>
          <p:nvPr/>
        </p:nvSpPr>
        <p:spPr>
          <a:xfrm>
            <a:off x="2473263" y="3820800"/>
            <a:ext cx="1325700" cy="386700"/>
          </a:xfrm>
          <a:prstGeom prst="wedgeRectCallout">
            <a:avLst>
              <a:gd name="adj1" fmla="val -20562"/>
              <a:gd name="adj2" fmla="val -215968"/>
            </a:avLst>
          </a:prstGeom>
          <a:solidFill>
            <a:srgbClr val="D9EAD3"/>
          </a:solidFill>
          <a:ln w="9525" cap="flat" cmpd="sng">
            <a:solidFill>
              <a:srgbClr val="0058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Tahoma"/>
                <a:ea typeface="Tahoma"/>
                <a:cs typeface="Tahoma"/>
                <a:sym typeface="Tahoma"/>
              </a:rPr>
              <a:t>Funding - 1yr</a:t>
            </a:r>
            <a:endParaRPr sz="1300" dirty="0">
              <a:latin typeface="Tahoma"/>
              <a:ea typeface="Tahoma"/>
              <a:cs typeface="Tahoma"/>
              <a:sym typeface="Tahoma"/>
            </a:endParaRPr>
          </a:p>
        </p:txBody>
      </p:sp>
      <p:sp>
        <p:nvSpPr>
          <p:cNvPr id="64" name="Google Shape;64;p9"/>
          <p:cNvSpPr/>
          <p:nvPr/>
        </p:nvSpPr>
        <p:spPr>
          <a:xfrm>
            <a:off x="4193075" y="3781550"/>
            <a:ext cx="1692000" cy="386700"/>
          </a:xfrm>
          <a:prstGeom prst="wedgeRectCallout">
            <a:avLst>
              <a:gd name="adj1" fmla="val -21065"/>
              <a:gd name="adj2" fmla="val -118697"/>
            </a:avLst>
          </a:prstGeom>
          <a:solidFill>
            <a:srgbClr val="D9EAD3"/>
          </a:solidFill>
          <a:ln w="9525" cap="flat" cmpd="sng">
            <a:solidFill>
              <a:srgbClr val="0058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Tahoma"/>
                <a:ea typeface="Tahoma"/>
                <a:cs typeface="Tahoma"/>
                <a:sym typeface="Tahoma"/>
              </a:rPr>
              <a:t>More funding - 2yrs</a:t>
            </a:r>
            <a:endParaRPr sz="1300" dirty="0">
              <a:latin typeface="Tahoma"/>
              <a:ea typeface="Tahoma"/>
              <a:cs typeface="Tahoma"/>
              <a:sym typeface="Tahoma"/>
            </a:endParaRPr>
          </a:p>
        </p:txBody>
      </p:sp>
      <p:sp>
        <p:nvSpPr>
          <p:cNvPr id="65" name="Google Shape;65;p9"/>
          <p:cNvSpPr/>
          <p:nvPr/>
        </p:nvSpPr>
        <p:spPr>
          <a:xfrm>
            <a:off x="7446000" y="749025"/>
            <a:ext cx="1386300" cy="714300"/>
          </a:xfrm>
          <a:prstGeom prst="wedgeRectCallout">
            <a:avLst>
              <a:gd name="adj1" fmla="val 21961"/>
              <a:gd name="adj2" fmla="val 283032"/>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Tahoma"/>
                <a:ea typeface="Tahoma"/>
                <a:cs typeface="Tahoma"/>
                <a:sym typeface="Tahoma"/>
              </a:rPr>
              <a:t>+CRELES, HRS multi-series</a:t>
            </a:r>
            <a:endParaRPr dirty="0">
              <a:latin typeface="Tahoma"/>
              <a:ea typeface="Tahoma"/>
              <a:cs typeface="Tahoma"/>
              <a:sym typeface="Tahoma"/>
            </a:endParaRPr>
          </a:p>
        </p:txBody>
      </p:sp>
      <p:sp>
        <p:nvSpPr>
          <p:cNvPr id="66" name="Google Shape;66;p9"/>
          <p:cNvSpPr/>
          <p:nvPr/>
        </p:nvSpPr>
        <p:spPr>
          <a:xfrm>
            <a:off x="7204900" y="1577775"/>
            <a:ext cx="716100" cy="483300"/>
          </a:xfrm>
          <a:prstGeom prst="wedgeRectCallout">
            <a:avLst>
              <a:gd name="adj1" fmla="val 28477"/>
              <a:gd name="adj2" fmla="val 273495"/>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Tahoma"/>
                <a:ea typeface="Tahoma"/>
                <a:cs typeface="Tahoma"/>
                <a:sym typeface="Tahoma"/>
              </a:rPr>
              <a:t>+HRS</a:t>
            </a:r>
            <a:endParaRPr dirty="0">
              <a:latin typeface="Tahoma"/>
              <a:ea typeface="Tahoma"/>
              <a:cs typeface="Tahoma"/>
              <a:sym typeface="Tahoma"/>
            </a:endParaRPr>
          </a:p>
        </p:txBody>
      </p:sp>
      <p:sp>
        <p:nvSpPr>
          <p:cNvPr id="67" name="Google Shape;67;p9"/>
          <p:cNvSpPr/>
          <p:nvPr/>
        </p:nvSpPr>
        <p:spPr>
          <a:xfrm>
            <a:off x="6364800" y="369150"/>
            <a:ext cx="1016100" cy="610800"/>
          </a:xfrm>
          <a:prstGeom prst="wedgeRectCallout">
            <a:avLst>
              <a:gd name="adj1" fmla="val 29003"/>
              <a:gd name="adj2" fmla="val 395187"/>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Tahoma"/>
                <a:ea typeface="Tahoma"/>
                <a:cs typeface="Tahoma"/>
                <a:sym typeface="Tahoma"/>
              </a:rPr>
              <a:t>+HAALSI,  PSID </a:t>
            </a:r>
            <a:endParaRPr dirty="0">
              <a:latin typeface="Tahoma"/>
              <a:ea typeface="Tahoma"/>
              <a:cs typeface="Tahoma"/>
              <a:sym typeface="Tahoma"/>
            </a:endParaRPr>
          </a:p>
        </p:txBody>
      </p:sp>
      <p:sp>
        <p:nvSpPr>
          <p:cNvPr id="68" name="Google Shape;68;p9"/>
          <p:cNvSpPr/>
          <p:nvPr/>
        </p:nvSpPr>
        <p:spPr>
          <a:xfrm>
            <a:off x="2473275" y="1288175"/>
            <a:ext cx="1386300" cy="435000"/>
          </a:xfrm>
          <a:prstGeom prst="wedgeRectCallout">
            <a:avLst>
              <a:gd name="adj1" fmla="val 26470"/>
              <a:gd name="adj2" fmla="val 381333"/>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00">
                <a:latin typeface="Tahoma"/>
                <a:ea typeface="Tahoma"/>
                <a:cs typeface="Tahoma"/>
                <a:sym typeface="Tahoma"/>
              </a:rPr>
              <a:t>+NSHAP-NHATS </a:t>
            </a:r>
            <a:endParaRPr sz="1300" dirty="0">
              <a:latin typeface="Tahoma"/>
              <a:ea typeface="Tahoma"/>
              <a:cs typeface="Tahoma"/>
              <a:sym typeface="Tahoma"/>
            </a:endParaRPr>
          </a:p>
        </p:txBody>
      </p:sp>
      <p:sp>
        <p:nvSpPr>
          <p:cNvPr id="69" name="Google Shape;69;p9"/>
          <p:cNvSpPr/>
          <p:nvPr/>
        </p:nvSpPr>
        <p:spPr>
          <a:xfrm>
            <a:off x="769700" y="1943175"/>
            <a:ext cx="844200" cy="318300"/>
          </a:xfrm>
          <a:prstGeom prst="wedgeRectCallout">
            <a:avLst>
              <a:gd name="adj1" fmla="val -18646"/>
              <a:gd name="adj2" fmla="val 332383"/>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00">
                <a:latin typeface="Tahoma"/>
                <a:ea typeface="Tahoma"/>
                <a:cs typeface="Tahoma"/>
                <a:sym typeface="Tahoma"/>
              </a:rPr>
              <a:t>+NSHAP</a:t>
            </a:r>
            <a:endParaRPr sz="1300" dirty="0">
              <a:latin typeface="Tahoma"/>
              <a:ea typeface="Tahoma"/>
              <a:cs typeface="Tahoma"/>
              <a:sym typeface="Tahoma"/>
            </a:endParaRPr>
          </a:p>
        </p:txBody>
      </p:sp>
      <p:sp>
        <p:nvSpPr>
          <p:cNvPr id="70" name="Google Shape;70;p9"/>
          <p:cNvSpPr/>
          <p:nvPr/>
        </p:nvSpPr>
        <p:spPr>
          <a:xfrm>
            <a:off x="1447400" y="2512275"/>
            <a:ext cx="1158300" cy="318300"/>
          </a:xfrm>
          <a:prstGeom prst="wedgeRectCallout">
            <a:avLst>
              <a:gd name="adj1" fmla="val -20433"/>
              <a:gd name="adj2" fmla="val 154716"/>
            </a:avLst>
          </a:prstGeom>
          <a:solidFill>
            <a:srgbClr val="CFE2F3"/>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Tahoma"/>
                <a:ea typeface="Tahoma"/>
                <a:cs typeface="Tahoma"/>
                <a:sym typeface="Tahoma"/>
              </a:rPr>
              <a:t>+Temp staff</a:t>
            </a:r>
            <a:endParaRPr dirty="0">
              <a:latin typeface="Tahoma"/>
              <a:ea typeface="Tahoma"/>
              <a:cs typeface="Tahoma"/>
              <a:sym typeface="Tahoma"/>
            </a:endParaRPr>
          </a:p>
        </p:txBody>
      </p:sp>
      <p:sp>
        <p:nvSpPr>
          <p:cNvPr id="71" name="Google Shape;71;p9"/>
          <p:cNvSpPr/>
          <p:nvPr/>
        </p:nvSpPr>
        <p:spPr>
          <a:xfrm>
            <a:off x="5132500" y="1062450"/>
            <a:ext cx="2213100" cy="318300"/>
          </a:xfrm>
          <a:prstGeom prst="wedgeRectCallout">
            <a:avLst>
              <a:gd name="adj1" fmla="val 27280"/>
              <a:gd name="adj2" fmla="val 603087"/>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Tahoma"/>
                <a:ea typeface="Tahoma"/>
                <a:cs typeface="Tahoma"/>
                <a:sym typeface="Tahoma"/>
              </a:rPr>
              <a:t>Updated NSHAP + COVID</a:t>
            </a:r>
            <a:endParaRPr dirty="0">
              <a:latin typeface="Tahoma"/>
              <a:ea typeface="Tahoma"/>
              <a:cs typeface="Tahoma"/>
              <a:sym typeface="Tahoma"/>
            </a:endParaRPr>
          </a:p>
        </p:txBody>
      </p:sp>
      <p:sp>
        <p:nvSpPr>
          <p:cNvPr id="72" name="Google Shape;72;p9"/>
          <p:cNvSpPr/>
          <p:nvPr/>
        </p:nvSpPr>
        <p:spPr>
          <a:xfrm>
            <a:off x="3640325" y="2259550"/>
            <a:ext cx="1427400" cy="318300"/>
          </a:xfrm>
          <a:prstGeom prst="wedgeRectCallout">
            <a:avLst>
              <a:gd name="adj1" fmla="val -17192"/>
              <a:gd name="adj2" fmla="val 222251"/>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00">
                <a:latin typeface="Tahoma"/>
                <a:ea typeface="Tahoma"/>
                <a:cs typeface="Tahoma"/>
                <a:sym typeface="Tahoma"/>
              </a:rPr>
              <a:t>+NSHAP-MIDUS </a:t>
            </a:r>
            <a:endParaRPr sz="1300" dirty="0">
              <a:latin typeface="Tahoma"/>
              <a:ea typeface="Tahoma"/>
              <a:cs typeface="Tahoma"/>
              <a:sym typeface="Tahoma"/>
            </a:endParaRPr>
          </a:p>
        </p:txBody>
      </p:sp>
      <p:sp>
        <p:nvSpPr>
          <p:cNvPr id="73" name="Google Shape;73;p9"/>
          <p:cNvSpPr/>
          <p:nvPr/>
        </p:nvSpPr>
        <p:spPr>
          <a:xfrm>
            <a:off x="2605700" y="1955488"/>
            <a:ext cx="1427400" cy="318300"/>
          </a:xfrm>
          <a:prstGeom prst="wedgeRectCallout">
            <a:avLst>
              <a:gd name="adj1" fmla="val -18646"/>
              <a:gd name="adj2" fmla="val 332383"/>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00">
                <a:latin typeface="Tahoma"/>
                <a:ea typeface="Tahoma"/>
                <a:cs typeface="Tahoma"/>
                <a:sym typeface="Tahoma"/>
              </a:rPr>
              <a:t>Portal goes live</a:t>
            </a:r>
            <a:endParaRPr sz="1300" dirty="0">
              <a:latin typeface="Tahoma"/>
              <a:ea typeface="Tahoma"/>
              <a:cs typeface="Tahoma"/>
              <a:sym typeface="Tahoma"/>
            </a:endParaRPr>
          </a:p>
        </p:txBody>
      </p:sp>
      <p:sp>
        <p:nvSpPr>
          <p:cNvPr id="74" name="Google Shape;74;p9"/>
          <p:cNvSpPr/>
          <p:nvPr/>
        </p:nvSpPr>
        <p:spPr>
          <a:xfrm>
            <a:off x="5692500" y="1601925"/>
            <a:ext cx="844200" cy="435000"/>
          </a:xfrm>
          <a:prstGeom prst="wedgeRectCallout">
            <a:avLst>
              <a:gd name="adj1" fmla="val 25885"/>
              <a:gd name="adj2" fmla="val 311149"/>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Tahoma"/>
                <a:ea typeface="Tahoma"/>
                <a:cs typeface="Tahoma"/>
                <a:sym typeface="Tahoma"/>
              </a:rPr>
              <a:t>+TILDA</a:t>
            </a:r>
            <a:endParaRPr dirty="0">
              <a:latin typeface="Tahoma"/>
              <a:ea typeface="Tahoma"/>
              <a:cs typeface="Tahoma"/>
              <a:sym typeface="Tahoma"/>
            </a:endParaRPr>
          </a:p>
        </p:txBody>
      </p:sp>
      <p:sp>
        <p:nvSpPr>
          <p:cNvPr id="75" name="Google Shape;75;p9"/>
          <p:cNvSpPr/>
          <p:nvPr/>
        </p:nvSpPr>
        <p:spPr>
          <a:xfrm>
            <a:off x="5567400" y="2512275"/>
            <a:ext cx="922500" cy="318300"/>
          </a:xfrm>
          <a:prstGeom prst="wedgeRectCallout">
            <a:avLst>
              <a:gd name="adj1" fmla="val -20433"/>
              <a:gd name="adj2" fmla="val 154716"/>
            </a:avLst>
          </a:prstGeom>
          <a:solidFill>
            <a:srgbClr val="CFE2F3"/>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Tahoma"/>
                <a:ea typeface="Tahoma"/>
                <a:cs typeface="Tahoma"/>
                <a:sym typeface="Tahoma"/>
              </a:rPr>
              <a:t>+FT staff</a:t>
            </a:r>
            <a:endParaRPr dirty="0">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0"/>
          <p:cNvSpPr txBox="1">
            <a:spLocks noGrp="1"/>
          </p:cNvSpPr>
          <p:nvPr>
            <p:ph type="title"/>
          </p:nvPr>
        </p:nvSpPr>
        <p:spPr>
          <a:xfrm>
            <a:off x="311700" y="445025"/>
            <a:ext cx="6402600" cy="56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Cross-wave Concordance Creation</a:t>
            </a:r>
            <a:endParaRPr sz="3000" dirty="0"/>
          </a:p>
        </p:txBody>
      </p:sp>
      <p:sp>
        <p:nvSpPr>
          <p:cNvPr id="81" name="Google Shape;81;p10"/>
          <p:cNvSpPr txBox="1">
            <a:spLocks noGrp="1"/>
          </p:cNvSpPr>
          <p:nvPr>
            <p:ph type="body" idx="1"/>
          </p:nvPr>
        </p:nvSpPr>
        <p:spPr>
          <a:xfrm>
            <a:off x="311700" y="1152475"/>
            <a:ext cx="8520600" cy="1897500"/>
          </a:xfrm>
          <a:prstGeom prst="rect">
            <a:avLst/>
          </a:prstGeom>
        </p:spPr>
        <p:txBody>
          <a:bodyPr spcFirstLastPara="1" wrap="square" lIns="68575" tIns="34275" rIns="68575" bIns="34275" anchor="t" anchorCtr="0">
            <a:normAutofit fontScale="62500" lnSpcReduction="20000"/>
          </a:bodyPr>
          <a:lstStyle/>
          <a:p>
            <a:pPr marL="0" lvl="0" indent="0" algn="l" rtl="0">
              <a:lnSpc>
                <a:spcPct val="115000"/>
              </a:lnSpc>
              <a:spcBef>
                <a:spcPts val="1000"/>
              </a:spcBef>
              <a:spcAft>
                <a:spcPts val="0"/>
              </a:spcAft>
              <a:buNone/>
            </a:pPr>
            <a:r>
              <a:rPr lang="en"/>
              <a:t>A concordance is documented first as a crosswalk. As we create a new or augment an existing crosswalk, we:</a:t>
            </a:r>
            <a:endParaRPr dirty="0"/>
          </a:p>
          <a:p>
            <a:pPr marL="457200" lvl="0" indent="-321945" algn="l" rtl="0">
              <a:lnSpc>
                <a:spcPct val="115000"/>
              </a:lnSpc>
              <a:spcBef>
                <a:spcPts val="1000"/>
              </a:spcBef>
              <a:spcAft>
                <a:spcPts val="0"/>
              </a:spcAft>
              <a:buSzPct val="100000"/>
              <a:buAutoNum type="arabicPeriod"/>
            </a:pPr>
            <a:r>
              <a:rPr lang="en"/>
              <a:t>Assess the comparability of related instance variables across waves</a:t>
            </a:r>
            <a:endParaRPr dirty="0"/>
          </a:p>
          <a:p>
            <a:pPr marL="914400" lvl="1" indent="-295275" algn="l" rtl="0">
              <a:lnSpc>
                <a:spcPct val="115000"/>
              </a:lnSpc>
              <a:spcBef>
                <a:spcPts val="1000"/>
              </a:spcBef>
              <a:spcAft>
                <a:spcPts val="0"/>
              </a:spcAft>
              <a:buSzPct val="100000"/>
              <a:buAutoNum type="alphaLcPeriod"/>
            </a:pPr>
            <a:r>
              <a:rPr lang="en" sz="1500"/>
              <a:t>Did researchers change how they approached a question over time? </a:t>
            </a:r>
            <a:endParaRPr sz="1500" dirty="0"/>
          </a:p>
          <a:p>
            <a:pPr marL="457200" lvl="0" indent="-321945" algn="l" rtl="0">
              <a:lnSpc>
                <a:spcPct val="115000"/>
              </a:lnSpc>
              <a:spcBef>
                <a:spcPts val="1000"/>
              </a:spcBef>
              <a:spcAft>
                <a:spcPts val="0"/>
              </a:spcAft>
              <a:buSzPct val="100000"/>
              <a:buAutoNum type="arabicPeriod"/>
            </a:pPr>
            <a:r>
              <a:rPr lang="en"/>
              <a:t>Create a conceptual variable name and label for each set of comparable instance variables</a:t>
            </a:r>
            <a:endParaRPr dirty="0"/>
          </a:p>
          <a:p>
            <a:pPr marL="457200" lvl="0" indent="-321945" algn="l" rtl="0">
              <a:lnSpc>
                <a:spcPct val="115000"/>
              </a:lnSpc>
              <a:spcBef>
                <a:spcPts val="1000"/>
              </a:spcBef>
              <a:spcAft>
                <a:spcPts val="0"/>
              </a:spcAft>
              <a:buSzPct val="100000"/>
              <a:buAutoNum type="arabicPeriod"/>
            </a:pPr>
            <a:r>
              <a:rPr lang="en"/>
              <a:t>Organize conceptual variables into concepts, or topical groups</a:t>
            </a:r>
            <a:endParaRPr dirty="0"/>
          </a:p>
        </p:txBody>
      </p:sp>
      <p:pic>
        <p:nvPicPr>
          <p:cNvPr id="82" name="Google Shape;82;p10" descr="A screenshot of an Excel spreadsheet documenting comparable variables across waves of a series. Headings are, from left to right, Conceptial varname, Conceptual varlabel, 02 varname, 04 varname, 06 varname, and so on."/>
          <p:cNvPicPr preferRelativeResize="0"/>
          <p:nvPr/>
        </p:nvPicPr>
        <p:blipFill>
          <a:blip r:embed="rId3">
            <a:alphaModFix/>
          </a:blip>
          <a:stretch>
            <a:fillRect/>
          </a:stretch>
        </p:blipFill>
        <p:spPr>
          <a:xfrm>
            <a:off x="0" y="3050133"/>
            <a:ext cx="9144000" cy="1642635"/>
          </a:xfrm>
          <a:prstGeom prst="rect">
            <a:avLst/>
          </a:prstGeom>
          <a:noFill/>
          <a:ln>
            <a:noFill/>
          </a:ln>
        </p:spPr>
      </p:pic>
      <p:sp>
        <p:nvSpPr>
          <p:cNvPr id="83" name="Google Shape;83;p10"/>
          <p:cNvSpPr txBox="1"/>
          <p:nvPr/>
        </p:nvSpPr>
        <p:spPr>
          <a:xfrm>
            <a:off x="2356800" y="4692775"/>
            <a:ext cx="4430400" cy="454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770"/>
              <a:buNone/>
            </a:pPr>
            <a:r>
              <a:rPr lang="en" sz="960">
                <a:solidFill>
                  <a:schemeClr val="dk2"/>
                </a:solidFill>
              </a:rPr>
              <a:t>HRS concordance spreadsheet, showing variables across multiple time points</a:t>
            </a:r>
            <a:endParaRPr sz="960" dirty="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1"/>
          <p:cNvSpPr txBox="1">
            <a:spLocks noGrp="1"/>
          </p:cNvSpPr>
          <p:nvPr>
            <p:ph type="title"/>
          </p:nvPr>
        </p:nvSpPr>
        <p:spPr>
          <a:xfrm>
            <a:off x="311700" y="445025"/>
            <a:ext cx="40992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Common Concepts</a:t>
            </a:r>
            <a:endParaRPr sz="3000" dirty="0"/>
          </a:p>
        </p:txBody>
      </p:sp>
      <p:sp>
        <p:nvSpPr>
          <p:cNvPr id="89" name="Google Shape;89;p11"/>
          <p:cNvSpPr txBox="1">
            <a:spLocks noGrp="1"/>
          </p:cNvSpPr>
          <p:nvPr>
            <p:ph type="body" idx="1"/>
          </p:nvPr>
        </p:nvSpPr>
        <p:spPr>
          <a:xfrm>
            <a:off x="243725" y="1160025"/>
            <a:ext cx="4260300" cy="3416400"/>
          </a:xfrm>
          <a:prstGeom prst="rect">
            <a:avLst/>
          </a:prstGeom>
        </p:spPr>
        <p:txBody>
          <a:bodyPr spcFirstLastPara="1" wrap="square" lIns="68575" tIns="34275" rIns="68575" bIns="34275" anchor="t" anchorCtr="0">
            <a:normAutofit fontScale="92500" lnSpcReduction="20000"/>
          </a:bodyPr>
          <a:lstStyle/>
          <a:p>
            <a:pPr marL="457200" lvl="0" indent="-351948" algn="l" rtl="0">
              <a:spcBef>
                <a:spcPts val="1000"/>
              </a:spcBef>
              <a:spcAft>
                <a:spcPts val="0"/>
              </a:spcAft>
              <a:buClr>
                <a:schemeClr val="dk1"/>
              </a:buClr>
              <a:buSzPct val="100000"/>
              <a:buChar char="•"/>
            </a:pPr>
            <a:r>
              <a:rPr lang="en">
                <a:solidFill>
                  <a:schemeClr val="dk1"/>
                </a:solidFill>
              </a:rPr>
              <a:t>Conceptual variable groups (or topics) are applied to all portal concordances</a:t>
            </a:r>
            <a:endParaRPr dirty="0">
              <a:solidFill>
                <a:schemeClr val="dk1"/>
              </a:solidFill>
            </a:endParaRPr>
          </a:p>
          <a:p>
            <a:pPr marL="457200" lvl="0" indent="-351948" algn="l" rtl="0">
              <a:spcBef>
                <a:spcPts val="1000"/>
              </a:spcBef>
              <a:spcAft>
                <a:spcPts val="0"/>
              </a:spcAft>
              <a:buClr>
                <a:schemeClr val="dk1"/>
              </a:buClr>
              <a:buSzPct val="100000"/>
              <a:buChar char="•"/>
            </a:pPr>
            <a:r>
              <a:rPr lang="en">
                <a:solidFill>
                  <a:schemeClr val="dk1"/>
                </a:solidFill>
              </a:rPr>
              <a:t>Concept names are pulled from the Common Concepts List when possible</a:t>
            </a:r>
            <a:endParaRPr dirty="0">
              <a:solidFill>
                <a:schemeClr val="dk1"/>
              </a:solidFill>
            </a:endParaRPr>
          </a:p>
          <a:p>
            <a:pPr marL="914400" lvl="1" indent="-334327" algn="l" rtl="0">
              <a:spcBef>
                <a:spcPts val="1000"/>
              </a:spcBef>
              <a:spcAft>
                <a:spcPts val="0"/>
              </a:spcAft>
              <a:buClr>
                <a:schemeClr val="dk1"/>
              </a:buClr>
              <a:buSzPct val="100000"/>
              <a:buChar char="•"/>
            </a:pPr>
            <a:r>
              <a:rPr lang="en">
                <a:solidFill>
                  <a:schemeClr val="dk1"/>
                </a:solidFill>
              </a:rPr>
              <a:t>List includes standardized topical headings</a:t>
            </a:r>
            <a:endParaRPr dirty="0">
              <a:solidFill>
                <a:schemeClr val="dk1"/>
              </a:solidFill>
            </a:endParaRPr>
          </a:p>
          <a:p>
            <a:pPr marL="914400" lvl="1" indent="-334327" algn="l" rtl="0">
              <a:spcBef>
                <a:spcPts val="1000"/>
              </a:spcBef>
              <a:spcAft>
                <a:spcPts val="0"/>
              </a:spcAft>
              <a:buClr>
                <a:schemeClr val="dk1"/>
              </a:buClr>
              <a:buSzPct val="100000"/>
              <a:buChar char="•"/>
            </a:pPr>
            <a:r>
              <a:rPr lang="en">
                <a:solidFill>
                  <a:schemeClr val="dk1"/>
                </a:solidFill>
              </a:rPr>
              <a:t>Updated with new/improved headings as needed</a:t>
            </a:r>
            <a:endParaRPr dirty="0">
              <a:solidFill>
                <a:schemeClr val="dk1"/>
              </a:solidFill>
            </a:endParaRPr>
          </a:p>
          <a:p>
            <a:pPr marL="914400" lvl="1" indent="-334327" algn="l" rtl="0">
              <a:spcBef>
                <a:spcPts val="1000"/>
              </a:spcBef>
              <a:spcAft>
                <a:spcPts val="0"/>
              </a:spcAft>
              <a:buClr>
                <a:schemeClr val="dk1"/>
              </a:buClr>
              <a:buSzPct val="100000"/>
              <a:buChar char="•"/>
            </a:pPr>
            <a:r>
              <a:rPr lang="en">
                <a:solidFill>
                  <a:schemeClr val="dk1"/>
                </a:solidFill>
              </a:rPr>
              <a:t>Provides reusable, linkable terminology, increasing the interoperability among all concordances</a:t>
            </a:r>
            <a:endParaRPr dirty="0">
              <a:solidFill>
                <a:schemeClr val="dk1"/>
              </a:solidFill>
            </a:endParaRPr>
          </a:p>
        </p:txBody>
      </p:sp>
      <p:pic>
        <p:nvPicPr>
          <p:cNvPr id="90" name="Google Shape;90;p11" descr="A screenshot of the NACDA Colectica portal. Topical group names are listed on the left. The subgroup Vocabulary test, under Cognitive function, is selected.  On the right, conceptual variable labels are listed in rows."/>
          <p:cNvPicPr preferRelativeResize="0"/>
          <p:nvPr/>
        </p:nvPicPr>
        <p:blipFill rotWithShape="1">
          <a:blip r:embed="rId3">
            <a:alphaModFix/>
          </a:blip>
          <a:srcRect r="38446"/>
          <a:stretch/>
        </p:blipFill>
        <p:spPr>
          <a:xfrm>
            <a:off x="4504025" y="656565"/>
            <a:ext cx="4418901" cy="406321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2"/>
          <p:cNvSpPr txBox="1"/>
          <p:nvPr/>
        </p:nvSpPr>
        <p:spPr>
          <a:xfrm>
            <a:off x="116150" y="404675"/>
            <a:ext cx="3817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dirty="0"/>
          </a:p>
        </p:txBody>
      </p:sp>
      <p:sp>
        <p:nvSpPr>
          <p:cNvPr id="96" name="Google Shape;96;p12"/>
          <p:cNvSpPr txBox="1">
            <a:spLocks noGrp="1"/>
          </p:cNvSpPr>
          <p:nvPr>
            <p:ph type="title"/>
          </p:nvPr>
        </p:nvSpPr>
        <p:spPr>
          <a:xfrm>
            <a:off x="311700" y="445025"/>
            <a:ext cx="6780300" cy="59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Cross-wave Concordance in the Portal</a:t>
            </a:r>
            <a:endParaRPr sz="3000" dirty="0"/>
          </a:p>
        </p:txBody>
      </p:sp>
      <p:pic>
        <p:nvPicPr>
          <p:cNvPr id="97" name="Google Shape;97;p12" descr="A larger screenshot of the NACDA Colectica portal. Conceptual groups on the left.  To the right is a table. At the beginning of each row is an item labeled &quot;conceptual variable labels&quot;. Column headers are labeled &quot;waves&quot;, and items listed underneath are labeled as &quot;instance variables&quot;. Numbers above each instance variable are labeled &quot;Numbers indicate representation (matching numbers = matching response domains)"/>
          <p:cNvPicPr preferRelativeResize="0"/>
          <p:nvPr/>
        </p:nvPicPr>
        <p:blipFill>
          <a:blip r:embed="rId3">
            <a:alphaModFix/>
          </a:blip>
          <a:stretch>
            <a:fillRect/>
          </a:stretch>
        </p:blipFill>
        <p:spPr>
          <a:xfrm>
            <a:off x="152400" y="1170125"/>
            <a:ext cx="8839200" cy="3540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3"/>
          <p:cNvSpPr txBox="1">
            <a:spLocks noGrp="1"/>
          </p:cNvSpPr>
          <p:nvPr>
            <p:ph type="title"/>
          </p:nvPr>
        </p:nvSpPr>
        <p:spPr>
          <a:xfrm>
            <a:off x="311700" y="445025"/>
            <a:ext cx="7603500" cy="57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Using Cross-wave to Create Cross-series</a:t>
            </a:r>
            <a:endParaRPr sz="3000" dirty="0"/>
          </a:p>
        </p:txBody>
      </p:sp>
      <p:sp>
        <p:nvSpPr>
          <p:cNvPr id="103" name="Google Shape;103;p13"/>
          <p:cNvSpPr txBox="1">
            <a:spLocks noGrp="1"/>
          </p:cNvSpPr>
          <p:nvPr>
            <p:ph type="body" idx="1"/>
          </p:nvPr>
        </p:nvSpPr>
        <p:spPr>
          <a:xfrm>
            <a:off x="311700" y="1152475"/>
            <a:ext cx="8520600" cy="1323900"/>
          </a:xfrm>
          <a:prstGeom prst="rect">
            <a:avLst/>
          </a:prstGeom>
        </p:spPr>
        <p:txBody>
          <a:bodyPr spcFirstLastPara="1" wrap="square" lIns="68575" tIns="34275" rIns="68575" bIns="34275" anchor="t" anchorCtr="0">
            <a:normAutofit fontScale="92500" lnSpcReduction="20000"/>
          </a:bodyPr>
          <a:lstStyle/>
          <a:p>
            <a:pPr marL="457200" lvl="0" indent="-341947" algn="l" rtl="0">
              <a:spcBef>
                <a:spcPts val="1000"/>
              </a:spcBef>
              <a:spcAft>
                <a:spcPts val="0"/>
              </a:spcAft>
              <a:buSzPct val="100000"/>
              <a:buAutoNum type="arabicPeriod"/>
            </a:pPr>
            <a:r>
              <a:rPr lang="en"/>
              <a:t>Compare Series A conceptual variables to Series B conceptual variables</a:t>
            </a:r>
            <a:endParaRPr dirty="0"/>
          </a:p>
          <a:p>
            <a:pPr marL="457200" lvl="0" indent="-341947" algn="l" rtl="0">
              <a:spcBef>
                <a:spcPts val="1000"/>
              </a:spcBef>
              <a:spcAft>
                <a:spcPts val="0"/>
              </a:spcAft>
              <a:buSzPct val="100000"/>
              <a:buAutoNum type="arabicPeriod"/>
            </a:pPr>
            <a:r>
              <a:rPr lang="en"/>
              <a:t>Create conceptual item label for each set of matching conceptual variables</a:t>
            </a:r>
            <a:endParaRPr dirty="0"/>
          </a:p>
          <a:p>
            <a:pPr marL="457200" lvl="0" indent="-341947" algn="l" rtl="0">
              <a:spcBef>
                <a:spcPts val="1000"/>
              </a:spcBef>
              <a:spcAft>
                <a:spcPts val="0"/>
              </a:spcAft>
              <a:buSzPct val="100000"/>
              <a:buAutoNum type="arabicPeriod"/>
            </a:pPr>
            <a:r>
              <a:rPr lang="en"/>
              <a:t>The resulting cross-series DDI-Lifecycle links Series A DDI-L to Series B DDI-L</a:t>
            </a:r>
            <a:endParaRPr dirty="0"/>
          </a:p>
        </p:txBody>
      </p:sp>
      <p:pic>
        <p:nvPicPr>
          <p:cNvPr id="104" name="Google Shape;104;p13" descr="A diagram of the contents of Cross-series DDI-Lifecycle. At the top is a box with &quot;Conceptual item label.&quot; it is connected to two hashed boxes. The hashed box on the left is Series A cross-wave DDI-L. The hashed box on the right is Series B cross-wave DDI-L. Each hashed box contains a hierarchy, with Series conceptual variable name at the top, represented variable in the middle, and three instance variables at the bottom. The entire system is surrounded by a large outline labeled &quot;Cross-series DDI-L&quot;."/>
          <p:cNvPicPr preferRelativeResize="0"/>
          <p:nvPr/>
        </p:nvPicPr>
        <p:blipFill>
          <a:blip r:embed="rId3">
            <a:alphaModFix/>
          </a:blip>
          <a:stretch>
            <a:fillRect/>
          </a:stretch>
        </p:blipFill>
        <p:spPr>
          <a:xfrm>
            <a:off x="1562287" y="2552575"/>
            <a:ext cx="6019425" cy="23623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4"/>
          <p:cNvSpPr txBox="1">
            <a:spLocks noGrp="1"/>
          </p:cNvSpPr>
          <p:nvPr>
            <p:ph type="title"/>
          </p:nvPr>
        </p:nvSpPr>
        <p:spPr>
          <a:xfrm>
            <a:off x="311700" y="445025"/>
            <a:ext cx="5957100" cy="55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Cross-series Comparability Types</a:t>
            </a:r>
            <a:endParaRPr sz="3000" dirty="0"/>
          </a:p>
        </p:txBody>
      </p:sp>
      <p:sp>
        <p:nvSpPr>
          <p:cNvPr id="110" name="Google Shape;110;p14"/>
          <p:cNvSpPr txBox="1"/>
          <p:nvPr/>
        </p:nvSpPr>
        <p:spPr>
          <a:xfrm>
            <a:off x="615626" y="1258800"/>
            <a:ext cx="2052600" cy="615600"/>
          </a:xfrm>
          <a:prstGeom prst="rect">
            <a:avLst/>
          </a:prstGeom>
          <a:solidFill>
            <a:srgbClr val="B0CAE9"/>
          </a:solidFill>
          <a:ln w="9525" cap="flat" cmpd="sng">
            <a:solidFill>
              <a:srgbClr val="629DD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600"/>
              </a:spcAft>
              <a:buNone/>
            </a:pPr>
            <a:r>
              <a:rPr lang="en" sz="1000" b="1" i="0" u="sng" strike="noStrike" cap="none">
                <a:solidFill>
                  <a:srgbClr val="000000"/>
                </a:solidFill>
              </a:rPr>
              <a:t>Directly Comparable</a:t>
            </a:r>
            <a:br>
              <a:rPr lang="en" sz="1000" b="1" i="0" u="sng" strike="noStrike" cap="none">
                <a:solidFill>
                  <a:srgbClr val="000000"/>
                </a:solidFill>
              </a:rPr>
            </a:br>
            <a:r>
              <a:rPr lang="en" sz="800" i="0" u="none" strike="noStrike" cap="none">
                <a:solidFill>
                  <a:srgbClr val="000000"/>
                </a:solidFill>
              </a:rPr>
              <a:t>No manipulation of data needed for comparison.</a:t>
            </a:r>
            <a:br>
              <a:rPr lang="en" sz="800" i="0" u="none" strike="noStrike" cap="none">
                <a:solidFill>
                  <a:srgbClr val="000000"/>
                </a:solidFill>
              </a:rPr>
            </a:br>
            <a:r>
              <a:rPr lang="en" sz="800" i="0" u="none" strike="noStrike" cap="none">
                <a:solidFill>
                  <a:srgbClr val="000000"/>
                </a:solidFill>
              </a:rPr>
              <a:t>Question phrasing and values match. </a:t>
            </a:r>
            <a:endParaRPr sz="2800" i="0" u="none" strike="noStrike" cap="none" dirty="0">
              <a:solidFill>
                <a:srgbClr val="000000"/>
              </a:solidFill>
            </a:endParaRPr>
          </a:p>
        </p:txBody>
      </p:sp>
      <p:pic>
        <p:nvPicPr>
          <p:cNvPr id="111" name="Google Shape;111;p14" descr="Table showing an example of a directly comparable relationship between NSHAP and NHATS variables."/>
          <p:cNvPicPr preferRelativeResize="0"/>
          <p:nvPr/>
        </p:nvPicPr>
        <p:blipFill rotWithShape="1">
          <a:blip r:embed="rId3">
            <a:alphaModFix/>
          </a:blip>
          <a:srcRect/>
          <a:stretch/>
        </p:blipFill>
        <p:spPr>
          <a:xfrm>
            <a:off x="4025575" y="1263550"/>
            <a:ext cx="3087576" cy="606100"/>
          </a:xfrm>
          <a:prstGeom prst="rect">
            <a:avLst/>
          </a:prstGeom>
          <a:noFill/>
          <a:ln>
            <a:noFill/>
          </a:ln>
        </p:spPr>
      </p:pic>
      <p:sp>
        <p:nvSpPr>
          <p:cNvPr id="112" name="Google Shape;112;p14"/>
          <p:cNvSpPr txBox="1"/>
          <p:nvPr/>
        </p:nvSpPr>
        <p:spPr>
          <a:xfrm>
            <a:off x="477175" y="2302350"/>
            <a:ext cx="2329500" cy="492600"/>
          </a:xfrm>
          <a:prstGeom prst="rect">
            <a:avLst/>
          </a:prstGeom>
          <a:solidFill>
            <a:srgbClr val="B0CAE9"/>
          </a:solidFill>
          <a:ln w="9525" cap="flat" cmpd="sng">
            <a:solidFill>
              <a:srgbClr val="629DD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600"/>
              </a:spcAft>
              <a:buNone/>
            </a:pPr>
            <a:r>
              <a:rPr lang="en" sz="1000" b="1" i="0" u="sng" strike="noStrike" cap="none">
                <a:solidFill>
                  <a:srgbClr val="000000"/>
                </a:solidFill>
              </a:rPr>
              <a:t>Need Harmonization</a:t>
            </a:r>
            <a:br>
              <a:rPr lang="en" sz="1000" b="1" i="0" u="sng" strike="noStrike" cap="none">
                <a:solidFill>
                  <a:srgbClr val="000000"/>
                </a:solidFill>
              </a:rPr>
            </a:br>
            <a:r>
              <a:rPr lang="en" sz="800" i="0" u="none" strike="noStrike" cap="none">
                <a:solidFill>
                  <a:srgbClr val="000000"/>
                </a:solidFill>
              </a:rPr>
              <a:t>Variables must be adjusted to be compared. </a:t>
            </a:r>
            <a:br>
              <a:rPr lang="en" sz="800" i="0" u="none" strike="noStrike" cap="none">
                <a:solidFill>
                  <a:srgbClr val="000000"/>
                </a:solidFill>
              </a:rPr>
            </a:br>
            <a:r>
              <a:rPr lang="en" sz="800" i="0" u="none" strike="noStrike" cap="none">
                <a:solidFill>
                  <a:srgbClr val="000000"/>
                </a:solidFill>
              </a:rPr>
              <a:t>Questions more/less match, but values differ.</a:t>
            </a:r>
            <a:endParaRPr sz="2800" i="0" u="none" strike="noStrike" cap="none" dirty="0">
              <a:solidFill>
                <a:srgbClr val="000000"/>
              </a:solidFill>
            </a:endParaRPr>
          </a:p>
        </p:txBody>
      </p:sp>
      <p:pic>
        <p:nvPicPr>
          <p:cNvPr id="113" name="Google Shape;113;p14" descr="Table showing an example of a &quot;needs harmonization&quot; relationship between NSHAP and NHATS variables."/>
          <p:cNvPicPr preferRelativeResize="0"/>
          <p:nvPr/>
        </p:nvPicPr>
        <p:blipFill rotWithShape="1">
          <a:blip r:embed="rId4">
            <a:alphaModFix/>
          </a:blip>
          <a:srcRect/>
          <a:stretch/>
        </p:blipFill>
        <p:spPr>
          <a:xfrm>
            <a:off x="2971063" y="2223187"/>
            <a:ext cx="5667462" cy="697125"/>
          </a:xfrm>
          <a:prstGeom prst="rect">
            <a:avLst/>
          </a:prstGeom>
          <a:noFill/>
          <a:ln>
            <a:noFill/>
          </a:ln>
        </p:spPr>
      </p:pic>
      <p:sp>
        <p:nvSpPr>
          <p:cNvPr id="114" name="Google Shape;114;p14"/>
          <p:cNvSpPr txBox="1"/>
          <p:nvPr/>
        </p:nvSpPr>
        <p:spPr>
          <a:xfrm>
            <a:off x="572426" y="3222906"/>
            <a:ext cx="2139000" cy="492600"/>
          </a:xfrm>
          <a:prstGeom prst="rect">
            <a:avLst/>
          </a:prstGeom>
          <a:solidFill>
            <a:srgbClr val="B0CAE9"/>
          </a:solidFill>
          <a:ln w="9525" cap="flat" cmpd="sng">
            <a:solidFill>
              <a:srgbClr val="629DD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600"/>
              </a:spcAft>
              <a:buNone/>
            </a:pPr>
            <a:r>
              <a:rPr lang="en" sz="1000" b="1" i="0" u="sng" strike="noStrike" cap="none">
                <a:solidFill>
                  <a:srgbClr val="000000"/>
                </a:solidFill>
              </a:rPr>
              <a:t>One to Many / Many to One</a:t>
            </a:r>
            <a:br>
              <a:rPr lang="en" sz="1000" b="1" i="0" u="sng" strike="noStrike" cap="none">
                <a:solidFill>
                  <a:srgbClr val="000000"/>
                </a:solidFill>
              </a:rPr>
            </a:br>
            <a:r>
              <a:rPr lang="en" sz="800" i="0" u="none" strike="noStrike" cap="none">
                <a:solidFill>
                  <a:srgbClr val="000000"/>
                </a:solidFill>
              </a:rPr>
              <a:t>Multiple variables in one series combine to match a single variable in another</a:t>
            </a:r>
            <a:r>
              <a:rPr lang="en" sz="800" b="0" i="0" u="none" strike="noStrike" cap="none">
                <a:solidFill>
                  <a:srgbClr val="000000"/>
                </a:solidFill>
                <a:latin typeface="Century Schoolbook"/>
                <a:ea typeface="Century Schoolbook"/>
                <a:cs typeface="Century Schoolbook"/>
                <a:sym typeface="Century Schoolbook"/>
              </a:rPr>
              <a:t>.</a:t>
            </a:r>
            <a:endParaRPr sz="2800" b="0" i="0" u="none" strike="noStrike" cap="none" dirty="0">
              <a:solidFill>
                <a:srgbClr val="000000"/>
              </a:solidFill>
              <a:latin typeface="Trebuchet MS"/>
              <a:ea typeface="Trebuchet MS"/>
              <a:cs typeface="Trebuchet MS"/>
              <a:sym typeface="Trebuchet MS"/>
            </a:endParaRPr>
          </a:p>
        </p:txBody>
      </p:sp>
      <p:pic>
        <p:nvPicPr>
          <p:cNvPr id="115" name="Google Shape;115;p14" descr="Table showing an example of a &quot;one to many&quot; relationship between NSHAP and NHATS variables."/>
          <p:cNvPicPr preferRelativeResize="0"/>
          <p:nvPr/>
        </p:nvPicPr>
        <p:blipFill rotWithShape="1">
          <a:blip r:embed="rId5">
            <a:alphaModFix/>
          </a:blip>
          <a:srcRect/>
          <a:stretch/>
        </p:blipFill>
        <p:spPr>
          <a:xfrm>
            <a:off x="3739850" y="3177687"/>
            <a:ext cx="4129899" cy="606100"/>
          </a:xfrm>
          <a:prstGeom prst="rect">
            <a:avLst/>
          </a:prstGeom>
          <a:noFill/>
          <a:ln>
            <a:noFill/>
          </a:ln>
        </p:spPr>
      </p:pic>
      <p:sp>
        <p:nvSpPr>
          <p:cNvPr id="116" name="Google Shape;116;p14"/>
          <p:cNvSpPr txBox="1"/>
          <p:nvPr/>
        </p:nvSpPr>
        <p:spPr>
          <a:xfrm>
            <a:off x="477175" y="4143450"/>
            <a:ext cx="2191052" cy="569346"/>
          </a:xfrm>
          <a:prstGeom prst="rect">
            <a:avLst/>
          </a:prstGeom>
          <a:solidFill>
            <a:srgbClr val="B0CAE9"/>
          </a:solidFill>
          <a:ln w="9525" cap="flat" cmpd="sng">
            <a:solidFill>
              <a:srgbClr val="629DD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600"/>
              </a:spcAft>
              <a:buNone/>
            </a:pPr>
            <a:r>
              <a:rPr lang="en" sz="1000" b="1" i="0" u="sng" strike="noStrike" cap="none" dirty="0">
                <a:solidFill>
                  <a:srgbClr val="000000"/>
                </a:solidFill>
              </a:rPr>
              <a:t>Related Concepts</a:t>
            </a:r>
            <a:br>
              <a:rPr lang="en" sz="1000" i="0" u="none" strike="noStrike" cap="none" dirty="0">
                <a:solidFill>
                  <a:srgbClr val="000000"/>
                </a:solidFill>
              </a:rPr>
            </a:br>
            <a:r>
              <a:rPr lang="en" sz="800" i="0" u="none" strike="noStrike" cap="none" dirty="0">
                <a:solidFill>
                  <a:srgbClr val="000000"/>
                </a:solidFill>
              </a:rPr>
              <a:t>Subject matter is related, but variables do not precisely measure the same concept. </a:t>
            </a:r>
            <a:endParaRPr sz="2800" i="0" u="none" strike="noStrike" cap="none" dirty="0">
              <a:solidFill>
                <a:srgbClr val="000000"/>
              </a:solidFill>
            </a:endParaRPr>
          </a:p>
        </p:txBody>
      </p:sp>
      <p:pic>
        <p:nvPicPr>
          <p:cNvPr id="117" name="Google Shape;117;p14" descr="Table showing an example of a &quot;related concepts&quot; relationship between NSHAP and NHATS variables."/>
          <p:cNvPicPr preferRelativeResize="0"/>
          <p:nvPr/>
        </p:nvPicPr>
        <p:blipFill rotWithShape="1">
          <a:blip r:embed="rId6">
            <a:alphaModFix/>
          </a:blip>
          <a:srcRect/>
          <a:stretch/>
        </p:blipFill>
        <p:spPr>
          <a:xfrm>
            <a:off x="3532713" y="4041188"/>
            <a:ext cx="4337029" cy="697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5"/>
          <p:cNvSpPr txBox="1">
            <a:spLocks noGrp="1"/>
          </p:cNvSpPr>
          <p:nvPr>
            <p:ph type="title"/>
          </p:nvPr>
        </p:nvSpPr>
        <p:spPr>
          <a:xfrm>
            <a:off x="311700" y="445025"/>
            <a:ext cx="4794000" cy="58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Multi-series Comparisons</a:t>
            </a:r>
            <a:endParaRPr sz="3000" dirty="0"/>
          </a:p>
        </p:txBody>
      </p:sp>
      <p:sp>
        <p:nvSpPr>
          <p:cNvPr id="123" name="Google Shape;123;p15"/>
          <p:cNvSpPr txBox="1">
            <a:spLocks noGrp="1"/>
          </p:cNvSpPr>
          <p:nvPr>
            <p:ph type="body" idx="1"/>
          </p:nvPr>
        </p:nvSpPr>
        <p:spPr>
          <a:xfrm>
            <a:off x="311700" y="1152475"/>
            <a:ext cx="5357100" cy="3416400"/>
          </a:xfrm>
          <a:prstGeom prst="rect">
            <a:avLst/>
          </a:prstGeom>
        </p:spPr>
        <p:txBody>
          <a:bodyPr spcFirstLastPara="1" wrap="square" lIns="68575" tIns="34275" rIns="68575" bIns="34275" anchor="t" anchorCtr="0">
            <a:normAutofit fontScale="85000" lnSpcReduction="10000"/>
          </a:bodyPr>
          <a:lstStyle/>
          <a:p>
            <a:pPr marL="457200" lvl="0" indent="-322580" algn="l" rtl="0">
              <a:lnSpc>
                <a:spcPct val="115000"/>
              </a:lnSpc>
              <a:spcBef>
                <a:spcPts val="1000"/>
              </a:spcBef>
              <a:spcAft>
                <a:spcPts val="0"/>
              </a:spcAft>
              <a:buSzPct val="100000"/>
              <a:buChar char="•"/>
            </a:pPr>
            <a:r>
              <a:rPr lang="en" sz="1600"/>
              <a:t>Designed to compare the conceptual variables in multiple series to those in a baseline series</a:t>
            </a:r>
            <a:endParaRPr sz="1600" dirty="0"/>
          </a:p>
          <a:p>
            <a:pPr marL="457200" lvl="0" indent="-322580" algn="l" rtl="0">
              <a:spcBef>
                <a:spcPts val="1000"/>
              </a:spcBef>
              <a:spcAft>
                <a:spcPts val="0"/>
              </a:spcAft>
              <a:buSzPct val="100000"/>
              <a:buChar char="•"/>
            </a:pPr>
            <a:r>
              <a:rPr lang="en" sz="1600"/>
              <a:t>In our first multi-series concordance, the Health and Retirement Series (HRS) served as the baseline series</a:t>
            </a:r>
            <a:endParaRPr sz="1600" dirty="0"/>
          </a:p>
          <a:p>
            <a:pPr marL="457200" lvl="0" indent="-322580" algn="l" rtl="0">
              <a:lnSpc>
                <a:spcPct val="115000"/>
              </a:lnSpc>
              <a:spcBef>
                <a:spcPts val="1000"/>
              </a:spcBef>
              <a:spcAft>
                <a:spcPts val="0"/>
              </a:spcAft>
              <a:buSzPct val="100000"/>
              <a:buChar char="•"/>
            </a:pPr>
            <a:r>
              <a:rPr lang="en" sz="1600"/>
              <a:t>Other series included:</a:t>
            </a:r>
            <a:endParaRPr sz="1600" dirty="0"/>
          </a:p>
          <a:p>
            <a:pPr marL="914400" lvl="1" indent="-316706" algn="l" rtl="0">
              <a:lnSpc>
                <a:spcPct val="115000"/>
              </a:lnSpc>
              <a:spcBef>
                <a:spcPts val="1000"/>
              </a:spcBef>
              <a:spcAft>
                <a:spcPts val="0"/>
              </a:spcAft>
              <a:buSzPct val="100000"/>
              <a:buChar char="•"/>
            </a:pPr>
            <a:r>
              <a:rPr lang="en" sz="1500"/>
              <a:t>Midlife in the United States (MIDUS)</a:t>
            </a:r>
            <a:endParaRPr sz="1500" dirty="0"/>
          </a:p>
          <a:p>
            <a:pPr marL="914400" lvl="1" indent="-316706" algn="l" rtl="0">
              <a:lnSpc>
                <a:spcPct val="115000"/>
              </a:lnSpc>
              <a:spcBef>
                <a:spcPts val="1000"/>
              </a:spcBef>
              <a:spcAft>
                <a:spcPts val="0"/>
              </a:spcAft>
              <a:buSzPct val="100000"/>
              <a:buChar char="•"/>
            </a:pPr>
            <a:r>
              <a:rPr lang="en" sz="1500"/>
              <a:t>National Social Life, Health, and Aging Project (NSHAP)</a:t>
            </a:r>
            <a:endParaRPr sz="1500" dirty="0"/>
          </a:p>
          <a:p>
            <a:pPr marL="914400" lvl="1" indent="-316706" algn="l" rtl="0">
              <a:lnSpc>
                <a:spcPct val="115000"/>
              </a:lnSpc>
              <a:spcBef>
                <a:spcPts val="1000"/>
              </a:spcBef>
              <a:spcAft>
                <a:spcPts val="0"/>
              </a:spcAft>
              <a:buSzPct val="100000"/>
              <a:buChar char="•"/>
            </a:pPr>
            <a:r>
              <a:rPr lang="en" sz="1500"/>
              <a:t>National Health and Aging Trends Study (NHATS)</a:t>
            </a:r>
            <a:endParaRPr sz="1500" dirty="0"/>
          </a:p>
          <a:p>
            <a:pPr marL="914400" lvl="1" indent="-316706" algn="l" rtl="0">
              <a:lnSpc>
                <a:spcPct val="115000"/>
              </a:lnSpc>
              <a:spcBef>
                <a:spcPts val="1000"/>
              </a:spcBef>
              <a:spcAft>
                <a:spcPts val="0"/>
              </a:spcAft>
              <a:buSzPct val="100000"/>
              <a:buChar char="•"/>
            </a:pPr>
            <a:r>
              <a:rPr lang="en" sz="1500"/>
              <a:t>The Irish Longitudinal Study on Ageing (TILDA)</a:t>
            </a:r>
            <a:endParaRPr sz="1500" dirty="0"/>
          </a:p>
          <a:p>
            <a:pPr marL="914400" lvl="1" indent="-316706" algn="l" rtl="0">
              <a:lnSpc>
                <a:spcPct val="115000"/>
              </a:lnSpc>
              <a:spcBef>
                <a:spcPts val="1000"/>
              </a:spcBef>
              <a:spcAft>
                <a:spcPts val="0"/>
              </a:spcAft>
              <a:buSzPct val="100000"/>
              <a:buChar char="•"/>
            </a:pPr>
            <a:r>
              <a:rPr lang="en" sz="1500"/>
              <a:t>Health and Aging in Africa: A Longitudinal Study of an INDEPTH Community in South Africa (HAALSI)</a:t>
            </a:r>
            <a:endParaRPr sz="1500" dirty="0"/>
          </a:p>
        </p:txBody>
      </p:sp>
      <p:pic>
        <p:nvPicPr>
          <p:cNvPr id="124" name="Google Shape;124;p15" descr="A diagram of the 6 series that are included in our first multi-series concordance. HRS is along on the left. MIDUS, NSHAP, NHATS, TILDA, and HAALSI are all on the right, with an arrow pointing from each to HRS."/>
          <p:cNvPicPr preferRelativeResize="0"/>
          <p:nvPr/>
        </p:nvPicPr>
        <p:blipFill>
          <a:blip r:embed="rId3">
            <a:alphaModFix/>
          </a:blip>
          <a:stretch>
            <a:fillRect/>
          </a:stretch>
        </p:blipFill>
        <p:spPr>
          <a:xfrm>
            <a:off x="5592600" y="1170125"/>
            <a:ext cx="3170400" cy="322738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6"/>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Multi-series Concordance Creation</a:t>
            </a:r>
            <a:endParaRPr sz="3000" dirty="0"/>
          </a:p>
        </p:txBody>
      </p:sp>
      <p:sp>
        <p:nvSpPr>
          <p:cNvPr id="130" name="Google Shape;130;p16"/>
          <p:cNvSpPr txBox="1">
            <a:spLocks noGrp="1"/>
          </p:cNvSpPr>
          <p:nvPr>
            <p:ph type="body" idx="1"/>
          </p:nvPr>
        </p:nvSpPr>
        <p:spPr>
          <a:xfrm>
            <a:off x="311700" y="3264975"/>
            <a:ext cx="8520600" cy="1456200"/>
          </a:xfrm>
          <a:prstGeom prst="rect">
            <a:avLst/>
          </a:prstGeom>
        </p:spPr>
        <p:txBody>
          <a:bodyPr spcFirstLastPara="1" wrap="square" lIns="68575" tIns="34275" rIns="68575" bIns="34275" anchor="t" anchorCtr="0">
            <a:normAutofit fontScale="85000" lnSpcReduction="20000"/>
          </a:bodyPr>
          <a:lstStyle/>
          <a:p>
            <a:pPr marL="457200" lvl="0" indent="-341947" algn="l" rtl="0">
              <a:spcBef>
                <a:spcPts val="1000"/>
              </a:spcBef>
              <a:spcAft>
                <a:spcPts val="0"/>
              </a:spcAft>
              <a:buSzPct val="100000"/>
              <a:buAutoNum type="arabicPeriod"/>
            </a:pPr>
            <a:r>
              <a:rPr lang="en"/>
              <a:t>Add comparable conceptual variables from each series’ cross-wave concordance</a:t>
            </a:r>
            <a:endParaRPr dirty="0"/>
          </a:p>
          <a:p>
            <a:pPr marL="457200" lvl="0" indent="-341947" algn="l" rtl="0">
              <a:spcBef>
                <a:spcPts val="1000"/>
              </a:spcBef>
              <a:spcAft>
                <a:spcPts val="0"/>
              </a:spcAft>
              <a:buSzPct val="100000"/>
              <a:buAutoNum type="arabicPeriod"/>
            </a:pPr>
            <a:r>
              <a:rPr lang="en"/>
              <a:t>Create a new conceptual item (variable group) for each cluster of matched variables</a:t>
            </a:r>
            <a:endParaRPr dirty="0"/>
          </a:p>
          <a:p>
            <a:pPr marL="457200" lvl="0" indent="-341947" algn="l" rtl="0">
              <a:spcBef>
                <a:spcPts val="1000"/>
              </a:spcBef>
              <a:spcAft>
                <a:spcPts val="0"/>
              </a:spcAft>
              <a:buSzPct val="100000"/>
              <a:buAutoNum type="arabicPeriod"/>
            </a:pPr>
            <a:r>
              <a:rPr lang="en"/>
              <a:t>Organize conceptual items into topical groups and subgroups for browsability</a:t>
            </a:r>
            <a:endParaRPr dirty="0"/>
          </a:p>
        </p:txBody>
      </p:sp>
      <p:pic>
        <p:nvPicPr>
          <p:cNvPr id="131" name="Google Shape;131;p16" descr="A screenshot of an Excel spreadsheet documenting comparable variables across multiple longitudinal series. . Headings are, from left to right, Topical Group, Topical Subgroup, New common conceptual variable label, HRS con-var-name, NSHAP con-var-name, MIDUS con-var-name, and so on."/>
          <p:cNvPicPr preferRelativeResize="0"/>
          <p:nvPr/>
        </p:nvPicPr>
        <p:blipFill>
          <a:blip r:embed="rId3">
            <a:alphaModFix/>
          </a:blip>
          <a:stretch>
            <a:fillRect/>
          </a:stretch>
        </p:blipFill>
        <p:spPr>
          <a:xfrm>
            <a:off x="0" y="1051200"/>
            <a:ext cx="9143998" cy="202789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7"/>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dirty="0"/>
              <a:t>Comparability in Multi-series</a:t>
            </a:r>
            <a:endParaRPr sz="3000" dirty="0"/>
          </a:p>
        </p:txBody>
      </p:sp>
      <p:sp>
        <p:nvSpPr>
          <p:cNvPr id="137" name="Google Shape;137;p17"/>
          <p:cNvSpPr txBox="1">
            <a:spLocks noGrp="1"/>
          </p:cNvSpPr>
          <p:nvPr>
            <p:ph type="body" idx="1"/>
          </p:nvPr>
        </p:nvSpPr>
        <p:spPr>
          <a:xfrm>
            <a:off x="311700" y="1043754"/>
            <a:ext cx="8520600" cy="1907400"/>
          </a:xfrm>
          <a:prstGeom prst="rect">
            <a:avLst/>
          </a:prstGeom>
        </p:spPr>
        <p:txBody>
          <a:bodyPr spcFirstLastPara="1" wrap="square" lIns="68575" tIns="34275" rIns="68575" bIns="34275" anchor="t" anchorCtr="0">
            <a:normAutofit/>
          </a:bodyPr>
          <a:lstStyle/>
          <a:p>
            <a:pPr marL="457200" lvl="0" indent="-336550" algn="l" rtl="0">
              <a:spcBef>
                <a:spcPts val="800"/>
              </a:spcBef>
              <a:spcAft>
                <a:spcPts val="0"/>
              </a:spcAft>
              <a:buSzPts val="1700"/>
              <a:buChar char="•"/>
            </a:pPr>
            <a:r>
              <a:rPr lang="en" sz="1700" dirty="0"/>
              <a:t>The multi-series (3+ series) concordance includes the same kind of matches as a cross-series (2 series) concordance, but</a:t>
            </a:r>
            <a:r>
              <a:rPr lang="en" sz="1700" b="1" dirty="0"/>
              <a:t> does not list</a:t>
            </a:r>
            <a:r>
              <a:rPr lang="en" sz="1700" dirty="0"/>
              <a:t> comparability type</a:t>
            </a:r>
            <a:endParaRPr sz="1700" dirty="0"/>
          </a:p>
          <a:p>
            <a:pPr marL="914400" lvl="1" indent="-311150" algn="l" rtl="0">
              <a:spcBef>
                <a:spcPts val="400"/>
              </a:spcBef>
              <a:spcAft>
                <a:spcPts val="0"/>
              </a:spcAft>
              <a:buSzPts val="1300"/>
              <a:buChar char="•"/>
            </a:pPr>
            <a:r>
              <a:rPr lang="en" sz="1300" dirty="0"/>
              <a:t>An HRS variable can have multiple matches that represent multiple “comparability types”</a:t>
            </a:r>
            <a:endParaRPr sz="1300" dirty="0"/>
          </a:p>
          <a:p>
            <a:pPr marL="914400" lvl="1" indent="-311150" algn="l" rtl="0">
              <a:spcBef>
                <a:spcPts val="400"/>
              </a:spcBef>
              <a:spcAft>
                <a:spcPts val="0"/>
              </a:spcAft>
              <a:buSzPts val="1300"/>
              <a:buChar char="•"/>
            </a:pPr>
            <a:r>
              <a:rPr lang="en" sz="1300" dirty="0"/>
              <a:t>Comparability is </a:t>
            </a:r>
            <a:r>
              <a:rPr lang="en" sz="1300" b="1" dirty="0"/>
              <a:t>only </a:t>
            </a:r>
            <a:r>
              <a:rPr lang="en" sz="1300" dirty="0"/>
              <a:t>assessed for matches to HRS, not for the other series to one another</a:t>
            </a:r>
            <a:endParaRPr sz="1300" dirty="0"/>
          </a:p>
          <a:p>
            <a:pPr marL="457200" lvl="0" indent="-336550" algn="l" rtl="0">
              <a:spcBef>
                <a:spcPts val="800"/>
              </a:spcBef>
              <a:spcAft>
                <a:spcPts val="0"/>
              </a:spcAft>
              <a:buSzPts val="1700"/>
              <a:buChar char="•"/>
            </a:pPr>
            <a:r>
              <a:rPr lang="en" sz="1700" dirty="0">
                <a:highlight>
                  <a:schemeClr val="lt1"/>
                </a:highlight>
              </a:rPr>
              <a:t>Users can still easily assess comparability between two variables</a:t>
            </a:r>
            <a:endParaRPr sz="1700" dirty="0">
              <a:highlight>
                <a:schemeClr val="lt1"/>
              </a:highlight>
            </a:endParaRPr>
          </a:p>
          <a:p>
            <a:pPr marL="914400" lvl="1" indent="-311150" algn="l" rtl="0">
              <a:spcBef>
                <a:spcPts val="400"/>
              </a:spcBef>
              <a:spcAft>
                <a:spcPts val="0"/>
              </a:spcAft>
              <a:buSzPts val="1300"/>
              <a:buChar char="•"/>
            </a:pPr>
            <a:r>
              <a:rPr lang="en" sz="1300" dirty="0">
                <a:highlight>
                  <a:schemeClr val="lt1"/>
                </a:highlight>
              </a:rPr>
              <a:t>Question text, values, and value labels are all linked</a:t>
            </a:r>
            <a:endParaRPr sz="1300" dirty="0"/>
          </a:p>
        </p:txBody>
      </p:sp>
      <p:pic>
        <p:nvPicPr>
          <p:cNvPr id="138" name="Google Shape;138;p17" descr="A screenshot of 3 conceptual items from the HRS multi-series concordance as they appear on the portal. Items listed are &quot;Felt depressed&quot;, &quot;Felt everything was an effort&quot;, and &quot;Sleep was restless.&quot; None of them have any additional text."/>
          <p:cNvPicPr preferRelativeResize="0"/>
          <p:nvPr/>
        </p:nvPicPr>
        <p:blipFill>
          <a:blip r:embed="rId3">
            <a:alphaModFix/>
          </a:blip>
          <a:stretch>
            <a:fillRect/>
          </a:stretch>
        </p:blipFill>
        <p:spPr>
          <a:xfrm>
            <a:off x="1531100" y="2951154"/>
            <a:ext cx="2334275" cy="1442450"/>
          </a:xfrm>
          <a:prstGeom prst="rect">
            <a:avLst/>
          </a:prstGeom>
          <a:noFill/>
          <a:ln w="9525" cap="flat" cmpd="sng">
            <a:solidFill>
              <a:schemeClr val="dk2"/>
            </a:solidFill>
            <a:prstDash val="solid"/>
            <a:round/>
            <a:headEnd type="none" w="sm" len="sm"/>
            <a:tailEnd type="none" w="sm" len="sm"/>
          </a:ln>
        </p:spPr>
      </p:pic>
      <p:sp>
        <p:nvSpPr>
          <p:cNvPr id="139" name="Google Shape;139;p17"/>
          <p:cNvSpPr txBox="1"/>
          <p:nvPr/>
        </p:nvSpPr>
        <p:spPr>
          <a:xfrm>
            <a:off x="1531099" y="4418050"/>
            <a:ext cx="2561201" cy="5412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 sz="1800" dirty="0">
                <a:solidFill>
                  <a:schemeClr val="dk2"/>
                </a:solidFill>
              </a:rPr>
              <a:t>HRS Multi-series conceptual items on the Portal</a:t>
            </a:r>
            <a:endParaRPr sz="1800" dirty="0">
              <a:solidFill>
                <a:schemeClr val="dk2"/>
              </a:solidFill>
            </a:endParaRPr>
          </a:p>
        </p:txBody>
      </p:sp>
      <p:sp>
        <p:nvSpPr>
          <p:cNvPr id="140" name="Google Shape;140;p17"/>
          <p:cNvSpPr txBox="1"/>
          <p:nvPr/>
        </p:nvSpPr>
        <p:spPr>
          <a:xfrm>
            <a:off x="4942225" y="4447300"/>
            <a:ext cx="2443750" cy="48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dk2"/>
                </a:solidFill>
              </a:rPr>
              <a:t>NSHAP-NHATS Cross-series conceptual items on the Portal</a:t>
            </a:r>
            <a:endParaRPr sz="1300" dirty="0">
              <a:solidFill>
                <a:schemeClr val="dk2"/>
              </a:solidFill>
            </a:endParaRPr>
          </a:p>
        </p:txBody>
      </p:sp>
      <p:pic>
        <p:nvPicPr>
          <p:cNvPr id="141" name="Google Shape;141;p17" descr="A screenshot of 3 conceptual items from the NSHAP-NHATS cross-series concordance as they appear on the portal. Items listed are &quot;Frequency felt depressed,&quot; with additional text beneath stating &quot;Comparability: need harmonization&quot;; &quot;Frequency felt happy&quot;, with additional text beneath stating &quot;Comparability: need harmonization,&quot; ; and &quot;Frequency enjoyed life,&quot; with additional text beneath stating &quot;Comparability: related concepts.&quot;"/>
          <p:cNvPicPr preferRelativeResize="0"/>
          <p:nvPr/>
        </p:nvPicPr>
        <p:blipFill>
          <a:blip r:embed="rId4">
            <a:alphaModFix/>
          </a:blip>
          <a:stretch>
            <a:fillRect/>
          </a:stretch>
        </p:blipFill>
        <p:spPr>
          <a:xfrm>
            <a:off x="5051700" y="2938572"/>
            <a:ext cx="2334275" cy="1455032"/>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8"/>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Multi-series in Colectica Portal</a:t>
            </a:r>
            <a:endParaRPr sz="3000" dirty="0"/>
          </a:p>
        </p:txBody>
      </p:sp>
      <p:pic>
        <p:nvPicPr>
          <p:cNvPr id="147" name="Google Shape;147;p18" descr="A larger screenshot of the NACDA Colectica portal. Topical groups on the left.  To the right is a table. At the beginning of each row is an item labeled &quot;conceptual item labels&quot;. Column headers are labeled &quot;waves from each series&quot;, and items listed underneath are labeled as &quot;instance variables&quot;."/>
          <p:cNvPicPr preferRelativeResize="0"/>
          <p:nvPr/>
        </p:nvPicPr>
        <p:blipFill>
          <a:blip r:embed="rId3">
            <a:alphaModFix/>
          </a:blip>
          <a:stretch>
            <a:fillRect/>
          </a:stretch>
        </p:blipFill>
        <p:spPr>
          <a:xfrm>
            <a:off x="200925" y="1278425"/>
            <a:ext cx="8742151" cy="3632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9"/>
          <p:cNvSpPr txBox="1">
            <a:spLocks noGrp="1"/>
          </p:cNvSpPr>
          <p:nvPr>
            <p:ph type="title"/>
          </p:nvPr>
        </p:nvSpPr>
        <p:spPr>
          <a:xfrm>
            <a:off x="319250" y="309075"/>
            <a:ext cx="8283600" cy="49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Longitudinal Data Series in the NACDA Portal </a:t>
            </a:r>
            <a:endParaRPr sz="3000" dirty="0"/>
          </a:p>
        </p:txBody>
      </p:sp>
      <p:graphicFrame>
        <p:nvGraphicFramePr>
          <p:cNvPr id="153" name="Google Shape;153;p19"/>
          <p:cNvGraphicFramePr/>
          <p:nvPr/>
        </p:nvGraphicFramePr>
        <p:xfrm>
          <a:off x="243713" y="801075"/>
          <a:ext cx="8656575" cy="3892973"/>
        </p:xfrm>
        <a:graphic>
          <a:graphicData uri="http://schemas.openxmlformats.org/drawingml/2006/table">
            <a:tbl>
              <a:tblPr>
                <a:noFill/>
                <a:tableStyleId>{923E210B-3847-41DA-844F-4212DD53DD3A}</a:tableStyleId>
              </a:tblPr>
              <a:tblGrid>
                <a:gridCol w="1170675">
                  <a:extLst>
                    <a:ext uri="{9D8B030D-6E8A-4147-A177-3AD203B41FA5}">
                      <a16:colId xmlns:a16="http://schemas.microsoft.com/office/drawing/2014/main" val="20000"/>
                    </a:ext>
                  </a:extLst>
                </a:gridCol>
                <a:gridCol w="4416100">
                  <a:extLst>
                    <a:ext uri="{9D8B030D-6E8A-4147-A177-3AD203B41FA5}">
                      <a16:colId xmlns:a16="http://schemas.microsoft.com/office/drawing/2014/main" val="20001"/>
                    </a:ext>
                  </a:extLst>
                </a:gridCol>
                <a:gridCol w="736300">
                  <a:extLst>
                    <a:ext uri="{9D8B030D-6E8A-4147-A177-3AD203B41FA5}">
                      <a16:colId xmlns:a16="http://schemas.microsoft.com/office/drawing/2014/main" val="20002"/>
                    </a:ext>
                  </a:extLst>
                </a:gridCol>
                <a:gridCol w="2333500">
                  <a:extLst>
                    <a:ext uri="{9D8B030D-6E8A-4147-A177-3AD203B41FA5}">
                      <a16:colId xmlns:a16="http://schemas.microsoft.com/office/drawing/2014/main" val="20003"/>
                    </a:ext>
                  </a:extLst>
                </a:gridCol>
              </a:tblGrid>
              <a:tr h="379400">
                <a:tc>
                  <a:txBody>
                    <a:bodyPr/>
                    <a:lstStyle/>
                    <a:p>
                      <a:pPr marL="0" lvl="0" indent="0" algn="l" rtl="0">
                        <a:spcBef>
                          <a:spcPts val="0"/>
                        </a:spcBef>
                        <a:spcAft>
                          <a:spcPts val="0"/>
                        </a:spcAft>
                        <a:buNone/>
                      </a:pPr>
                      <a:r>
                        <a:rPr lang="en" sz="1000" b="1"/>
                        <a:t>Shortname</a:t>
                      </a:r>
                      <a:endParaRPr sz="1000" b="1"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4C2F4"/>
                    </a:solidFill>
                  </a:tcPr>
                </a:tc>
                <a:tc>
                  <a:txBody>
                    <a:bodyPr/>
                    <a:lstStyle/>
                    <a:p>
                      <a:pPr marL="0" lvl="0" indent="0" algn="l" rtl="0">
                        <a:spcBef>
                          <a:spcPts val="0"/>
                        </a:spcBef>
                        <a:spcAft>
                          <a:spcPts val="0"/>
                        </a:spcAft>
                        <a:buNone/>
                      </a:pPr>
                      <a:r>
                        <a:rPr lang="en" sz="1000" b="1"/>
                        <a:t>Title</a:t>
                      </a:r>
                      <a:endParaRPr sz="1000" b="1"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4C2F4"/>
                    </a:solidFill>
                  </a:tcPr>
                </a:tc>
                <a:tc>
                  <a:txBody>
                    <a:bodyPr/>
                    <a:lstStyle/>
                    <a:p>
                      <a:pPr marL="0" lvl="0" indent="0" algn="ctr" rtl="0">
                        <a:spcBef>
                          <a:spcPts val="0"/>
                        </a:spcBef>
                        <a:spcAft>
                          <a:spcPts val="0"/>
                        </a:spcAft>
                        <a:buNone/>
                      </a:pPr>
                      <a:r>
                        <a:rPr lang="en" sz="1000" b="1"/>
                        <a:t>#Rounds/Waves</a:t>
                      </a:r>
                      <a:endParaRPr sz="1000" b="1"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4C2F4"/>
                    </a:solidFill>
                  </a:tcPr>
                </a:tc>
                <a:tc>
                  <a:txBody>
                    <a:bodyPr/>
                    <a:lstStyle/>
                    <a:p>
                      <a:pPr marL="0" lvl="0" indent="0" algn="l" rtl="0">
                        <a:spcBef>
                          <a:spcPts val="0"/>
                        </a:spcBef>
                        <a:spcAft>
                          <a:spcPts val="0"/>
                        </a:spcAft>
                        <a:buNone/>
                      </a:pPr>
                      <a:r>
                        <a:rPr lang="en" sz="1000" b="1"/>
                        <a:t>Fileset structure</a:t>
                      </a:r>
                      <a:endParaRPr sz="1000" b="1" dirty="0"/>
                    </a:p>
                  </a:txBody>
                  <a:tcPr marL="91425"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4C2F4"/>
                    </a:solidFill>
                  </a:tcPr>
                </a:tc>
                <a:extLst>
                  <a:ext uri="{0D108BD9-81ED-4DB2-BD59-A6C34878D82A}">
                    <a16:rowId xmlns:a16="http://schemas.microsoft.com/office/drawing/2014/main" val="10000"/>
                  </a:ext>
                </a:extLst>
              </a:tr>
              <a:tr h="399675">
                <a:tc>
                  <a:txBody>
                    <a:bodyPr/>
                    <a:lstStyle/>
                    <a:p>
                      <a:pPr marL="0" lvl="0" indent="0" algn="l" rtl="0">
                        <a:spcBef>
                          <a:spcPts val="0"/>
                        </a:spcBef>
                        <a:spcAft>
                          <a:spcPts val="0"/>
                        </a:spcAft>
                        <a:buNone/>
                      </a:pPr>
                      <a:r>
                        <a:rPr lang="en" sz="1000"/>
                        <a:t>NSHAP</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National Social Life, Health, and Aging Project </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t>3</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1 DS/wave for Core public data + COVID substudy</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99675">
                <a:tc>
                  <a:txBody>
                    <a:bodyPr/>
                    <a:lstStyle/>
                    <a:p>
                      <a:pPr marL="0" lvl="0" indent="0" algn="l" rtl="0">
                        <a:spcBef>
                          <a:spcPts val="0"/>
                        </a:spcBef>
                        <a:spcAft>
                          <a:spcPts val="0"/>
                        </a:spcAft>
                        <a:buNone/>
                      </a:pPr>
                      <a:r>
                        <a:rPr lang="en" sz="1000"/>
                        <a:t>MIDUS</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l" rtl="0">
                        <a:lnSpc>
                          <a:spcPct val="115000"/>
                        </a:lnSpc>
                        <a:spcBef>
                          <a:spcPts val="0"/>
                        </a:spcBef>
                        <a:spcAft>
                          <a:spcPts val="0"/>
                        </a:spcAft>
                        <a:buNone/>
                      </a:pPr>
                      <a:r>
                        <a:rPr lang="en" sz="1000"/>
                        <a:t>Midlife in the United States Series</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000"/>
                        <a:t>4</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n" sz="1000"/>
                        <a:t>Imported by Colectica; multiple DS/cohort</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extLst>
                  <a:ext uri="{0D108BD9-81ED-4DB2-BD59-A6C34878D82A}">
                    <a16:rowId xmlns:a16="http://schemas.microsoft.com/office/drawing/2014/main" val="10002"/>
                  </a:ext>
                </a:extLst>
              </a:tr>
              <a:tr h="326525">
                <a:tc>
                  <a:txBody>
                    <a:bodyPr/>
                    <a:lstStyle/>
                    <a:p>
                      <a:pPr marL="0" lvl="0" indent="0" algn="l" rtl="0">
                        <a:spcBef>
                          <a:spcPts val="0"/>
                        </a:spcBef>
                        <a:spcAft>
                          <a:spcPts val="0"/>
                        </a:spcAft>
                        <a:buNone/>
                      </a:pPr>
                      <a:r>
                        <a:rPr lang="en" sz="1000"/>
                        <a:t>NHATS</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National Health and Aging Trends Study  </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t>10</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Imported by Colectica</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75700">
                <a:tc>
                  <a:txBody>
                    <a:bodyPr/>
                    <a:lstStyle/>
                    <a:p>
                      <a:pPr marL="0" lvl="0" indent="0" algn="l" rtl="0">
                        <a:spcBef>
                          <a:spcPts val="0"/>
                        </a:spcBef>
                        <a:spcAft>
                          <a:spcPts val="0"/>
                        </a:spcAft>
                        <a:buNone/>
                      </a:pPr>
                      <a:r>
                        <a:rPr lang="en" sz="1000"/>
                        <a:t>TILDA</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l" rtl="0">
                        <a:lnSpc>
                          <a:spcPct val="115000"/>
                        </a:lnSpc>
                        <a:spcBef>
                          <a:spcPts val="0"/>
                        </a:spcBef>
                        <a:spcAft>
                          <a:spcPts val="0"/>
                        </a:spcAft>
                        <a:buNone/>
                      </a:pPr>
                      <a:r>
                        <a:rPr lang="en" sz="1000"/>
                        <a:t>The Irish Longitudinal Study on Ageing (HRS sister study) </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000"/>
                        <a:t>3</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n" sz="1000"/>
                        <a:t>1 DS/wave </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extLst>
                  <a:ext uri="{0D108BD9-81ED-4DB2-BD59-A6C34878D82A}">
                    <a16:rowId xmlns:a16="http://schemas.microsoft.com/office/drawing/2014/main" val="10004"/>
                  </a:ext>
                </a:extLst>
              </a:tr>
              <a:tr h="303875">
                <a:tc>
                  <a:txBody>
                    <a:bodyPr/>
                    <a:lstStyle/>
                    <a:p>
                      <a:pPr marL="0" lvl="0" indent="0" algn="l" rtl="0">
                        <a:spcBef>
                          <a:spcPts val="0"/>
                        </a:spcBef>
                        <a:spcAft>
                          <a:spcPts val="0"/>
                        </a:spcAft>
                        <a:buNone/>
                      </a:pPr>
                      <a:r>
                        <a:rPr lang="en" sz="1000"/>
                        <a:t>HAALSI</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Health and Aging in Africa</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t>3</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All waves in single DS</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16550">
                <a:tc>
                  <a:txBody>
                    <a:bodyPr/>
                    <a:lstStyle/>
                    <a:p>
                      <a:pPr marL="0" lvl="0" indent="0" algn="l" rtl="0">
                        <a:spcBef>
                          <a:spcPts val="0"/>
                        </a:spcBef>
                        <a:spcAft>
                          <a:spcPts val="0"/>
                        </a:spcAft>
                        <a:buNone/>
                      </a:pPr>
                      <a:r>
                        <a:rPr lang="en" sz="1000"/>
                        <a:t>PSID</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l" rtl="0">
                        <a:lnSpc>
                          <a:spcPct val="115000"/>
                        </a:lnSpc>
                        <a:spcBef>
                          <a:spcPts val="0"/>
                        </a:spcBef>
                        <a:spcAft>
                          <a:spcPts val="0"/>
                        </a:spcAft>
                        <a:buNone/>
                      </a:pPr>
                      <a:r>
                        <a:rPr lang="en" sz="1000"/>
                        <a:t>Panel Study of Income Dynamics - Select Demography and Health Sections </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000"/>
                        <a:t>40</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n" sz="1000"/>
                        <a:t>39 waves for Family + Individual each</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extLst>
                  <a:ext uri="{0D108BD9-81ED-4DB2-BD59-A6C34878D82A}">
                    <a16:rowId xmlns:a16="http://schemas.microsoft.com/office/drawing/2014/main" val="10006"/>
                  </a:ext>
                </a:extLst>
              </a:tr>
              <a:tr h="316525">
                <a:tc>
                  <a:txBody>
                    <a:bodyPr/>
                    <a:lstStyle/>
                    <a:p>
                      <a:pPr marL="0" lvl="0" indent="0" algn="l" rtl="0">
                        <a:spcBef>
                          <a:spcPts val="0"/>
                        </a:spcBef>
                        <a:spcAft>
                          <a:spcPts val="0"/>
                        </a:spcAft>
                        <a:buNone/>
                      </a:pPr>
                      <a:r>
                        <a:rPr lang="en" sz="1000"/>
                        <a:t>HRS</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Health and Retirement Study - Select Cognition and Demography Sections</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t>10</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Multiple DS per wave</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63675">
                <a:tc>
                  <a:txBody>
                    <a:bodyPr/>
                    <a:lstStyle/>
                    <a:p>
                      <a:pPr marL="0" lvl="0" indent="0" algn="l" rtl="0">
                        <a:spcBef>
                          <a:spcPts val="0"/>
                        </a:spcBef>
                        <a:spcAft>
                          <a:spcPts val="0"/>
                        </a:spcAft>
                        <a:buNone/>
                      </a:pPr>
                      <a:r>
                        <a:rPr lang="en" sz="1000"/>
                        <a:t>CRELES</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l" rtl="0">
                        <a:lnSpc>
                          <a:spcPct val="115000"/>
                        </a:lnSpc>
                        <a:spcBef>
                          <a:spcPts val="0"/>
                        </a:spcBef>
                        <a:spcAft>
                          <a:spcPts val="0"/>
                        </a:spcAft>
                        <a:buNone/>
                      </a:pPr>
                      <a:r>
                        <a:rPr lang="en" sz="1000"/>
                        <a:t>Costa Rican Longevity and Healthy Aging Study</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000"/>
                        <a:t>3</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n" sz="1000"/>
                        <a:t>Multiple DS per wave</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extLst>
                  <a:ext uri="{0D108BD9-81ED-4DB2-BD59-A6C34878D82A}">
                    <a16:rowId xmlns:a16="http://schemas.microsoft.com/office/drawing/2014/main" val="10008"/>
                  </a:ext>
                </a:extLst>
              </a:tr>
              <a:tr h="326525">
                <a:tc>
                  <a:txBody>
                    <a:bodyPr/>
                    <a:lstStyle/>
                    <a:p>
                      <a:pPr marL="0" lvl="0" indent="0" algn="l" rtl="0">
                        <a:spcBef>
                          <a:spcPts val="0"/>
                        </a:spcBef>
                        <a:spcAft>
                          <a:spcPts val="0"/>
                        </a:spcAft>
                        <a:buNone/>
                      </a:pPr>
                      <a:r>
                        <a:rPr lang="en" sz="1000"/>
                        <a:t>NSHAP-NHATS</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NSHAP-MIDUS - cross-series comparison</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t>Compared at conceptual level</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305550">
                <a:tc>
                  <a:txBody>
                    <a:bodyPr/>
                    <a:lstStyle/>
                    <a:p>
                      <a:pPr marL="0" lvl="0" indent="0" algn="l" rtl="0">
                        <a:spcBef>
                          <a:spcPts val="0"/>
                        </a:spcBef>
                        <a:spcAft>
                          <a:spcPts val="0"/>
                        </a:spcAft>
                        <a:buNone/>
                      </a:pPr>
                      <a:r>
                        <a:rPr lang="en" sz="1000"/>
                        <a:t>NSHAP-MIDUS</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l" rtl="0">
                        <a:lnSpc>
                          <a:spcPct val="115000"/>
                        </a:lnSpc>
                        <a:spcBef>
                          <a:spcPts val="0"/>
                        </a:spcBef>
                        <a:spcAft>
                          <a:spcPts val="0"/>
                        </a:spcAft>
                        <a:buNone/>
                      </a:pPr>
                      <a:r>
                        <a:rPr lang="en" sz="1000"/>
                        <a:t>NSHAP NHATS - cross-series comparison</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n" sz="1000">
                          <a:solidFill>
                            <a:schemeClr val="dk1"/>
                          </a:solidFill>
                        </a:rPr>
                        <a:t>Compared at conceptual level</a:t>
                      </a:r>
                      <a:endParaRPr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extLst>
                  <a:ext uri="{0D108BD9-81ED-4DB2-BD59-A6C34878D82A}">
                    <a16:rowId xmlns:a16="http://schemas.microsoft.com/office/drawing/2014/main" val="10010"/>
                  </a:ext>
                </a:extLst>
              </a:tr>
              <a:tr h="260250">
                <a:tc>
                  <a:txBody>
                    <a:bodyPr/>
                    <a:lstStyle/>
                    <a:p>
                      <a:pPr marL="0" lvl="0" indent="0" algn="l" rtl="0">
                        <a:spcBef>
                          <a:spcPts val="0"/>
                        </a:spcBef>
                        <a:spcAft>
                          <a:spcPts val="0"/>
                        </a:spcAft>
                        <a:buNone/>
                      </a:pPr>
                      <a:r>
                        <a:rPr lang="en" sz="1000"/>
                        <a:t>HRS Multi Series</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Comparisons across HRS, NSHAP, MIDUS, NHATS, TILDA, HAALSI</a:t>
                      </a:r>
                      <a:endParaRPr sz="1000"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rPr>
                        <a:t>Compared at conceptual level</a:t>
                      </a:r>
                      <a:endParaRPr dirty="0"/>
                    </a:p>
                  </a:txBody>
                  <a:tcPr marL="91425" marR="91425"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0"/>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latin typeface="Verdana"/>
                <a:ea typeface="Verdana"/>
                <a:cs typeface="Verdana"/>
                <a:sym typeface="Verdana"/>
              </a:rPr>
              <a:t>Get to the Portal from the NACDA Site</a:t>
            </a:r>
            <a:endParaRPr sz="3000" dirty="0"/>
          </a:p>
        </p:txBody>
      </p:sp>
      <p:pic>
        <p:nvPicPr>
          <p:cNvPr id="159" name="Google Shape;159;p20"/>
          <p:cNvPicPr preferRelativeResize="0"/>
          <p:nvPr/>
        </p:nvPicPr>
        <p:blipFill>
          <a:blip r:embed="rId3">
            <a:alphaModFix/>
          </a:blip>
          <a:stretch>
            <a:fillRect/>
          </a:stretch>
        </p:blipFill>
        <p:spPr>
          <a:xfrm>
            <a:off x="152400" y="1170125"/>
            <a:ext cx="8839200" cy="38052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1"/>
          <p:cNvSpPr txBox="1">
            <a:spLocks noGrp="1"/>
          </p:cNvSpPr>
          <p:nvPr>
            <p:ph type="title"/>
          </p:nvPr>
        </p:nvSpPr>
        <p:spPr>
          <a:xfrm>
            <a:off x="311700" y="392150"/>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a:latin typeface="Verdana"/>
                <a:ea typeface="Verdana"/>
                <a:cs typeface="Verdana"/>
                <a:sym typeface="Verdana"/>
              </a:rPr>
              <a:t>What Does it Take to Add Data to the Portal?</a:t>
            </a:r>
            <a:endParaRPr sz="2800" dirty="0"/>
          </a:p>
        </p:txBody>
      </p:sp>
      <p:sp>
        <p:nvSpPr>
          <p:cNvPr id="165" name="Google Shape;165;p21"/>
          <p:cNvSpPr txBox="1">
            <a:spLocks noGrp="1"/>
          </p:cNvSpPr>
          <p:nvPr>
            <p:ph type="body" idx="1"/>
          </p:nvPr>
        </p:nvSpPr>
        <p:spPr>
          <a:xfrm>
            <a:off x="311700" y="1284800"/>
            <a:ext cx="8520600" cy="3536400"/>
          </a:xfrm>
          <a:prstGeom prst="rect">
            <a:avLst/>
          </a:prstGeom>
          <a:ln w="28575" cap="flat" cmpd="sng">
            <a:solidFill>
              <a:srgbClr val="6D9EEB"/>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50000"/>
              </a:lnSpc>
              <a:spcBef>
                <a:spcPts val="1000"/>
              </a:spcBef>
              <a:spcAft>
                <a:spcPts val="0"/>
              </a:spcAft>
              <a:buClr>
                <a:schemeClr val="dk1"/>
              </a:buClr>
              <a:buSzPts val="1100"/>
              <a:buFont typeface="Arial"/>
              <a:buNone/>
            </a:pPr>
            <a:r>
              <a:rPr lang="en" sz="1500">
                <a:solidFill>
                  <a:schemeClr val="dk1"/>
                </a:solidFill>
              </a:rPr>
              <a:t>•</a:t>
            </a:r>
            <a:r>
              <a:rPr lang="en" sz="1500" b="1">
                <a:solidFill>
                  <a:schemeClr val="dk1"/>
                </a:solidFill>
              </a:rPr>
              <a:t>Knowledgeable staff</a:t>
            </a:r>
            <a:r>
              <a:rPr lang="en" sz="1500">
                <a:solidFill>
                  <a:schemeClr val="dk1"/>
                </a:solidFill>
              </a:rPr>
              <a:t> - we have two team members who complete the variable comparison work</a:t>
            </a:r>
            <a:endParaRPr sz="1500" dirty="0">
              <a:solidFill>
                <a:schemeClr val="dk1"/>
              </a:solidFill>
            </a:endParaRPr>
          </a:p>
          <a:p>
            <a:pPr marL="0" lvl="0" indent="0" algn="l" rtl="0">
              <a:lnSpc>
                <a:spcPct val="150000"/>
              </a:lnSpc>
              <a:spcBef>
                <a:spcPts val="1000"/>
              </a:spcBef>
              <a:spcAft>
                <a:spcPts val="0"/>
              </a:spcAft>
              <a:buClr>
                <a:schemeClr val="dk1"/>
              </a:buClr>
              <a:buSzPts val="1100"/>
              <a:buFont typeface="Arial"/>
              <a:buNone/>
            </a:pPr>
            <a:r>
              <a:rPr lang="en" sz="1500">
                <a:solidFill>
                  <a:schemeClr val="dk1"/>
                </a:solidFill>
              </a:rPr>
              <a:t>•Complete and descriptive variable level metadata</a:t>
            </a:r>
            <a:endParaRPr sz="1500" dirty="0">
              <a:solidFill>
                <a:schemeClr val="dk1"/>
              </a:solidFill>
            </a:endParaRPr>
          </a:p>
          <a:p>
            <a:pPr marL="0" lvl="0" indent="0" algn="l" rtl="0">
              <a:lnSpc>
                <a:spcPct val="150000"/>
              </a:lnSpc>
              <a:spcBef>
                <a:spcPts val="1000"/>
              </a:spcBef>
              <a:spcAft>
                <a:spcPts val="0"/>
              </a:spcAft>
              <a:buClr>
                <a:schemeClr val="dk1"/>
              </a:buClr>
              <a:buSzPts val="1100"/>
              <a:buFont typeface="Arial"/>
              <a:buNone/>
            </a:pPr>
            <a:r>
              <a:rPr lang="en" sz="1500">
                <a:solidFill>
                  <a:schemeClr val="dk1"/>
                </a:solidFill>
              </a:rPr>
              <a:t>•Crosswalks - these provide structure to multi-wave data in a consistent manner; usually a static approach</a:t>
            </a:r>
            <a:endParaRPr sz="1500" dirty="0">
              <a:solidFill>
                <a:schemeClr val="dk1"/>
              </a:solidFill>
            </a:endParaRPr>
          </a:p>
          <a:p>
            <a:pPr marL="0" lvl="0" indent="0" algn="l" rtl="0">
              <a:lnSpc>
                <a:spcPct val="150000"/>
              </a:lnSpc>
              <a:spcBef>
                <a:spcPts val="1000"/>
              </a:spcBef>
              <a:spcAft>
                <a:spcPts val="0"/>
              </a:spcAft>
              <a:buClr>
                <a:schemeClr val="dk1"/>
              </a:buClr>
              <a:buSzPts val="1100"/>
              <a:buFont typeface="Arial"/>
              <a:buNone/>
            </a:pPr>
            <a:r>
              <a:rPr lang="en" sz="1500">
                <a:solidFill>
                  <a:schemeClr val="dk1"/>
                </a:solidFill>
              </a:rPr>
              <a:t>•Question Concordance - this is dynamic refinement to a crosswalk</a:t>
            </a:r>
            <a:endParaRPr sz="1500" dirty="0">
              <a:solidFill>
                <a:schemeClr val="dk1"/>
              </a:solidFill>
            </a:endParaRPr>
          </a:p>
          <a:p>
            <a:pPr marL="0" lvl="0" indent="0" algn="l" rtl="0">
              <a:lnSpc>
                <a:spcPct val="150000"/>
              </a:lnSpc>
              <a:spcBef>
                <a:spcPts val="1000"/>
              </a:spcBef>
              <a:spcAft>
                <a:spcPts val="0"/>
              </a:spcAft>
              <a:buClr>
                <a:schemeClr val="dk1"/>
              </a:buClr>
              <a:buSzPts val="1100"/>
              <a:buFont typeface="Arial"/>
              <a:buNone/>
            </a:pPr>
            <a:r>
              <a:rPr lang="en" sz="1500">
                <a:solidFill>
                  <a:schemeClr val="dk1"/>
                </a:solidFill>
              </a:rPr>
              <a:t>•DDI Lifecycle Standard - Variable Cascade</a:t>
            </a:r>
            <a:endParaRPr sz="1500" dirty="0">
              <a:solidFill>
                <a:schemeClr val="dk1"/>
              </a:solidFill>
            </a:endParaRPr>
          </a:p>
          <a:p>
            <a:pPr marL="0" lvl="0" indent="0" algn="l" rtl="0">
              <a:lnSpc>
                <a:spcPct val="150000"/>
              </a:lnSpc>
              <a:spcBef>
                <a:spcPts val="1000"/>
              </a:spcBef>
              <a:spcAft>
                <a:spcPts val="0"/>
              </a:spcAft>
              <a:buNone/>
            </a:pPr>
            <a:r>
              <a:rPr lang="en" sz="1500">
                <a:solidFill>
                  <a:schemeClr val="dk1"/>
                </a:solidFill>
              </a:rPr>
              <a:t>•Colectica Designer and Portal </a:t>
            </a:r>
            <a:endParaRPr sz="1500" dirty="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a:spLocks noGrp="1"/>
          </p:cNvSpPr>
          <p:nvPr>
            <p:ph type="title"/>
          </p:nvPr>
        </p:nvSpPr>
        <p:spPr>
          <a:xfrm>
            <a:off x="311700" y="445025"/>
            <a:ext cx="5586900" cy="59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Advantages and Challenges</a:t>
            </a:r>
            <a:endParaRPr sz="3000" dirty="0"/>
          </a:p>
        </p:txBody>
      </p:sp>
      <p:graphicFrame>
        <p:nvGraphicFramePr>
          <p:cNvPr id="171" name="Google Shape;171;p22"/>
          <p:cNvGraphicFramePr/>
          <p:nvPr/>
        </p:nvGraphicFramePr>
        <p:xfrm>
          <a:off x="264925" y="1330150"/>
          <a:ext cx="8567400" cy="3336300"/>
        </p:xfrm>
        <a:graphic>
          <a:graphicData uri="http://schemas.openxmlformats.org/drawingml/2006/table">
            <a:tbl>
              <a:tblPr>
                <a:noFill/>
                <a:tableStyleId>{DD95D6CD-EC6C-4C75-BAE9-E240D6670B75}</a:tableStyleId>
              </a:tblPr>
              <a:tblGrid>
                <a:gridCol w="4283700">
                  <a:extLst>
                    <a:ext uri="{9D8B030D-6E8A-4147-A177-3AD203B41FA5}">
                      <a16:colId xmlns:a16="http://schemas.microsoft.com/office/drawing/2014/main" val="20000"/>
                    </a:ext>
                  </a:extLst>
                </a:gridCol>
                <a:gridCol w="4283700">
                  <a:extLst>
                    <a:ext uri="{9D8B030D-6E8A-4147-A177-3AD203B41FA5}">
                      <a16:colId xmlns:a16="http://schemas.microsoft.com/office/drawing/2014/main" val="20001"/>
                    </a:ext>
                  </a:extLst>
                </a:gridCol>
              </a:tblGrid>
              <a:tr h="3336300">
                <a:tc>
                  <a:txBody>
                    <a:bodyPr/>
                    <a:lstStyle/>
                    <a:p>
                      <a:pPr marL="457200" lvl="0" indent="-342900" algn="l" rtl="0">
                        <a:spcBef>
                          <a:spcPts val="0"/>
                        </a:spcBef>
                        <a:spcAft>
                          <a:spcPts val="0"/>
                        </a:spcAft>
                        <a:buClr>
                          <a:schemeClr val="dk1"/>
                        </a:buClr>
                        <a:buSzPts val="1800"/>
                        <a:buFont typeface="Tahoma"/>
                        <a:buChar char="●"/>
                      </a:pPr>
                      <a:r>
                        <a:rPr lang="en" sz="1800">
                          <a:solidFill>
                            <a:schemeClr val="dk1"/>
                          </a:solidFill>
                          <a:latin typeface="Tahoma"/>
                          <a:ea typeface="Tahoma"/>
                          <a:cs typeface="Tahoma"/>
                          <a:sym typeface="Tahoma"/>
                        </a:rPr>
                        <a:t>Longitudinal display of variables</a:t>
                      </a:r>
                      <a:endParaRPr sz="1800" dirty="0">
                        <a:solidFill>
                          <a:schemeClr val="dk1"/>
                        </a:solidFill>
                        <a:latin typeface="Tahoma"/>
                        <a:ea typeface="Tahoma"/>
                        <a:cs typeface="Tahoma"/>
                        <a:sym typeface="Tahoma"/>
                      </a:endParaRPr>
                    </a:p>
                    <a:p>
                      <a:pPr marL="457200" lvl="0" indent="-342900" algn="l" rtl="0">
                        <a:spcBef>
                          <a:spcPts val="0"/>
                        </a:spcBef>
                        <a:spcAft>
                          <a:spcPts val="0"/>
                        </a:spcAft>
                        <a:buClr>
                          <a:schemeClr val="dk1"/>
                        </a:buClr>
                        <a:buSzPts val="1800"/>
                        <a:buFont typeface="Tahoma"/>
                        <a:buChar char="●"/>
                      </a:pPr>
                      <a:r>
                        <a:rPr lang="en" sz="1800">
                          <a:solidFill>
                            <a:schemeClr val="dk1"/>
                          </a:solidFill>
                          <a:latin typeface="Tahoma"/>
                          <a:ea typeface="Tahoma"/>
                          <a:cs typeface="Tahoma"/>
                          <a:sym typeface="Tahoma"/>
                        </a:rPr>
                        <a:t>Variables organized by topics</a:t>
                      </a:r>
                      <a:endParaRPr sz="1800" dirty="0">
                        <a:solidFill>
                          <a:schemeClr val="dk1"/>
                        </a:solidFill>
                        <a:latin typeface="Tahoma"/>
                        <a:ea typeface="Tahoma"/>
                        <a:cs typeface="Tahoma"/>
                        <a:sym typeface="Tahoma"/>
                      </a:endParaRPr>
                    </a:p>
                    <a:p>
                      <a:pPr marL="457200" lvl="0" indent="-342900" algn="l" rtl="0">
                        <a:spcBef>
                          <a:spcPts val="0"/>
                        </a:spcBef>
                        <a:spcAft>
                          <a:spcPts val="0"/>
                        </a:spcAft>
                        <a:buClr>
                          <a:schemeClr val="dk1"/>
                        </a:buClr>
                        <a:buSzPts val="1800"/>
                        <a:buFont typeface="Tahoma"/>
                        <a:buChar char="●"/>
                      </a:pPr>
                      <a:r>
                        <a:rPr lang="en" sz="1800">
                          <a:solidFill>
                            <a:schemeClr val="dk1"/>
                          </a:solidFill>
                          <a:latin typeface="Tahoma"/>
                          <a:ea typeface="Tahoma"/>
                          <a:cs typeface="Tahoma"/>
                          <a:sym typeface="Tahoma"/>
                        </a:rPr>
                        <a:t>Custom variable extract</a:t>
                      </a:r>
                      <a:endParaRPr sz="1800" dirty="0">
                        <a:solidFill>
                          <a:schemeClr val="dk1"/>
                        </a:solidFill>
                        <a:latin typeface="Tahoma"/>
                        <a:ea typeface="Tahoma"/>
                        <a:cs typeface="Tahoma"/>
                        <a:sym typeface="Tahoma"/>
                      </a:endParaRPr>
                    </a:p>
                    <a:p>
                      <a:pPr marL="457200" lvl="0" indent="-342900" algn="l" rtl="0">
                        <a:spcBef>
                          <a:spcPts val="0"/>
                        </a:spcBef>
                        <a:spcAft>
                          <a:spcPts val="0"/>
                        </a:spcAft>
                        <a:buClr>
                          <a:schemeClr val="dk1"/>
                        </a:buClr>
                        <a:buSzPts val="1800"/>
                        <a:buFont typeface="Tahoma"/>
                        <a:buChar char="●"/>
                      </a:pPr>
                      <a:r>
                        <a:rPr lang="en" sz="1800">
                          <a:solidFill>
                            <a:schemeClr val="dk1"/>
                          </a:solidFill>
                          <a:latin typeface="Tahoma"/>
                          <a:ea typeface="Tahoma"/>
                          <a:cs typeface="Tahoma"/>
                          <a:sym typeface="Tahoma"/>
                        </a:rPr>
                        <a:t>Reuse </a:t>
                      </a:r>
                      <a:endParaRPr sz="1800" dirty="0">
                        <a:solidFill>
                          <a:schemeClr val="dk1"/>
                        </a:solidFill>
                        <a:latin typeface="Tahoma"/>
                        <a:ea typeface="Tahoma"/>
                        <a:cs typeface="Tahoma"/>
                        <a:sym typeface="Tahoma"/>
                      </a:endParaRPr>
                    </a:p>
                    <a:p>
                      <a:pPr marL="457200" lvl="0" indent="-342900" algn="l" rtl="0">
                        <a:spcBef>
                          <a:spcPts val="0"/>
                        </a:spcBef>
                        <a:spcAft>
                          <a:spcPts val="0"/>
                        </a:spcAft>
                        <a:buClr>
                          <a:schemeClr val="dk1"/>
                        </a:buClr>
                        <a:buSzPts val="1800"/>
                        <a:buFont typeface="Tahoma"/>
                        <a:buChar char="●"/>
                      </a:pPr>
                      <a:r>
                        <a:rPr lang="en" sz="1800">
                          <a:solidFill>
                            <a:schemeClr val="dk1"/>
                          </a:solidFill>
                          <a:latin typeface="Tahoma"/>
                          <a:ea typeface="Tahoma"/>
                          <a:cs typeface="Tahoma"/>
                          <a:sym typeface="Tahoma"/>
                        </a:rPr>
                        <a:t>Interoperability, potential for harmonization</a:t>
                      </a:r>
                      <a:endParaRPr sz="1800" dirty="0">
                        <a:solidFill>
                          <a:schemeClr val="dk1"/>
                        </a:solidFill>
                        <a:latin typeface="Tahoma"/>
                        <a:ea typeface="Tahoma"/>
                        <a:cs typeface="Tahoma"/>
                        <a:sym typeface="Tahoma"/>
                      </a:endParaRPr>
                    </a:p>
                    <a:p>
                      <a:pPr marL="457200" lvl="0" indent="-342900" algn="l" rtl="0">
                        <a:spcBef>
                          <a:spcPts val="0"/>
                        </a:spcBef>
                        <a:spcAft>
                          <a:spcPts val="0"/>
                        </a:spcAft>
                        <a:buClr>
                          <a:schemeClr val="dk1"/>
                        </a:buClr>
                        <a:buSzPts val="1800"/>
                        <a:buFont typeface="Tahoma"/>
                        <a:buChar char="●"/>
                      </a:pPr>
                      <a:r>
                        <a:rPr lang="en" sz="1800">
                          <a:solidFill>
                            <a:schemeClr val="dk1"/>
                          </a:solidFill>
                          <a:latin typeface="Tahoma"/>
                          <a:ea typeface="Tahoma"/>
                          <a:cs typeface="Tahoma"/>
                          <a:sym typeface="Tahoma"/>
                        </a:rPr>
                        <a:t>Potential for Common Conceptual Groups in Social Sciences</a:t>
                      </a:r>
                      <a:endParaRPr sz="1800" dirty="0">
                        <a:solidFill>
                          <a:schemeClr val="dk1"/>
                        </a:solidFill>
                        <a:latin typeface="Tahoma"/>
                        <a:ea typeface="Tahoma"/>
                        <a:cs typeface="Tahoma"/>
                        <a:sym typeface="Tahoma"/>
                      </a:endParaRPr>
                    </a:p>
                    <a:p>
                      <a:pPr marL="0" lvl="0" indent="0" algn="l" rtl="0">
                        <a:spcBef>
                          <a:spcPts val="0"/>
                        </a:spcBef>
                        <a:spcAft>
                          <a:spcPts val="0"/>
                        </a:spcAft>
                        <a:buNone/>
                      </a:pPr>
                      <a:endParaRPr sz="1800" dirty="0">
                        <a:solidFill>
                          <a:schemeClr val="dk1"/>
                        </a:solidFill>
                        <a:latin typeface="Tahoma"/>
                        <a:ea typeface="Tahoma"/>
                        <a:cs typeface="Tahoma"/>
                        <a:sym typeface="Tahoma"/>
                      </a:endParaRPr>
                    </a:p>
                  </a:txBody>
                  <a:tcPr marL="91425" marR="91425" marT="91425" marB="91425"/>
                </a:tc>
                <a:tc>
                  <a:txBody>
                    <a:bodyPr/>
                    <a:lstStyle/>
                    <a:p>
                      <a:pPr marL="457200" lvl="0" indent="-342900" algn="l" rtl="0">
                        <a:lnSpc>
                          <a:spcPct val="90000"/>
                        </a:lnSpc>
                        <a:spcBef>
                          <a:spcPts val="1000"/>
                        </a:spcBef>
                        <a:spcAft>
                          <a:spcPts val="0"/>
                        </a:spcAft>
                        <a:buClr>
                          <a:schemeClr val="lt1"/>
                        </a:buClr>
                        <a:buSzPts val="1800"/>
                        <a:buFont typeface="Tahoma"/>
                        <a:buChar char="●"/>
                      </a:pPr>
                      <a:r>
                        <a:rPr lang="en" sz="1800">
                          <a:solidFill>
                            <a:schemeClr val="lt1"/>
                          </a:solidFill>
                          <a:latin typeface="Tahoma"/>
                          <a:ea typeface="Tahoma"/>
                          <a:cs typeface="Tahoma"/>
                          <a:sym typeface="Tahoma"/>
                        </a:rPr>
                        <a:t>Versioning of data collections, especially active series</a:t>
                      </a:r>
                      <a:endParaRPr sz="1800" dirty="0">
                        <a:solidFill>
                          <a:schemeClr val="lt1"/>
                        </a:solidFill>
                        <a:latin typeface="Tahoma"/>
                        <a:ea typeface="Tahoma"/>
                        <a:cs typeface="Tahoma"/>
                        <a:sym typeface="Tahoma"/>
                      </a:endParaRPr>
                    </a:p>
                    <a:p>
                      <a:pPr marL="457200" lvl="0" indent="-342900" algn="l" rtl="0">
                        <a:lnSpc>
                          <a:spcPct val="90000"/>
                        </a:lnSpc>
                        <a:spcBef>
                          <a:spcPts val="0"/>
                        </a:spcBef>
                        <a:spcAft>
                          <a:spcPts val="0"/>
                        </a:spcAft>
                        <a:buClr>
                          <a:schemeClr val="lt1"/>
                        </a:buClr>
                        <a:buSzPts val="1800"/>
                        <a:buFont typeface="Tahoma"/>
                        <a:buChar char="●"/>
                      </a:pPr>
                      <a:r>
                        <a:rPr lang="en" sz="1800">
                          <a:solidFill>
                            <a:schemeClr val="lt1"/>
                          </a:solidFill>
                          <a:latin typeface="Tahoma"/>
                          <a:ea typeface="Tahoma"/>
                          <a:cs typeface="Tahoma"/>
                          <a:sym typeface="Tahoma"/>
                        </a:rPr>
                        <a:t>Versioning of Colectica Software (Portal, Designer)</a:t>
                      </a:r>
                      <a:endParaRPr sz="1800" dirty="0">
                        <a:solidFill>
                          <a:schemeClr val="lt1"/>
                        </a:solidFill>
                        <a:latin typeface="Tahoma"/>
                        <a:ea typeface="Tahoma"/>
                        <a:cs typeface="Tahoma"/>
                        <a:sym typeface="Tahoma"/>
                      </a:endParaRPr>
                    </a:p>
                    <a:p>
                      <a:pPr marL="457200" lvl="0" indent="-342900" algn="l" rtl="0">
                        <a:lnSpc>
                          <a:spcPct val="90000"/>
                        </a:lnSpc>
                        <a:spcBef>
                          <a:spcPts val="0"/>
                        </a:spcBef>
                        <a:spcAft>
                          <a:spcPts val="0"/>
                        </a:spcAft>
                        <a:buClr>
                          <a:schemeClr val="lt1"/>
                        </a:buClr>
                        <a:buSzPts val="1800"/>
                        <a:buFont typeface="Tahoma"/>
                        <a:buChar char="●"/>
                      </a:pPr>
                      <a:r>
                        <a:rPr lang="en" sz="1800">
                          <a:solidFill>
                            <a:schemeClr val="lt1"/>
                          </a:solidFill>
                          <a:latin typeface="Tahoma"/>
                          <a:ea typeface="Tahoma"/>
                          <a:cs typeface="Tahoma"/>
                          <a:sym typeface="Tahoma"/>
                        </a:rPr>
                        <a:t>How to archive interoperability materials (concordances, DDI-L, etc)?</a:t>
                      </a:r>
                      <a:endParaRPr sz="1800" dirty="0">
                        <a:solidFill>
                          <a:schemeClr val="lt1"/>
                        </a:solidFill>
                        <a:latin typeface="Tahoma"/>
                        <a:ea typeface="Tahoma"/>
                        <a:cs typeface="Tahoma"/>
                        <a:sym typeface="Tahoma"/>
                      </a:endParaRPr>
                    </a:p>
                    <a:p>
                      <a:pPr marL="457200" lvl="0" indent="-342900" algn="l" rtl="0">
                        <a:lnSpc>
                          <a:spcPct val="90000"/>
                        </a:lnSpc>
                        <a:spcBef>
                          <a:spcPts val="0"/>
                        </a:spcBef>
                        <a:spcAft>
                          <a:spcPts val="0"/>
                        </a:spcAft>
                        <a:buClr>
                          <a:schemeClr val="lt1"/>
                        </a:buClr>
                        <a:buSzPts val="1800"/>
                        <a:buFont typeface="Tahoma"/>
                        <a:buChar char="●"/>
                      </a:pPr>
                      <a:r>
                        <a:rPr lang="en" sz="1800">
                          <a:solidFill>
                            <a:schemeClr val="lt1"/>
                          </a:solidFill>
                          <a:latin typeface="Tahoma"/>
                          <a:ea typeface="Tahoma"/>
                          <a:cs typeface="Tahoma"/>
                          <a:sym typeface="Tahoma"/>
                        </a:rPr>
                        <a:t>Incomplete variable metadata, qtext</a:t>
                      </a:r>
                      <a:endParaRPr sz="1800" dirty="0">
                        <a:solidFill>
                          <a:schemeClr val="lt1"/>
                        </a:solidFill>
                        <a:latin typeface="Tahoma"/>
                        <a:ea typeface="Tahoma"/>
                        <a:cs typeface="Tahoma"/>
                        <a:sym typeface="Tahoma"/>
                      </a:endParaRPr>
                    </a:p>
                    <a:p>
                      <a:pPr marL="457200" lvl="0" indent="-342900" algn="l" rtl="0">
                        <a:lnSpc>
                          <a:spcPct val="90000"/>
                        </a:lnSpc>
                        <a:spcBef>
                          <a:spcPts val="0"/>
                        </a:spcBef>
                        <a:spcAft>
                          <a:spcPts val="0"/>
                        </a:spcAft>
                        <a:buClr>
                          <a:schemeClr val="lt1"/>
                        </a:buClr>
                        <a:buSzPts val="1800"/>
                        <a:buFont typeface="Tahoma"/>
                        <a:buChar char="●"/>
                      </a:pPr>
                      <a:r>
                        <a:rPr lang="en" sz="1800">
                          <a:solidFill>
                            <a:schemeClr val="lt1"/>
                          </a:solidFill>
                          <a:latin typeface="Tahoma"/>
                          <a:ea typeface="Tahoma"/>
                          <a:cs typeface="Tahoma"/>
                          <a:sym typeface="Tahoma"/>
                        </a:rPr>
                        <a:t>Derived/constructed variables</a:t>
                      </a:r>
                      <a:endParaRPr sz="1800" dirty="0">
                        <a:solidFill>
                          <a:schemeClr val="lt1"/>
                        </a:solidFill>
                        <a:latin typeface="Tahoma"/>
                        <a:ea typeface="Tahoma"/>
                        <a:cs typeface="Tahoma"/>
                        <a:sym typeface="Tahoma"/>
                      </a:endParaRPr>
                    </a:p>
                    <a:p>
                      <a:pPr marL="457200" lvl="0" indent="-342900" algn="l" rtl="0">
                        <a:lnSpc>
                          <a:spcPct val="90000"/>
                        </a:lnSpc>
                        <a:spcBef>
                          <a:spcPts val="0"/>
                        </a:spcBef>
                        <a:spcAft>
                          <a:spcPts val="0"/>
                        </a:spcAft>
                        <a:buClr>
                          <a:schemeClr val="lt1"/>
                        </a:buClr>
                        <a:buSzPts val="1800"/>
                        <a:buFont typeface="Tahoma"/>
                        <a:buChar char="●"/>
                      </a:pPr>
                      <a:r>
                        <a:rPr lang="en" sz="1800">
                          <a:solidFill>
                            <a:schemeClr val="lt1"/>
                          </a:solidFill>
                          <a:latin typeface="Tahoma"/>
                          <a:ea typeface="Tahoma"/>
                          <a:cs typeface="Tahoma"/>
                          <a:sym typeface="Tahoma"/>
                        </a:rPr>
                        <a:t>Limited usage reporting from portal</a:t>
                      </a:r>
                      <a:endParaRPr sz="1800" dirty="0">
                        <a:solidFill>
                          <a:schemeClr val="lt1"/>
                        </a:solidFill>
                        <a:latin typeface="Tahoma"/>
                        <a:ea typeface="Tahoma"/>
                        <a:cs typeface="Tahoma"/>
                        <a:sym typeface="Tahoma"/>
                      </a:endParaRPr>
                    </a:p>
                  </a:txBody>
                  <a:tcPr marL="91425" marR="91425" marT="91425" marB="91425">
                    <a:solidFill>
                      <a:schemeClr val="dk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3"/>
          <p:cNvSpPr txBox="1">
            <a:spLocks noGrp="1"/>
          </p:cNvSpPr>
          <p:nvPr>
            <p:ph type="title"/>
          </p:nvPr>
        </p:nvSpPr>
        <p:spPr>
          <a:xfrm>
            <a:off x="311700" y="445025"/>
            <a:ext cx="3328800" cy="59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Next Steps</a:t>
            </a:r>
            <a:endParaRPr sz="3000" dirty="0"/>
          </a:p>
        </p:txBody>
      </p:sp>
      <p:sp>
        <p:nvSpPr>
          <p:cNvPr id="177" name="Google Shape;177;p23"/>
          <p:cNvSpPr txBox="1">
            <a:spLocks noGrp="1"/>
          </p:cNvSpPr>
          <p:nvPr>
            <p:ph type="body" idx="1"/>
          </p:nvPr>
        </p:nvSpPr>
        <p:spPr>
          <a:xfrm>
            <a:off x="311700" y="1152475"/>
            <a:ext cx="8520600" cy="3416400"/>
          </a:xfrm>
          <a:prstGeom prst="rect">
            <a:avLst/>
          </a:prstGeom>
        </p:spPr>
        <p:txBody>
          <a:bodyPr spcFirstLastPara="1" wrap="square" lIns="68575" tIns="34275" rIns="68575" bIns="34275" anchor="t" anchorCtr="0">
            <a:normAutofit/>
          </a:bodyPr>
          <a:lstStyle/>
          <a:p>
            <a:pPr marL="457200" lvl="0" indent="-355600" algn="l" rtl="0">
              <a:spcBef>
                <a:spcPts val="800"/>
              </a:spcBef>
              <a:spcAft>
                <a:spcPts val="0"/>
              </a:spcAft>
              <a:buClr>
                <a:schemeClr val="dk1"/>
              </a:buClr>
              <a:buSzPts val="2000"/>
              <a:buChar char="•"/>
            </a:pPr>
            <a:r>
              <a:rPr lang="en" sz="2000">
                <a:solidFill>
                  <a:schemeClr val="dk1"/>
                </a:solidFill>
              </a:rPr>
              <a:t>Invest in team and tools</a:t>
            </a:r>
            <a:endParaRPr sz="2000" dirty="0">
              <a:solidFill>
                <a:schemeClr val="dk1"/>
              </a:solidFill>
            </a:endParaRPr>
          </a:p>
          <a:p>
            <a:pPr marL="457200" lvl="0" indent="-355600" algn="l" rtl="0">
              <a:spcBef>
                <a:spcPts val="800"/>
              </a:spcBef>
              <a:spcAft>
                <a:spcPts val="0"/>
              </a:spcAft>
              <a:buClr>
                <a:schemeClr val="dk1"/>
              </a:buClr>
              <a:buSzPts val="2000"/>
              <a:buChar char="•"/>
            </a:pPr>
            <a:r>
              <a:rPr lang="en" sz="2000">
                <a:solidFill>
                  <a:schemeClr val="dk1"/>
                </a:solidFill>
              </a:rPr>
              <a:t>Expand multi-series comparison available (spans 6 series currently)</a:t>
            </a:r>
            <a:endParaRPr sz="2000" dirty="0">
              <a:solidFill>
                <a:schemeClr val="dk1"/>
              </a:solidFill>
            </a:endParaRPr>
          </a:p>
          <a:p>
            <a:pPr marL="457200" lvl="0" indent="-355600" algn="l" rtl="0">
              <a:spcBef>
                <a:spcPts val="800"/>
              </a:spcBef>
              <a:spcAft>
                <a:spcPts val="0"/>
              </a:spcAft>
              <a:buClr>
                <a:schemeClr val="dk1"/>
              </a:buClr>
              <a:buSzPts val="2000"/>
              <a:buChar char="•"/>
            </a:pPr>
            <a:r>
              <a:rPr lang="en" sz="2000">
                <a:solidFill>
                  <a:schemeClr val="dk1"/>
                </a:solidFill>
              </a:rPr>
              <a:t>Explor</a:t>
            </a:r>
            <a:r>
              <a:rPr lang="en" sz="2000"/>
              <a:t>e</a:t>
            </a:r>
            <a:r>
              <a:rPr lang="en" sz="2000">
                <a:solidFill>
                  <a:schemeClr val="dk1"/>
                </a:solidFill>
              </a:rPr>
              <a:t> cross-country common concepts (with CLOSER UK)</a:t>
            </a:r>
            <a:endParaRPr sz="2000" dirty="0">
              <a:solidFill>
                <a:schemeClr val="dk1"/>
              </a:solidFill>
            </a:endParaRPr>
          </a:p>
          <a:p>
            <a:pPr marL="457200" lvl="0" indent="-355600" algn="l" rtl="0">
              <a:spcBef>
                <a:spcPts val="800"/>
              </a:spcBef>
              <a:spcAft>
                <a:spcPts val="0"/>
              </a:spcAft>
              <a:buClr>
                <a:schemeClr val="dk1"/>
              </a:buClr>
              <a:buSzPts val="2000"/>
              <a:buChar char="•"/>
            </a:pPr>
            <a:r>
              <a:rPr lang="en" sz="2000">
                <a:solidFill>
                  <a:schemeClr val="dk1"/>
                </a:solidFill>
              </a:rPr>
              <a:t>Updat</a:t>
            </a:r>
            <a:r>
              <a:rPr lang="en" sz="2000"/>
              <a:t>e</a:t>
            </a:r>
            <a:r>
              <a:rPr lang="en" sz="2000">
                <a:solidFill>
                  <a:schemeClr val="dk1"/>
                </a:solidFill>
              </a:rPr>
              <a:t> TILDA metadata in portal (from 3 </a:t>
            </a:r>
            <a:r>
              <a:rPr lang="en" sz="2000"/>
              <a:t>to 5</a:t>
            </a:r>
            <a:r>
              <a:rPr lang="en" sz="2000">
                <a:solidFill>
                  <a:schemeClr val="dk1"/>
                </a:solidFill>
              </a:rPr>
              <a:t> waves + C</a:t>
            </a:r>
            <a:r>
              <a:rPr lang="en" sz="2000"/>
              <a:t>OVID study</a:t>
            </a:r>
            <a:r>
              <a:rPr lang="en" sz="2000">
                <a:solidFill>
                  <a:schemeClr val="dk1"/>
                </a:solidFill>
              </a:rPr>
              <a:t>)</a:t>
            </a:r>
            <a:endParaRPr sz="2000" dirty="0">
              <a:solidFill>
                <a:schemeClr val="dk1"/>
              </a:solidFill>
            </a:endParaRPr>
          </a:p>
          <a:p>
            <a:pPr marL="457200" lvl="0" indent="-355600" algn="l" rtl="0">
              <a:spcBef>
                <a:spcPts val="800"/>
              </a:spcBef>
              <a:spcAft>
                <a:spcPts val="0"/>
              </a:spcAft>
              <a:buClr>
                <a:schemeClr val="dk1"/>
              </a:buClr>
              <a:buSzPts val="2000"/>
              <a:buChar char="•"/>
            </a:pPr>
            <a:r>
              <a:rPr lang="en" sz="2000">
                <a:solidFill>
                  <a:schemeClr val="dk1"/>
                </a:solidFill>
              </a:rPr>
              <a:t>Add: </a:t>
            </a:r>
            <a:endParaRPr sz="2000" dirty="0">
              <a:solidFill>
                <a:schemeClr val="dk1"/>
              </a:solidFill>
            </a:endParaRPr>
          </a:p>
          <a:p>
            <a:pPr marL="914400" lvl="1" indent="-355600" algn="l" rtl="0">
              <a:spcBef>
                <a:spcPts val="400"/>
              </a:spcBef>
              <a:spcAft>
                <a:spcPts val="0"/>
              </a:spcAft>
              <a:buClr>
                <a:schemeClr val="dk1"/>
              </a:buClr>
              <a:buSzPts val="2000"/>
              <a:buChar char="•"/>
            </a:pPr>
            <a:r>
              <a:rPr lang="en" sz="2000">
                <a:solidFill>
                  <a:schemeClr val="dk1"/>
                </a:solidFill>
              </a:rPr>
              <a:t>SWAN metadata (more than 10 visits)</a:t>
            </a:r>
            <a:endParaRPr sz="2000" dirty="0">
              <a:solidFill>
                <a:schemeClr val="dk1"/>
              </a:solidFill>
            </a:endParaRPr>
          </a:p>
          <a:p>
            <a:pPr marL="914400" lvl="1" indent="-355600" algn="l" rtl="0">
              <a:spcBef>
                <a:spcPts val="400"/>
              </a:spcBef>
              <a:spcAft>
                <a:spcPts val="0"/>
              </a:spcAft>
              <a:buClr>
                <a:schemeClr val="dk1"/>
              </a:buClr>
              <a:buSzPts val="2000"/>
              <a:buChar char="•"/>
            </a:pPr>
            <a:r>
              <a:rPr lang="en" sz="2000">
                <a:solidFill>
                  <a:schemeClr val="dk1"/>
                </a:solidFill>
              </a:rPr>
              <a:t>NSHAP Round 4</a:t>
            </a:r>
            <a:endParaRPr sz="2000" dirty="0">
              <a:solidFill>
                <a:schemeClr val="dk1"/>
              </a:solidFill>
            </a:endParaRPr>
          </a:p>
          <a:p>
            <a:pPr marL="914400" lvl="1" indent="-355600" algn="l" rtl="0">
              <a:spcBef>
                <a:spcPts val="400"/>
              </a:spcBef>
              <a:spcAft>
                <a:spcPts val="0"/>
              </a:spcAft>
              <a:buClr>
                <a:schemeClr val="dk1"/>
              </a:buClr>
              <a:buSzPts val="2000"/>
              <a:buChar char="•"/>
            </a:pPr>
            <a:r>
              <a:rPr lang="en" sz="2000"/>
              <a:t>Vietnam Era Twin Study of Aging (</a:t>
            </a:r>
            <a:r>
              <a:rPr lang="en" sz="2000">
                <a:solidFill>
                  <a:schemeClr val="dk1"/>
                </a:solidFill>
              </a:rPr>
              <a:t>VETSA) - 3 waves currently</a:t>
            </a:r>
            <a:endParaRPr sz="2000" dirty="0">
              <a:solidFill>
                <a:schemeClr val="dk1"/>
              </a:solidFill>
            </a:endParaRPr>
          </a:p>
          <a:p>
            <a:pPr marL="914400" lvl="1" indent="-355600" algn="l" rtl="0">
              <a:spcBef>
                <a:spcPts val="400"/>
              </a:spcBef>
              <a:spcAft>
                <a:spcPts val="0"/>
              </a:spcAft>
              <a:buClr>
                <a:schemeClr val="dk1"/>
              </a:buClr>
              <a:buSzPts val="2000"/>
              <a:buChar char="•"/>
            </a:pPr>
            <a:r>
              <a:rPr lang="en" sz="2000">
                <a:solidFill>
                  <a:schemeClr val="dk1"/>
                </a:solidFill>
              </a:rPr>
              <a:t>Add ev</a:t>
            </a:r>
            <a:r>
              <a:rPr lang="en" sz="2000"/>
              <a:t>en </a:t>
            </a:r>
            <a:r>
              <a:rPr lang="en" sz="2000">
                <a:solidFill>
                  <a:schemeClr val="dk1"/>
                </a:solidFill>
              </a:rPr>
              <a:t>more longitudinal data series </a:t>
            </a:r>
            <a:endParaRPr sz="2000" dirty="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4"/>
          <p:cNvSpPr txBox="1">
            <a:spLocks noGrp="1"/>
          </p:cNvSpPr>
          <p:nvPr>
            <p:ph type="title"/>
          </p:nvPr>
        </p:nvSpPr>
        <p:spPr>
          <a:xfrm>
            <a:off x="311700" y="445025"/>
            <a:ext cx="3721500" cy="61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t>Want More Details? </a:t>
            </a:r>
            <a:endParaRPr sz="3000" dirty="0"/>
          </a:p>
        </p:txBody>
      </p:sp>
      <p:sp>
        <p:nvSpPr>
          <p:cNvPr id="183" name="Google Shape;183;p24"/>
          <p:cNvSpPr txBox="1">
            <a:spLocks noGrp="1"/>
          </p:cNvSpPr>
          <p:nvPr>
            <p:ph type="body" idx="1"/>
          </p:nvPr>
        </p:nvSpPr>
        <p:spPr>
          <a:xfrm>
            <a:off x="311700" y="1488400"/>
            <a:ext cx="8520600" cy="3086100"/>
          </a:xfrm>
          <a:prstGeom prst="rect">
            <a:avLst/>
          </a:prstGeom>
        </p:spPr>
        <p:txBody>
          <a:bodyPr spcFirstLastPara="1" wrap="square" lIns="68575" tIns="34275" rIns="68575" bIns="34275" anchor="t" anchorCtr="0">
            <a:normAutofit lnSpcReduction="10000"/>
          </a:bodyPr>
          <a:lstStyle/>
          <a:p>
            <a:pPr marL="457200" lvl="0" indent="-342900" algn="l" rtl="0">
              <a:spcBef>
                <a:spcPts val="800"/>
              </a:spcBef>
              <a:spcAft>
                <a:spcPts val="0"/>
              </a:spcAft>
              <a:buSzPts val="1800"/>
              <a:buChar char="•"/>
            </a:pPr>
            <a:r>
              <a:rPr lang="en" sz="1800">
                <a:solidFill>
                  <a:schemeClr val="dk1"/>
                </a:solidFill>
              </a:rPr>
              <a:t>"</a:t>
            </a:r>
            <a:r>
              <a:rPr lang="en" sz="1800" u="sng">
                <a:solidFill>
                  <a:schemeClr val="hlink"/>
                </a:solidFill>
                <a:hlinkClick r:id="rId3"/>
              </a:rPr>
              <a:t>Identifying Cross Series Cognitive Data Similarities Across NSHAP and NHATS</a:t>
            </a:r>
            <a:r>
              <a:rPr lang="en" sz="1800">
                <a:solidFill>
                  <a:schemeClr val="dk1"/>
                </a:solidFill>
              </a:rPr>
              <a:t>“ and </a:t>
            </a:r>
            <a:r>
              <a:rPr lang="en" sz="1800"/>
              <a:t>more working papers forthcoming</a:t>
            </a:r>
            <a:endParaRPr sz="1800" dirty="0"/>
          </a:p>
          <a:p>
            <a:pPr marL="457200" lvl="0" indent="0" algn="l" rtl="0">
              <a:spcBef>
                <a:spcPts val="800"/>
              </a:spcBef>
              <a:spcAft>
                <a:spcPts val="0"/>
              </a:spcAft>
              <a:buNone/>
            </a:pPr>
            <a:endParaRPr sz="1800" dirty="0"/>
          </a:p>
          <a:p>
            <a:pPr marL="457200" lvl="0" indent="-342900" algn="l" rtl="0">
              <a:spcBef>
                <a:spcPts val="800"/>
              </a:spcBef>
              <a:spcAft>
                <a:spcPts val="0"/>
              </a:spcAft>
              <a:buSzPts val="1800"/>
              <a:buChar char="•"/>
            </a:pPr>
            <a:r>
              <a:rPr lang="en" sz="1800"/>
              <a:t>EDDI 2022 Presentation: </a:t>
            </a:r>
            <a:r>
              <a:rPr lang="en" sz="1800" u="sng">
                <a:solidFill>
                  <a:schemeClr val="hlink"/>
                </a:solidFill>
                <a:hlinkClick r:id="rId4"/>
              </a:rPr>
              <a:t>The NACDA Colectica Portal: DDI Lifecycle for Longitudinal Data on Aging</a:t>
            </a:r>
            <a:endParaRPr sz="1800" dirty="0"/>
          </a:p>
          <a:p>
            <a:pPr marL="457200" lvl="0" indent="0" algn="l" rtl="0">
              <a:spcBef>
                <a:spcPts val="800"/>
              </a:spcBef>
              <a:spcAft>
                <a:spcPts val="0"/>
              </a:spcAft>
              <a:buNone/>
            </a:pPr>
            <a:endParaRPr sz="1800" dirty="0"/>
          </a:p>
          <a:p>
            <a:pPr marL="457200" lvl="0" indent="-342900" algn="l" rtl="0">
              <a:spcBef>
                <a:spcPts val="800"/>
              </a:spcBef>
              <a:spcAft>
                <a:spcPts val="0"/>
              </a:spcAft>
              <a:buSzPts val="1800"/>
              <a:buChar char="•"/>
            </a:pPr>
            <a:r>
              <a:rPr lang="en" sz="1800"/>
              <a:t>NADDI 2019 Presentation: </a:t>
            </a:r>
            <a:r>
              <a:rPr lang="en" sz="1800" u="sng">
                <a:solidFill>
                  <a:schemeClr val="hlink"/>
                </a:solidFill>
                <a:hlinkClick r:id="rId5"/>
              </a:rPr>
              <a:t>Using DDI-Lifecycle to Document Variable Comparability in Longitudinal Data</a:t>
            </a:r>
            <a:endParaRPr sz="1800" dirty="0"/>
          </a:p>
          <a:p>
            <a:pPr marL="457200" lvl="0" indent="0" algn="l" rtl="0">
              <a:spcBef>
                <a:spcPts val="800"/>
              </a:spcBef>
              <a:spcAft>
                <a:spcPts val="0"/>
              </a:spcAft>
              <a:buNone/>
            </a:pPr>
            <a:endParaRPr sz="1800" dirty="0"/>
          </a:p>
          <a:p>
            <a:pPr marL="457200" lvl="0" indent="-342900" algn="l" rtl="0">
              <a:spcBef>
                <a:spcPts val="800"/>
              </a:spcBef>
              <a:spcAft>
                <a:spcPts val="0"/>
              </a:spcAft>
              <a:buSzPts val="1800"/>
              <a:buChar char="•"/>
            </a:pPr>
            <a:r>
              <a:rPr lang="en" sz="1800"/>
              <a:t>Search Zenodo for “NACDA” for more</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5"/>
          <p:cNvSpPr txBox="1">
            <a:spLocks noGrp="1"/>
          </p:cNvSpPr>
          <p:nvPr>
            <p:ph type="title"/>
          </p:nvPr>
        </p:nvSpPr>
        <p:spPr>
          <a:xfrm>
            <a:off x="311700" y="445025"/>
            <a:ext cx="5050800" cy="56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000">
                <a:latin typeface="Verdana"/>
                <a:ea typeface="Verdana"/>
                <a:cs typeface="Verdana"/>
                <a:sym typeface="Verdana"/>
              </a:rPr>
              <a:t>Thank you! Questions?</a:t>
            </a:r>
            <a:endParaRPr sz="3000" dirty="0"/>
          </a:p>
        </p:txBody>
      </p:sp>
      <p:sp>
        <p:nvSpPr>
          <p:cNvPr id="189" name="Google Shape;189;p25"/>
          <p:cNvSpPr txBox="1">
            <a:spLocks noGrp="1"/>
          </p:cNvSpPr>
          <p:nvPr>
            <p:ph type="body" idx="1"/>
          </p:nvPr>
        </p:nvSpPr>
        <p:spPr>
          <a:xfrm>
            <a:off x="3353350" y="1330825"/>
            <a:ext cx="5332500" cy="3416400"/>
          </a:xfrm>
          <a:prstGeom prst="rect">
            <a:avLst/>
          </a:prstGeom>
        </p:spPr>
        <p:txBody>
          <a:bodyPr spcFirstLastPara="1" wrap="square" lIns="68575" tIns="34275" rIns="68575" bIns="34275" anchor="t" anchorCtr="0">
            <a:normAutofit lnSpcReduction="10000"/>
          </a:bodyPr>
          <a:lstStyle/>
          <a:p>
            <a:pPr marL="0" lvl="0" indent="0" algn="l" rtl="0">
              <a:spcBef>
                <a:spcPts val="800"/>
              </a:spcBef>
              <a:spcAft>
                <a:spcPts val="0"/>
              </a:spcAft>
              <a:buClr>
                <a:schemeClr val="dk1"/>
              </a:buClr>
              <a:buSzPts val="1100"/>
              <a:buFont typeface="Arial"/>
              <a:buNone/>
            </a:pPr>
            <a:r>
              <a:rPr lang="en" sz="2150">
                <a:solidFill>
                  <a:schemeClr val="dk1"/>
                </a:solidFill>
              </a:rPr>
              <a:t>Scan this QR Code to get to our LinkTree</a:t>
            </a:r>
            <a:endParaRPr sz="2150" dirty="0">
              <a:solidFill>
                <a:schemeClr val="dk1"/>
              </a:solidFill>
            </a:endParaRPr>
          </a:p>
          <a:p>
            <a:pPr marL="0" lvl="0" indent="0" algn="l" rtl="0">
              <a:spcBef>
                <a:spcPts val="800"/>
              </a:spcBef>
              <a:spcAft>
                <a:spcPts val="0"/>
              </a:spcAft>
              <a:buClr>
                <a:schemeClr val="dk1"/>
              </a:buClr>
              <a:buSzPts val="1100"/>
              <a:buFont typeface="Arial"/>
              <a:buNone/>
            </a:pPr>
            <a:r>
              <a:rPr lang="en" sz="2150">
                <a:solidFill>
                  <a:schemeClr val="dk1"/>
                </a:solidFill>
              </a:rPr>
              <a:t>(</a:t>
            </a:r>
            <a:r>
              <a:rPr lang="en" sz="2150" u="sng">
                <a:solidFill>
                  <a:schemeClr val="hlink"/>
                </a:solidFill>
                <a:hlinkClick r:id="rId3"/>
              </a:rPr>
              <a:t>​https://linktr.ee/nacdadata</a:t>
            </a:r>
            <a:r>
              <a:rPr lang="en" sz="2150">
                <a:solidFill>
                  <a:srgbClr val="1155CC"/>
                </a:solidFill>
              </a:rPr>
              <a:t>)</a:t>
            </a:r>
            <a:r>
              <a:rPr lang="en" sz="2150">
                <a:solidFill>
                  <a:schemeClr val="dk1"/>
                </a:solidFill>
              </a:rPr>
              <a:t>:</a:t>
            </a:r>
            <a:endParaRPr sz="2150" dirty="0">
              <a:solidFill>
                <a:schemeClr val="dk1"/>
              </a:solidFill>
            </a:endParaRPr>
          </a:p>
          <a:p>
            <a:pPr marL="0" lvl="0" indent="0" algn="l" rtl="0">
              <a:spcBef>
                <a:spcPts val="800"/>
              </a:spcBef>
              <a:spcAft>
                <a:spcPts val="0"/>
              </a:spcAft>
              <a:buClr>
                <a:schemeClr val="dk1"/>
              </a:buClr>
              <a:buSzPts val="1100"/>
              <a:buFont typeface="Arial"/>
              <a:buNone/>
            </a:pPr>
            <a:r>
              <a:rPr lang="en" sz="2400">
                <a:solidFill>
                  <a:schemeClr val="dk1"/>
                </a:solidFill>
              </a:rPr>
              <a:t> </a:t>
            </a:r>
            <a:endParaRPr sz="2400" dirty="0">
              <a:solidFill>
                <a:schemeClr val="dk1"/>
              </a:solidFill>
            </a:endParaRPr>
          </a:p>
          <a:p>
            <a:pPr marL="0" lvl="0" indent="0" algn="l" rtl="0">
              <a:spcBef>
                <a:spcPts val="800"/>
              </a:spcBef>
              <a:spcAft>
                <a:spcPts val="0"/>
              </a:spcAft>
              <a:buClr>
                <a:schemeClr val="dk1"/>
              </a:buClr>
              <a:buSzPts val="1100"/>
              <a:buFont typeface="Arial"/>
              <a:buNone/>
            </a:pPr>
            <a:r>
              <a:rPr lang="en" sz="2200">
                <a:solidFill>
                  <a:schemeClr val="dk1"/>
                </a:solidFill>
              </a:rPr>
              <a:t>•NACDA website</a:t>
            </a:r>
            <a:endParaRPr sz="2200" dirty="0">
              <a:solidFill>
                <a:schemeClr val="dk1"/>
              </a:solidFill>
            </a:endParaRPr>
          </a:p>
          <a:p>
            <a:pPr marL="0" lvl="0" indent="0" algn="l" rtl="0">
              <a:spcBef>
                <a:spcPts val="800"/>
              </a:spcBef>
              <a:spcAft>
                <a:spcPts val="0"/>
              </a:spcAft>
              <a:buClr>
                <a:schemeClr val="dk1"/>
              </a:buClr>
              <a:buSzPts val="1100"/>
              <a:buFont typeface="Arial"/>
              <a:buNone/>
            </a:pPr>
            <a:r>
              <a:rPr lang="en" sz="2200">
                <a:solidFill>
                  <a:schemeClr val="dk1"/>
                </a:solidFill>
              </a:rPr>
              <a:t>•NACDA Colectica Portal</a:t>
            </a:r>
            <a:endParaRPr sz="2200" dirty="0">
              <a:solidFill>
                <a:schemeClr val="dk1"/>
              </a:solidFill>
            </a:endParaRPr>
          </a:p>
          <a:p>
            <a:pPr marL="0" lvl="0" indent="0" algn="l" rtl="0">
              <a:spcBef>
                <a:spcPts val="800"/>
              </a:spcBef>
              <a:spcAft>
                <a:spcPts val="0"/>
              </a:spcAft>
              <a:buClr>
                <a:schemeClr val="dk1"/>
              </a:buClr>
              <a:buSzPts val="1100"/>
              <a:buFont typeface="Arial"/>
              <a:buNone/>
            </a:pPr>
            <a:r>
              <a:rPr lang="en" sz="2200">
                <a:solidFill>
                  <a:schemeClr val="dk1"/>
                </a:solidFill>
              </a:rPr>
              <a:t>•YouTube playlist (researcher interviews and presentation recordings)</a:t>
            </a:r>
            <a:endParaRPr sz="2200" dirty="0">
              <a:solidFill>
                <a:schemeClr val="dk1"/>
              </a:solidFill>
            </a:endParaRPr>
          </a:p>
          <a:p>
            <a:pPr marL="0" lvl="0" indent="0" algn="l" rtl="0">
              <a:spcBef>
                <a:spcPts val="800"/>
              </a:spcBef>
              <a:spcAft>
                <a:spcPts val="0"/>
              </a:spcAft>
              <a:buClr>
                <a:schemeClr val="dk1"/>
              </a:buClr>
              <a:buSzPts val="1100"/>
              <a:buFont typeface="Arial"/>
              <a:buNone/>
            </a:pPr>
            <a:r>
              <a:rPr lang="en" sz="2200">
                <a:solidFill>
                  <a:schemeClr val="dk1"/>
                </a:solidFill>
              </a:rPr>
              <a:t>•Newsletter signup</a:t>
            </a:r>
            <a:endParaRPr sz="2200" dirty="0">
              <a:solidFill>
                <a:schemeClr val="dk1"/>
              </a:solidFill>
            </a:endParaRPr>
          </a:p>
          <a:p>
            <a:pPr marL="0" lvl="0" indent="0" algn="l" rtl="0">
              <a:spcBef>
                <a:spcPts val="800"/>
              </a:spcBef>
              <a:spcAft>
                <a:spcPts val="0"/>
              </a:spcAft>
              <a:buClr>
                <a:schemeClr val="dk1"/>
              </a:buClr>
              <a:buSzPts val="1100"/>
              <a:buFont typeface="Arial"/>
              <a:buNone/>
            </a:pPr>
            <a:r>
              <a:rPr lang="en" sz="2200">
                <a:solidFill>
                  <a:schemeClr val="dk1"/>
                </a:solidFill>
              </a:rPr>
              <a:t>•NIH data sharing resources</a:t>
            </a:r>
            <a:endParaRPr dirty="0"/>
          </a:p>
        </p:txBody>
      </p:sp>
      <p:pic>
        <p:nvPicPr>
          <p:cNvPr id="190" name="Google Shape;190;p25"/>
          <p:cNvPicPr preferRelativeResize="0"/>
          <p:nvPr/>
        </p:nvPicPr>
        <p:blipFill>
          <a:blip r:embed="rId4">
            <a:alphaModFix/>
          </a:blip>
          <a:stretch>
            <a:fillRect/>
          </a:stretch>
        </p:blipFill>
        <p:spPr>
          <a:xfrm>
            <a:off x="632650" y="1330825"/>
            <a:ext cx="2197875" cy="3162650"/>
          </a:xfrm>
          <a:prstGeom prst="rect">
            <a:avLst/>
          </a:prstGeom>
          <a:noFill/>
          <a:ln>
            <a:noFill/>
          </a:ln>
        </p:spPr>
      </p:pic>
    </p:spTree>
  </p:cSld>
  <p:clrMapOvr>
    <a:masterClrMapping/>
  </p:clrMapOvr>
</p:sld>
</file>

<file path=ppt/theme/theme1.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2421</Words>
  <Application>Microsoft Office PowerPoint</Application>
  <PresentationFormat>On-screen Show (16:9)</PresentationFormat>
  <Paragraphs>227</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Century Schoolbook</vt:lpstr>
      <vt:lpstr>Trebuchet MS</vt:lpstr>
      <vt:lpstr>Arial</vt:lpstr>
      <vt:lpstr>Verdana</vt:lpstr>
      <vt:lpstr>Tahoma</vt:lpstr>
      <vt:lpstr>1_Custom Design</vt:lpstr>
      <vt:lpstr>Creating Longitudinal Data Series Comparisons </vt:lpstr>
      <vt:lpstr>About NACDA </vt:lpstr>
      <vt:lpstr>NACDA Data Archive</vt:lpstr>
      <vt:lpstr>A Little About the NACDA Portal</vt:lpstr>
      <vt:lpstr>NACDA-DDI-Portal History</vt:lpstr>
      <vt:lpstr>Cross-wave Concordance Creation</vt:lpstr>
      <vt:lpstr>Common Concepts</vt:lpstr>
      <vt:lpstr>Cross-wave Concordance in the Portal</vt:lpstr>
      <vt:lpstr>Using Cross-wave to Create Cross-series</vt:lpstr>
      <vt:lpstr>Cross-series Comparability Types</vt:lpstr>
      <vt:lpstr>Multi-series Comparisons</vt:lpstr>
      <vt:lpstr>Multi-series Concordance Creation</vt:lpstr>
      <vt:lpstr>Comparability in Multi-series</vt:lpstr>
      <vt:lpstr>Multi-series in Colectica Portal</vt:lpstr>
      <vt:lpstr>Longitudinal Data Series in the NACDA Portal </vt:lpstr>
      <vt:lpstr>Get to the Portal from the NACDA Site</vt:lpstr>
      <vt:lpstr>What Does it Take to Add Data to the Portal?</vt:lpstr>
      <vt:lpstr>Advantages and Challenges</vt:lpstr>
      <vt:lpstr>Next Steps</vt:lpstr>
      <vt:lpstr>Want More Details? </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Longitudinal Data Series Comparisons - New Highlights from the NACDA Portal</dc:title>
  <dc:creator>NACDA</dc:creator>
  <cp:keywords>NACDA, EDDI, DDI, Colectica</cp:keywords>
  <cp:lastModifiedBy>kfrania</cp:lastModifiedBy>
  <cp:revision>2</cp:revision>
  <dcterms:modified xsi:type="dcterms:W3CDTF">2023-11-22T19:46:49Z</dcterms:modified>
  <cp:category>presentation, conference</cp:category>
</cp:coreProperties>
</file>